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-26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E8F5F4-FE76-4F51-A7CB-8FA59D518A1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AB35CCB-04FF-441C-9CB5-39BA1988611F}">
      <dgm:prSet custT="1"/>
      <dgm:spPr/>
      <dgm:t>
        <a:bodyPr/>
        <a:lstStyle/>
        <a:p>
          <a:pPr rtl="0"/>
          <a:r>
            <a:rPr lang="en-US" sz="5400" b="1" dirty="0" smtClean="0"/>
            <a:t>Thank you</a:t>
          </a:r>
          <a:endParaRPr lang="en-IN" sz="5400" dirty="0"/>
        </a:p>
      </dgm:t>
    </dgm:pt>
    <dgm:pt modelId="{3D01623F-C037-475C-8A69-BD3832B9B272}" type="parTrans" cxnId="{38BAD5D9-5FA1-405A-824D-2C623F83A33C}">
      <dgm:prSet/>
      <dgm:spPr/>
      <dgm:t>
        <a:bodyPr/>
        <a:lstStyle/>
        <a:p>
          <a:endParaRPr lang="en-IN"/>
        </a:p>
      </dgm:t>
    </dgm:pt>
    <dgm:pt modelId="{7D81CDF6-7D75-4CE4-9F4B-25FA08BE18E8}" type="sibTrans" cxnId="{38BAD5D9-5FA1-405A-824D-2C623F83A33C}">
      <dgm:prSet/>
      <dgm:spPr/>
      <dgm:t>
        <a:bodyPr/>
        <a:lstStyle/>
        <a:p>
          <a:endParaRPr lang="en-IN"/>
        </a:p>
      </dgm:t>
    </dgm:pt>
    <dgm:pt modelId="{BD3249BB-7D32-462E-950D-25F933617289}" type="pres">
      <dgm:prSet presAssocID="{B6E8F5F4-FE76-4F51-A7CB-8FA59D518A16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CF1194D5-52A2-4B20-B352-B4E16E80129D}" type="pres">
      <dgm:prSet presAssocID="{3AB35CCB-04FF-441C-9CB5-39BA1988611F}" presName="node" presStyleLbl="node1" presStyleIdx="0" presStyleCnt="1" custScaleX="10009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44AD29EE-1255-454D-931A-2C0ECC44949B}" type="presOf" srcId="{B6E8F5F4-FE76-4F51-A7CB-8FA59D518A16}" destId="{BD3249BB-7D32-462E-950D-25F933617289}" srcOrd="0" destOrd="0" presId="urn:microsoft.com/office/officeart/2005/8/layout/process1"/>
    <dgm:cxn modelId="{6292F1AA-7897-4ACB-8EA0-0DD8642BCCF5}" type="presOf" srcId="{3AB35CCB-04FF-441C-9CB5-39BA1988611F}" destId="{CF1194D5-52A2-4B20-B352-B4E16E80129D}" srcOrd="0" destOrd="0" presId="urn:microsoft.com/office/officeart/2005/8/layout/process1"/>
    <dgm:cxn modelId="{38BAD5D9-5FA1-405A-824D-2C623F83A33C}" srcId="{B6E8F5F4-FE76-4F51-A7CB-8FA59D518A16}" destId="{3AB35CCB-04FF-441C-9CB5-39BA1988611F}" srcOrd="0" destOrd="0" parTransId="{3D01623F-C037-475C-8A69-BD3832B9B272}" sibTransId="{7D81CDF6-7D75-4CE4-9F4B-25FA08BE18E8}"/>
    <dgm:cxn modelId="{548B2486-17F4-480D-B96B-ECFF8B428572}" type="presParOf" srcId="{BD3249BB-7D32-462E-950D-25F933617289}" destId="{CF1194D5-52A2-4B20-B352-B4E16E80129D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1194D5-52A2-4B20-B352-B4E16E80129D}">
      <dsp:nvSpPr>
        <dsp:cNvPr id="0" name=""/>
        <dsp:cNvSpPr/>
      </dsp:nvSpPr>
      <dsp:spPr>
        <a:xfrm>
          <a:off x="3046" y="0"/>
          <a:ext cx="6242307" cy="15723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lvl="0" algn="ctr" defTabSz="2400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400" b="1" kern="1200" dirty="0" smtClean="0"/>
            <a:t>Thank you</a:t>
          </a:r>
          <a:endParaRPr lang="en-IN" sz="5400" kern="1200" dirty="0"/>
        </a:p>
      </dsp:txBody>
      <dsp:txXfrm>
        <a:off x="49100" y="46054"/>
        <a:ext cx="6150199" cy="14802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B0D6C-644C-4A22-BD23-6BB6F1719A0F}" type="datetimeFigureOut">
              <a:rPr lang="en-US" smtClean="0"/>
              <a:pPr/>
              <a:t>6/25/2017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7C9222-029C-40DC-B8C4-0219B77D8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942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FA3E6B-02CF-4AFA-A8FE-1C66CF52594A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79A12A-0F79-495F-A5A2-277353FF2A7B}" type="datetimeFigureOut">
              <a:rPr lang="en-US" smtClean="0"/>
              <a:pPr/>
              <a:t>6/25/2017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0591492-BF0D-43FF-98BE-D83C1DA73E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79A12A-0F79-495F-A5A2-277353FF2A7B}" type="datetimeFigureOut">
              <a:rPr lang="en-US" smtClean="0"/>
              <a:pPr/>
              <a:t>6/25/2017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0591492-BF0D-43FF-98BE-D83C1DA73E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79A12A-0F79-495F-A5A2-277353FF2A7B}" type="datetimeFigureOut">
              <a:rPr lang="en-US" smtClean="0"/>
              <a:pPr/>
              <a:t>6/25/2017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0591492-BF0D-43FF-98BE-D83C1DA73E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79A12A-0F79-495F-A5A2-277353FF2A7B}" type="datetimeFigureOut">
              <a:rPr lang="en-US" smtClean="0"/>
              <a:pPr/>
              <a:t>6/25/2017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0591492-BF0D-43FF-98BE-D83C1DA73E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79A12A-0F79-495F-A5A2-277353FF2A7B}" type="datetimeFigureOut">
              <a:rPr lang="en-US" smtClean="0"/>
              <a:pPr/>
              <a:t>6/25/2017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0591492-BF0D-43FF-98BE-D83C1DA73E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79A12A-0F79-495F-A5A2-277353FF2A7B}" type="datetimeFigureOut">
              <a:rPr lang="en-US" smtClean="0"/>
              <a:pPr/>
              <a:t>6/25/2017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0591492-BF0D-43FF-98BE-D83C1DA73E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79A12A-0F79-495F-A5A2-277353FF2A7B}" type="datetimeFigureOut">
              <a:rPr lang="en-US" smtClean="0"/>
              <a:pPr/>
              <a:t>6/25/2017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0591492-BF0D-43FF-98BE-D83C1DA73E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79A12A-0F79-495F-A5A2-277353FF2A7B}" type="datetimeFigureOut">
              <a:rPr lang="en-US" smtClean="0"/>
              <a:pPr/>
              <a:t>6/25/2017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0591492-BF0D-43FF-98BE-D83C1DA73E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79A12A-0F79-495F-A5A2-277353FF2A7B}" type="datetimeFigureOut">
              <a:rPr lang="en-US" smtClean="0"/>
              <a:pPr/>
              <a:t>6/25/2017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0591492-BF0D-43FF-98BE-D83C1DA73E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79A12A-0F79-495F-A5A2-277353FF2A7B}" type="datetimeFigureOut">
              <a:rPr lang="en-US" smtClean="0"/>
              <a:pPr/>
              <a:t>6/25/2017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0591492-BF0D-43FF-98BE-D83C1DA73E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B79A12A-0F79-495F-A5A2-277353FF2A7B}" type="datetimeFigureOut">
              <a:rPr lang="en-US" smtClean="0"/>
              <a:pPr/>
              <a:t>6/25/2017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0591492-BF0D-43FF-98BE-D83C1DA73E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FB79A12A-0F79-495F-A5A2-277353FF2A7B}" type="datetimeFigureOut">
              <a:rPr lang="en-US" smtClean="0"/>
              <a:pPr/>
              <a:t>6/25/2017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C0591492-BF0D-43FF-98BE-D83C1DA73E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851648" cy="1828800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800" dirty="0" smtClean="0">
                <a:solidFill>
                  <a:srgbClr val="FF0000"/>
                </a:solidFill>
                <a:latin typeface="Century" pitchFamily="18" charset="0"/>
              </a:rPr>
              <a:t>RECORD MANAGEMENT</a:t>
            </a:r>
            <a:br>
              <a:rPr lang="en-US" sz="4800" dirty="0" smtClean="0">
                <a:solidFill>
                  <a:srgbClr val="FF0000"/>
                </a:solidFill>
                <a:latin typeface="Century" pitchFamily="18" charset="0"/>
              </a:rPr>
            </a:br>
            <a:r>
              <a:rPr lang="en-US" sz="4800" dirty="0" smtClean="0">
                <a:solidFill>
                  <a:srgbClr val="FF0000"/>
                </a:solidFill>
                <a:latin typeface="Century" pitchFamily="18" charset="0"/>
              </a:rPr>
              <a:t>(KIC—CASE  LAWS)</a:t>
            </a:r>
            <a:endParaRPr lang="en-US" sz="4800" dirty="0">
              <a:solidFill>
                <a:srgbClr val="FF0000"/>
              </a:solidFill>
              <a:latin typeface="Century" pitchFamily="18" charset="0"/>
            </a:endParaRPr>
          </a:p>
        </p:txBody>
      </p:sp>
      <p:sp>
        <p:nvSpPr>
          <p:cNvPr id="5123" name="Subtitle 2"/>
          <p:cNvSpPr>
            <a:spLocks noGrp="1"/>
          </p:cNvSpPr>
          <p:nvPr>
            <p:ph type="subTitle" idx="1"/>
          </p:nvPr>
        </p:nvSpPr>
        <p:spPr>
          <a:xfrm>
            <a:off x="1143000" y="1905000"/>
            <a:ext cx="7772400" cy="4648200"/>
          </a:xfrm>
        </p:spPr>
        <p:txBody>
          <a:bodyPr>
            <a:normAutofit/>
          </a:bodyPr>
          <a:lstStyle/>
          <a:p>
            <a:pPr marR="0" algn="l"/>
            <a:r>
              <a:rPr lang="en-US" dirty="0" smtClean="0">
                <a:solidFill>
                  <a:srgbClr val="FF0000"/>
                </a:solidFill>
                <a:latin typeface="Century" pitchFamily="18" charset="0"/>
                <a:cs typeface="Arial" charset="0"/>
              </a:rPr>
              <a:t>1 </a:t>
            </a:r>
            <a:r>
              <a:rPr lang="en-US" sz="2600" dirty="0" err="1" smtClean="0">
                <a:solidFill>
                  <a:srgbClr val="FF0000"/>
                </a:solidFill>
                <a:latin typeface="Century" pitchFamily="18" charset="0"/>
                <a:cs typeface="Arial" charset="0"/>
              </a:rPr>
              <a:t>Govt</a:t>
            </a:r>
            <a:r>
              <a:rPr lang="en-US" sz="2600" dirty="0" smtClean="0">
                <a:solidFill>
                  <a:srgbClr val="FF0000"/>
                </a:solidFill>
                <a:latin typeface="Century" pitchFamily="18" charset="0"/>
                <a:cs typeface="Arial" charset="0"/>
              </a:rPr>
              <a:t>  Cir No DPAR 82  RTI 2007 </a:t>
            </a:r>
            <a:r>
              <a:rPr lang="en-US" sz="2600" dirty="0" err="1" smtClean="0">
                <a:solidFill>
                  <a:srgbClr val="FF0000"/>
                </a:solidFill>
                <a:latin typeface="Century" pitchFamily="18" charset="0"/>
                <a:cs typeface="Arial" charset="0"/>
              </a:rPr>
              <a:t>dtd</a:t>
            </a:r>
            <a:r>
              <a:rPr lang="en-US" sz="2600" dirty="0" smtClean="0">
                <a:solidFill>
                  <a:srgbClr val="FF0000"/>
                </a:solidFill>
                <a:latin typeface="Century" pitchFamily="18" charset="0"/>
                <a:cs typeface="Arial" charset="0"/>
              </a:rPr>
              <a:t> 21-08-2007</a:t>
            </a:r>
            <a:r>
              <a:rPr lang="en-US" sz="2600" dirty="0" smtClean="0">
                <a:latin typeface="Century" pitchFamily="18" charset="0"/>
                <a:cs typeface="Arial" charset="0"/>
              </a:rPr>
              <a:t>and</a:t>
            </a:r>
            <a:r>
              <a:rPr lang="en-US" sz="2600" dirty="0" smtClean="0">
                <a:solidFill>
                  <a:srgbClr val="FF0000"/>
                </a:solidFill>
                <a:latin typeface="Century" pitchFamily="18" charset="0"/>
                <a:cs typeface="Arial" charset="0"/>
              </a:rPr>
              <a:t>KIC 566 COM  /  KIC 603 COM 2006</a:t>
            </a:r>
          </a:p>
          <a:p>
            <a:pPr marR="0" algn="l"/>
            <a:r>
              <a:rPr lang="en-US" dirty="0" smtClean="0">
                <a:latin typeface="Century" pitchFamily="18" charset="0"/>
                <a:cs typeface="Arial" charset="0"/>
              </a:rPr>
              <a:t>(a) If a record is lost, try to reconstruct it.</a:t>
            </a:r>
          </a:p>
          <a:p>
            <a:pPr marR="0" algn="l"/>
            <a:r>
              <a:rPr lang="en-US" dirty="0" smtClean="0">
                <a:latin typeface="Century" pitchFamily="18" charset="0"/>
                <a:cs typeface="Arial" charset="0"/>
              </a:rPr>
              <a:t>(b) If a record is lost, register FIR with police  after holding internal inquiry.</a:t>
            </a:r>
          </a:p>
          <a:p>
            <a:pPr marR="0" algn="l"/>
            <a:r>
              <a:rPr lang="en-US" dirty="0" smtClean="0">
                <a:solidFill>
                  <a:srgbClr val="FF0000"/>
                </a:solidFill>
                <a:latin typeface="Century" pitchFamily="18" charset="0"/>
                <a:cs typeface="Arial" charset="0"/>
              </a:rPr>
              <a:t>2 </a:t>
            </a:r>
            <a:r>
              <a:rPr lang="en-US" dirty="0" err="1" smtClean="0">
                <a:solidFill>
                  <a:srgbClr val="FF0000"/>
                </a:solidFill>
                <a:latin typeface="Century" pitchFamily="18" charset="0"/>
                <a:cs typeface="Arial" charset="0"/>
              </a:rPr>
              <a:t>Govt</a:t>
            </a:r>
            <a:r>
              <a:rPr lang="en-US" dirty="0" smtClean="0">
                <a:solidFill>
                  <a:srgbClr val="FF0000"/>
                </a:solidFill>
                <a:latin typeface="Century" pitchFamily="18" charset="0"/>
                <a:cs typeface="Arial" charset="0"/>
              </a:rPr>
              <a:t> Cir No DPAR 165 RTI 2007 </a:t>
            </a:r>
            <a:r>
              <a:rPr lang="en-US" dirty="0" err="1" smtClean="0">
                <a:solidFill>
                  <a:srgbClr val="FF0000"/>
                </a:solidFill>
                <a:latin typeface="Century" pitchFamily="18" charset="0"/>
                <a:cs typeface="Arial" charset="0"/>
              </a:rPr>
              <a:t>dtd</a:t>
            </a:r>
            <a:r>
              <a:rPr lang="en-US" dirty="0" smtClean="0">
                <a:solidFill>
                  <a:srgbClr val="FF0000"/>
                </a:solidFill>
                <a:latin typeface="Century" pitchFamily="18" charset="0"/>
                <a:cs typeface="Arial" charset="0"/>
              </a:rPr>
              <a:t> 28-03-06</a:t>
            </a:r>
          </a:p>
          <a:p>
            <a:pPr marR="0" algn="l"/>
            <a:r>
              <a:rPr lang="en-US" dirty="0" smtClean="0">
                <a:latin typeface="Century" pitchFamily="18" charset="0"/>
                <a:cs typeface="Arial" charset="0"/>
              </a:rPr>
              <a:t>If a record is destroyed, give endorsement</a:t>
            </a:r>
            <a:r>
              <a:rPr lang="en-US" dirty="0">
                <a:latin typeface="Century" pitchFamily="18" charset="0"/>
                <a:cs typeface="Arial" charset="0"/>
              </a:rPr>
              <a:t> </a:t>
            </a:r>
            <a:r>
              <a:rPr lang="en-US" dirty="0" smtClean="0">
                <a:latin typeface="Century" pitchFamily="18" charset="0"/>
                <a:cs typeface="Arial" charset="0"/>
              </a:rPr>
              <a:t>to that effect.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5410200"/>
            <a:ext cx="7239000" cy="685800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4800" dirty="0" smtClean="0"/>
              <a:t>……</a:t>
            </a:r>
            <a:endParaRPr lang="en-US" sz="4800" dirty="0"/>
          </a:p>
        </p:txBody>
      </p:sp>
      <p:sp>
        <p:nvSpPr>
          <p:cNvPr id="6147" name="Subtitle 2"/>
          <p:cNvSpPr>
            <a:spLocks noGrp="1"/>
          </p:cNvSpPr>
          <p:nvPr>
            <p:ph type="subTitle" idx="1"/>
          </p:nvPr>
        </p:nvSpPr>
        <p:spPr>
          <a:xfrm>
            <a:off x="533400" y="1295400"/>
            <a:ext cx="8458200" cy="4953000"/>
          </a:xfrm>
        </p:spPr>
        <p:txBody>
          <a:bodyPr>
            <a:normAutofit/>
          </a:bodyPr>
          <a:lstStyle/>
          <a:p>
            <a:pPr marL="1428750" lvl="2" indent="-514350" algn="l"/>
            <a:r>
              <a:rPr lang="en-US" dirty="0" smtClean="0">
                <a:solidFill>
                  <a:srgbClr val="FF0000"/>
                </a:solidFill>
                <a:latin typeface="Century" pitchFamily="18" charset="0"/>
                <a:cs typeface="Arial" charset="0"/>
              </a:rPr>
              <a:t>3)  KIC 97 COM 2007 </a:t>
            </a:r>
            <a:r>
              <a:rPr lang="en-US" dirty="0" err="1" smtClean="0">
                <a:solidFill>
                  <a:srgbClr val="FF0000"/>
                </a:solidFill>
                <a:latin typeface="Century" pitchFamily="18" charset="0"/>
                <a:cs typeface="Arial" charset="0"/>
              </a:rPr>
              <a:t>dtd</a:t>
            </a:r>
            <a:r>
              <a:rPr lang="en-US" dirty="0" smtClean="0">
                <a:solidFill>
                  <a:srgbClr val="FF0000"/>
                </a:solidFill>
                <a:latin typeface="Century" pitchFamily="18" charset="0"/>
                <a:cs typeface="Arial" charset="0"/>
              </a:rPr>
              <a:t> 25-07-2007</a:t>
            </a:r>
          </a:p>
          <a:p>
            <a:pPr marL="1428750" lvl="2" indent="-514350" algn="l"/>
            <a:r>
              <a:rPr lang="en-US" dirty="0" smtClean="0">
                <a:latin typeface="Century" pitchFamily="18" charset="0"/>
                <a:cs typeface="Arial" charset="0"/>
              </a:rPr>
              <a:t>       MD  of HOPCOMS was fined </a:t>
            </a:r>
            <a:r>
              <a:rPr lang="en-US" dirty="0" err="1" smtClean="0">
                <a:latin typeface="Century" pitchFamily="18" charset="0"/>
                <a:cs typeface="Arial" charset="0"/>
              </a:rPr>
              <a:t>Rs</a:t>
            </a:r>
            <a:r>
              <a:rPr lang="en-US" dirty="0" smtClean="0">
                <a:latin typeface="Century" pitchFamily="18" charset="0"/>
                <a:cs typeface="Arial" charset="0"/>
              </a:rPr>
              <a:t> 500/- for not providing  information about cataloging and indexing of records.</a:t>
            </a:r>
          </a:p>
          <a:p>
            <a:pPr marL="1428750" lvl="2" indent="-514350" algn="l"/>
            <a:r>
              <a:rPr lang="en-US" dirty="0" smtClean="0">
                <a:solidFill>
                  <a:srgbClr val="FF0000"/>
                </a:solidFill>
                <a:latin typeface="Century" pitchFamily="18" charset="0"/>
                <a:cs typeface="Arial" charset="0"/>
              </a:rPr>
              <a:t>4)  KIC 171  APL  2007 </a:t>
            </a:r>
            <a:r>
              <a:rPr lang="en-US" dirty="0" err="1" smtClean="0">
                <a:solidFill>
                  <a:srgbClr val="FF0000"/>
                </a:solidFill>
                <a:latin typeface="Century" pitchFamily="18" charset="0"/>
                <a:cs typeface="Arial" charset="0"/>
              </a:rPr>
              <a:t>dtd</a:t>
            </a:r>
            <a:r>
              <a:rPr lang="en-US" dirty="0" smtClean="0">
                <a:solidFill>
                  <a:srgbClr val="FF0000"/>
                </a:solidFill>
                <a:latin typeface="Century" pitchFamily="18" charset="0"/>
                <a:cs typeface="Arial" charset="0"/>
              </a:rPr>
              <a:t>  28-09-2007</a:t>
            </a:r>
          </a:p>
          <a:p>
            <a:pPr marL="1428750" lvl="2" indent="-514350" algn="l"/>
            <a:r>
              <a:rPr lang="en-US" dirty="0" smtClean="0">
                <a:latin typeface="Century" pitchFamily="18" charset="0"/>
                <a:cs typeface="Arial" charset="0"/>
              </a:rPr>
              <a:t>	KIC  recommended DE for loss of records</a:t>
            </a:r>
          </a:p>
          <a:p>
            <a:pPr marL="1428750" lvl="2" indent="-514350" algn="l"/>
            <a:r>
              <a:rPr lang="en-US" dirty="0" smtClean="0">
                <a:solidFill>
                  <a:srgbClr val="FF0000"/>
                </a:solidFill>
                <a:latin typeface="Century" pitchFamily="18" charset="0"/>
                <a:cs typeface="Arial" charset="0"/>
              </a:rPr>
              <a:t>5)  KIC 280 APL 2006 </a:t>
            </a:r>
            <a:r>
              <a:rPr lang="en-US" dirty="0" err="1" smtClean="0">
                <a:solidFill>
                  <a:srgbClr val="FF0000"/>
                </a:solidFill>
                <a:latin typeface="Century" pitchFamily="18" charset="0"/>
                <a:cs typeface="Arial" charset="0"/>
              </a:rPr>
              <a:t>dtd</a:t>
            </a:r>
            <a:r>
              <a:rPr lang="en-US" dirty="0" smtClean="0">
                <a:solidFill>
                  <a:srgbClr val="FF0000"/>
                </a:solidFill>
                <a:latin typeface="Century" pitchFamily="18" charset="0"/>
                <a:cs typeface="Arial" charset="0"/>
              </a:rPr>
              <a:t> 03-04-2007  and  08-10-2007</a:t>
            </a:r>
          </a:p>
          <a:p>
            <a:pPr marL="1428750" lvl="2" indent="-514350" algn="l"/>
            <a:r>
              <a:rPr lang="en-US" dirty="0" smtClean="0">
                <a:latin typeface="Century" pitchFamily="18" charset="0"/>
                <a:cs typeface="Arial" charset="0"/>
              </a:rPr>
              <a:t>	PIO of TAPCMS not provided Receipts and vouchers</a:t>
            </a:r>
          </a:p>
          <a:p>
            <a:pPr marL="1428750" lvl="2" indent="-514350" algn="l"/>
            <a:r>
              <a:rPr lang="en-US" dirty="0" smtClean="0">
                <a:latin typeface="Century" pitchFamily="18" charset="0"/>
                <a:cs typeface="Arial" charset="0"/>
              </a:rPr>
              <a:t>	KIC ordered      compensation  </a:t>
            </a:r>
            <a:r>
              <a:rPr lang="en-US" dirty="0" err="1" smtClean="0">
                <a:latin typeface="Century" pitchFamily="18" charset="0"/>
                <a:cs typeface="Arial" charset="0"/>
              </a:rPr>
              <a:t>Rs</a:t>
            </a:r>
            <a:r>
              <a:rPr lang="en-US" dirty="0" smtClean="0">
                <a:latin typeface="Century" pitchFamily="18" charset="0"/>
                <a:cs typeface="Arial" charset="0"/>
              </a:rPr>
              <a:t>  2000/-</a:t>
            </a:r>
          </a:p>
          <a:p>
            <a:pPr marL="1428750" lvl="2" indent="-514350" algn="l"/>
            <a:r>
              <a:rPr lang="en-US" dirty="0" smtClean="0">
                <a:latin typeface="Century" pitchFamily="18" charset="0"/>
                <a:cs typeface="Arial" charset="0"/>
              </a:rPr>
              <a:t>			        penalty             </a:t>
            </a:r>
            <a:r>
              <a:rPr lang="en-US" dirty="0" err="1" smtClean="0">
                <a:latin typeface="Century" pitchFamily="18" charset="0"/>
                <a:cs typeface="Arial" charset="0"/>
              </a:rPr>
              <a:t>Rs</a:t>
            </a:r>
            <a:r>
              <a:rPr lang="en-US" dirty="0" smtClean="0">
                <a:latin typeface="Century" pitchFamily="18" charset="0"/>
                <a:cs typeface="Arial" charset="0"/>
              </a:rPr>
              <a:t> 1000/-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ubtitle 2"/>
          <p:cNvSpPr>
            <a:spLocks noGrp="1"/>
          </p:cNvSpPr>
          <p:nvPr>
            <p:ph type="subTitle" idx="1"/>
          </p:nvPr>
        </p:nvSpPr>
        <p:spPr>
          <a:xfrm>
            <a:off x="304800" y="304800"/>
            <a:ext cx="8077200" cy="6553200"/>
          </a:xfrm>
        </p:spPr>
        <p:txBody>
          <a:bodyPr/>
          <a:lstStyle/>
          <a:p>
            <a:pPr marL="1428750" lvl="2" indent="-514350"/>
            <a:r>
              <a:rPr lang="en-US" sz="4800" b="1" u="sng" dirty="0" smtClean="0">
                <a:solidFill>
                  <a:srgbClr val="0070C0"/>
                </a:solidFill>
                <a:latin typeface="Century" pitchFamily="18" charset="0"/>
                <a:cs typeface="Arial" charset="0"/>
              </a:rPr>
              <a:t>PENAL   CLAUSES</a:t>
            </a:r>
          </a:p>
          <a:p>
            <a:pPr marL="1428750" lvl="2" indent="-514350" algn="l"/>
            <a:endParaRPr lang="en-US" sz="2000" b="1" u="sng" dirty="0" smtClean="0">
              <a:solidFill>
                <a:srgbClr val="0070C0"/>
              </a:solidFill>
              <a:latin typeface="Century" pitchFamily="18" charset="0"/>
              <a:cs typeface="Arial" charset="0"/>
            </a:endParaRPr>
          </a:p>
          <a:p>
            <a:pPr marL="1428750" lvl="2" indent="-514350" algn="l"/>
            <a:r>
              <a:rPr lang="en-US" sz="2400" b="1" dirty="0" smtClean="0">
                <a:solidFill>
                  <a:srgbClr val="0070C0"/>
                </a:solidFill>
                <a:latin typeface="Century" pitchFamily="18" charset="0"/>
                <a:cs typeface="Arial" charset="0"/>
              </a:rPr>
              <a:t>RTI  ACT 2005 (WEF 12-10-2005)</a:t>
            </a:r>
          </a:p>
          <a:p>
            <a:pPr marL="1428750" lvl="2" indent="-514350" algn="l"/>
            <a:r>
              <a:rPr lang="en-US" sz="2400" b="1" dirty="0" smtClean="0">
                <a:solidFill>
                  <a:srgbClr val="0070C0"/>
                </a:solidFill>
                <a:latin typeface="Century" pitchFamily="18" charset="0"/>
                <a:cs typeface="Arial" charset="0"/>
              </a:rPr>
              <a:t>CAUSES				</a:t>
            </a:r>
          </a:p>
          <a:p>
            <a:pPr marL="1428750" lvl="2" indent="-514350" algn="l">
              <a:buFont typeface="Wingdings 2" pitchFamily="18" charset="2"/>
              <a:buAutoNum type="arabicPeriod"/>
            </a:pPr>
            <a:r>
              <a:rPr lang="en-US" sz="2000" b="1" dirty="0" smtClean="0">
                <a:solidFill>
                  <a:srgbClr val="0070C0"/>
                </a:solidFill>
                <a:latin typeface="Century" pitchFamily="18" charset="0"/>
                <a:cs typeface="Arial" charset="0"/>
              </a:rPr>
              <a:t>Information not provided</a:t>
            </a:r>
          </a:p>
          <a:p>
            <a:pPr marL="1428750" lvl="2" indent="-514350" algn="l">
              <a:buFont typeface="Wingdings 2" pitchFamily="18" charset="2"/>
              <a:buAutoNum type="arabicPeriod"/>
            </a:pPr>
            <a:r>
              <a:rPr lang="en-US" sz="2000" b="1" dirty="0" smtClean="0">
                <a:solidFill>
                  <a:srgbClr val="0070C0"/>
                </a:solidFill>
                <a:latin typeface="Century" pitchFamily="18" charset="0"/>
                <a:cs typeface="Arial" charset="0"/>
              </a:rPr>
              <a:t>Information delayed</a:t>
            </a:r>
          </a:p>
          <a:p>
            <a:pPr marL="1428750" lvl="2" indent="-514350" algn="l">
              <a:buFont typeface="Wingdings 2" pitchFamily="18" charset="2"/>
              <a:buAutoNum type="arabicPeriod"/>
            </a:pPr>
            <a:r>
              <a:rPr lang="en-US" sz="2000" b="1" dirty="0" smtClean="0">
                <a:solidFill>
                  <a:srgbClr val="0070C0"/>
                </a:solidFill>
                <a:latin typeface="Century" pitchFamily="18" charset="0"/>
                <a:cs typeface="Arial" charset="0"/>
              </a:rPr>
              <a:t>False / Incomplete information</a:t>
            </a:r>
          </a:p>
          <a:p>
            <a:pPr marL="1428750" lvl="2" indent="-514350" algn="l">
              <a:buFont typeface="Wingdings 2" pitchFamily="18" charset="2"/>
              <a:buAutoNum type="arabicPeriod"/>
            </a:pPr>
            <a:r>
              <a:rPr lang="en-US" sz="2000" b="1" dirty="0" smtClean="0">
                <a:solidFill>
                  <a:srgbClr val="0070C0"/>
                </a:solidFill>
                <a:latin typeface="Century" pitchFamily="18" charset="0"/>
                <a:cs typeface="Arial" charset="0"/>
              </a:rPr>
              <a:t>Refused to receive application</a:t>
            </a:r>
          </a:p>
          <a:p>
            <a:pPr marL="1428750" lvl="2" indent="-514350" algn="l">
              <a:buFont typeface="Wingdings 2" pitchFamily="18" charset="2"/>
              <a:buAutoNum type="arabicPeriod"/>
            </a:pPr>
            <a:r>
              <a:rPr lang="en-US" sz="2000" b="1" dirty="0" smtClean="0">
                <a:solidFill>
                  <a:srgbClr val="0070C0"/>
                </a:solidFill>
                <a:latin typeface="Century" pitchFamily="18" charset="0"/>
                <a:cs typeface="Arial" charset="0"/>
              </a:rPr>
              <a:t>Destroyed the information</a:t>
            </a:r>
          </a:p>
          <a:p>
            <a:pPr marL="1428750" lvl="2" indent="-514350" algn="l"/>
            <a:r>
              <a:rPr lang="en-US" sz="2400" b="1" dirty="0" smtClean="0">
                <a:solidFill>
                  <a:srgbClr val="0070C0"/>
                </a:solidFill>
                <a:latin typeface="Century" pitchFamily="18" charset="0"/>
                <a:cs typeface="Arial" charset="0"/>
              </a:rPr>
              <a:t>PENALTY </a:t>
            </a:r>
          </a:p>
          <a:p>
            <a:pPr marL="1428750" lvl="2" indent="-514350" algn="l">
              <a:buFont typeface="Wingdings 2" pitchFamily="18" charset="2"/>
              <a:buAutoNum type="arabicPlain"/>
            </a:pPr>
            <a:r>
              <a:rPr lang="en-US" sz="2400" b="1" dirty="0" smtClean="0">
                <a:solidFill>
                  <a:srgbClr val="0070C0"/>
                </a:solidFill>
                <a:latin typeface="Century" pitchFamily="18" charset="0"/>
                <a:cs typeface="Arial" charset="0"/>
              </a:rPr>
              <a:t>Rs 250/- pd Max Rs 25000/-(sec 20)</a:t>
            </a:r>
          </a:p>
          <a:p>
            <a:pPr marL="1428750" lvl="2" indent="-514350" algn="l">
              <a:buFont typeface="Wingdings 2" pitchFamily="18" charset="2"/>
              <a:buAutoNum type="arabicPlain"/>
            </a:pPr>
            <a:r>
              <a:rPr lang="en-US" sz="2400" b="1" dirty="0" smtClean="0">
                <a:solidFill>
                  <a:srgbClr val="0070C0"/>
                </a:solidFill>
                <a:latin typeface="Century" pitchFamily="18" charset="0"/>
                <a:cs typeface="Arial" charset="0"/>
              </a:rPr>
              <a:t>In some cases compensation to applicant</a:t>
            </a:r>
          </a:p>
          <a:p>
            <a:pPr marL="1428750" lvl="2" indent="-514350" algn="l"/>
            <a:r>
              <a:rPr lang="en-US" sz="2400" b="1" dirty="0" smtClean="0">
                <a:solidFill>
                  <a:srgbClr val="0070C0"/>
                </a:solidFill>
                <a:latin typeface="Century" pitchFamily="18" charset="0"/>
                <a:cs typeface="Arial" charset="0"/>
              </a:rPr>
              <a:t>		sec 19 (8) (b) </a:t>
            </a:r>
          </a:p>
          <a:p>
            <a:pPr marL="1428750" lvl="2" indent="-514350" algn="l"/>
            <a:r>
              <a:rPr lang="en-US" sz="2400" b="1" dirty="0" smtClean="0">
                <a:solidFill>
                  <a:srgbClr val="0070C0"/>
                </a:solidFill>
                <a:latin typeface="Century" pitchFamily="18" charset="0"/>
                <a:cs typeface="Arial" charset="0"/>
              </a:rPr>
              <a:t>	Recommend    DE	(Only  SIC)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914400"/>
            <a:ext cx="8382000" cy="4343400"/>
          </a:xfrm>
        </p:spPr>
        <p:txBody>
          <a:bodyPr>
            <a:noAutofit/>
          </a:bodyPr>
          <a:lstStyle/>
          <a:p>
            <a:pPr marL="1428750" lvl="2" indent="-514350" algn="l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3200" b="1" u="sng" dirty="0" smtClean="0">
                <a:solidFill>
                  <a:srgbClr val="FF0000"/>
                </a:solidFill>
                <a:latin typeface="Century" pitchFamily="18" charset="0"/>
                <a:cs typeface="Arial" pitchFamily="34" charset="0"/>
              </a:rPr>
              <a:t>KSPR  ACT 2010 (WEF 22-11-2011)</a:t>
            </a:r>
          </a:p>
          <a:p>
            <a:pPr marL="1428750" lvl="2" indent="-514350" algn="l" fontAlgn="auto">
              <a:spcAft>
                <a:spcPts val="0"/>
              </a:spcAft>
              <a:buFont typeface="Wingdings 2"/>
              <a:buNone/>
              <a:defRPr/>
            </a:pPr>
            <a:endParaRPr lang="en-US" sz="2400" b="1" dirty="0" smtClean="0">
              <a:solidFill>
                <a:srgbClr val="FFFF00"/>
              </a:solidFill>
              <a:latin typeface="Century" pitchFamily="18" charset="0"/>
              <a:cs typeface="Arial" pitchFamily="34" charset="0"/>
            </a:endParaRPr>
          </a:p>
          <a:p>
            <a:pPr marL="1428750" lvl="2" indent="-514350" algn="l" fontAlgn="auto">
              <a:spcAft>
                <a:spcPts val="0"/>
              </a:spcAft>
              <a:buFont typeface="Wingdings 2"/>
              <a:buNone/>
              <a:defRPr/>
            </a:pPr>
            <a:endParaRPr lang="en-US" sz="2400" b="1" dirty="0" smtClean="0">
              <a:solidFill>
                <a:srgbClr val="FFFF00"/>
              </a:solidFill>
              <a:latin typeface="Century" pitchFamily="18" charset="0"/>
              <a:cs typeface="Arial" pitchFamily="34" charset="0"/>
            </a:endParaRPr>
          </a:p>
          <a:p>
            <a:pPr marL="1428750" lvl="2" indent="-514350" algn="l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2400" b="1" dirty="0" smtClean="0">
                <a:solidFill>
                  <a:srgbClr val="FF0000"/>
                </a:solidFill>
                <a:latin typeface="Century" pitchFamily="18" charset="0"/>
                <a:cs typeface="Arial" pitchFamily="34" charset="0"/>
              </a:rPr>
              <a:t>CAUSES</a:t>
            </a:r>
          </a:p>
          <a:p>
            <a:pPr marL="1428750" lvl="2" indent="-514350" algn="l" fontAlgn="auto">
              <a:spcAft>
                <a:spcPts val="0"/>
              </a:spcAft>
              <a:buFont typeface="Wingdings 2"/>
              <a:buAutoNum type="arabicPlain"/>
              <a:defRPr/>
            </a:pPr>
            <a:r>
              <a:rPr lang="en-US" sz="2400" b="1" dirty="0" smtClean="0">
                <a:solidFill>
                  <a:srgbClr val="FF0000"/>
                </a:solidFill>
                <a:latin typeface="Century" pitchFamily="18" charset="0"/>
                <a:cs typeface="Arial" pitchFamily="34" charset="0"/>
              </a:rPr>
              <a:t>Destroying Records (sec 8)</a:t>
            </a:r>
          </a:p>
          <a:p>
            <a:pPr marL="1428750" lvl="2" indent="-514350" algn="l" fontAlgn="auto">
              <a:spcAft>
                <a:spcPts val="0"/>
              </a:spcAft>
              <a:buFont typeface="Wingdings 2"/>
              <a:buAutoNum type="arabicPlain"/>
              <a:defRPr/>
            </a:pPr>
            <a:r>
              <a:rPr lang="en-US" sz="2400" b="1" dirty="0" smtClean="0">
                <a:solidFill>
                  <a:srgbClr val="FF0000"/>
                </a:solidFill>
                <a:latin typeface="Century" pitchFamily="18" charset="0"/>
                <a:cs typeface="Arial" pitchFamily="34" charset="0"/>
              </a:rPr>
              <a:t>Taking Records out of state (sec 4)</a:t>
            </a:r>
          </a:p>
          <a:p>
            <a:pPr marL="1428750" lvl="2" indent="-514350" algn="l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2400" b="1" dirty="0" smtClean="0">
                <a:solidFill>
                  <a:srgbClr val="FF0000"/>
                </a:solidFill>
                <a:latin typeface="Century" pitchFamily="18" charset="0"/>
                <a:cs typeface="Arial" pitchFamily="34" charset="0"/>
              </a:rPr>
              <a:t>PENALTY</a:t>
            </a:r>
          </a:p>
          <a:p>
            <a:pPr marL="1428750" lvl="2" indent="-514350" algn="l" fontAlgn="auto">
              <a:spcAft>
                <a:spcPts val="0"/>
              </a:spcAft>
              <a:buFont typeface="Wingdings 2"/>
              <a:buAutoNum type="arabicPlain"/>
              <a:defRPr/>
            </a:pPr>
            <a:r>
              <a:rPr lang="en-US" sz="2400" b="1" dirty="0" smtClean="0">
                <a:solidFill>
                  <a:srgbClr val="FF0000"/>
                </a:solidFill>
                <a:latin typeface="Century" pitchFamily="18" charset="0"/>
                <a:cs typeface="Arial" pitchFamily="34" charset="0"/>
              </a:rPr>
              <a:t>Imprisonment  up to 5 years</a:t>
            </a:r>
          </a:p>
          <a:p>
            <a:pPr marL="1428750" lvl="2" indent="-514350" algn="l" fontAlgn="auto">
              <a:spcAft>
                <a:spcPts val="0"/>
              </a:spcAft>
              <a:buFont typeface="Wingdings 2"/>
              <a:buAutoNum type="arabicPlain"/>
              <a:defRPr/>
            </a:pPr>
            <a:r>
              <a:rPr lang="en-US" sz="2400" b="1" dirty="0" smtClean="0">
                <a:solidFill>
                  <a:srgbClr val="FF0000"/>
                </a:solidFill>
                <a:latin typeface="Century" pitchFamily="18" charset="0"/>
                <a:cs typeface="Arial" pitchFamily="34" charset="0"/>
              </a:rPr>
              <a:t>Fine  up to Rs 25000/- or both	   sec 9</a:t>
            </a:r>
          </a:p>
          <a:p>
            <a:pPr marL="1428750" lvl="2" indent="-514350" algn="l" fontAlgn="auto">
              <a:spcAft>
                <a:spcPts val="0"/>
              </a:spcAft>
              <a:buFont typeface="Wingdings 2"/>
              <a:buAutoNum type="arabicPlain"/>
              <a:defRPr/>
            </a:pPr>
            <a:endParaRPr lang="en-US" sz="2400" b="1" dirty="0" smtClean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  <a:p>
            <a:pPr marL="2800350" lvl="5" indent="-514350" algn="l">
              <a:defRPr/>
            </a:pPr>
            <a:r>
              <a:rPr lang="en-US" sz="2100" b="1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……………………………………</a:t>
            </a:r>
          </a:p>
        </p:txBody>
      </p:sp>
      <p:sp>
        <p:nvSpPr>
          <p:cNvPr id="4" name="Right Brace 3"/>
          <p:cNvSpPr/>
          <p:nvPr/>
        </p:nvSpPr>
        <p:spPr>
          <a:xfrm>
            <a:off x="6096000" y="4114800"/>
            <a:ext cx="533400" cy="990600"/>
          </a:xfrm>
          <a:prstGeom prst="rightBrace">
            <a:avLst>
              <a:gd name="adj1" fmla="val 8333"/>
              <a:gd name="adj2" fmla="val 51539"/>
            </a:avLst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228600"/>
            <a:ext cx="7851648" cy="1828800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dirty="0" smtClean="0">
                <a:latin typeface="Century" pitchFamily="18" charset="0"/>
              </a:rPr>
              <a:t>KARNATAKA STATE PUBLIC RECORDS ACT 2010</a:t>
            </a:r>
            <a:br>
              <a:rPr lang="en-US" dirty="0" smtClean="0">
                <a:latin typeface="Century" pitchFamily="18" charset="0"/>
              </a:rPr>
            </a:br>
            <a:r>
              <a:rPr lang="en-US" sz="3100" dirty="0" smtClean="0">
                <a:latin typeface="Century" pitchFamily="18" charset="0"/>
              </a:rPr>
              <a:t>(WEF 22-11-2011)</a:t>
            </a:r>
            <a:endParaRPr lang="en-US" sz="3100" dirty="0">
              <a:latin typeface="Century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2209800"/>
            <a:ext cx="7772400" cy="4495800"/>
          </a:xfrm>
        </p:spPr>
        <p:txBody>
          <a:bodyPr>
            <a:normAutofit lnSpcReduction="10000"/>
          </a:bodyPr>
          <a:lstStyle/>
          <a:p>
            <a:pPr marR="0" algn="l"/>
            <a:r>
              <a:rPr lang="en-US" u="sng" dirty="0" smtClean="0">
                <a:latin typeface="Century" pitchFamily="18" charset="0"/>
              </a:rPr>
              <a:t>Section </a:t>
            </a:r>
            <a:r>
              <a:rPr lang="en-US" u="sng" dirty="0" smtClean="0">
                <a:latin typeface="Century" pitchFamily="18" charset="0"/>
                <a:ea typeface="Adobe Fan Heiti Std B" pitchFamily="34" charset="-128"/>
              </a:rPr>
              <a:t>2(d)  Definition of Record</a:t>
            </a:r>
          </a:p>
          <a:p>
            <a:pPr marR="0" algn="l"/>
            <a:r>
              <a:rPr lang="en-US" dirty="0" smtClean="0">
                <a:latin typeface="Century" pitchFamily="18" charset="0"/>
                <a:ea typeface="Adobe Fan Heiti Std B" pitchFamily="34" charset="-128"/>
              </a:rPr>
              <a:t>		“</a:t>
            </a:r>
            <a:r>
              <a:rPr lang="en-US" dirty="0" smtClean="0">
                <a:solidFill>
                  <a:srgbClr val="FF0000"/>
                </a:solidFill>
                <a:latin typeface="Century" pitchFamily="18" charset="0"/>
                <a:ea typeface="Adobe Fan Heiti Std B" pitchFamily="34" charset="-128"/>
              </a:rPr>
              <a:t>Public Record</a:t>
            </a:r>
            <a:r>
              <a:rPr lang="en-US" dirty="0" smtClean="0">
                <a:latin typeface="Century" pitchFamily="18" charset="0"/>
                <a:ea typeface="Adobe Fan Heiti Std B" pitchFamily="34" charset="-128"/>
              </a:rPr>
              <a:t> "includes </a:t>
            </a:r>
          </a:p>
          <a:p>
            <a:pPr marR="0" algn="l">
              <a:buFont typeface="Wingdings 2" pitchFamily="18" charset="2"/>
              <a:buAutoNum type="romanLcParenBoth"/>
            </a:pPr>
            <a:r>
              <a:rPr lang="en-US" dirty="0" smtClean="0">
                <a:latin typeface="Century" pitchFamily="18" charset="0"/>
                <a:ea typeface="Adobe Fan Heiti Std B" pitchFamily="34" charset="-128"/>
              </a:rPr>
              <a:t>Any  document, manuscript and file,</a:t>
            </a:r>
          </a:p>
          <a:p>
            <a:pPr marR="0" algn="l">
              <a:buFont typeface="Wingdings 2" pitchFamily="18" charset="2"/>
              <a:buAutoNum type="romanLcParenBoth"/>
            </a:pPr>
            <a:r>
              <a:rPr lang="en-US" dirty="0" smtClean="0">
                <a:latin typeface="Century" pitchFamily="18" charset="0"/>
                <a:ea typeface="Adobe Fan Heiti Std B" pitchFamily="34" charset="-128"/>
              </a:rPr>
              <a:t>Any  micro film, microfiche and facsimile copy of a document,</a:t>
            </a:r>
          </a:p>
          <a:p>
            <a:pPr marR="0" algn="l">
              <a:buFont typeface="Wingdings 2" pitchFamily="18" charset="2"/>
              <a:buAutoNum type="romanLcParenBoth"/>
            </a:pPr>
            <a:r>
              <a:rPr lang="en-US" dirty="0" smtClean="0">
                <a:latin typeface="Century" pitchFamily="18" charset="0"/>
                <a:ea typeface="Adobe Fan Heiti Std B" pitchFamily="34" charset="-128"/>
              </a:rPr>
              <a:t>Any reproduction of image or images embodied in such microfilm, whether enlarged or not, and </a:t>
            </a:r>
          </a:p>
          <a:p>
            <a:pPr marR="0" algn="l">
              <a:buFont typeface="Wingdings 2" pitchFamily="18" charset="2"/>
              <a:buAutoNum type="romanLcParenBoth"/>
            </a:pPr>
            <a:r>
              <a:rPr lang="en-US" dirty="0" smtClean="0">
                <a:latin typeface="Century" pitchFamily="18" charset="0"/>
                <a:ea typeface="Adobe Fan Heiti Std B" pitchFamily="34" charset="-128"/>
              </a:rPr>
              <a:t>Any other material produced  by a computer or by any other device of any records creating agency </a:t>
            </a:r>
          </a:p>
          <a:p>
            <a:pPr marR="0" algn="l">
              <a:buFont typeface="Wingdings 2" pitchFamily="18" charset="2"/>
              <a:buAutoNum type="romanLcParenBoth"/>
            </a:pPr>
            <a:endParaRPr lang="en-US" dirty="0" smtClean="0">
              <a:latin typeface="Adobe Fan Heiti Std B" pitchFamily="34" charset="-128"/>
              <a:ea typeface="Adobe Fan Heiti Std B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-1828800"/>
            <a:ext cx="7851775" cy="1828800"/>
          </a:xfr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endParaRPr lang="en-US" sz="3100" dirty="0"/>
          </a:p>
        </p:txBody>
      </p:sp>
      <p:sp>
        <p:nvSpPr>
          <p:cNvPr id="6147" name="Subtitle 2"/>
          <p:cNvSpPr>
            <a:spLocks noGrp="1"/>
          </p:cNvSpPr>
          <p:nvPr>
            <p:ph type="subTitle" idx="1"/>
          </p:nvPr>
        </p:nvSpPr>
        <p:spPr>
          <a:xfrm>
            <a:off x="1143000" y="685800"/>
            <a:ext cx="7772400" cy="5867400"/>
          </a:xfrm>
        </p:spPr>
        <p:txBody>
          <a:bodyPr>
            <a:normAutofit/>
          </a:bodyPr>
          <a:lstStyle/>
          <a:p>
            <a:pPr marL="571500" marR="0" indent="-571500" algn="l"/>
            <a:r>
              <a:rPr lang="en-US" dirty="0" smtClean="0">
                <a:solidFill>
                  <a:srgbClr val="FF0000"/>
                </a:solidFill>
                <a:latin typeface="Century" pitchFamily="18" charset="0"/>
                <a:ea typeface="Adobe Fan Heiti Std B" pitchFamily="34" charset="-128"/>
              </a:rPr>
              <a:t>Section 3(2) Functions of  the Director of State	Archives</a:t>
            </a:r>
          </a:p>
          <a:p>
            <a:pPr marL="571500" marR="0" indent="-571500" algn="l">
              <a:buFont typeface="Wingdings 2" pitchFamily="18" charset="2"/>
              <a:buAutoNum type="alphaLcParenBoth"/>
            </a:pPr>
            <a:r>
              <a:rPr lang="en-US" dirty="0" smtClean="0">
                <a:latin typeface="Century" pitchFamily="18" charset="0"/>
                <a:ea typeface="Adobe Fan Heiti Std B" pitchFamily="34" charset="-128"/>
              </a:rPr>
              <a:t>Supervision, management and control of the archives </a:t>
            </a:r>
          </a:p>
          <a:p>
            <a:pPr marL="571500" marR="0" indent="-571500" algn="l">
              <a:buFont typeface="Wingdings 2" pitchFamily="18" charset="2"/>
              <a:buAutoNum type="alphaLcParenBoth" startAt="4"/>
            </a:pPr>
            <a:r>
              <a:rPr lang="en-US" dirty="0" smtClean="0">
                <a:latin typeface="Century" pitchFamily="18" charset="0"/>
                <a:ea typeface="Adobe Fan Heiti Std B" pitchFamily="34" charset="-128"/>
              </a:rPr>
              <a:t>Arrangement, preservation and exhibition of Public Records</a:t>
            </a:r>
          </a:p>
          <a:p>
            <a:pPr marL="571500" marR="0" indent="-571500" algn="l">
              <a:buFont typeface="Wingdings 2" pitchFamily="18" charset="2"/>
              <a:buAutoNum type="alphaLcParenBoth" startAt="6"/>
            </a:pPr>
            <a:r>
              <a:rPr lang="en-US" dirty="0" smtClean="0">
                <a:latin typeface="Century" pitchFamily="18" charset="0"/>
                <a:ea typeface="Adobe Fan Heiti Std B" pitchFamily="34" charset="-128"/>
              </a:rPr>
              <a:t>Analyzing, developing, promoting and         co-</a:t>
            </a:r>
            <a:r>
              <a:rPr lang="en-US" dirty="0" err="1" smtClean="0">
                <a:latin typeface="Century" pitchFamily="18" charset="0"/>
                <a:ea typeface="Adobe Fan Heiti Std B" pitchFamily="34" charset="-128"/>
              </a:rPr>
              <a:t>ordinating</a:t>
            </a:r>
            <a:r>
              <a:rPr lang="en-US" dirty="0" smtClean="0">
                <a:latin typeface="Century" pitchFamily="18" charset="0"/>
                <a:ea typeface="Adobe Fan Heiti Std B" pitchFamily="34" charset="-128"/>
              </a:rPr>
              <a:t> the standards, procedures and the techniques for improvement of the records management system, </a:t>
            </a:r>
          </a:p>
          <a:p>
            <a:pPr marL="571500" marR="0" indent="-571500" algn="l">
              <a:buFont typeface="Wingdings 2" pitchFamily="18" charset="2"/>
              <a:buAutoNum type="alphaLcParenBoth" startAt="10"/>
            </a:pPr>
            <a:r>
              <a:rPr lang="en-US" dirty="0" smtClean="0">
                <a:latin typeface="Century" pitchFamily="18" charset="0"/>
                <a:ea typeface="Adobe Fan Heiti Std B" pitchFamily="34" charset="-128"/>
              </a:rPr>
              <a:t>Survey and inspection of public records</a:t>
            </a:r>
          </a:p>
          <a:p>
            <a:pPr marL="571500" marR="0" indent="-571500" algn="l"/>
            <a:r>
              <a:rPr lang="en-US" dirty="0" smtClean="0">
                <a:latin typeface="Century" pitchFamily="18" charset="0"/>
                <a:ea typeface="Adobe Fan Heiti Std B" pitchFamily="34" charset="-128"/>
              </a:rPr>
              <a:t>(q)   Destroying or disposal of public records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ubtitle 2"/>
          <p:cNvSpPr>
            <a:spLocks noGrp="1"/>
          </p:cNvSpPr>
          <p:nvPr>
            <p:ph type="subTitle" idx="1"/>
          </p:nvPr>
        </p:nvSpPr>
        <p:spPr>
          <a:xfrm>
            <a:off x="1066800" y="990600"/>
            <a:ext cx="7924800" cy="5638800"/>
          </a:xfrm>
        </p:spPr>
        <p:txBody>
          <a:bodyPr>
            <a:normAutofit/>
          </a:bodyPr>
          <a:lstStyle/>
          <a:p>
            <a:pPr marL="571500" marR="0" indent="-571500" algn="l"/>
            <a:r>
              <a:rPr lang="en-US" dirty="0" smtClean="0">
                <a:latin typeface="Century" pitchFamily="18" charset="0"/>
                <a:ea typeface="Adobe Fan Heiti Std B" pitchFamily="34" charset="-128"/>
              </a:rPr>
              <a:t>Section 4      prohibition against taking of public             		records out of the state</a:t>
            </a:r>
          </a:p>
          <a:p>
            <a:pPr marL="571500" marR="0" indent="-571500" algn="l"/>
            <a:r>
              <a:rPr lang="en-US" dirty="0" smtClean="0">
                <a:latin typeface="Century" pitchFamily="18" charset="0"/>
                <a:ea typeface="Adobe Fan Heiti Std B" pitchFamily="34" charset="-128"/>
              </a:rPr>
              <a:t>Section 5	Records officer :- Every Records 			creating Agency shall nominate one 		of its officers as Records officer to 		  discharge the functions under this act</a:t>
            </a:r>
          </a:p>
          <a:p>
            <a:pPr marL="571500" marR="0" indent="-571500" algn="l"/>
            <a:r>
              <a:rPr lang="en-US" dirty="0" smtClean="0">
                <a:latin typeface="Century" pitchFamily="18" charset="0"/>
                <a:ea typeface="Adobe Fan Heiti Std B" pitchFamily="34" charset="-128"/>
              </a:rPr>
              <a:t>Section 6	Responsibilities of Records officer</a:t>
            </a:r>
          </a:p>
          <a:p>
            <a:pPr marL="571500" marR="0" indent="-571500" algn="l"/>
            <a:r>
              <a:rPr lang="en-US" dirty="0" smtClean="0">
                <a:latin typeface="Century" pitchFamily="18" charset="0"/>
                <a:ea typeface="Adobe Fan Heiti Std B" pitchFamily="34" charset="-128"/>
              </a:rPr>
              <a:t>Section 7 	Records officer to take appropriate 	action  in the event of unauthorized 		removal destruction of  Public Records</a:t>
            </a:r>
          </a:p>
          <a:p>
            <a:pPr marL="571500" marR="0" indent="-571500" algn="l"/>
            <a:r>
              <a:rPr lang="en-US" dirty="0" smtClean="0">
                <a:latin typeface="Century" pitchFamily="18" charset="0"/>
                <a:ea typeface="Adobe Fan Heiti Std B" pitchFamily="34" charset="-128"/>
              </a:rPr>
              <a:t>Section 8	Destruction  or disposal of Public 			Records</a:t>
            </a:r>
          </a:p>
          <a:p>
            <a:pPr marL="571500" marR="0" indent="-571500" algn="l"/>
            <a:r>
              <a:rPr lang="en-US" dirty="0" smtClean="0">
                <a:latin typeface="Century" pitchFamily="18" charset="0"/>
                <a:ea typeface="Adobe Fan Heiti Std B" pitchFamily="34" charset="-128"/>
              </a:rPr>
              <a:t>		</a:t>
            </a:r>
          </a:p>
          <a:p>
            <a:pPr marL="571500" marR="0" indent="-571500" algn="l"/>
            <a:endParaRPr lang="en-US" dirty="0" smtClean="0">
              <a:latin typeface="Century" pitchFamily="18" charset="0"/>
              <a:ea typeface="Adobe Fan Heiti Std B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Subtitle 2"/>
          <p:cNvSpPr>
            <a:spLocks noGrp="1"/>
          </p:cNvSpPr>
          <p:nvPr>
            <p:ph type="subTitle" idx="1"/>
          </p:nvPr>
        </p:nvSpPr>
        <p:spPr>
          <a:xfrm>
            <a:off x="533400" y="1981200"/>
            <a:ext cx="7854950" cy="4114800"/>
          </a:xfrm>
        </p:spPr>
        <p:txBody>
          <a:bodyPr>
            <a:normAutofit/>
          </a:bodyPr>
          <a:lstStyle/>
          <a:p>
            <a:pPr marL="571500" marR="0" indent="-571500" algn="l"/>
            <a:r>
              <a:rPr lang="en-US" dirty="0" smtClean="0">
                <a:solidFill>
                  <a:srgbClr val="FF0000"/>
                </a:solidFill>
                <a:latin typeface="Century" pitchFamily="18" charset="0"/>
                <a:ea typeface="Adobe Fan Heiti Std B" pitchFamily="34" charset="-128"/>
              </a:rPr>
              <a:t>Section 9 	</a:t>
            </a:r>
            <a:r>
              <a:rPr lang="en-US" sz="3600" b="1" u="sng" dirty="0" smtClean="0">
                <a:solidFill>
                  <a:srgbClr val="FF0000"/>
                </a:solidFill>
                <a:latin typeface="Century" pitchFamily="18" charset="0"/>
                <a:ea typeface="Adobe Fan Heiti Std B" pitchFamily="34" charset="-128"/>
              </a:rPr>
              <a:t>Penalty for  contraventions</a:t>
            </a:r>
          </a:p>
          <a:p>
            <a:pPr marL="571500" marR="0" indent="-571500" algn="l"/>
            <a:r>
              <a:rPr lang="en-US" dirty="0" smtClean="0">
                <a:solidFill>
                  <a:schemeClr val="accent2">
                    <a:lumMod val="50000"/>
                  </a:schemeClr>
                </a:solidFill>
                <a:latin typeface="Century" pitchFamily="18" charset="0"/>
                <a:ea typeface="Adobe Fan Heiti Std B" pitchFamily="34" charset="-128"/>
              </a:rPr>
              <a:t>	whoever contravenes any of the provisions of section 4 or section 8 shall be punishable with imprisonment for a term which may extend to five years or with fine which may extend to twenty five thousand rupees or  with both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715000"/>
            <a:ext cx="8001000" cy="838200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5400" dirty="0" smtClean="0"/>
              <a:t>END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1371600"/>
            <a:ext cx="7620000" cy="4114800"/>
          </a:xfrm>
        </p:spPr>
        <p:txBody>
          <a:bodyPr>
            <a:normAutofit/>
          </a:bodyPr>
          <a:lstStyle/>
          <a:p>
            <a:pPr marL="571500" marR="0" indent="-571500" algn="l">
              <a:lnSpc>
                <a:spcPct val="80000"/>
              </a:lnSpc>
            </a:pPr>
            <a:r>
              <a:rPr lang="en-US" sz="2000" dirty="0" smtClean="0">
                <a:latin typeface="Adobe Fan Heiti Std B" pitchFamily="34" charset="-128"/>
                <a:ea typeface="Adobe Fan Heiti Std B" pitchFamily="34" charset="-128"/>
              </a:rPr>
              <a:t>Section 13 		Archival Advisory Board</a:t>
            </a:r>
          </a:p>
          <a:p>
            <a:pPr marL="571500" marR="0" indent="-571500" algn="l">
              <a:lnSpc>
                <a:spcPct val="80000"/>
              </a:lnSpc>
            </a:pPr>
            <a:r>
              <a:rPr lang="en-US" sz="2000" dirty="0" smtClean="0">
                <a:latin typeface="Adobe Fan Heiti Std B" pitchFamily="34" charset="-128"/>
                <a:ea typeface="Adobe Fan Heiti Std B" pitchFamily="34" charset="-128"/>
              </a:rPr>
              <a:t>				</a:t>
            </a:r>
          </a:p>
          <a:p>
            <a:pPr marL="571500" marR="0" indent="-571500" algn="l">
              <a:lnSpc>
                <a:spcPct val="80000"/>
              </a:lnSpc>
            </a:pPr>
            <a:r>
              <a:rPr lang="en-US" sz="2000" dirty="0" smtClean="0">
                <a:latin typeface="Adobe Fan Heiti Std B" pitchFamily="34" charset="-128"/>
                <a:ea typeface="Adobe Fan Heiti Std B" pitchFamily="34" charset="-128"/>
              </a:rPr>
              <a:t>Section 14		Functions of the Board</a:t>
            </a:r>
          </a:p>
          <a:p>
            <a:pPr marL="571500" marR="0" indent="-571500" algn="l">
              <a:lnSpc>
                <a:spcPct val="80000"/>
              </a:lnSpc>
            </a:pPr>
            <a:endParaRPr lang="en-US" sz="2000" dirty="0" smtClean="0">
              <a:latin typeface="Adobe Fan Heiti Std B" pitchFamily="34" charset="-128"/>
              <a:ea typeface="Adobe Fan Heiti Std B" pitchFamily="34" charset="-128"/>
            </a:endParaRPr>
          </a:p>
          <a:p>
            <a:pPr marL="571500" marR="0" indent="-571500" algn="l">
              <a:lnSpc>
                <a:spcPct val="80000"/>
              </a:lnSpc>
            </a:pPr>
            <a:r>
              <a:rPr lang="en-US" sz="2000" dirty="0" smtClean="0">
                <a:latin typeface="Adobe Fan Heiti Std B" pitchFamily="34" charset="-128"/>
                <a:ea typeface="Adobe Fan Heiti Std B" pitchFamily="34" charset="-128"/>
              </a:rPr>
              <a:t>Section 15 		Power of the Director to lay down</a:t>
            </a:r>
          </a:p>
          <a:p>
            <a:pPr marL="571500" marR="0" indent="-571500" algn="l">
              <a:lnSpc>
                <a:spcPct val="80000"/>
              </a:lnSpc>
            </a:pPr>
            <a:r>
              <a:rPr lang="en-US" sz="2000" dirty="0" smtClean="0">
                <a:latin typeface="Adobe Fan Heiti Std B" pitchFamily="34" charset="-128"/>
                <a:ea typeface="Adobe Fan Heiti Std B" pitchFamily="34" charset="-128"/>
              </a:rPr>
              <a:t>				norms and standards for courses</a:t>
            </a:r>
          </a:p>
          <a:p>
            <a:pPr marL="571500" marR="0" indent="-571500" algn="l">
              <a:lnSpc>
                <a:spcPct val="80000"/>
              </a:lnSpc>
            </a:pPr>
            <a:r>
              <a:rPr lang="en-US" sz="2000" dirty="0" smtClean="0">
                <a:latin typeface="Adobe Fan Heiti Std B" pitchFamily="34" charset="-128"/>
                <a:ea typeface="Adobe Fan Heiti Std B" pitchFamily="34" charset="-128"/>
              </a:rPr>
              <a:t>				in archival science</a:t>
            </a:r>
          </a:p>
          <a:p>
            <a:pPr marL="571500" marR="0" indent="-571500" algn="l">
              <a:lnSpc>
                <a:spcPct val="80000"/>
              </a:lnSpc>
            </a:pPr>
            <a:r>
              <a:rPr lang="en-US" sz="2000" dirty="0" smtClean="0">
                <a:latin typeface="Adobe Fan Heiti Std B" pitchFamily="34" charset="-128"/>
                <a:ea typeface="Adobe Fan Heiti Std B" pitchFamily="34" charset="-128"/>
              </a:rPr>
              <a:t>Section 16		Protection of action taken in 					good faith </a:t>
            </a:r>
          </a:p>
          <a:p>
            <a:pPr marL="571500" marR="0" indent="-571500" algn="l">
              <a:lnSpc>
                <a:spcPct val="80000"/>
              </a:lnSpc>
            </a:pPr>
            <a:endParaRPr lang="en-US" sz="2000" dirty="0" smtClean="0">
              <a:latin typeface="Adobe Fan Heiti Std B" pitchFamily="34" charset="-128"/>
              <a:ea typeface="Adobe Fan Heiti Std B" pitchFamily="34" charset="-128"/>
            </a:endParaRPr>
          </a:p>
          <a:p>
            <a:pPr marL="571500" marR="0" indent="-571500" algn="l">
              <a:lnSpc>
                <a:spcPct val="80000"/>
              </a:lnSpc>
            </a:pPr>
            <a:r>
              <a:rPr lang="en-US" sz="2000" dirty="0" smtClean="0">
                <a:latin typeface="Adobe Fan Heiti Std B" pitchFamily="34" charset="-128"/>
                <a:ea typeface="Adobe Fan Heiti Std B" pitchFamily="34" charset="-128"/>
              </a:rPr>
              <a:t>Section 17 		Power to make rules</a:t>
            </a:r>
          </a:p>
          <a:p>
            <a:pPr marL="571500" marR="0" indent="-571500" algn="l">
              <a:lnSpc>
                <a:spcPct val="80000"/>
              </a:lnSpc>
            </a:pPr>
            <a:endParaRPr lang="en-US" sz="2000" dirty="0" smtClean="0">
              <a:latin typeface="Adobe Fan Heiti Std B" pitchFamily="34" charset="-128"/>
              <a:ea typeface="Adobe Fan Heiti Std B" pitchFamily="34" charset="-128"/>
            </a:endParaRPr>
          </a:p>
          <a:p>
            <a:pPr marL="571500" marR="0" indent="-571500" algn="l">
              <a:lnSpc>
                <a:spcPct val="80000"/>
              </a:lnSpc>
            </a:pPr>
            <a:r>
              <a:rPr lang="en-US" sz="2000" dirty="0" smtClean="0">
                <a:latin typeface="Adobe Fan Heiti Std B" pitchFamily="34" charset="-128"/>
                <a:ea typeface="Adobe Fan Heiti Std B" pitchFamily="34" charset="-128"/>
              </a:rPr>
              <a:t>Section  18		Power to remove difficulty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851648" cy="1066800"/>
          </a:xfrm>
        </p:spPr>
        <p:txBody>
          <a:bodyPr/>
          <a:lstStyle/>
          <a:p>
            <a:pPr algn="ctr"/>
            <a:r>
              <a:rPr lang="en-US" dirty="0" smtClean="0">
                <a:latin typeface="Century" pitchFamily="18" charset="0"/>
              </a:rPr>
              <a:t>RECORD MANGEMENT </a:t>
            </a:r>
            <a:endParaRPr lang="en-US" dirty="0">
              <a:latin typeface="Century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371600"/>
            <a:ext cx="7854696" cy="3429000"/>
          </a:xfrm>
        </p:spPr>
        <p:txBody>
          <a:bodyPr>
            <a:noAutofit/>
          </a:bodyPr>
          <a:lstStyle/>
          <a:p>
            <a:pPr algn="ctr"/>
            <a:r>
              <a:rPr lang="en-US" sz="3200" b="1" u="sng" dirty="0" smtClean="0">
                <a:latin typeface="Century" pitchFamily="18" charset="0"/>
              </a:rPr>
              <a:t>Obligations  of public Authorities</a:t>
            </a:r>
          </a:p>
          <a:p>
            <a:pPr algn="ctr"/>
            <a:r>
              <a:rPr lang="en-US" sz="2000" b="1" u="sng" dirty="0" smtClean="0">
                <a:latin typeface="Century" pitchFamily="18" charset="0"/>
              </a:rPr>
              <a:t>Under RTI Act 2005</a:t>
            </a:r>
            <a:r>
              <a:rPr lang="en-US" sz="2800" dirty="0" smtClean="0">
                <a:latin typeface="Century" pitchFamily="18" charset="0"/>
              </a:rPr>
              <a:t> Every public authority shall </a:t>
            </a:r>
          </a:p>
          <a:p>
            <a:pPr algn="ctr"/>
            <a:r>
              <a:rPr lang="en-US" sz="2800" dirty="0" smtClean="0">
                <a:latin typeface="Century" pitchFamily="18" charset="0"/>
              </a:rPr>
              <a:t>maintain all its records duly catalogued and indexed in a manner and the form which 	facilitates the right to information under RTI Act...</a:t>
            </a:r>
          </a:p>
          <a:p>
            <a:pPr algn="ctr"/>
            <a:endParaRPr lang="en-US" sz="2800" dirty="0" smtClean="0">
              <a:latin typeface="Century" pitchFamily="18" charset="0"/>
            </a:endParaRPr>
          </a:p>
          <a:p>
            <a:pPr algn="ctr"/>
            <a:endParaRPr lang="en-US" sz="2800" dirty="0"/>
          </a:p>
          <a:p>
            <a:pPr algn="ctr"/>
            <a:endParaRPr lang="en-US" sz="2800" dirty="0" smtClean="0"/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457200" y="381000"/>
            <a:ext cx="8229600" cy="6096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609600" y="533400"/>
            <a:ext cx="8229600" cy="6096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57200"/>
            <a:ext cx="7854696" cy="152400"/>
          </a:xfrm>
        </p:spPr>
        <p:txBody>
          <a:bodyPr>
            <a:noAutofit/>
          </a:bodyPr>
          <a:lstStyle/>
          <a:p>
            <a:endParaRPr lang="en-US" sz="2400" dirty="0" smtClean="0"/>
          </a:p>
          <a:p>
            <a:r>
              <a:rPr lang="en-US" sz="2400" dirty="0" smtClean="0">
                <a:latin typeface="Century" pitchFamily="18" charset="0"/>
              </a:rPr>
              <a:t>...</a:t>
            </a:r>
            <a:r>
              <a:rPr lang="en-US" sz="2400" dirty="0">
                <a:latin typeface="Century" pitchFamily="18" charset="0"/>
              </a:rPr>
              <a:t>obligations of public </a:t>
            </a:r>
            <a:r>
              <a:rPr lang="en-US" sz="2400" dirty="0" smtClean="0">
                <a:latin typeface="Century" pitchFamily="18" charset="0"/>
              </a:rPr>
              <a:t>authorities(contd..)</a:t>
            </a:r>
            <a:endParaRPr lang="en-US" sz="2400" dirty="0">
              <a:latin typeface="Century" pitchFamily="18" charset="0"/>
            </a:endParaRPr>
          </a:p>
          <a:p>
            <a:pPr algn="ctr"/>
            <a:r>
              <a:rPr lang="en-US" sz="2400" dirty="0" smtClean="0">
                <a:latin typeface="Century" pitchFamily="18" charset="0"/>
              </a:rPr>
              <a:t>..and ensure that all records that are appropriate to be computerized are , within a reasonable time</a:t>
            </a:r>
          </a:p>
          <a:p>
            <a:pPr algn="ctr"/>
            <a:r>
              <a:rPr lang="en-US" sz="2400" dirty="0" smtClean="0">
                <a:latin typeface="Century" pitchFamily="18" charset="0"/>
              </a:rPr>
              <a:t>and subject to availability of resources, computerized </a:t>
            </a:r>
          </a:p>
          <a:p>
            <a:pPr algn="ctr"/>
            <a:r>
              <a:rPr lang="en-US" sz="2400" dirty="0" smtClean="0">
                <a:latin typeface="Century" pitchFamily="18" charset="0"/>
              </a:rPr>
              <a:t>and connected through a network</a:t>
            </a:r>
          </a:p>
          <a:p>
            <a:pPr algn="ctr"/>
            <a:r>
              <a:rPr lang="en-US" sz="2400" dirty="0" smtClean="0">
                <a:latin typeface="Century" pitchFamily="18" charset="0"/>
              </a:rPr>
              <a:t> all  over the country on different systems</a:t>
            </a:r>
          </a:p>
          <a:p>
            <a:pPr algn="ctr"/>
            <a:r>
              <a:rPr lang="en-US" sz="2400" dirty="0" smtClean="0">
                <a:latin typeface="Century" pitchFamily="18" charset="0"/>
              </a:rPr>
              <a:t>so that access to such records is facilitated; s.4(1) (a)</a:t>
            </a:r>
          </a:p>
          <a:p>
            <a:pPr algn="ctr"/>
            <a:endParaRPr lang="en-US" sz="2400" dirty="0" smtClean="0">
              <a:latin typeface="Century" pitchFamily="18" charset="0"/>
            </a:endParaRPr>
          </a:p>
          <a:p>
            <a:pPr algn="ctr"/>
            <a:r>
              <a:rPr lang="en-US" sz="2400" dirty="0" smtClean="0">
                <a:latin typeface="Century" pitchFamily="18" charset="0"/>
              </a:rPr>
              <a:t>Ex:- Secretary- </a:t>
            </a:r>
            <a:r>
              <a:rPr lang="en-US" sz="2400" dirty="0" err="1" smtClean="0">
                <a:latin typeface="Century" pitchFamily="18" charset="0"/>
              </a:rPr>
              <a:t>Moraba</a:t>
            </a:r>
            <a:r>
              <a:rPr lang="en-US" sz="2400" dirty="0" smtClean="0">
                <a:latin typeface="Century" pitchFamily="18" charset="0"/>
              </a:rPr>
              <a:t>.-GP-</a:t>
            </a:r>
            <a:r>
              <a:rPr lang="en-US" sz="2400" dirty="0" err="1" smtClean="0">
                <a:latin typeface="Century" pitchFamily="18" charset="0"/>
              </a:rPr>
              <a:t>Kudligi</a:t>
            </a:r>
            <a:r>
              <a:rPr lang="en-US" sz="2400" dirty="0" smtClean="0">
                <a:latin typeface="Century" pitchFamily="18" charset="0"/>
              </a:rPr>
              <a:t>. Tq, Bellary Dt.</a:t>
            </a:r>
          </a:p>
          <a:p>
            <a:pPr algn="ctr"/>
            <a:endParaRPr lang="en-US" sz="2400" dirty="0">
              <a:latin typeface="Century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Diagonal Corner Rectangle 4"/>
          <p:cNvSpPr/>
          <p:nvPr/>
        </p:nvSpPr>
        <p:spPr>
          <a:xfrm>
            <a:off x="990600" y="3962400"/>
            <a:ext cx="7543800" cy="1828800"/>
          </a:xfrm>
          <a:prstGeom prst="snip2DiagRect">
            <a:avLst/>
          </a:prstGeom>
          <a:gradFill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16200000" scaled="0"/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Horizontal Scroll 3"/>
          <p:cNvSpPr/>
          <p:nvPr/>
        </p:nvSpPr>
        <p:spPr>
          <a:xfrm>
            <a:off x="1447800" y="685800"/>
            <a:ext cx="6858000" cy="1295400"/>
          </a:xfrm>
          <a:prstGeom prst="horizontalScroll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609600"/>
            <a:ext cx="7924800" cy="11430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RTI   </a:t>
            </a:r>
            <a:r>
              <a:rPr lang="en-US" sz="4000" dirty="0" smtClean="0">
                <a:solidFill>
                  <a:srgbClr val="FF0000"/>
                </a:solidFill>
              </a:rPr>
              <a:t>SECTION </a:t>
            </a:r>
            <a:r>
              <a:rPr lang="en-US" dirty="0" smtClean="0">
                <a:solidFill>
                  <a:srgbClr val="FF0000"/>
                </a:solidFill>
              </a:rPr>
              <a:t>4(1)(a)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2286000"/>
            <a:ext cx="7854696" cy="1752600"/>
          </a:xfrm>
        </p:spPr>
        <p:txBody>
          <a:bodyPr>
            <a:noAutofit/>
          </a:bodyPr>
          <a:lstStyle/>
          <a:p>
            <a:pPr marL="514350" indent="-514350" algn="ctr"/>
            <a:r>
              <a:rPr lang="en-US" sz="4400" dirty="0" smtClean="0"/>
              <a:t>means</a:t>
            </a:r>
          </a:p>
          <a:p>
            <a:pPr marL="514350" indent="-514350" algn="ctr"/>
            <a:r>
              <a:rPr lang="en-US" sz="4400" dirty="0" smtClean="0">
                <a:solidFill>
                  <a:srgbClr val="FF0000"/>
                </a:solidFill>
              </a:rPr>
              <a:t>Record management</a:t>
            </a:r>
          </a:p>
          <a:p>
            <a:pPr marL="514350" indent="-514350" algn="ctr"/>
            <a:r>
              <a:rPr lang="en-US" sz="4400" dirty="0" smtClean="0">
                <a:solidFill>
                  <a:srgbClr val="FFC000"/>
                </a:solidFill>
              </a:rPr>
              <a:t>Classification, Indexing, &amp; Cataloging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851648" cy="1828800"/>
          </a:xfrm>
        </p:spPr>
        <p:txBody>
          <a:bodyPr>
            <a:normAutofit/>
          </a:bodyPr>
          <a:lstStyle/>
          <a:p>
            <a:pPr algn="ctr"/>
            <a:r>
              <a:rPr lang="en-US" sz="6000" dirty="0" smtClean="0"/>
              <a:t>Stages of a Record</a:t>
            </a:r>
            <a:br>
              <a:rPr lang="en-US" sz="6000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2800" y="2514600"/>
            <a:ext cx="7854696" cy="2438400"/>
          </a:xfrm>
        </p:spPr>
        <p:txBody>
          <a:bodyPr>
            <a:noAutofit/>
          </a:bodyPr>
          <a:lstStyle/>
          <a:p>
            <a:pPr marL="514350" indent="-514350" algn="l">
              <a:buAutoNum type="arabicPeriod"/>
            </a:pPr>
            <a:r>
              <a:rPr lang="en-US" sz="2800" dirty="0" smtClean="0">
                <a:latin typeface="Century" pitchFamily="18" charset="0"/>
              </a:rPr>
              <a:t>Creation</a:t>
            </a:r>
          </a:p>
          <a:p>
            <a:pPr marL="514350" indent="-514350" algn="l">
              <a:buAutoNum type="arabicPeriod"/>
            </a:pPr>
            <a:r>
              <a:rPr lang="en-US" sz="2800" b="1" dirty="0" smtClean="0">
                <a:latin typeface="Century" pitchFamily="18" charset="0"/>
              </a:rPr>
              <a:t>Classification</a:t>
            </a:r>
          </a:p>
          <a:p>
            <a:pPr marL="514350" indent="-514350" algn="l">
              <a:buAutoNum type="arabicPeriod"/>
            </a:pPr>
            <a:r>
              <a:rPr lang="en-US" sz="2800" b="1" dirty="0" smtClean="0">
                <a:latin typeface="Century" pitchFamily="18" charset="0"/>
              </a:rPr>
              <a:t>Maintenance</a:t>
            </a:r>
          </a:p>
          <a:p>
            <a:pPr marL="514350" indent="-514350" algn="l">
              <a:buAutoNum type="arabicPeriod"/>
            </a:pPr>
            <a:r>
              <a:rPr lang="en-US" sz="2800" b="1" dirty="0" smtClean="0">
                <a:latin typeface="Century" pitchFamily="18" charset="0"/>
              </a:rPr>
              <a:t>Preservation</a:t>
            </a:r>
          </a:p>
          <a:p>
            <a:pPr marL="514350" indent="-514350" algn="l">
              <a:buAutoNum type="arabicPeriod"/>
            </a:pPr>
            <a:r>
              <a:rPr lang="en-US" sz="2800" b="1" dirty="0" smtClean="0">
                <a:latin typeface="Century" pitchFamily="18" charset="0"/>
              </a:rPr>
              <a:t>Destruction</a:t>
            </a:r>
          </a:p>
          <a:p>
            <a:pPr marL="514350" indent="-514350" algn="l">
              <a:buAutoNum type="arabicPeriod"/>
            </a:pPr>
            <a:endParaRPr lang="en-US" sz="2800" b="1" dirty="0" smtClean="0"/>
          </a:p>
          <a:p>
            <a:pPr marL="514350" indent="-514350" algn="l"/>
            <a:endParaRPr lang="en-US" sz="2800" b="1" dirty="0" smtClean="0"/>
          </a:p>
          <a:p>
            <a:pPr marL="514350" indent="-514350" algn="l">
              <a:buAutoNum type="arabicPeriod"/>
            </a:pPr>
            <a:endParaRPr lang="en-US" sz="2800" b="1" dirty="0" smtClean="0"/>
          </a:p>
          <a:p>
            <a:pPr marL="514350" indent="-514350" algn="l">
              <a:buAutoNum type="arabicPeriod"/>
            </a:pP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0"/>
            <a:ext cx="7851648" cy="1828800"/>
          </a:xfrm>
        </p:spPr>
        <p:txBody>
          <a:bodyPr/>
          <a:lstStyle/>
          <a:p>
            <a:pPr algn="ctr"/>
            <a:r>
              <a:rPr lang="en-US" sz="6000" dirty="0" smtClean="0"/>
              <a:t>Types of Records</a:t>
            </a:r>
            <a:br>
              <a:rPr lang="en-US" sz="6000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2590800"/>
            <a:ext cx="7854696" cy="1752600"/>
          </a:xfrm>
        </p:spPr>
        <p:txBody>
          <a:bodyPr>
            <a:noAutofit/>
          </a:bodyPr>
          <a:lstStyle/>
          <a:p>
            <a:pPr marL="514350" indent="-514350" algn="l">
              <a:buAutoNum type="arabicPeriod"/>
            </a:pPr>
            <a:r>
              <a:rPr lang="en-US" sz="2800" dirty="0" smtClean="0"/>
              <a:t>Current Records</a:t>
            </a:r>
          </a:p>
          <a:p>
            <a:pPr marL="514350" indent="-514350" algn="l">
              <a:buAutoNum type="arabicPeriod"/>
            </a:pPr>
            <a:r>
              <a:rPr lang="en-US" sz="2800" dirty="0" smtClean="0"/>
              <a:t>Closed Records</a:t>
            </a:r>
          </a:p>
          <a:p>
            <a:pPr marL="514350" indent="-514350" algn="l">
              <a:buAutoNum type="arabicPeriod"/>
            </a:pPr>
            <a:r>
              <a:rPr lang="en-US" sz="2800" dirty="0" smtClean="0"/>
              <a:t>Records meant for Destruction</a:t>
            </a:r>
          </a:p>
          <a:p>
            <a:pPr marL="514350" indent="-514350" algn="l">
              <a:buAutoNum type="arabicPeriod"/>
            </a:pP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0"/>
            <a:ext cx="7851648" cy="1828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dirty="0" smtClean="0"/>
              <a:t>Maintenance of Current Records </a:t>
            </a:r>
            <a:br>
              <a:rPr lang="en-US" sz="6000" dirty="0" smtClean="0"/>
            </a:br>
            <a:r>
              <a:rPr lang="en-US" sz="3600" dirty="0" smtClean="0">
                <a:solidFill>
                  <a:srgbClr val="FF0000"/>
                </a:solidFill>
              </a:rPr>
              <a:t>Five Bundle System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2590800"/>
            <a:ext cx="7854696" cy="1752600"/>
          </a:xfrm>
        </p:spPr>
        <p:txBody>
          <a:bodyPr>
            <a:noAutofit/>
          </a:bodyPr>
          <a:lstStyle/>
          <a:p>
            <a:pPr marL="514350" indent="-514350" algn="l">
              <a:buAutoNum type="arabicPeriod"/>
            </a:pPr>
            <a:r>
              <a:rPr lang="en-US" sz="2800" dirty="0" smtClean="0"/>
              <a:t>Papers Received </a:t>
            </a:r>
          </a:p>
          <a:p>
            <a:pPr marL="514350" indent="-514350" algn="l">
              <a:buAutoNum type="arabicPeriod"/>
            </a:pPr>
            <a:r>
              <a:rPr lang="en-US" sz="2800" dirty="0" smtClean="0"/>
              <a:t>Periodicals </a:t>
            </a:r>
          </a:p>
          <a:p>
            <a:pPr marL="514350" indent="-514350" algn="l">
              <a:buAutoNum type="arabicPeriod"/>
            </a:pPr>
            <a:r>
              <a:rPr lang="en-US" sz="2800" dirty="0" smtClean="0"/>
              <a:t>Await files</a:t>
            </a:r>
          </a:p>
          <a:p>
            <a:pPr marL="514350" indent="-514350" algn="l">
              <a:buAutoNum type="arabicPeriod"/>
            </a:pPr>
            <a:r>
              <a:rPr lang="en-US" sz="2800" dirty="0" smtClean="0"/>
              <a:t>Circular Files </a:t>
            </a:r>
          </a:p>
          <a:p>
            <a:pPr marL="514350" indent="-514350" algn="l">
              <a:buAutoNum type="arabicPeriod"/>
            </a:pPr>
            <a:r>
              <a:rPr lang="en-US" sz="2800" dirty="0" smtClean="0"/>
              <a:t>Records to be sent to Record Room</a:t>
            </a:r>
          </a:p>
          <a:p>
            <a:pPr marL="514350" indent="-514350" algn="l"/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-304800"/>
            <a:ext cx="7851648" cy="1828800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>
                <a:solidFill>
                  <a:srgbClr val="FF0000"/>
                </a:solidFill>
              </a:rPr>
              <a:t>FIVE BUNDLE SYSTEM</a:t>
            </a:r>
            <a:br>
              <a:rPr lang="en-US" sz="3600" dirty="0" smtClean="0">
                <a:solidFill>
                  <a:srgbClr val="FF0000"/>
                </a:solidFill>
              </a:rPr>
            </a:br>
            <a:r>
              <a:rPr lang="en-US" sz="3600" dirty="0" smtClean="0">
                <a:solidFill>
                  <a:srgbClr val="FF0000"/>
                </a:solidFill>
              </a:rPr>
              <a:t>CASE WORKER’s  ALMIRAH</a:t>
            </a:r>
            <a:endParaRPr lang="en-US" sz="3600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759937"/>
              </p:ext>
            </p:extLst>
          </p:nvPr>
        </p:nvGraphicFramePr>
        <p:xfrm>
          <a:off x="1752600" y="1402080"/>
          <a:ext cx="6019800" cy="5303520"/>
        </p:xfrm>
        <a:graphic>
          <a:graphicData uri="http://schemas.openxmlformats.org/drawingml/2006/table">
            <a:tbl>
              <a:tblPr firstRow="1" bandRow="1">
                <a:tableStyleId>{327F97BB-C833-4FB7-BDE5-3F7075034690}</a:tableStyleId>
              </a:tblPr>
              <a:tblGrid>
                <a:gridCol w="3009900"/>
                <a:gridCol w="3009900"/>
              </a:tblGrid>
              <a:tr h="114431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Papers Received 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Periodicals 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114431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rgbClr val="0070C0"/>
                          </a:solidFill>
                        </a:rPr>
                        <a:t>Await files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rgbClr val="FF0000"/>
                          </a:solidFill>
                        </a:rPr>
                        <a:t>Circular Files 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114431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rgbClr val="0070C0"/>
                          </a:solidFill>
                        </a:rPr>
                        <a:t>Await files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…….</a:t>
                      </a:r>
                      <a:endParaRPr lang="en-US" dirty="0"/>
                    </a:p>
                  </a:txBody>
                  <a:tcPr/>
                </a:tc>
              </a:tr>
              <a:tr h="15392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solidFill>
                            <a:srgbClr val="FF0000"/>
                          </a:solidFill>
                        </a:rPr>
                        <a:t>Records to be sent to Record Room</a:t>
                      </a:r>
                    </a:p>
                    <a:p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pPr algn="ctr"/>
                      <a:r>
                        <a:rPr lang="en-US" dirty="0" smtClean="0"/>
                        <a:t>…….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" name="Straight Connector 5"/>
          <p:cNvCxnSpPr/>
          <p:nvPr/>
        </p:nvCxnSpPr>
        <p:spPr>
          <a:xfrm rot="5400000">
            <a:off x="2096294" y="4152900"/>
            <a:ext cx="5410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rot="5400000">
            <a:off x="2170112" y="4304506"/>
            <a:ext cx="5410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0"/>
            <a:ext cx="7851648" cy="1828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dirty="0" smtClean="0"/>
              <a:t>Maintenance of Closed Records</a:t>
            </a:r>
            <a:br>
              <a:rPr lang="en-US" sz="6000" dirty="0" smtClean="0"/>
            </a:br>
            <a:r>
              <a:rPr lang="en-US" sz="3100" dirty="0" smtClean="0">
                <a:solidFill>
                  <a:srgbClr val="FF0000"/>
                </a:solidFill>
              </a:rPr>
              <a:t>Preservation Period </a:t>
            </a:r>
            <a:endParaRPr lang="en-US" sz="3100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2590800"/>
            <a:ext cx="7473696" cy="1981200"/>
          </a:xfrm>
        </p:spPr>
        <p:txBody>
          <a:bodyPr>
            <a:noAutofit/>
          </a:bodyPr>
          <a:lstStyle/>
          <a:p>
            <a:pPr marL="514350" indent="-514350" algn="l">
              <a:buAutoNum type="arabicPeriod"/>
            </a:pPr>
            <a:r>
              <a:rPr lang="en-US" sz="2800" dirty="0" smtClean="0"/>
              <a:t>‘A’   Disposal  -  permanent    - 	Red cloth</a:t>
            </a:r>
          </a:p>
          <a:p>
            <a:pPr marL="514350" indent="-514350" algn="l">
              <a:buAutoNum type="arabicPeriod"/>
            </a:pPr>
            <a:r>
              <a:rPr lang="en-US" sz="2800" dirty="0" smtClean="0"/>
              <a:t>‘B’   Disposal  -  30 years         -  	Green cloth</a:t>
            </a:r>
          </a:p>
          <a:p>
            <a:pPr marL="514350" indent="-514350" algn="l">
              <a:buAutoNum type="arabicPeriod"/>
            </a:pPr>
            <a:r>
              <a:rPr lang="en-US" sz="2800" dirty="0" smtClean="0"/>
              <a:t>‘C’   Disposal -   10 years         -  	Yellow cloth</a:t>
            </a:r>
          </a:p>
          <a:p>
            <a:pPr marL="514350" indent="-514350" algn="l">
              <a:buAutoNum type="arabicPeriod"/>
            </a:pPr>
            <a:r>
              <a:rPr lang="en-US" sz="2800" dirty="0" smtClean="0"/>
              <a:t>‘D’    Disposal –  1 year            -  	Blue cloth</a:t>
            </a:r>
          </a:p>
          <a:p>
            <a:pPr marL="514350" indent="-514350" algn="l"/>
            <a:r>
              <a:rPr lang="en-US" sz="2800" dirty="0" smtClean="0">
                <a:solidFill>
                  <a:srgbClr val="FF0000"/>
                </a:solidFill>
              </a:rPr>
              <a:t>				Approving authority</a:t>
            </a:r>
          </a:p>
          <a:p>
            <a:pPr marL="514350" indent="-514350" algn="l"/>
            <a:r>
              <a:rPr lang="en-US" sz="2800" dirty="0" smtClean="0"/>
              <a:t>    ‘A’ Disposal ………..Head of the Department</a:t>
            </a:r>
          </a:p>
          <a:p>
            <a:pPr marL="514350" indent="-514350" algn="l"/>
            <a:r>
              <a:rPr lang="en-US" sz="2800" dirty="0" smtClean="0"/>
              <a:t>    ‘B’ Disposal……………Group A officer </a:t>
            </a:r>
          </a:p>
          <a:p>
            <a:pPr marL="514350" indent="-514350" algn="l"/>
            <a:r>
              <a:rPr lang="en-US" sz="2800" dirty="0" smtClean="0"/>
              <a:t>    ‘C’, ‘D’ Disposal……..Group B officer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381000"/>
            <a:ext cx="7924800" cy="1905000"/>
          </a:xfrm>
        </p:spPr>
        <p:txBody>
          <a:bodyPr>
            <a:normAutofit fontScale="90000"/>
          </a:bodyPr>
          <a:lstStyle/>
          <a:p>
            <a:pPr algn="l"/>
            <a:r>
              <a:rPr lang="en-US" sz="5400" dirty="0" smtClean="0">
                <a:solidFill>
                  <a:srgbClr val="FF0000"/>
                </a:solidFill>
              </a:rPr>
              <a:t>LABEL ON A CLOSED RECORD</a:t>
            </a:r>
            <a:br>
              <a:rPr lang="en-US" sz="5400" dirty="0" smtClean="0">
                <a:solidFill>
                  <a:srgbClr val="FF0000"/>
                </a:solidFill>
              </a:rPr>
            </a:br>
            <a:r>
              <a:rPr lang="en-US" sz="4400" dirty="0" smtClean="0">
                <a:solidFill>
                  <a:srgbClr val="FF0000"/>
                </a:solidFill>
              </a:rPr>
              <a:t>Office----------------------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2590800"/>
            <a:ext cx="7549896" cy="4038600"/>
          </a:xfrm>
        </p:spPr>
        <p:txBody>
          <a:bodyPr>
            <a:noAutofit/>
          </a:bodyPr>
          <a:lstStyle/>
          <a:p>
            <a:pPr marL="514350" indent="-514350" algn="l">
              <a:buAutoNum type="arabicPeriod"/>
            </a:pPr>
            <a:r>
              <a:rPr lang="en-US" sz="2800" dirty="0" smtClean="0"/>
              <a:t>Record Number---------------</a:t>
            </a:r>
          </a:p>
          <a:p>
            <a:pPr marL="514350" indent="-514350" algn="l">
              <a:buAutoNum type="arabicPeriod"/>
            </a:pPr>
            <a:r>
              <a:rPr lang="en-US" sz="2800" dirty="0" smtClean="0"/>
              <a:t>Subject -------------------------</a:t>
            </a:r>
          </a:p>
          <a:p>
            <a:pPr marL="514350" indent="-514350" algn="l">
              <a:buAutoNum type="arabicPeriod"/>
            </a:pPr>
            <a:r>
              <a:rPr lang="en-US" sz="2800" dirty="0" smtClean="0"/>
              <a:t>Opening of File----------------</a:t>
            </a:r>
          </a:p>
          <a:p>
            <a:pPr marL="514350" indent="-514350" algn="l">
              <a:buAutoNum type="arabicPeriod"/>
            </a:pPr>
            <a:r>
              <a:rPr lang="en-US" sz="2800" dirty="0" smtClean="0"/>
              <a:t>Closing of Record-------------</a:t>
            </a:r>
          </a:p>
          <a:p>
            <a:pPr marL="514350" indent="-514350" algn="l">
              <a:buAutoNum type="arabicPeriod"/>
            </a:pPr>
            <a:r>
              <a:rPr lang="en-US" sz="2800" dirty="0" smtClean="0"/>
              <a:t>Number of Pages -------------</a:t>
            </a:r>
          </a:p>
          <a:p>
            <a:pPr marL="514350" indent="-514350" algn="l">
              <a:buAutoNum type="arabicPeriod"/>
            </a:pPr>
            <a:r>
              <a:rPr lang="en-US" sz="2800" dirty="0" smtClean="0"/>
              <a:t>Linked files No----------------</a:t>
            </a:r>
          </a:p>
          <a:p>
            <a:pPr marL="514350" indent="-514350" algn="l">
              <a:buAutoNum type="arabicPeriod"/>
            </a:pPr>
            <a:endParaRPr lang="en-US" sz="2800" dirty="0" smtClean="0"/>
          </a:p>
          <a:p>
            <a:pPr marL="514350" indent="-514350" algn="l">
              <a:buAutoNum type="arabicPeriod"/>
            </a:pPr>
            <a:r>
              <a:rPr lang="en-US" sz="2800" dirty="0" smtClean="0"/>
              <a:t>Signature of CW		Signature  of  RK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72200" y="2209800"/>
          <a:ext cx="2590800" cy="2380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</a:tblGrid>
              <a:tr h="778933">
                <a:tc>
                  <a:txBody>
                    <a:bodyPr/>
                    <a:lstStyle/>
                    <a:p>
                      <a:pPr algn="l"/>
                      <a:r>
                        <a:rPr lang="en-US" sz="2800" dirty="0" smtClean="0"/>
                        <a:t>DIS</a:t>
                      </a:r>
                    </a:p>
                    <a:p>
                      <a:pPr algn="l"/>
                      <a:r>
                        <a:rPr lang="en-US" sz="2000" dirty="0" smtClean="0"/>
                        <a:t>year</a:t>
                      </a:r>
                      <a:endParaRPr lang="en-US" sz="2000" dirty="0"/>
                    </a:p>
                  </a:txBody>
                  <a:tcPr/>
                </a:tc>
              </a:tr>
              <a:tr h="778933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INDEX</a:t>
                      </a:r>
                    </a:p>
                  </a:txBody>
                  <a:tcPr/>
                </a:tc>
              </a:tr>
              <a:tr h="778933">
                <a:tc>
                  <a:txBody>
                    <a:bodyPr/>
                    <a:lstStyle/>
                    <a:p>
                      <a:r>
                        <a:rPr lang="en-US" dirty="0" smtClean="0"/>
                        <a:t>YEAR  OF</a:t>
                      </a:r>
                    </a:p>
                    <a:p>
                      <a:r>
                        <a:rPr lang="en-US" sz="1400" dirty="0" smtClean="0"/>
                        <a:t>DESTRUCTION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" name="Straight Connector 5"/>
          <p:cNvCxnSpPr/>
          <p:nvPr/>
        </p:nvCxnSpPr>
        <p:spPr>
          <a:xfrm rot="5400000">
            <a:off x="6286500" y="3390106"/>
            <a:ext cx="2362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rot="5400000">
            <a:off x="6324600" y="3428206"/>
            <a:ext cx="2438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0"/>
            <a:ext cx="7851648" cy="1828800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Assignment of  Disposal to Closed Records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2590800"/>
            <a:ext cx="7924800" cy="3352800"/>
          </a:xfrm>
        </p:spPr>
        <p:txBody>
          <a:bodyPr>
            <a:noAutofit/>
          </a:bodyPr>
          <a:lstStyle/>
          <a:p>
            <a:pPr marL="514350" indent="-514350" algn="l"/>
            <a:r>
              <a:rPr lang="en-US" sz="2800" dirty="0" smtClean="0"/>
              <a:t>(</a:t>
            </a:r>
            <a:r>
              <a:rPr lang="en-US" sz="2800" dirty="0" smtClean="0">
                <a:latin typeface="Agency FB" pitchFamily="34" charset="0"/>
              </a:rPr>
              <a:t>Para No 92 of Hand Book of Office Procedure)</a:t>
            </a:r>
          </a:p>
          <a:p>
            <a:pPr marL="514350" indent="-514350" algn="l">
              <a:buAutoNum type="arabicPeriod"/>
            </a:pPr>
            <a:r>
              <a:rPr lang="en-US" sz="2800" dirty="0" smtClean="0">
                <a:latin typeface="Agency FB" pitchFamily="34" charset="0"/>
              </a:rPr>
              <a:t>General Receipt Register			‘D’ </a:t>
            </a:r>
            <a:r>
              <a:rPr lang="en-US" sz="2800" dirty="0" err="1" smtClean="0">
                <a:latin typeface="Agency FB" pitchFamily="34" charset="0"/>
              </a:rPr>
              <a:t>dis</a:t>
            </a:r>
            <a:endParaRPr lang="en-US" sz="2800" dirty="0" smtClean="0">
              <a:latin typeface="Agency FB" pitchFamily="34" charset="0"/>
            </a:endParaRPr>
          </a:p>
          <a:p>
            <a:pPr marL="514350" indent="-514350" algn="l">
              <a:buAutoNum type="arabicPeriod"/>
            </a:pPr>
            <a:r>
              <a:rPr lang="en-US" sz="2800" dirty="0" smtClean="0">
                <a:latin typeface="Agency FB" pitchFamily="34" charset="0"/>
              </a:rPr>
              <a:t>Periodical Register 				‘E’ </a:t>
            </a:r>
            <a:r>
              <a:rPr lang="en-US" sz="2800" dirty="0" err="1" smtClean="0">
                <a:latin typeface="Agency FB" pitchFamily="34" charset="0"/>
              </a:rPr>
              <a:t>dis</a:t>
            </a:r>
            <a:endParaRPr lang="en-US" sz="2800" dirty="0" smtClean="0">
              <a:latin typeface="Agency FB" pitchFamily="34" charset="0"/>
            </a:endParaRPr>
          </a:p>
          <a:p>
            <a:pPr marL="514350" indent="-514350" algn="l">
              <a:buAutoNum type="arabicPeriod"/>
            </a:pPr>
            <a:r>
              <a:rPr lang="en-US" sz="2800" dirty="0" smtClean="0">
                <a:latin typeface="Agency FB" pitchFamily="34" charset="0"/>
              </a:rPr>
              <a:t>Dispatch Register				‘d’ </a:t>
            </a:r>
            <a:r>
              <a:rPr lang="en-US" sz="2800" dirty="0" err="1" smtClean="0">
                <a:latin typeface="Agency FB" pitchFamily="34" charset="0"/>
              </a:rPr>
              <a:t>dis</a:t>
            </a:r>
            <a:endParaRPr lang="en-US" sz="2800" dirty="0" smtClean="0">
              <a:latin typeface="Agency FB" pitchFamily="34" charset="0"/>
            </a:endParaRPr>
          </a:p>
          <a:p>
            <a:pPr marL="514350" indent="-514350" algn="l">
              <a:buAutoNum type="arabicPeriod"/>
            </a:pPr>
            <a:r>
              <a:rPr lang="en-US" sz="2800" dirty="0" smtClean="0">
                <a:latin typeface="Agency FB" pitchFamily="34" charset="0"/>
              </a:rPr>
              <a:t>Attendance  Register			‘E’ dis</a:t>
            </a:r>
          </a:p>
          <a:p>
            <a:pPr marL="514350" indent="-514350" algn="l">
              <a:buAutoNum type="arabicPeriod"/>
            </a:pPr>
            <a:r>
              <a:rPr lang="en-US" sz="2800" dirty="0" smtClean="0">
                <a:latin typeface="Agency FB" pitchFamily="34" charset="0"/>
              </a:rPr>
              <a:t>Stamp Register 				‘D’ </a:t>
            </a:r>
            <a:r>
              <a:rPr lang="en-US" sz="2800" dirty="0" err="1" smtClean="0">
                <a:latin typeface="Agency FB" pitchFamily="34" charset="0"/>
              </a:rPr>
              <a:t>dis</a:t>
            </a:r>
            <a:endParaRPr lang="en-US" sz="2800" dirty="0" smtClean="0">
              <a:latin typeface="Agency FB" pitchFamily="34" charset="0"/>
            </a:endParaRPr>
          </a:p>
          <a:p>
            <a:pPr marL="514350" indent="-514350" algn="l"/>
            <a:endParaRPr lang="en-US" sz="2800" dirty="0" smtClean="0">
              <a:latin typeface="Agency FB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457200"/>
            <a:ext cx="7851648" cy="1828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dirty="0" smtClean="0">
                <a:solidFill>
                  <a:srgbClr val="FF0000"/>
                </a:solidFill>
                <a:latin typeface="Century" pitchFamily="18" charset="0"/>
              </a:rPr>
              <a:t>ASSIGNMENT OF DISPOSAL OF CLOSED RECORDS</a:t>
            </a:r>
            <a:br>
              <a:rPr lang="en-US" sz="3100" dirty="0" smtClean="0">
                <a:solidFill>
                  <a:srgbClr val="FF0000"/>
                </a:solidFill>
                <a:latin typeface="Century" pitchFamily="18" charset="0"/>
              </a:rPr>
            </a:br>
            <a:r>
              <a:rPr lang="en-US" sz="3200" dirty="0" smtClean="0">
                <a:latin typeface="Century" pitchFamily="18" charset="0"/>
              </a:rPr>
              <a:t>(Art 399 of KFC—Financial Records)</a:t>
            </a:r>
            <a:br>
              <a:rPr lang="en-US" sz="3200" dirty="0" smtClean="0">
                <a:latin typeface="Century" pitchFamily="18" charset="0"/>
              </a:rPr>
            </a:br>
            <a:r>
              <a:rPr lang="en-US" sz="3100" dirty="0" smtClean="0">
                <a:solidFill>
                  <a:srgbClr val="FF0000"/>
                </a:solidFill>
              </a:rPr>
              <a:t/>
            </a:r>
            <a:br>
              <a:rPr lang="en-US" sz="3100" dirty="0" smtClean="0">
                <a:solidFill>
                  <a:srgbClr val="FF0000"/>
                </a:solidFill>
              </a:rPr>
            </a:br>
            <a:endParaRPr lang="en-US" sz="3100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1676400"/>
            <a:ext cx="7473696" cy="4800600"/>
          </a:xfrm>
        </p:spPr>
        <p:txBody>
          <a:bodyPr>
            <a:noAutofit/>
          </a:bodyPr>
          <a:lstStyle/>
          <a:p>
            <a:pPr marL="514350" indent="-514350" algn="l">
              <a:buAutoNum type="arabicPeriod"/>
            </a:pPr>
            <a:r>
              <a:rPr lang="en-US" sz="2400" dirty="0" smtClean="0">
                <a:latin typeface="Century" pitchFamily="18" charset="0"/>
              </a:rPr>
              <a:t>Pay Acquaintance Rolls 		40 years</a:t>
            </a:r>
          </a:p>
          <a:p>
            <a:pPr marL="514350" indent="-514350" algn="l">
              <a:buAutoNum type="arabicPeriod"/>
            </a:pPr>
            <a:r>
              <a:rPr lang="en-US" sz="2400" dirty="0" smtClean="0">
                <a:latin typeface="Century" pitchFamily="18" charset="0"/>
              </a:rPr>
              <a:t>Cash Book				20 years</a:t>
            </a:r>
          </a:p>
          <a:p>
            <a:pPr marL="514350" indent="-514350" algn="l">
              <a:buAutoNum type="arabicPeriod"/>
            </a:pPr>
            <a:r>
              <a:rPr lang="en-US" sz="2400" dirty="0" smtClean="0">
                <a:latin typeface="Century" pitchFamily="18" charset="0"/>
              </a:rPr>
              <a:t>Cg  Register				  5 years</a:t>
            </a:r>
          </a:p>
          <a:p>
            <a:pPr marL="514350" indent="-514350" algn="l">
              <a:buAutoNum type="arabicPeriod"/>
            </a:pPr>
            <a:r>
              <a:rPr lang="en-US" sz="2400" dirty="0" smtClean="0">
                <a:latin typeface="Century" pitchFamily="18" charset="0"/>
              </a:rPr>
              <a:t>Bill Register				  5 years</a:t>
            </a:r>
          </a:p>
          <a:p>
            <a:pPr marL="514350" indent="-514350" algn="l">
              <a:buAutoNum type="arabicPeriod"/>
            </a:pPr>
            <a:r>
              <a:rPr lang="en-US" sz="2400" dirty="0" smtClean="0">
                <a:latin typeface="Century" pitchFamily="18" charset="0"/>
              </a:rPr>
              <a:t>Remittance  Register			10 years</a:t>
            </a:r>
          </a:p>
          <a:p>
            <a:pPr marL="514350" indent="-514350" algn="l">
              <a:buAutoNum type="arabicPeriod"/>
            </a:pPr>
            <a:r>
              <a:rPr lang="en-US" sz="2400" dirty="0" smtClean="0">
                <a:latin typeface="Century" pitchFamily="18" charset="0"/>
              </a:rPr>
              <a:t>Counter Foils of Receipt Books	  6 years</a:t>
            </a:r>
          </a:p>
          <a:p>
            <a:pPr marL="514350" indent="-514350" algn="l">
              <a:buAutoNum type="arabicPeriod"/>
            </a:pPr>
            <a:r>
              <a:rPr lang="en-US" sz="2400" dirty="0" smtClean="0">
                <a:latin typeface="Century" pitchFamily="18" charset="0"/>
              </a:rPr>
              <a:t>Sub vouchers 				  3 years</a:t>
            </a:r>
          </a:p>
          <a:p>
            <a:pPr marL="514350" indent="-514350"/>
            <a:r>
              <a:rPr lang="en-US" sz="2400" dirty="0" smtClean="0">
                <a:solidFill>
                  <a:srgbClr val="FF0000"/>
                </a:solidFill>
                <a:latin typeface="Century" pitchFamily="18" charset="0"/>
              </a:rPr>
              <a:t>OTHER RECORDS </a:t>
            </a:r>
          </a:p>
          <a:p>
            <a:pPr marL="514350" indent="-514350"/>
            <a:r>
              <a:rPr lang="en-US" sz="24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entury" pitchFamily="18" charset="0"/>
              </a:rPr>
              <a:t>As in previous slide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470025"/>
          </a:xfrm>
        </p:spPr>
        <p:txBody>
          <a:bodyPr>
            <a:normAutofit/>
          </a:bodyPr>
          <a:lstStyle/>
          <a:p>
            <a:r>
              <a:rPr lang="en-US" sz="3000" dirty="0" smtClean="0">
                <a:solidFill>
                  <a:srgbClr val="C00000"/>
                </a:solidFill>
              </a:rPr>
              <a:t>RECORD ROOM</a:t>
            </a:r>
            <a:br>
              <a:rPr lang="en-US" sz="3000" dirty="0" smtClean="0">
                <a:solidFill>
                  <a:srgbClr val="C00000"/>
                </a:solidFill>
              </a:rPr>
            </a:br>
            <a:r>
              <a:rPr lang="en-US" sz="3000" dirty="0" smtClean="0">
                <a:solidFill>
                  <a:srgbClr val="C00000"/>
                </a:solidFill>
              </a:rPr>
              <a:t>RACKS ARRANGEMENT</a:t>
            </a:r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590800"/>
            <a:ext cx="7854696" cy="1752600"/>
          </a:xfrm>
        </p:spPr>
        <p:txBody>
          <a:bodyPr>
            <a:noAutofit/>
          </a:bodyPr>
          <a:lstStyle/>
          <a:p>
            <a:pPr fontAlgn="t"/>
            <a:endParaRPr lang="en-US" sz="2800" b="1" dirty="0" smtClean="0"/>
          </a:p>
          <a:p>
            <a:pPr fontAlgn="t"/>
            <a:endParaRPr lang="en-US" sz="2800" b="1" dirty="0" smtClean="0"/>
          </a:p>
          <a:p>
            <a:pPr fontAlgn="t"/>
            <a:endParaRPr lang="en-US" sz="2800" dirty="0" smtClean="0"/>
          </a:p>
          <a:p>
            <a:pPr fontAlgn="t"/>
            <a:endParaRPr lang="en-US" sz="2800" dirty="0" smtClean="0"/>
          </a:p>
          <a:p>
            <a:pPr fontAlgn="t"/>
            <a:endParaRPr lang="en-US" sz="2800" dirty="0" smtClean="0"/>
          </a:p>
          <a:p>
            <a:pPr fontAlgn="t"/>
            <a:endParaRPr lang="en-US" sz="2800" dirty="0" smtClean="0"/>
          </a:p>
          <a:p>
            <a:pPr fontAlgn="t"/>
            <a:endParaRPr lang="en-US" sz="2800" dirty="0" smtClean="0"/>
          </a:p>
          <a:p>
            <a:pPr fontAlgn="t"/>
            <a:endParaRPr lang="en-US" sz="2800" dirty="0" smtClean="0"/>
          </a:p>
          <a:p>
            <a:pPr marL="514350" indent="-514350" algn="l">
              <a:buAutoNum type="arabicPeriod"/>
            </a:pPr>
            <a:endParaRPr lang="en-US" sz="2800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000" y="1447800"/>
          <a:ext cx="16764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/>
                <a:gridCol w="838200"/>
              </a:tblGrid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EST</a:t>
                      </a:r>
                    </a:p>
                    <a:p>
                      <a:pPr algn="r"/>
                      <a:r>
                        <a:rPr lang="en-US" dirty="0" smtClean="0"/>
                        <a:t>Year</a:t>
                      </a:r>
                    </a:p>
                    <a:p>
                      <a:pPr algn="r"/>
                      <a:r>
                        <a:rPr lang="en-US" dirty="0" smtClean="0"/>
                        <a:t>No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Wise</a:t>
                      </a:r>
                    </a:p>
                    <a:p>
                      <a:r>
                        <a:rPr lang="en-US" dirty="0" smtClean="0"/>
                        <a:t>Wise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TRG</a:t>
                      </a:r>
                      <a:endParaRPr lang="en-US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ACT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MISC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2400" y="1447800"/>
          <a:ext cx="16764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/>
                <a:gridCol w="838200"/>
              </a:tblGrid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EST</a:t>
                      </a:r>
                    </a:p>
                    <a:p>
                      <a:pPr algn="r"/>
                      <a:r>
                        <a:rPr lang="en-US" dirty="0" smtClean="0"/>
                        <a:t>Year</a:t>
                      </a:r>
                    </a:p>
                    <a:p>
                      <a:pPr algn="r"/>
                      <a:r>
                        <a:rPr lang="en-US" dirty="0" smtClean="0"/>
                        <a:t>NO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Wise</a:t>
                      </a:r>
                    </a:p>
                    <a:p>
                      <a:r>
                        <a:rPr lang="en-US" dirty="0" smtClean="0"/>
                        <a:t>wise</a:t>
                      </a:r>
                      <a:endParaRPr lang="en-US" dirty="0"/>
                    </a:p>
                  </a:txBody>
                  <a:tcPr/>
                </a:tc>
              </a:tr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TRG</a:t>
                      </a:r>
                      <a:endParaRPr lang="en-US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ACT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MISC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981200" y="1447800"/>
          <a:ext cx="16764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/>
                <a:gridCol w="838200"/>
              </a:tblGrid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EST</a:t>
                      </a:r>
                    </a:p>
                    <a:p>
                      <a:pPr algn="r"/>
                      <a:r>
                        <a:rPr lang="en-US" dirty="0" smtClean="0"/>
                        <a:t>Year</a:t>
                      </a:r>
                    </a:p>
                    <a:p>
                      <a:pPr algn="r"/>
                      <a:r>
                        <a:rPr lang="en-US" dirty="0" smtClean="0"/>
                        <a:t>NO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Wise</a:t>
                      </a:r>
                    </a:p>
                    <a:p>
                      <a:r>
                        <a:rPr lang="en-US" dirty="0" smtClean="0"/>
                        <a:t>wise</a:t>
                      </a:r>
                      <a:endParaRPr lang="en-US" dirty="0"/>
                    </a:p>
                  </a:txBody>
                  <a:tcPr/>
                </a:tc>
              </a:tr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TRG</a:t>
                      </a:r>
                      <a:endParaRPr lang="en-US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ACT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MISC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38800" y="1447800"/>
          <a:ext cx="16764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/>
                <a:gridCol w="838200"/>
              </a:tblGrid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EST</a:t>
                      </a:r>
                    </a:p>
                    <a:p>
                      <a:pPr algn="r"/>
                      <a:r>
                        <a:rPr lang="en-US" dirty="0" smtClean="0"/>
                        <a:t>Year</a:t>
                      </a:r>
                    </a:p>
                    <a:p>
                      <a:pPr algn="r"/>
                      <a:r>
                        <a:rPr lang="en-US" dirty="0" smtClean="0"/>
                        <a:t>NO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Wise</a:t>
                      </a:r>
                    </a:p>
                    <a:p>
                      <a:r>
                        <a:rPr lang="en-US" dirty="0" smtClean="0"/>
                        <a:t>wise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TRG</a:t>
                      </a:r>
                      <a:endParaRPr lang="en-US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ACT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MISC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67600" y="1447800"/>
          <a:ext cx="16764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/>
                <a:gridCol w="838200"/>
              </a:tblGrid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EST</a:t>
                      </a:r>
                    </a:p>
                    <a:p>
                      <a:pPr algn="r"/>
                      <a:r>
                        <a:rPr lang="en-US" dirty="0" smtClean="0"/>
                        <a:t>Year</a:t>
                      </a:r>
                    </a:p>
                    <a:p>
                      <a:pPr algn="r"/>
                      <a:r>
                        <a:rPr lang="en-US" dirty="0" smtClean="0"/>
                        <a:t>NO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Wise</a:t>
                      </a:r>
                    </a:p>
                    <a:p>
                      <a:r>
                        <a:rPr lang="en-US" dirty="0" smtClean="0"/>
                        <a:t>wise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TRG</a:t>
                      </a:r>
                      <a:endParaRPr lang="en-US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B050"/>
                          </a:solidFill>
                        </a:rPr>
                        <a:t>ACT</a:t>
                      </a:r>
                      <a:endParaRPr 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MISC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371600"/>
          </a:xfrm>
        </p:spPr>
        <p:txBody>
          <a:bodyPr>
            <a:normAutofit fontScale="90000"/>
          </a:bodyPr>
          <a:lstStyle/>
          <a:p>
            <a:pPr algn="ctr" fontAlgn="t"/>
            <a:r>
              <a:rPr lang="en-US" sz="3100" dirty="0" smtClean="0">
                <a:solidFill>
                  <a:srgbClr val="FF0000"/>
                </a:solidFill>
              </a:rPr>
              <a:t/>
            </a:r>
            <a:br>
              <a:rPr lang="en-US" sz="3100" dirty="0" smtClean="0">
                <a:solidFill>
                  <a:srgbClr val="FF0000"/>
                </a:solidFill>
              </a:rPr>
            </a:br>
            <a:r>
              <a:rPr lang="en-US" sz="3100" dirty="0" smtClean="0">
                <a:solidFill>
                  <a:srgbClr val="FF0000"/>
                </a:solidFill>
              </a:rPr>
              <a:t/>
            </a:r>
            <a:br>
              <a:rPr lang="en-US" sz="3100" dirty="0" smtClean="0">
                <a:solidFill>
                  <a:srgbClr val="FF0000"/>
                </a:solidFill>
              </a:rPr>
            </a:br>
            <a:r>
              <a:rPr lang="en-US" sz="3100" dirty="0" smtClean="0">
                <a:solidFill>
                  <a:srgbClr val="FF0000"/>
                </a:solidFill>
              </a:rPr>
              <a:t/>
            </a:r>
            <a:br>
              <a:rPr lang="en-US" sz="3100" dirty="0" smtClean="0">
                <a:solidFill>
                  <a:srgbClr val="FF0000"/>
                </a:solidFill>
              </a:rPr>
            </a:br>
            <a:r>
              <a:rPr lang="en-US" sz="3100" dirty="0" smtClean="0">
                <a:solidFill>
                  <a:srgbClr val="FF0000"/>
                </a:solidFill>
              </a:rPr>
              <a:t/>
            </a:r>
            <a:br>
              <a:rPr lang="en-US" sz="3100" dirty="0" smtClean="0">
                <a:solidFill>
                  <a:srgbClr val="FF0000"/>
                </a:solidFill>
              </a:rPr>
            </a:br>
            <a:r>
              <a:rPr lang="en-US" sz="3100" dirty="0" smtClean="0">
                <a:solidFill>
                  <a:srgbClr val="FF0000"/>
                </a:solidFill>
              </a:rPr>
              <a:t/>
            </a:r>
            <a:br>
              <a:rPr lang="en-US" sz="3100" dirty="0" smtClean="0">
                <a:solidFill>
                  <a:srgbClr val="FF0000"/>
                </a:solidFill>
              </a:rPr>
            </a:br>
            <a:r>
              <a:rPr lang="en-US" sz="3100" dirty="0" smtClean="0">
                <a:solidFill>
                  <a:srgbClr val="FF0000"/>
                </a:solidFill>
              </a:rPr>
              <a:t/>
            </a:r>
            <a:br>
              <a:rPr lang="en-US" sz="3100" dirty="0" smtClean="0">
                <a:solidFill>
                  <a:srgbClr val="FF0000"/>
                </a:solidFill>
              </a:rPr>
            </a:br>
            <a:r>
              <a:rPr lang="en-US" sz="3100" dirty="0" smtClean="0">
                <a:solidFill>
                  <a:srgbClr val="FF0000"/>
                </a:solidFill>
              </a:rPr>
              <a:t/>
            </a:r>
            <a:br>
              <a:rPr lang="en-US" sz="3100" dirty="0" smtClean="0">
                <a:solidFill>
                  <a:srgbClr val="FF0000"/>
                </a:solidFill>
              </a:rPr>
            </a:br>
            <a:r>
              <a:rPr lang="en-US" sz="3100" dirty="0" smtClean="0">
                <a:solidFill>
                  <a:srgbClr val="FF0000"/>
                </a:solidFill>
              </a:rPr>
              <a:t/>
            </a:r>
            <a:br>
              <a:rPr lang="en-US" sz="3100" dirty="0" smtClean="0">
                <a:solidFill>
                  <a:srgbClr val="FF0000"/>
                </a:solidFill>
              </a:rPr>
            </a:br>
            <a:r>
              <a:rPr lang="en-US" sz="3100" dirty="0" smtClean="0">
                <a:solidFill>
                  <a:srgbClr val="FF0000"/>
                </a:solidFill>
              </a:rPr>
              <a:t/>
            </a:r>
            <a:br>
              <a:rPr lang="en-US" sz="3100" dirty="0" smtClean="0">
                <a:solidFill>
                  <a:srgbClr val="FF0000"/>
                </a:solidFill>
              </a:rPr>
            </a:br>
            <a:r>
              <a:rPr lang="en-US" sz="3100" dirty="0" smtClean="0">
                <a:solidFill>
                  <a:srgbClr val="FF0000"/>
                </a:solidFill>
              </a:rPr>
              <a:t/>
            </a:r>
            <a:br>
              <a:rPr lang="en-US" sz="3100" dirty="0" smtClean="0">
                <a:solidFill>
                  <a:srgbClr val="FF0000"/>
                </a:solidFill>
              </a:rPr>
            </a:br>
            <a:r>
              <a:rPr lang="en-US" sz="3100" dirty="0" smtClean="0">
                <a:solidFill>
                  <a:srgbClr val="FF0000"/>
                </a:solidFill>
              </a:rPr>
              <a:t/>
            </a:r>
            <a:br>
              <a:rPr lang="en-US" sz="3100" dirty="0" smtClean="0">
                <a:solidFill>
                  <a:srgbClr val="FF0000"/>
                </a:solidFill>
              </a:rPr>
            </a:br>
            <a:r>
              <a:rPr lang="en-US" sz="3100" dirty="0" smtClean="0">
                <a:solidFill>
                  <a:srgbClr val="FF0000"/>
                </a:solidFill>
              </a:rPr>
              <a:t/>
            </a:r>
            <a:br>
              <a:rPr lang="en-US" sz="3100" dirty="0" smtClean="0">
                <a:solidFill>
                  <a:srgbClr val="FF0000"/>
                </a:solidFill>
              </a:rPr>
            </a:br>
            <a:r>
              <a:rPr lang="en-US" sz="3100" dirty="0" smtClean="0">
                <a:solidFill>
                  <a:srgbClr val="FF0000"/>
                </a:solidFill>
              </a:rPr>
              <a:t/>
            </a:r>
            <a:br>
              <a:rPr lang="en-US" sz="3100" dirty="0" smtClean="0">
                <a:solidFill>
                  <a:srgbClr val="FF0000"/>
                </a:solidFill>
              </a:rPr>
            </a:br>
            <a:r>
              <a:rPr lang="en-US" sz="3100" dirty="0" smtClean="0">
                <a:solidFill>
                  <a:srgbClr val="FF0000"/>
                </a:solidFill>
              </a:rPr>
              <a:t/>
            </a:r>
            <a:br>
              <a:rPr lang="en-US" sz="3100" dirty="0" smtClean="0">
                <a:solidFill>
                  <a:srgbClr val="FF0000"/>
                </a:solidFill>
              </a:rPr>
            </a:br>
            <a:r>
              <a:rPr lang="en-US" sz="3100" dirty="0" smtClean="0">
                <a:solidFill>
                  <a:srgbClr val="FF0000"/>
                </a:solidFill>
              </a:rPr>
              <a:t/>
            </a:r>
            <a:br>
              <a:rPr lang="en-US" sz="3100" dirty="0" smtClean="0">
                <a:solidFill>
                  <a:srgbClr val="FF0000"/>
                </a:solidFill>
              </a:rPr>
            </a:br>
            <a:r>
              <a:rPr lang="en-US" sz="3100" dirty="0" smtClean="0">
                <a:solidFill>
                  <a:srgbClr val="FF0000"/>
                </a:solidFill>
              </a:rPr>
              <a:t/>
            </a:r>
            <a:br>
              <a:rPr lang="en-US" sz="3100" dirty="0" smtClean="0">
                <a:solidFill>
                  <a:srgbClr val="FF0000"/>
                </a:solidFill>
              </a:rPr>
            </a:br>
            <a:r>
              <a:rPr lang="en-US" sz="3100" dirty="0" smtClean="0">
                <a:solidFill>
                  <a:srgbClr val="FF0000"/>
                </a:solidFill>
              </a:rPr>
              <a:t/>
            </a:r>
            <a:br>
              <a:rPr lang="en-US" sz="3100" dirty="0" smtClean="0">
                <a:solidFill>
                  <a:srgbClr val="FF0000"/>
                </a:solidFill>
              </a:rPr>
            </a:br>
            <a:r>
              <a:rPr lang="en-US" sz="3100" dirty="0" smtClean="0">
                <a:solidFill>
                  <a:srgbClr val="FF0000"/>
                </a:solidFill>
              </a:rPr>
              <a:t/>
            </a:r>
            <a:br>
              <a:rPr lang="en-US" sz="3100" dirty="0" smtClean="0">
                <a:solidFill>
                  <a:srgbClr val="FF0000"/>
                </a:solidFill>
              </a:rPr>
            </a:br>
            <a:r>
              <a:rPr lang="en-US" sz="3100" dirty="0" smtClean="0">
                <a:solidFill>
                  <a:srgbClr val="FF0000"/>
                </a:solidFill>
              </a:rPr>
              <a:t/>
            </a:r>
            <a:br>
              <a:rPr lang="en-US" sz="3100" dirty="0" smtClean="0">
                <a:solidFill>
                  <a:srgbClr val="FF0000"/>
                </a:solidFill>
              </a:rPr>
            </a:br>
            <a:r>
              <a:rPr lang="en-US" sz="3100" dirty="0" smtClean="0">
                <a:solidFill>
                  <a:srgbClr val="FF0000"/>
                </a:solidFill>
              </a:rPr>
              <a:t/>
            </a:r>
            <a:br>
              <a:rPr lang="en-US" sz="3100" dirty="0" smtClean="0">
                <a:solidFill>
                  <a:srgbClr val="FF0000"/>
                </a:solidFill>
              </a:rPr>
            </a:br>
            <a:r>
              <a:rPr lang="en-US" sz="3100" dirty="0" smtClean="0">
                <a:solidFill>
                  <a:srgbClr val="FF0000"/>
                </a:solidFill>
              </a:rPr>
              <a:t/>
            </a:r>
            <a:br>
              <a:rPr lang="en-US" sz="3100" dirty="0" smtClean="0">
                <a:solidFill>
                  <a:srgbClr val="FF0000"/>
                </a:solidFill>
              </a:rPr>
            </a:br>
            <a:r>
              <a:rPr lang="en-US" sz="3100" dirty="0" smtClean="0">
                <a:solidFill>
                  <a:srgbClr val="FF0000"/>
                </a:solidFill>
              </a:rPr>
              <a:t/>
            </a:r>
            <a:br>
              <a:rPr lang="en-US" sz="3100" dirty="0" smtClean="0">
                <a:solidFill>
                  <a:srgbClr val="FF0000"/>
                </a:solidFill>
              </a:rPr>
            </a:br>
            <a:r>
              <a:rPr lang="en-US" sz="3100" dirty="0" smtClean="0">
                <a:solidFill>
                  <a:srgbClr val="FF0000"/>
                </a:solidFill>
              </a:rPr>
              <a:t/>
            </a:r>
            <a:br>
              <a:rPr lang="en-US" sz="3100" dirty="0" smtClean="0">
                <a:solidFill>
                  <a:srgbClr val="FF0000"/>
                </a:solidFill>
              </a:rPr>
            </a:br>
            <a:r>
              <a:rPr lang="en-US" sz="3100" dirty="0" smtClean="0">
                <a:solidFill>
                  <a:srgbClr val="FF0000"/>
                </a:solidFill>
              </a:rPr>
              <a:t/>
            </a:r>
            <a:br>
              <a:rPr lang="en-US" sz="3100" dirty="0" smtClean="0">
                <a:solidFill>
                  <a:srgbClr val="FF0000"/>
                </a:solidFill>
              </a:rPr>
            </a:br>
            <a:r>
              <a:rPr lang="en-US" sz="3100" dirty="0" smtClean="0">
                <a:solidFill>
                  <a:srgbClr val="FF0000"/>
                </a:solidFill>
              </a:rPr>
              <a:t>‘D’ disposal with case worker</a:t>
            </a:r>
            <a:endParaRPr lang="en-US" sz="3100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590800"/>
            <a:ext cx="7854696" cy="1752600"/>
          </a:xfrm>
        </p:spPr>
        <p:txBody>
          <a:bodyPr>
            <a:noAutofit/>
          </a:bodyPr>
          <a:lstStyle/>
          <a:p>
            <a:pPr fontAlgn="t"/>
            <a:endParaRPr lang="en-US" sz="2800" b="1" dirty="0" smtClean="0"/>
          </a:p>
          <a:p>
            <a:pPr fontAlgn="t"/>
            <a:endParaRPr lang="en-US" sz="2800" b="1" dirty="0" smtClean="0"/>
          </a:p>
          <a:p>
            <a:pPr fontAlgn="t"/>
            <a:endParaRPr lang="en-US" sz="2800" dirty="0" smtClean="0"/>
          </a:p>
          <a:p>
            <a:pPr fontAlgn="t"/>
            <a:endParaRPr lang="en-US" sz="2800" dirty="0" smtClean="0"/>
          </a:p>
          <a:p>
            <a:pPr fontAlgn="t"/>
            <a:endParaRPr lang="en-US" sz="2800" dirty="0" smtClean="0"/>
          </a:p>
          <a:p>
            <a:pPr fontAlgn="t"/>
            <a:endParaRPr lang="en-US" sz="2800" dirty="0" smtClean="0"/>
          </a:p>
          <a:p>
            <a:pPr fontAlgn="t"/>
            <a:endParaRPr lang="en-US" sz="2800" dirty="0" smtClean="0"/>
          </a:p>
          <a:p>
            <a:pPr fontAlgn="t"/>
            <a:endParaRPr lang="en-US" sz="2800" dirty="0" smtClean="0"/>
          </a:p>
          <a:p>
            <a:pPr marL="514350" indent="-514350" algn="l">
              <a:buAutoNum type="arabicPeriod"/>
            </a:pPr>
            <a:endParaRPr lang="en-US" sz="2800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000" y="1447800"/>
          <a:ext cx="1676400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/>
                <a:gridCol w="838200"/>
              </a:tblGrid>
              <a:tr h="99060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ACT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9906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9906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9906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2400" y="1447800"/>
          <a:ext cx="167640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/>
                <a:gridCol w="838200"/>
              </a:tblGrid>
              <a:tr h="99060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EST</a:t>
                      </a:r>
                    </a:p>
                    <a:p>
                      <a:r>
                        <a:rPr lang="en-US" dirty="0" smtClean="0"/>
                        <a:t>‘A’ </a:t>
                      </a:r>
                      <a:r>
                        <a:rPr lang="en-US" dirty="0" err="1" smtClean="0"/>
                        <a:t>Dis</a:t>
                      </a:r>
                      <a:endParaRPr lang="en-US" dirty="0" smtClean="0"/>
                    </a:p>
                    <a:p>
                      <a:r>
                        <a:rPr lang="en-US" sz="1200" dirty="0" smtClean="0"/>
                        <a:t>YEAR WISE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990600">
                <a:tc>
                  <a:txBody>
                    <a:bodyPr/>
                    <a:lstStyle/>
                    <a:p>
                      <a:r>
                        <a:rPr lang="en-US" dirty="0" smtClean="0"/>
                        <a:t>‘B’ </a:t>
                      </a:r>
                      <a:r>
                        <a:rPr lang="en-US" dirty="0" err="1" smtClean="0"/>
                        <a:t>Dis</a:t>
                      </a:r>
                      <a:endParaRPr lang="en-US" dirty="0" smtClean="0"/>
                    </a:p>
                    <a:p>
                      <a:r>
                        <a:rPr lang="en-US" dirty="0" smtClean="0"/>
                        <a:t>YEAR WISE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990600">
                <a:tc>
                  <a:txBody>
                    <a:bodyPr/>
                    <a:lstStyle/>
                    <a:p>
                      <a:r>
                        <a:rPr lang="en-US" dirty="0" smtClean="0"/>
                        <a:t>‘C’ </a:t>
                      </a:r>
                      <a:r>
                        <a:rPr lang="en-US" dirty="0" err="1" smtClean="0"/>
                        <a:t>Dis</a:t>
                      </a:r>
                      <a:endParaRPr lang="en-US" dirty="0" smtClean="0"/>
                    </a:p>
                    <a:p>
                      <a:r>
                        <a:rPr lang="en-US" dirty="0" smtClean="0"/>
                        <a:t>YEAR WISE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990600">
                <a:tc>
                  <a:txBody>
                    <a:bodyPr/>
                    <a:lstStyle/>
                    <a:p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981200" y="1447800"/>
          <a:ext cx="1676400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/>
                <a:gridCol w="838200"/>
              </a:tblGrid>
              <a:tr h="99060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TRG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9906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9906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9906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38800" y="1447800"/>
          <a:ext cx="1676400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/>
                <a:gridCol w="838200"/>
              </a:tblGrid>
              <a:tr h="99060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MISC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9906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9906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9906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67600" y="1447800"/>
          <a:ext cx="1676400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/>
                <a:gridCol w="838200"/>
              </a:tblGrid>
              <a:tr h="99060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COMP</a:t>
                      </a:r>
                      <a:endParaRPr lang="en-US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9906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9906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9906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itle 9"/>
          <p:cNvSpPr txBox="1">
            <a:spLocks/>
          </p:cNvSpPr>
          <p:nvPr/>
        </p:nvSpPr>
        <p:spPr>
          <a:xfrm>
            <a:off x="1295400" y="1"/>
            <a:ext cx="7162800" cy="990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RECORD ROOM</a:t>
            </a:r>
            <a:b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RACKS ARRANGEMENT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0"/>
            <a:ext cx="7851648" cy="1828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dirty="0" smtClean="0">
                <a:latin typeface="Century" pitchFamily="18" charset="0"/>
              </a:rPr>
              <a:t>Destruction of Closed Records </a:t>
            </a:r>
            <a:endParaRPr lang="en-US" dirty="0">
              <a:latin typeface="Century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2590800"/>
            <a:ext cx="7473696" cy="1752600"/>
          </a:xfrm>
        </p:spPr>
        <p:txBody>
          <a:bodyPr>
            <a:noAutofit/>
          </a:bodyPr>
          <a:lstStyle/>
          <a:p>
            <a:pPr marL="514350" indent="-514350" algn="l">
              <a:buAutoNum type="arabicPeriod"/>
            </a:pPr>
            <a:r>
              <a:rPr lang="en-US" sz="2800" dirty="0" smtClean="0">
                <a:latin typeface="Century" pitchFamily="18" charset="0"/>
              </a:rPr>
              <a:t>Disposal as waste paper ( cut into pieces) </a:t>
            </a:r>
          </a:p>
          <a:p>
            <a:pPr marL="514350" indent="-514350" algn="l">
              <a:buAutoNum type="arabicPeriod"/>
            </a:pPr>
            <a:r>
              <a:rPr lang="en-US" sz="2800" dirty="0" smtClean="0">
                <a:latin typeface="Century" pitchFamily="18" charset="0"/>
              </a:rPr>
              <a:t>Burning</a:t>
            </a:r>
          </a:p>
          <a:p>
            <a:pPr marL="514350" indent="-514350" algn="l">
              <a:buAutoNum type="arabicPeriod"/>
            </a:pPr>
            <a:r>
              <a:rPr lang="en-US" sz="2800" dirty="0" smtClean="0">
                <a:latin typeface="Century" pitchFamily="18" charset="0"/>
              </a:rPr>
              <a:t>Maintain a Record of Destruction of closed Records</a:t>
            </a:r>
          </a:p>
          <a:p>
            <a:pPr marL="514350" indent="-514350" algn="l"/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0"/>
            <a:ext cx="7851648" cy="18288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latin typeface="Century" pitchFamily="18" charset="0"/>
              </a:rPr>
              <a:t>Registers to be Maintained in the Record Room</a:t>
            </a:r>
            <a:endParaRPr lang="en-US" dirty="0">
              <a:latin typeface="Century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590800"/>
            <a:ext cx="8229600" cy="1752600"/>
          </a:xfrm>
        </p:spPr>
        <p:txBody>
          <a:bodyPr>
            <a:noAutofit/>
          </a:bodyPr>
          <a:lstStyle/>
          <a:p>
            <a:pPr marL="514350" indent="-514350" algn="l">
              <a:buAutoNum type="arabicPeriod"/>
            </a:pPr>
            <a:r>
              <a:rPr lang="en-US" dirty="0" smtClean="0">
                <a:latin typeface="Century" pitchFamily="18" charset="0"/>
              </a:rPr>
              <a:t>Record Register – Para 72 –Form No XI</a:t>
            </a:r>
          </a:p>
          <a:p>
            <a:pPr marL="514350" indent="-514350" algn="l">
              <a:buAutoNum type="arabicPeriod"/>
            </a:pPr>
            <a:r>
              <a:rPr lang="en-US" dirty="0" smtClean="0">
                <a:latin typeface="Century" pitchFamily="18" charset="0"/>
              </a:rPr>
              <a:t>Record Issue Register – Para 79 – Form No XIII</a:t>
            </a:r>
          </a:p>
          <a:p>
            <a:pPr marL="514350" indent="-514350" algn="l">
              <a:buAutoNum type="arabicPeriod"/>
            </a:pPr>
            <a:r>
              <a:rPr lang="en-US" dirty="0" smtClean="0">
                <a:latin typeface="Century" pitchFamily="18" charset="0"/>
              </a:rPr>
              <a:t>Requisition Slip – Para 78 – Form NO XII</a:t>
            </a:r>
          </a:p>
          <a:p>
            <a:pPr marL="514350" indent="-514350" algn="l"/>
            <a:endParaRPr lang="en-US" dirty="0" smtClean="0">
              <a:latin typeface="Century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0"/>
            <a:ext cx="7851648" cy="1828800"/>
          </a:xfrm>
        </p:spPr>
        <p:txBody>
          <a:bodyPr>
            <a:normAutofit/>
          </a:bodyPr>
          <a:lstStyle/>
          <a:p>
            <a:pPr algn="ctr"/>
            <a:r>
              <a:rPr lang="en-US" sz="3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" pitchFamily="18" charset="0"/>
              </a:rPr>
              <a:t>FORM  XI</a:t>
            </a:r>
            <a:br>
              <a:rPr lang="en-US" sz="3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" pitchFamily="18" charset="0"/>
              </a:rPr>
            </a:br>
            <a:r>
              <a:rPr lang="en-US" sz="3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entury" pitchFamily="18" charset="0"/>
              </a:rPr>
              <a:t>(PARA-72)</a:t>
            </a:r>
            <a:r>
              <a:rPr lang="en-US" dirty="0" smtClean="0">
                <a:latin typeface="Century" pitchFamily="18" charset="0"/>
              </a:rPr>
              <a:t/>
            </a:r>
            <a:br>
              <a:rPr lang="en-US" dirty="0" smtClean="0">
                <a:latin typeface="Century" pitchFamily="18" charset="0"/>
              </a:rPr>
            </a:br>
            <a:r>
              <a:rPr lang="en-US" dirty="0" smtClean="0">
                <a:solidFill>
                  <a:srgbClr val="FF0000"/>
                </a:solidFill>
                <a:latin typeface="Century" pitchFamily="18" charset="0"/>
              </a:rPr>
              <a:t>RECORD REGISTER</a:t>
            </a:r>
            <a:endParaRPr lang="en-US" dirty="0">
              <a:solidFill>
                <a:srgbClr val="FF0000"/>
              </a:solidFill>
              <a:latin typeface="Century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2667000"/>
            <a:ext cx="8610600" cy="2743200"/>
          </a:xfrm>
        </p:spPr>
        <p:txBody>
          <a:bodyPr>
            <a:noAutofit/>
          </a:bodyPr>
          <a:lstStyle/>
          <a:p>
            <a:pPr marL="514350" indent="-514350" algn="l"/>
            <a:r>
              <a:rPr lang="en-US" sz="2800" dirty="0" smtClean="0">
                <a:latin typeface="Agency FB" pitchFamily="34" charset="0"/>
              </a:rPr>
              <a:t>----------------------------------------------------------------------                    SL No..	Case No  	Index Title/sub	            Initials of RK</a:t>
            </a:r>
          </a:p>
          <a:p>
            <a:pPr marL="514350" indent="-514350" algn="l"/>
            <a:r>
              <a:rPr lang="en-US" sz="2800" dirty="0" smtClean="0">
                <a:latin typeface="Agency FB" pitchFamily="34" charset="0"/>
              </a:rPr>
              <a:t>----------------------------------------------------------------------</a:t>
            </a:r>
          </a:p>
          <a:p>
            <a:pPr marL="514350" indent="-514350" algn="l"/>
            <a:r>
              <a:rPr lang="en-US" sz="2800" dirty="0" smtClean="0">
                <a:latin typeface="Agency FB" pitchFamily="34" charset="0"/>
              </a:rPr>
              <a:t>		1		2		  3			4	</a:t>
            </a:r>
          </a:p>
          <a:p>
            <a:pPr marL="514350" indent="-514350" algn="l">
              <a:spcBef>
                <a:spcPts val="1200"/>
              </a:spcBef>
            </a:pPr>
            <a:r>
              <a:rPr lang="en-US" sz="2800" dirty="0" smtClean="0">
                <a:latin typeface="Agency FB" pitchFamily="34" charset="0"/>
              </a:rPr>
              <a:t>---------------------------------------------------------------------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0"/>
            <a:ext cx="7851648" cy="1828800"/>
          </a:xfrm>
        </p:spPr>
        <p:txBody>
          <a:bodyPr>
            <a:normAutofit/>
          </a:bodyPr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667000"/>
            <a:ext cx="9144000" cy="1752600"/>
          </a:xfrm>
        </p:spPr>
        <p:txBody>
          <a:bodyPr>
            <a:noAutofit/>
          </a:bodyPr>
          <a:lstStyle/>
          <a:p>
            <a:pPr marL="514350" indent="-514350" algn="l"/>
            <a:endParaRPr lang="en-US" sz="2800" dirty="0" smtClean="0"/>
          </a:p>
        </p:txBody>
      </p:sp>
      <p:pic>
        <p:nvPicPr>
          <p:cNvPr id="1026" name="Picture 2" descr="C:\Users\SWAROOP\Desktop\Untitled-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448800" cy="8534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Diagram 11"/>
          <p:cNvGraphicFramePr/>
          <p:nvPr>
            <p:extLst>
              <p:ext uri="{D42A27DB-BD31-4B8C-83A1-F6EECF244321}">
                <p14:modId xmlns:p14="http://schemas.microsoft.com/office/powerpoint/2010/main" val="3252299864"/>
              </p:ext>
            </p:extLst>
          </p:nvPr>
        </p:nvGraphicFramePr>
        <p:xfrm>
          <a:off x="1752600" y="2895600"/>
          <a:ext cx="6248400" cy="1572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5-Point Star 7"/>
          <p:cNvSpPr/>
          <p:nvPr/>
        </p:nvSpPr>
        <p:spPr>
          <a:xfrm>
            <a:off x="2895600" y="990600"/>
            <a:ext cx="609600" cy="533400"/>
          </a:xfrm>
          <a:prstGeom prst="star5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5-Point Star 8"/>
          <p:cNvSpPr/>
          <p:nvPr/>
        </p:nvSpPr>
        <p:spPr>
          <a:xfrm>
            <a:off x="3962400" y="990600"/>
            <a:ext cx="609600" cy="533400"/>
          </a:xfrm>
          <a:prstGeom prst="star5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5-Point Star 9"/>
          <p:cNvSpPr/>
          <p:nvPr/>
        </p:nvSpPr>
        <p:spPr>
          <a:xfrm>
            <a:off x="5105400" y="990600"/>
            <a:ext cx="609600" cy="533400"/>
          </a:xfrm>
          <a:prstGeom prst="star5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408</TotalTime>
  <Words>573</Words>
  <Application>Microsoft Office PowerPoint</Application>
  <PresentationFormat>On-screen Show (4:3)</PresentationFormat>
  <Paragraphs>265</Paragraphs>
  <Slides>27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Solstice</vt:lpstr>
      <vt:lpstr>RECORD MANAGEMENT (KIC—CASE  LAWS)</vt:lpstr>
      <vt:lpstr>……</vt:lpstr>
      <vt:lpstr>PowerPoint Presentation</vt:lpstr>
      <vt:lpstr>PowerPoint Presentation</vt:lpstr>
      <vt:lpstr>KARNATAKA STATE PUBLIC RECORDS ACT 2010 (WEF 22-11-2011)</vt:lpstr>
      <vt:lpstr>PowerPoint Presentation</vt:lpstr>
      <vt:lpstr>PowerPoint Presentation</vt:lpstr>
      <vt:lpstr>PowerPoint Presentation</vt:lpstr>
      <vt:lpstr>END</vt:lpstr>
      <vt:lpstr>RECORD MANGEMENT </vt:lpstr>
      <vt:lpstr>PowerPoint Presentation</vt:lpstr>
      <vt:lpstr>RTI   SECTION 4(1)(a)</vt:lpstr>
      <vt:lpstr>Stages of a Record </vt:lpstr>
      <vt:lpstr>Types of Records </vt:lpstr>
      <vt:lpstr>Maintenance of Current Records  Five Bundle System</vt:lpstr>
      <vt:lpstr>FIVE BUNDLE SYSTEM CASE WORKER’s  ALMIRAH</vt:lpstr>
      <vt:lpstr>Maintenance of Closed Records Preservation Period </vt:lpstr>
      <vt:lpstr>LABEL ON A CLOSED RECORD Office----------------------</vt:lpstr>
      <vt:lpstr>Assignment of  Disposal to Closed Records</vt:lpstr>
      <vt:lpstr>ASSIGNMENT OF DISPOSAL OF CLOSED RECORDS (Art 399 of KFC—Financial Records)  </vt:lpstr>
      <vt:lpstr>RECORD ROOM RACKS ARRANGEMENT</vt:lpstr>
      <vt:lpstr>                        ‘D’ disposal with case worker</vt:lpstr>
      <vt:lpstr>Destruction of Closed Records </vt:lpstr>
      <vt:lpstr>Registers to be Maintained in the Record Room</vt:lpstr>
      <vt:lpstr>FORM  XI (PARA-72) RECORD REGISTER</vt:lpstr>
      <vt:lpstr>PowerPoint Presentation</vt:lpstr>
      <vt:lpstr>PowerPoint Presentation</vt:lpstr>
    </vt:vector>
  </TitlesOfParts>
  <Company>Grizli777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 MANAGEMENT (KIC—CASE  LAWS)</dc:title>
  <dc:creator>SWAROOP</dc:creator>
  <cp:lastModifiedBy>USER</cp:lastModifiedBy>
  <cp:revision>24</cp:revision>
  <dcterms:created xsi:type="dcterms:W3CDTF">2013-01-04T09:14:47Z</dcterms:created>
  <dcterms:modified xsi:type="dcterms:W3CDTF">2017-06-25T17:46:35Z</dcterms:modified>
</cp:coreProperties>
</file>