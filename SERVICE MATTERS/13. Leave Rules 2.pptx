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4038717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410790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4254268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4141235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1895A8-D5E4-4334-BADA-FCF49FC5222D}" type="datetimeFigureOut">
              <a:rPr lang="en-US" smtClean="0"/>
              <a:pPr/>
              <a:t>5/21/2026</a:t>
            </a:fld>
            <a:endParaRPr lang="en-IN"/>
          </a:p>
        </p:txBody>
      </p:sp>
      <p:sp>
        <p:nvSpPr>
          <p:cNvPr id="8" name="Footer Placeholder 7"/>
          <p:cNvSpPr>
            <a:spLocks noGrp="1"/>
          </p:cNvSpPr>
          <p:nvPr>
            <p:ph type="ftr" sz="quarter" idx="11"/>
          </p:nvPr>
        </p:nvSpPr>
        <p:spPr/>
        <p:txBody>
          <a:bodyPr/>
          <a:lstStyle/>
          <a:p>
            <a:endParaRPr lang="en-IN"/>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2201786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1895A8-D5E4-4334-BADA-FCF49FC5222D}" type="datetimeFigureOut">
              <a:rPr lang="en-US" smtClean="0"/>
              <a:pPr/>
              <a:t>5/21/2026</a:t>
            </a:fld>
            <a:endParaRPr lang="en-IN"/>
          </a:p>
        </p:txBody>
      </p:sp>
      <p:sp>
        <p:nvSpPr>
          <p:cNvPr id="4" name="Footer Placeholder 3"/>
          <p:cNvSpPr>
            <a:spLocks noGrp="1"/>
          </p:cNvSpPr>
          <p:nvPr>
            <p:ph type="ftr" sz="quarter" idx="11"/>
          </p:nvPr>
        </p:nvSpPr>
        <p:spPr/>
        <p:txBody>
          <a:bodyPr/>
          <a:lstStyle/>
          <a:p>
            <a:endParaRPr lang="en-IN"/>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12430179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1895A8-D5E4-4334-BADA-FCF49FC5222D}" type="datetimeFigureOut">
              <a:rPr lang="en-US" smtClean="0"/>
              <a:pPr/>
              <a:t>5/21/2026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732928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3737191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507453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1930915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9B19E583-D20C-43F3-AB81-C8450DDD9D44}" type="slidenum">
              <a:rPr lang="en-IN" smtClean="0"/>
              <a:pPr/>
              <a:t>‹#›</a:t>
            </a:fld>
            <a:endParaRPr lang="en-IN"/>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xmlns="" val="30719652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1205053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9B19E583-D20C-43F3-AB81-C8450DDD9D44}" type="slidenum">
              <a:rPr lang="en-IN" smtClean="0"/>
              <a:pPr/>
              <a:t>‹#›</a:t>
            </a:fld>
            <a:endParaRPr lang="en-IN"/>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xmlns="" val="9983063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01895A8-D5E4-4334-BADA-FCF49FC5222D}" type="datetimeFigureOut">
              <a:rPr lang="en-US" smtClean="0"/>
              <a:pPr/>
              <a:t>5/21/2026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1453951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1541830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1895A8-D5E4-4334-BADA-FCF49FC5222D}" type="datetimeFigureOut">
              <a:rPr lang="en-US" smtClean="0"/>
              <a:pPr/>
              <a:t>5/21/2026</a:t>
            </a:fld>
            <a:endParaRPr lang="en-IN"/>
          </a:p>
        </p:txBody>
      </p:sp>
      <p:sp>
        <p:nvSpPr>
          <p:cNvPr id="5" name="Footer Placeholder 4"/>
          <p:cNvSpPr>
            <a:spLocks noGrp="1"/>
          </p:cNvSpPr>
          <p:nvPr>
            <p:ph type="ftr" sz="quarter" idx="11"/>
          </p:nvPr>
        </p:nvSpPr>
        <p:spPr/>
        <p:txBody>
          <a:bodyPr/>
          <a:lstStyle/>
          <a:p>
            <a:endParaRPr lang="en-IN"/>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2565639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901895A8-D5E4-4334-BADA-FCF49FC5222D}" type="datetimeFigureOut">
              <a:rPr lang="en-US" smtClean="0"/>
              <a:pPr/>
              <a:t>5/21/2026</a:t>
            </a:fld>
            <a:endParaRPr lang="en-IN"/>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9B19E583-D20C-43F3-AB81-C8450DDD9D44}" type="slidenum">
              <a:rPr lang="en-IN" smtClean="0"/>
              <a:pPr/>
              <a:t>‹#›</a:t>
            </a:fld>
            <a:endParaRPr lang="en-IN"/>
          </a:p>
        </p:txBody>
      </p:sp>
    </p:spTree>
    <p:extLst>
      <p:ext uri="{BB962C8B-B14F-4D97-AF65-F5344CB8AC3E}">
        <p14:creationId xmlns:p14="http://schemas.microsoft.com/office/powerpoint/2010/main" xmlns="" val="60872518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2514601"/>
            <a:ext cx="6923195" cy="2262781"/>
          </a:xfrm>
        </p:spPr>
        <p:txBody>
          <a:bodyPr>
            <a:noAutofit/>
          </a:bodyPr>
          <a:lstStyle/>
          <a:p>
            <a:r>
              <a:rPr lang="en-IN" sz="7200" b="1" dirty="0">
                <a:latin typeface="Century" panose="02040604050505020304" pitchFamily="18" charset="0"/>
              </a:rPr>
              <a:t>LEAVE RULES</a:t>
            </a:r>
            <a:br>
              <a:rPr lang="en-IN" sz="7200" b="1" dirty="0">
                <a:latin typeface="Century" panose="02040604050505020304" pitchFamily="18" charset="0"/>
              </a:rPr>
            </a:br>
            <a:endParaRPr lang="en-IN" sz="7200" b="1" dirty="0">
              <a:latin typeface="Century" panose="02040604050505020304" pitchFamily="18" charset="0"/>
            </a:endParaRPr>
          </a:p>
        </p:txBody>
      </p:sp>
      <p:sp>
        <p:nvSpPr>
          <p:cNvPr id="3" name="Subtitle 2"/>
          <p:cNvSpPr>
            <a:spLocks noGrp="1"/>
          </p:cNvSpPr>
          <p:nvPr>
            <p:ph type="subTitle" idx="1"/>
          </p:nvPr>
        </p:nvSpPr>
        <p:spPr>
          <a:xfrm>
            <a:off x="3563888" y="4214240"/>
            <a:ext cx="6600451" cy="1126283"/>
          </a:xfrm>
        </p:spPr>
        <p:txBody>
          <a:bodyPr>
            <a:normAutofit/>
          </a:bodyPr>
          <a:lstStyle/>
          <a:p>
            <a:r>
              <a:rPr lang="en-IN" sz="6600" b="1" dirty="0" smtClean="0">
                <a:latin typeface="Century" panose="02040604050505020304" pitchFamily="18" charset="0"/>
              </a:rPr>
              <a:t>KCSR</a:t>
            </a:r>
            <a:endParaRPr lang="en-IN" sz="6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Century" panose="02040604050505020304" pitchFamily="18" charset="0"/>
              </a:rPr>
              <a:t>LEAVE RULES </a:t>
            </a: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Government servants beside their duty period require leave for personal, health and for domestic reasons. As per the following rules enumerated in KCSR the Government servants are entitled to different kinds of leave in their entire service, which will help them to perform regular duties and responsibility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39007" y="476672"/>
            <a:ext cx="7198799" cy="1280890"/>
          </a:xfrm>
        </p:spPr>
        <p:txBody>
          <a:bodyPr/>
          <a:lstStyle/>
          <a:p>
            <a:r>
              <a:rPr lang="en-IN" dirty="0">
                <a:latin typeface="Century" panose="02040604050505020304" pitchFamily="18" charset="0"/>
              </a:rPr>
              <a:t>DIFFERENT KINDS OF LEAVE</a:t>
            </a:r>
          </a:p>
        </p:txBody>
      </p:sp>
      <p:sp>
        <p:nvSpPr>
          <p:cNvPr id="3" name="Content Placeholder 2"/>
          <p:cNvSpPr>
            <a:spLocks noGrp="1"/>
          </p:cNvSpPr>
          <p:nvPr>
            <p:ph idx="1"/>
          </p:nvPr>
        </p:nvSpPr>
        <p:spPr/>
        <p:txBody>
          <a:bodyPr>
            <a:normAutofit fontScale="92500" lnSpcReduction="20000"/>
          </a:bodyPr>
          <a:lstStyle/>
          <a:p>
            <a:r>
              <a:rPr lang="en-IN" dirty="0"/>
              <a:t>1</a:t>
            </a:r>
            <a:r>
              <a:rPr lang="en-IN" dirty="0">
                <a:latin typeface="Century" panose="02040604050505020304" pitchFamily="18" charset="0"/>
              </a:rPr>
              <a:t>) CASUAL LEAVE-Annexure ‘B’</a:t>
            </a:r>
          </a:p>
          <a:p>
            <a:r>
              <a:rPr lang="en-IN" dirty="0">
                <a:latin typeface="Century" panose="02040604050505020304" pitchFamily="18" charset="0"/>
              </a:rPr>
              <a:t>2) EARNED LEAVE-112-113</a:t>
            </a:r>
          </a:p>
          <a:p>
            <a:r>
              <a:rPr lang="en-IN" dirty="0">
                <a:latin typeface="Century" panose="02040604050505020304" pitchFamily="18" charset="0"/>
              </a:rPr>
              <a:t>3) HALF PAY LEAVE-114</a:t>
            </a:r>
          </a:p>
          <a:p>
            <a:r>
              <a:rPr lang="en-IN" dirty="0">
                <a:latin typeface="Century" panose="02040604050505020304" pitchFamily="18" charset="0"/>
              </a:rPr>
              <a:t>4) COMMUTED LEAVE-114-(4)</a:t>
            </a:r>
          </a:p>
          <a:p>
            <a:r>
              <a:rPr lang="en-IN" dirty="0">
                <a:latin typeface="Century" panose="02040604050505020304" pitchFamily="18" charset="0"/>
              </a:rPr>
              <a:t>5) LEAVE NOT DUE-114(6)</a:t>
            </a:r>
          </a:p>
          <a:p>
            <a:r>
              <a:rPr lang="en-IN" dirty="0">
                <a:latin typeface="Century" panose="02040604050505020304" pitchFamily="18" charset="0"/>
              </a:rPr>
              <a:t>6) EXTRORDINARY LEAVE-117</a:t>
            </a:r>
          </a:p>
          <a:p>
            <a:r>
              <a:rPr lang="en-IN" dirty="0">
                <a:latin typeface="Century" panose="02040604050505020304" pitchFamily="18" charset="0"/>
              </a:rPr>
              <a:t>7) EXAMINATION LEAVE-130-134</a:t>
            </a:r>
          </a:p>
          <a:p>
            <a:r>
              <a:rPr lang="en-IN" dirty="0">
                <a:latin typeface="Century" panose="02040604050505020304" pitchFamily="18" charset="0"/>
              </a:rPr>
              <a:t>8) MATERNITY LEAVE-135</a:t>
            </a:r>
          </a:p>
          <a:p>
            <a:r>
              <a:rPr lang="en-IN" dirty="0">
                <a:latin typeface="Century" panose="02040604050505020304" pitchFamily="18" charset="0"/>
              </a:rPr>
              <a:t>9) LEAVE TO ADOPTION OF CHILD-135(A)</a:t>
            </a:r>
          </a:p>
          <a:p>
            <a:r>
              <a:rPr lang="en-IN" dirty="0">
                <a:latin typeface="Century" panose="02040604050505020304" pitchFamily="18" charset="0"/>
              </a:rPr>
              <a:t>10) PATERNITY LEAVE-135(B)</a:t>
            </a:r>
          </a:p>
          <a:p>
            <a:r>
              <a:rPr lang="en-IN" dirty="0">
                <a:latin typeface="Century" panose="02040604050505020304" pitchFamily="18" charset="0"/>
              </a:rPr>
              <a:t>11) CHILD CARE LEAVE-135(C)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b="1" u="sng" dirty="0">
                <a:latin typeface="Century" panose="02040604050505020304" pitchFamily="18" charset="0"/>
              </a:rPr>
              <a:t>CASUAL LEAVE-Annexure ‘B’</a:t>
            </a:r>
            <a:br>
              <a:rPr lang="en-IN" b="1" u="sng" dirty="0">
                <a:latin typeface="Century" panose="02040604050505020304" pitchFamily="18" charset="0"/>
              </a:rPr>
            </a:br>
            <a:endParaRPr lang="en-IN" b="1" u="sng" dirty="0">
              <a:latin typeface="Century" panose="02040604050505020304" pitchFamily="18" charset="0"/>
            </a:endParaRP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15 (fifteen) days of Casual leave may be granted to Government servant in each calendar year</a:t>
            </a:r>
          </a:p>
          <a:p>
            <a:pPr algn="just"/>
            <a:r>
              <a:rPr lang="en-IN" dirty="0">
                <a:latin typeface="Century" panose="02040604050505020304" pitchFamily="18" charset="0"/>
              </a:rPr>
              <a:t>Provided that Government servant who has not put in one year of service in a post may be granted casual leave in proportions to the period of his service at the rate of one day for every completed service of one month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
            </a:r>
            <a:br>
              <a:rPr lang="en-IN" b="1" dirty="0"/>
            </a:br>
            <a:r>
              <a:rPr lang="en-IN" b="1" dirty="0">
                <a:latin typeface="Century" panose="02040604050505020304" pitchFamily="18" charset="0"/>
              </a:rPr>
              <a:t> </a:t>
            </a:r>
            <a:r>
              <a:rPr lang="en-IN" b="1" u="sng" dirty="0">
                <a:latin typeface="Century" panose="02040604050505020304" pitchFamily="18" charset="0"/>
              </a:rPr>
              <a:t>CASUAL LEAVE-Annexure ‘B’</a:t>
            </a:r>
            <a:br>
              <a:rPr lang="en-IN" b="1" u="sng" dirty="0">
                <a:latin typeface="Century" panose="02040604050505020304" pitchFamily="18" charset="0"/>
              </a:rPr>
            </a:br>
            <a:endParaRPr lang="en-IN" b="1" u="sng" dirty="0">
              <a:latin typeface="Century" panose="02040604050505020304" pitchFamily="18" charset="0"/>
            </a:endParaRP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Casual leave of half - a – day effective </a:t>
            </a:r>
            <a:r>
              <a:rPr lang="en-IN" dirty="0" err="1">
                <a:latin typeface="Century" panose="02040604050505020304" pitchFamily="18" charset="0"/>
              </a:rPr>
              <a:t>upto</a:t>
            </a:r>
            <a:r>
              <a:rPr lang="en-IN" dirty="0">
                <a:latin typeface="Century" panose="02040604050505020304" pitchFamily="18" charset="0"/>
              </a:rPr>
              <a:t> or from 2 p.m. On any working day may be granted subject to prescribed limit of fifteen days</a:t>
            </a:r>
          </a:p>
          <a:p>
            <a:pPr algn="just"/>
            <a:r>
              <a:rPr lang="en-IN" dirty="0">
                <a:latin typeface="Century" panose="02040604050505020304" pitchFamily="18" charset="0"/>
              </a:rPr>
              <a:t>No Government servant has a right to the grant of CL. The authority empowered to grant CL may refuse or revoke CL at any time  to the exigencies of public service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b="1" dirty="0">
                <a:latin typeface="Century" panose="02040604050505020304" pitchFamily="18" charset="0"/>
              </a:rPr>
              <a:t> </a:t>
            </a:r>
            <a:r>
              <a:rPr lang="en-IN" u="sng" dirty="0">
                <a:latin typeface="Century" panose="02040604050505020304" pitchFamily="18" charset="0"/>
              </a:rPr>
              <a:t>CASUAL LEAVE-Annexure ‘B’</a:t>
            </a:r>
            <a:br>
              <a:rPr lang="en-IN" u="sng" dirty="0">
                <a:latin typeface="Century" panose="02040604050505020304" pitchFamily="18" charset="0"/>
              </a:rPr>
            </a:br>
            <a:endParaRPr lang="en-IN" u="sng" dirty="0">
              <a:latin typeface="Century" panose="02040604050505020304" pitchFamily="18" charset="0"/>
            </a:endParaRPr>
          </a:p>
        </p:txBody>
      </p:sp>
      <p:sp>
        <p:nvSpPr>
          <p:cNvPr id="3" name="Content Placeholder 2"/>
          <p:cNvSpPr>
            <a:spLocks noGrp="1"/>
          </p:cNvSpPr>
          <p:nvPr>
            <p:ph idx="1"/>
          </p:nvPr>
        </p:nvSpPr>
        <p:spPr/>
        <p:txBody>
          <a:bodyPr>
            <a:normAutofit/>
          </a:bodyPr>
          <a:lstStyle/>
          <a:p>
            <a:pPr algn="just"/>
            <a:r>
              <a:rPr lang="en-IN" dirty="0">
                <a:latin typeface="Century" panose="02040604050505020304" pitchFamily="18" charset="0"/>
              </a:rPr>
              <a:t>Casual leave shall not be granted at commencement or end of other kinds of leave </a:t>
            </a:r>
            <a:r>
              <a:rPr lang="en-IN" dirty="0" err="1">
                <a:latin typeface="Century" panose="02040604050505020304" pitchFamily="18" charset="0"/>
              </a:rPr>
              <a:t>ie</a:t>
            </a:r>
            <a:r>
              <a:rPr lang="en-IN" dirty="0">
                <a:latin typeface="Century" panose="02040604050505020304" pitchFamily="18" charset="0"/>
              </a:rPr>
              <a:t>, it shall not ordinarily  be granted in continuation of other leave. But it may be combined with Sundays and other authorised holidays, provided not more than seven days at a stretch and one period of total absence inclusive of such holidays not more than ten days.</a:t>
            </a:r>
          </a:p>
          <a:p>
            <a:pPr algn="just"/>
            <a:r>
              <a:rPr lang="en-IN" dirty="0">
                <a:latin typeface="Century" panose="02040604050505020304" pitchFamily="18" charset="0"/>
              </a:rPr>
              <a:t>Leave without allowance shall not be granted in continuation of CL</a:t>
            </a:r>
          </a:p>
          <a:p>
            <a:pPr algn="just"/>
            <a:r>
              <a:rPr lang="en-IN" dirty="0">
                <a:latin typeface="Century" panose="02040604050505020304" pitchFamily="18" charset="0"/>
              </a:rPr>
              <a:t>Prior sanction for CL may be obtained from competent authority, provided except in case of illness or other sufficient cause may be granted CL subsequently </a:t>
            </a:r>
          </a:p>
          <a:p>
            <a:pPr algn="just"/>
            <a:endParaRPr lang="en-IN" dirty="0">
              <a:latin typeface="Century" panose="02040604050505020304" pitchFamily="18" charset="0"/>
            </a:endParaRPr>
          </a:p>
          <a:p>
            <a:pPr>
              <a:buNone/>
            </a:pP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
            </a:r>
            <a:br>
              <a:rPr lang="en-IN" b="1" dirty="0"/>
            </a:br>
            <a:r>
              <a:rPr lang="en-IN" b="1" dirty="0">
                <a:latin typeface="Century" panose="02040604050505020304" pitchFamily="18" charset="0"/>
              </a:rPr>
              <a:t> EARNED LEAVE R.112-113</a:t>
            </a:r>
            <a:r>
              <a:rPr lang="en-IN" dirty="0">
                <a:latin typeface="Century" panose="02040604050505020304" pitchFamily="18" charset="0"/>
              </a:rPr>
              <a:t/>
            </a:r>
            <a:br>
              <a:rPr lang="en-IN" dirty="0">
                <a:latin typeface="Century" panose="02040604050505020304" pitchFamily="18" charset="0"/>
              </a:rPr>
            </a:br>
            <a:endParaRPr lang="en-IN" dirty="0">
              <a:latin typeface="Century" panose="02040604050505020304" pitchFamily="18" charset="0"/>
            </a:endParaRPr>
          </a:p>
        </p:txBody>
      </p:sp>
      <p:sp>
        <p:nvSpPr>
          <p:cNvPr id="3" name="Content Placeholder 2"/>
          <p:cNvSpPr>
            <a:spLocks noGrp="1"/>
          </p:cNvSpPr>
          <p:nvPr>
            <p:ph idx="1"/>
          </p:nvPr>
        </p:nvSpPr>
        <p:spPr/>
        <p:txBody>
          <a:bodyPr>
            <a:normAutofit/>
          </a:bodyPr>
          <a:lstStyle/>
          <a:p>
            <a:pPr algn="just"/>
            <a:r>
              <a:rPr lang="en-IN" dirty="0">
                <a:latin typeface="Century" panose="02040604050505020304" pitchFamily="18" charset="0"/>
              </a:rPr>
              <a:t>The EL of 30(Thirty) days credited in each calendar year.</a:t>
            </a:r>
          </a:p>
          <a:p>
            <a:pPr algn="just"/>
            <a:r>
              <a:rPr lang="en-IN" dirty="0">
                <a:latin typeface="Century" panose="02040604050505020304" pitchFamily="18" charset="0"/>
              </a:rPr>
              <a:t>The EL is credited in two instalments </a:t>
            </a:r>
            <a:r>
              <a:rPr lang="en-IN" dirty="0" err="1">
                <a:latin typeface="Century" panose="02040604050505020304" pitchFamily="18" charset="0"/>
              </a:rPr>
              <a:t>ie</a:t>
            </a:r>
            <a:r>
              <a:rPr lang="en-IN" dirty="0">
                <a:latin typeface="Century" panose="02040604050505020304" pitchFamily="18" charset="0"/>
              </a:rPr>
              <a:t>., on 1</a:t>
            </a:r>
            <a:r>
              <a:rPr lang="en-IN" baseline="30000" dirty="0">
                <a:latin typeface="Century" panose="02040604050505020304" pitchFamily="18" charset="0"/>
              </a:rPr>
              <a:t>st</a:t>
            </a:r>
            <a:r>
              <a:rPr lang="en-IN" dirty="0">
                <a:latin typeface="Century" panose="02040604050505020304" pitchFamily="18" charset="0"/>
              </a:rPr>
              <a:t> of January and 1</a:t>
            </a:r>
            <a:r>
              <a:rPr lang="en-IN" baseline="30000" dirty="0">
                <a:latin typeface="Century" panose="02040604050505020304" pitchFamily="18" charset="0"/>
              </a:rPr>
              <a:t>st</a:t>
            </a:r>
            <a:r>
              <a:rPr lang="en-IN" dirty="0">
                <a:latin typeface="Century" panose="02040604050505020304" pitchFamily="18" charset="0"/>
              </a:rPr>
              <a:t> of July of each calendar year</a:t>
            </a:r>
          </a:p>
          <a:p>
            <a:pPr algn="just"/>
            <a:r>
              <a:rPr lang="en-IN" dirty="0">
                <a:latin typeface="Century" panose="02040604050505020304" pitchFamily="18" charset="0"/>
              </a:rPr>
              <a:t>The leave at credit of Government servant at the close of previous half year shall be carried forward to the next half year, subject to the condition that the leave carried forward plus the credit for the half year does not exceed 300 days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u="sng" dirty="0">
                <a:latin typeface="Century" panose="02040604050505020304" pitchFamily="18" charset="0"/>
              </a:rPr>
              <a:t>EARNED LEAVE R.112-113</a:t>
            </a:r>
          </a:p>
        </p:txBody>
      </p:sp>
      <p:sp>
        <p:nvSpPr>
          <p:cNvPr id="3" name="Content Placeholder 2"/>
          <p:cNvSpPr>
            <a:spLocks noGrp="1"/>
          </p:cNvSpPr>
          <p:nvPr>
            <p:ph idx="1"/>
          </p:nvPr>
        </p:nvSpPr>
        <p:spPr/>
        <p:txBody>
          <a:bodyPr>
            <a:normAutofit/>
          </a:bodyPr>
          <a:lstStyle/>
          <a:p>
            <a:pPr algn="just"/>
            <a:r>
              <a:rPr lang="en-IN" dirty="0">
                <a:latin typeface="Century" panose="02040604050505020304" pitchFamily="18" charset="0"/>
              </a:rPr>
              <a:t>Provided that where EL at the credit of GS as on the last day of DEC or JUNE is 300 days or less but more than 285 days advance credit on 1</a:t>
            </a:r>
            <a:r>
              <a:rPr lang="en-IN" baseline="30000" dirty="0">
                <a:latin typeface="Century" panose="02040604050505020304" pitchFamily="18" charset="0"/>
              </a:rPr>
              <a:t>st</a:t>
            </a:r>
            <a:r>
              <a:rPr lang="en-IN" dirty="0">
                <a:latin typeface="Century" panose="02040604050505020304" pitchFamily="18" charset="0"/>
              </a:rPr>
              <a:t> of JAN and 1</a:t>
            </a:r>
            <a:r>
              <a:rPr lang="en-IN" baseline="30000" dirty="0">
                <a:latin typeface="Century" panose="02040604050505020304" pitchFamily="18" charset="0"/>
              </a:rPr>
              <a:t>st</a:t>
            </a:r>
            <a:r>
              <a:rPr lang="en-IN" dirty="0">
                <a:latin typeface="Century" panose="02040604050505020304" pitchFamily="18" charset="0"/>
              </a:rPr>
              <a:t> of JULY be kept separately and adjusted against availed EL during the half year.</a:t>
            </a:r>
          </a:p>
          <a:p>
            <a:pPr algn="just"/>
            <a:r>
              <a:rPr lang="en-IN" dirty="0">
                <a:latin typeface="Century" panose="02040604050505020304" pitchFamily="18" charset="0"/>
              </a:rPr>
              <a:t>EL shall be credited at the rate of two and a half days for each completed calendar month of service in the half of the calendar year in which GS appointed and also during the GS retire or resigns from service two and a half days for each completed calendar month of service up to date of retirement and resignation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u="sng" dirty="0">
                <a:latin typeface="Century" panose="02040604050505020304" pitchFamily="18" charset="0"/>
              </a:rPr>
              <a:t>EARNED LEAVE R.112-113</a:t>
            </a:r>
          </a:p>
        </p:txBody>
      </p:sp>
      <p:sp>
        <p:nvSpPr>
          <p:cNvPr id="3" name="Content Placeholder 2"/>
          <p:cNvSpPr>
            <a:spLocks noGrp="1"/>
          </p:cNvSpPr>
          <p:nvPr>
            <p:ph idx="1"/>
          </p:nvPr>
        </p:nvSpPr>
        <p:spPr/>
        <p:txBody>
          <a:bodyPr>
            <a:normAutofit/>
          </a:bodyPr>
          <a:lstStyle/>
          <a:p>
            <a:r>
              <a:rPr lang="en-IN" dirty="0">
                <a:latin typeface="Century" panose="02040604050505020304" pitchFamily="18" charset="0"/>
              </a:rPr>
              <a:t>If a GS has taken any extraordinary leave or some period of absence like suspension has been treated as dies-non or non-duty in a previous half year, the credit at beginning of half year </a:t>
            </a:r>
            <a:r>
              <a:rPr lang="en-IN" dirty="0" err="1">
                <a:latin typeface="Century" panose="02040604050505020304" pitchFamily="18" charset="0"/>
              </a:rPr>
              <a:t>ie</a:t>
            </a:r>
            <a:r>
              <a:rPr lang="en-IN" dirty="0">
                <a:latin typeface="Century" panose="02040604050505020304" pitchFamily="18" charset="0"/>
              </a:rPr>
              <a:t>., 1</a:t>
            </a:r>
            <a:r>
              <a:rPr lang="en-IN" baseline="30000" dirty="0">
                <a:latin typeface="Century" panose="02040604050505020304" pitchFamily="18" charset="0"/>
              </a:rPr>
              <a:t>st</a:t>
            </a:r>
            <a:r>
              <a:rPr lang="en-IN" dirty="0">
                <a:latin typeface="Century" panose="02040604050505020304" pitchFamily="18" charset="0"/>
              </a:rPr>
              <a:t> of January or 1</a:t>
            </a:r>
            <a:r>
              <a:rPr lang="en-IN" baseline="30000" dirty="0">
                <a:latin typeface="Century" panose="02040604050505020304" pitchFamily="18" charset="0"/>
              </a:rPr>
              <a:t>st</a:t>
            </a:r>
            <a:r>
              <a:rPr lang="en-IN" dirty="0">
                <a:latin typeface="Century" panose="02040604050505020304" pitchFamily="18" charset="0"/>
              </a:rPr>
              <a:t> of July shall be reduced by 1/10 of the period of such EOL/dies-non/non-duty subject to maximum of 15 days</a:t>
            </a:r>
          </a:p>
          <a:p>
            <a:r>
              <a:rPr lang="en-IN" dirty="0">
                <a:latin typeface="Century" panose="02040604050505020304" pitchFamily="18" charset="0"/>
              </a:rPr>
              <a:t>Credit of fraction of a day is rounded off to nearest day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entury" panose="02040604050505020304" pitchFamily="18" charset="0"/>
              </a:rPr>
              <a:t> </a:t>
            </a:r>
            <a:r>
              <a:rPr lang="en-IN" u="sng" dirty="0">
                <a:latin typeface="Century" panose="02040604050505020304" pitchFamily="18" charset="0"/>
              </a:rPr>
              <a:t>EARNED LEAVE R.112-113</a:t>
            </a: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15 days of EL may be surrendered in calendar year for encashment benefit (</a:t>
            </a:r>
            <a:r>
              <a:rPr lang="en-IN" dirty="0" err="1">
                <a:latin typeface="Century" panose="02040604050505020304" pitchFamily="18" charset="0"/>
              </a:rPr>
              <a:t>Pay+DA+HRA+CCA+Spl.pay</a:t>
            </a:r>
            <a:r>
              <a:rPr lang="en-IN" dirty="0">
                <a:latin typeface="Century" panose="02040604050505020304" pitchFamily="18" charset="0"/>
              </a:rPr>
              <a:t>)</a:t>
            </a:r>
          </a:p>
          <a:p>
            <a:pPr algn="just"/>
            <a:r>
              <a:rPr lang="en-IN" dirty="0">
                <a:latin typeface="Century" panose="02040604050505020304" pitchFamily="18" charset="0"/>
              </a:rPr>
              <a:t>The maximum of EL granted at a time to GS is 120 (One hundred twenty) days</a:t>
            </a:r>
          </a:p>
          <a:p>
            <a:pPr algn="just"/>
            <a:r>
              <a:rPr lang="en-IN" dirty="0">
                <a:latin typeface="Century" panose="02040604050505020304" pitchFamily="18" charset="0"/>
              </a:rPr>
              <a:t>300 (Three hundred) days leave preparatory to retirement (</a:t>
            </a:r>
            <a:r>
              <a:rPr lang="en-IN" dirty="0" err="1">
                <a:latin typeface="Century" panose="02040604050505020304" pitchFamily="18" charset="0"/>
              </a:rPr>
              <a:t>Pay+DA</a:t>
            </a:r>
            <a:r>
              <a:rPr lang="en-IN" dirty="0">
                <a:latin typeface="Century" panose="02040604050505020304" pitchFamily="18" charset="0"/>
              </a:rPr>
              <a: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latin typeface="Century" panose="02040604050505020304" pitchFamily="18" charset="0"/>
              </a:rPr>
              <a:t> </a:t>
            </a:r>
            <a:r>
              <a:rPr lang="en-IN" u="sng" dirty="0">
                <a:latin typeface="Century" panose="02040604050505020304" pitchFamily="18" charset="0"/>
              </a:rPr>
              <a:t>HALF PAY LEAVE R.114</a:t>
            </a:r>
          </a:p>
        </p:txBody>
      </p:sp>
      <p:sp>
        <p:nvSpPr>
          <p:cNvPr id="3" name="Content Placeholder 2"/>
          <p:cNvSpPr>
            <a:spLocks noGrp="1"/>
          </p:cNvSpPr>
          <p:nvPr>
            <p:ph idx="1"/>
          </p:nvPr>
        </p:nvSpPr>
        <p:spPr/>
        <p:txBody>
          <a:bodyPr>
            <a:normAutofit fontScale="92500" lnSpcReduction="10000"/>
          </a:bodyPr>
          <a:lstStyle/>
          <a:p>
            <a:pPr algn="just"/>
            <a:r>
              <a:rPr lang="en-IN" dirty="0">
                <a:latin typeface="Century" panose="02040604050505020304" pitchFamily="18" charset="0"/>
              </a:rPr>
              <a:t>WEF 01-07-1995 HPL at the rate of 10 days shall be credited to GS leave account on 1</a:t>
            </a:r>
            <a:r>
              <a:rPr lang="en-IN" baseline="30000" dirty="0">
                <a:latin typeface="Century" panose="02040604050505020304" pitchFamily="18" charset="0"/>
              </a:rPr>
              <a:t>st</a:t>
            </a:r>
            <a:r>
              <a:rPr lang="en-IN" dirty="0">
                <a:latin typeface="Century" panose="02040604050505020304" pitchFamily="18" charset="0"/>
              </a:rPr>
              <a:t> of JAN and 1</a:t>
            </a:r>
            <a:r>
              <a:rPr lang="en-IN" baseline="30000" dirty="0">
                <a:latin typeface="Century" panose="02040604050505020304" pitchFamily="18" charset="0"/>
              </a:rPr>
              <a:t>st</a:t>
            </a:r>
            <a:r>
              <a:rPr lang="en-IN" dirty="0">
                <a:latin typeface="Century" panose="02040604050505020304" pitchFamily="18" charset="0"/>
              </a:rPr>
              <a:t> of JULY</a:t>
            </a:r>
          </a:p>
          <a:p>
            <a:pPr algn="just"/>
            <a:r>
              <a:rPr lang="en-IN" dirty="0">
                <a:latin typeface="Century" panose="02040604050505020304" pitchFamily="18" charset="0"/>
              </a:rPr>
              <a:t>The 5/3 days of HPL for completed month may be credited to GS leave account when he/she joined in the middle of the half year and also on the occasion of GS resigns or retires</a:t>
            </a:r>
          </a:p>
          <a:p>
            <a:pPr algn="just"/>
            <a:r>
              <a:rPr lang="en-IN" dirty="0">
                <a:latin typeface="Century" panose="02040604050505020304" pitchFamily="18" charset="0"/>
              </a:rPr>
              <a:t>In case of suspension or dies-non in previous half year the HPL may be reduced to 1/18 days while crediting on 1</a:t>
            </a:r>
            <a:r>
              <a:rPr lang="en-IN" baseline="30000" dirty="0">
                <a:latin typeface="Century" panose="02040604050505020304" pitchFamily="18" charset="0"/>
              </a:rPr>
              <a:t>st</a:t>
            </a:r>
            <a:r>
              <a:rPr lang="en-IN" dirty="0">
                <a:latin typeface="Century" panose="02040604050505020304" pitchFamily="18" charset="0"/>
              </a:rPr>
              <a:t> of JAN and 1</a:t>
            </a:r>
            <a:r>
              <a:rPr lang="en-IN" baseline="30000" dirty="0">
                <a:latin typeface="Century" panose="02040604050505020304" pitchFamily="18" charset="0"/>
              </a:rPr>
              <a:t>st</a:t>
            </a:r>
            <a:r>
              <a:rPr lang="en-IN" dirty="0">
                <a:latin typeface="Century" panose="02040604050505020304" pitchFamily="18" charset="0"/>
              </a:rPr>
              <a:t> of JULY subject to maximum of 10 days</a:t>
            </a:r>
          </a:p>
          <a:p>
            <a:pPr algn="just"/>
            <a:r>
              <a:rPr lang="en-IN" dirty="0">
                <a:latin typeface="Century" panose="02040604050505020304" pitchFamily="18" charset="0"/>
              </a:rPr>
              <a:t>The leave under this may be granted on medical or on private affairs</a:t>
            </a:r>
          </a:p>
          <a:p>
            <a:pPr algn="just"/>
            <a:r>
              <a:rPr lang="en-IN" dirty="0">
                <a:latin typeface="Century" panose="02040604050505020304" pitchFamily="18" charset="0"/>
              </a:rPr>
              <a:t>Half the salary is available during HPL</a:t>
            </a:r>
          </a:p>
          <a:p>
            <a:pPr algn="just"/>
            <a:r>
              <a:rPr lang="en-IN" dirty="0">
                <a:latin typeface="Century" panose="02040604050505020304" pitchFamily="18" charset="0"/>
              </a:rPr>
              <a:t>No maximum </a:t>
            </a:r>
            <a:r>
              <a:rPr lang="en-IN" dirty="0" err="1">
                <a:latin typeface="Century" panose="02040604050505020304" pitchFamily="18" charset="0"/>
              </a:rPr>
              <a:t>accumilation</a:t>
            </a:r>
            <a:r>
              <a:rPr lang="en-IN" dirty="0">
                <a:latin typeface="Century" panose="02040604050505020304" pitchFamily="18" charset="0"/>
              </a:rPr>
              <a:t> limit for HPL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u="sng" dirty="0">
                <a:latin typeface="Century" panose="02040604050505020304" pitchFamily="18" charset="0"/>
              </a:rPr>
              <a:t>COMMUTED LEAVE R.114-</a:t>
            </a:r>
            <a:r>
              <a:rPr lang="en-IN" b="1" dirty="0">
                <a:latin typeface="Century" panose="02040604050505020304" pitchFamily="18" charset="0"/>
              </a:rPr>
              <a:t>(4)</a:t>
            </a:r>
            <a:br>
              <a:rPr lang="en-IN" b="1" dirty="0">
                <a:latin typeface="Century" panose="02040604050505020304" pitchFamily="18" charset="0"/>
              </a:rPr>
            </a:br>
            <a:endParaRPr lang="en-IN" b="1" dirty="0">
              <a:latin typeface="Century" panose="02040604050505020304" pitchFamily="18" charset="0"/>
            </a:endParaRPr>
          </a:p>
        </p:txBody>
      </p:sp>
      <p:sp>
        <p:nvSpPr>
          <p:cNvPr id="3" name="Content Placeholder 2"/>
          <p:cNvSpPr>
            <a:spLocks noGrp="1"/>
          </p:cNvSpPr>
          <p:nvPr>
            <p:ph idx="1"/>
          </p:nvPr>
        </p:nvSpPr>
        <p:spPr/>
        <p:txBody>
          <a:bodyPr>
            <a:normAutofit lnSpcReduction="10000"/>
          </a:bodyPr>
          <a:lstStyle/>
          <a:p>
            <a:pPr algn="just"/>
            <a:r>
              <a:rPr lang="en-IN" b="1" dirty="0">
                <a:latin typeface="Century" panose="02040604050505020304" pitchFamily="18" charset="0"/>
              </a:rPr>
              <a:t>Commuted leave </a:t>
            </a:r>
            <a:r>
              <a:rPr lang="en-IN" dirty="0">
                <a:latin typeface="Century" panose="02040604050505020304" pitchFamily="18" charset="0"/>
              </a:rPr>
              <a:t>not exceeding of half the amount of half pay leave due may be granted on medical or on private affair subject to following conditions</a:t>
            </a:r>
          </a:p>
          <a:p>
            <a:pPr algn="just"/>
            <a:r>
              <a:rPr lang="en-IN" dirty="0">
                <a:latin typeface="Century" panose="02040604050505020304" pitchFamily="18" charset="0"/>
              </a:rPr>
              <a:t>a) the authority competent to grant leave is satisfied that there is reasonable prospect of the GS returning to duty on its expiry</a:t>
            </a:r>
          </a:p>
          <a:p>
            <a:pPr algn="just"/>
            <a:r>
              <a:rPr lang="en-IN" dirty="0">
                <a:latin typeface="Century" panose="02040604050505020304" pitchFamily="18" charset="0"/>
              </a:rPr>
              <a:t>b) when, commuted leave is granted, twice the amount of such leave shall be debited against the HPL due – full pay will be paid</a:t>
            </a:r>
          </a:p>
          <a:p>
            <a:pPr algn="just"/>
            <a:r>
              <a:rPr lang="en-IN" dirty="0">
                <a:latin typeface="Century" panose="02040604050505020304" pitchFamily="18" charset="0"/>
              </a:rPr>
              <a:t>The maximum commuted leave on private affairs that may be granted at a time shall be 120 days. If a commuted leave is combined with EL, the total period should not exceed 180 days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15777"/>
            <a:ext cx="6589199" cy="1280890"/>
          </a:xfrm>
        </p:spPr>
        <p:txBody>
          <a:bodyPr>
            <a:normAutofit fontScale="90000"/>
          </a:bodyPr>
          <a:lstStyle/>
          <a:p>
            <a:r>
              <a:rPr lang="en-IN" dirty="0"/>
              <a:t/>
            </a:r>
            <a:br>
              <a:rPr lang="en-IN" dirty="0"/>
            </a:br>
            <a:r>
              <a:rPr lang="en-IN" b="1" dirty="0">
                <a:latin typeface="Century" panose="02040604050505020304" pitchFamily="18" charset="0"/>
              </a:rPr>
              <a:t> </a:t>
            </a:r>
            <a:r>
              <a:rPr lang="en-IN" u="sng" dirty="0">
                <a:latin typeface="Century" panose="02040604050505020304" pitchFamily="18" charset="0"/>
              </a:rPr>
              <a:t>LEAVE NOT DUE R.114(6)</a:t>
            </a:r>
            <a:br>
              <a:rPr lang="en-IN" u="sng" dirty="0">
                <a:latin typeface="Century" panose="02040604050505020304" pitchFamily="18" charset="0"/>
              </a:rPr>
            </a:br>
            <a:endParaRPr lang="en-IN" u="sng" dirty="0">
              <a:latin typeface="Century" panose="02040604050505020304" pitchFamily="18" charset="0"/>
            </a:endParaRPr>
          </a:p>
        </p:txBody>
      </p:sp>
      <p:sp>
        <p:nvSpPr>
          <p:cNvPr id="3" name="Content Placeholder 2"/>
          <p:cNvSpPr>
            <a:spLocks noGrp="1"/>
          </p:cNvSpPr>
          <p:nvPr>
            <p:ph idx="1"/>
          </p:nvPr>
        </p:nvSpPr>
        <p:spPr>
          <a:xfrm>
            <a:off x="1913075" y="1700808"/>
            <a:ext cx="6591985" cy="3777622"/>
          </a:xfrm>
        </p:spPr>
        <p:txBody>
          <a:bodyPr>
            <a:noAutofit/>
          </a:bodyPr>
          <a:lstStyle/>
          <a:p>
            <a:pPr algn="just"/>
            <a:r>
              <a:rPr lang="en-IN" sz="1200" dirty="0">
                <a:latin typeface="Century" panose="02040604050505020304" pitchFamily="18" charset="0"/>
              </a:rPr>
              <a:t>When a permanent GS has no other leave at his leave account he/she may be granted </a:t>
            </a:r>
            <a:r>
              <a:rPr lang="en-IN" sz="1200" b="1" dirty="0">
                <a:latin typeface="Century" panose="02040604050505020304" pitchFamily="18" charset="0"/>
              </a:rPr>
              <a:t>leave not due</a:t>
            </a:r>
            <a:r>
              <a:rPr lang="en-IN" sz="1200" dirty="0">
                <a:latin typeface="Century" panose="02040604050505020304" pitchFamily="18" charset="0"/>
              </a:rPr>
              <a:t> subject to following conditions.</a:t>
            </a:r>
          </a:p>
          <a:p>
            <a:pPr algn="just"/>
            <a:r>
              <a:rPr lang="en-IN" sz="1200" dirty="0">
                <a:latin typeface="Century" panose="02040604050505020304" pitchFamily="18" charset="0"/>
              </a:rPr>
              <a:t>a) the authority competent to grant leave is satisfied that there is reasonable prospect of the GS returning to duty on its expiry</a:t>
            </a:r>
          </a:p>
          <a:p>
            <a:pPr algn="just"/>
            <a:r>
              <a:rPr lang="en-IN" sz="1200" dirty="0">
                <a:latin typeface="Century" panose="02040604050505020304" pitchFamily="18" charset="0"/>
              </a:rPr>
              <a:t>b) leave not due shall be limited to HPL he is likely to earn afterwards</a:t>
            </a:r>
          </a:p>
          <a:p>
            <a:pPr algn="just"/>
            <a:r>
              <a:rPr lang="en-IN" sz="1200" dirty="0">
                <a:latin typeface="Century" panose="02040604050505020304" pitchFamily="18" charset="0"/>
              </a:rPr>
              <a:t>c) leave not due during entire service shall be limited to a maximum of 360 days out of which not more than 90 days at a time and 180 days in all may be otherwise than on medical certificate </a:t>
            </a:r>
          </a:p>
          <a:p>
            <a:pPr algn="just">
              <a:buNone/>
            </a:pPr>
            <a:r>
              <a:rPr lang="en-IN" sz="1200" dirty="0">
                <a:latin typeface="Century" panose="02040604050505020304" pitchFamily="18" charset="0"/>
              </a:rPr>
              <a:t>     d) leave not due shall be debited against the half pay leave the GS may earn subsequently </a:t>
            </a:r>
          </a:p>
          <a:p>
            <a:pPr algn="just">
              <a:buNone/>
            </a:pPr>
            <a:r>
              <a:rPr lang="en-IN" sz="1200" dirty="0">
                <a:latin typeface="Century" panose="02040604050505020304" pitchFamily="18" charset="0"/>
              </a:rPr>
              <a:t>      provided that in case of temporary  GS who is suffering from TB, leprosy, cancer or mental illness  leave not due may be granted for the  period not exceeding 360 days subject to fulfilment of conditions in clauses a), b) and d) of the above and following conditions </a:t>
            </a:r>
          </a:p>
          <a:p>
            <a:pPr algn="just">
              <a:buNone/>
            </a:pPr>
            <a:r>
              <a:rPr lang="en-IN" sz="1200" dirty="0">
                <a:latin typeface="Century" panose="02040604050505020304" pitchFamily="18" charset="0"/>
              </a:rPr>
              <a:t>           </a:t>
            </a:r>
            <a:r>
              <a:rPr lang="en-IN" sz="1200" dirty="0" err="1">
                <a:latin typeface="Century" panose="02040604050505020304" pitchFamily="18" charset="0"/>
              </a:rPr>
              <a:t>i</a:t>
            </a:r>
            <a:r>
              <a:rPr lang="en-IN" sz="1200" dirty="0">
                <a:latin typeface="Century" panose="02040604050505020304" pitchFamily="18" charset="0"/>
              </a:rPr>
              <a:t>) the GS has put in a continuous service of not less than one year</a:t>
            </a:r>
          </a:p>
          <a:p>
            <a:pPr algn="just">
              <a:buNone/>
            </a:pPr>
            <a:r>
              <a:rPr lang="en-IN" sz="1200" dirty="0">
                <a:latin typeface="Century" panose="02040604050505020304" pitchFamily="18" charset="0"/>
              </a:rPr>
              <a:t>           ii) the post from which the GS proceeds on leave is likely to last till his return to duty and., iii) the request for grant of such leave is supported by medical certificate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
            </a:r>
            <a:br>
              <a:rPr lang="en-IN" b="1" dirty="0"/>
            </a:br>
            <a:r>
              <a:rPr lang="en-IN" b="1" dirty="0">
                <a:latin typeface="Century" panose="02040604050505020304" pitchFamily="18" charset="0"/>
              </a:rPr>
              <a:t> </a:t>
            </a:r>
            <a:r>
              <a:rPr lang="en-IN" b="1" u="sng" dirty="0">
                <a:latin typeface="Century" panose="02040604050505020304" pitchFamily="18" charset="0"/>
              </a:rPr>
              <a:t>EXTRORDINARY LEAVE R.117</a:t>
            </a:r>
            <a:r>
              <a:rPr lang="en-IN" b="1" dirty="0">
                <a:latin typeface="Century" panose="02040604050505020304" pitchFamily="18" charset="0"/>
              </a:rPr>
              <a:t/>
            </a:r>
            <a:br>
              <a:rPr lang="en-IN" b="1" dirty="0">
                <a:latin typeface="Century" panose="02040604050505020304" pitchFamily="18" charset="0"/>
              </a:rPr>
            </a:br>
            <a:endParaRPr lang="en-IN" b="1" dirty="0">
              <a:latin typeface="Century" panose="02040604050505020304" pitchFamily="18" charset="0"/>
            </a:endParaRPr>
          </a:p>
        </p:txBody>
      </p:sp>
      <p:sp>
        <p:nvSpPr>
          <p:cNvPr id="3" name="Content Placeholder 2"/>
          <p:cNvSpPr>
            <a:spLocks noGrp="1"/>
          </p:cNvSpPr>
          <p:nvPr>
            <p:ph idx="1"/>
          </p:nvPr>
        </p:nvSpPr>
        <p:spPr/>
        <p:txBody>
          <a:bodyPr>
            <a:normAutofit fontScale="92500" lnSpcReduction="10000"/>
          </a:bodyPr>
          <a:lstStyle/>
          <a:p>
            <a:pPr algn="just"/>
            <a:r>
              <a:rPr lang="en-IN" dirty="0">
                <a:latin typeface="Century" panose="02040604050505020304" pitchFamily="18" charset="0"/>
              </a:rPr>
              <a:t>The extraordinary leave may be granted to any permanent officer in special circumstances:-</a:t>
            </a:r>
          </a:p>
          <a:p>
            <a:pPr algn="just"/>
            <a:r>
              <a:rPr lang="en-IN" dirty="0" err="1">
                <a:latin typeface="Century" panose="02040604050505020304" pitchFamily="18" charset="0"/>
              </a:rPr>
              <a:t>i</a:t>
            </a:r>
            <a:r>
              <a:rPr lang="en-IN" dirty="0">
                <a:latin typeface="Century" panose="02040604050505020304" pitchFamily="18" charset="0"/>
              </a:rPr>
              <a:t>) when there is no other leave is by rule admissible or</a:t>
            </a:r>
          </a:p>
          <a:p>
            <a:pPr algn="just"/>
            <a:r>
              <a:rPr lang="en-IN" dirty="0">
                <a:latin typeface="Century" panose="02040604050505020304" pitchFamily="18" charset="0"/>
              </a:rPr>
              <a:t>ii) when other leave is admissible but the officer concerned applies in writing for the grant of extraordinary leave. </a:t>
            </a:r>
          </a:p>
          <a:p>
            <a:pPr algn="just"/>
            <a:r>
              <a:rPr lang="en-IN" dirty="0">
                <a:latin typeface="Century" panose="02040604050505020304" pitchFamily="18" charset="0"/>
              </a:rPr>
              <a:t>The permanent employ shall be granted extraordinary leave with following limits </a:t>
            </a:r>
          </a:p>
          <a:p>
            <a:pPr algn="just"/>
            <a:r>
              <a:rPr lang="en-IN" dirty="0">
                <a:latin typeface="Century" panose="02040604050505020304" pitchFamily="18" charset="0"/>
              </a:rPr>
              <a:t>a) three months without medical certificate</a:t>
            </a:r>
          </a:p>
          <a:p>
            <a:pPr algn="just"/>
            <a:r>
              <a:rPr lang="en-IN" dirty="0">
                <a:latin typeface="Century" panose="02040604050505020304" pitchFamily="18" charset="0"/>
              </a:rPr>
              <a:t>b) six months for common ailment with MC</a:t>
            </a:r>
          </a:p>
          <a:p>
            <a:pPr algn="just"/>
            <a:r>
              <a:rPr lang="en-IN" dirty="0">
                <a:latin typeface="Century" panose="02040604050505020304" pitchFamily="18" charset="0"/>
              </a:rPr>
              <a:t>c) eighteen months for treatment like cancer, TB or mental  </a:t>
            </a:r>
          </a:p>
          <a:p>
            <a:pPr algn="just">
              <a:buNone/>
            </a:pPr>
            <a:r>
              <a:rPr lang="en-IN" dirty="0">
                <a:latin typeface="Century" panose="02040604050505020304" pitchFamily="18" charset="0"/>
              </a:rPr>
              <a:t>        illness with MC </a:t>
            </a:r>
          </a:p>
          <a:p>
            <a:pPr algn="just">
              <a:buNone/>
            </a:pPr>
            <a:endParaRPr lang="en-IN" dirty="0">
              <a:latin typeface="Century" panose="02040604050505020304" pitchFamily="18" charset="0"/>
            </a:endParaRPr>
          </a:p>
          <a:p>
            <a:pPr algn="just"/>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5656" y="624110"/>
            <a:ext cx="7668343" cy="1280890"/>
          </a:xfrm>
        </p:spPr>
        <p:txBody>
          <a:bodyPr>
            <a:normAutofit fontScale="90000"/>
          </a:bodyPr>
          <a:lstStyle/>
          <a:p>
            <a:r>
              <a:rPr lang="en-IN" dirty="0"/>
              <a:t/>
            </a:r>
            <a:br>
              <a:rPr lang="en-IN" dirty="0"/>
            </a:br>
            <a:r>
              <a:rPr lang="en-IN" dirty="0">
                <a:latin typeface="Century" panose="02040604050505020304" pitchFamily="18" charset="0"/>
              </a:rPr>
              <a:t> </a:t>
            </a:r>
            <a:r>
              <a:rPr lang="en-IN" b="1" u="sng" dirty="0">
                <a:latin typeface="Century" panose="02040604050505020304" pitchFamily="18" charset="0"/>
              </a:rPr>
              <a:t>EXAMINATION LEAVE  R.130-134</a:t>
            </a:r>
            <a:br>
              <a:rPr lang="en-IN" b="1" u="sng" dirty="0">
                <a:latin typeface="Century" panose="02040604050505020304" pitchFamily="18" charset="0"/>
              </a:rPr>
            </a:br>
            <a:endParaRPr lang="en-IN" b="1" u="sng" dirty="0">
              <a:latin typeface="Century" panose="02040604050505020304" pitchFamily="18" charset="0"/>
            </a:endParaRP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To appear for departmental examination the leave is granted is known as examination leave  </a:t>
            </a:r>
          </a:p>
          <a:p>
            <a:pPr algn="just"/>
            <a:r>
              <a:rPr lang="en-IN" dirty="0">
                <a:latin typeface="Century" panose="02040604050505020304" pitchFamily="18" charset="0"/>
              </a:rPr>
              <a:t>The GS while absent to from his office or from his station to attend an obligatory Departmental examination is considered to be on duty </a:t>
            </a:r>
          </a:p>
          <a:p>
            <a:pPr algn="just"/>
            <a:r>
              <a:rPr lang="en-IN" dirty="0">
                <a:latin typeface="Century" panose="02040604050505020304" pitchFamily="18" charset="0"/>
              </a:rPr>
              <a:t>Leave not be granted to GS to prepare for examination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7019287" cy="1280890"/>
          </a:xfrm>
        </p:spPr>
        <p:txBody>
          <a:bodyPr>
            <a:normAutofit/>
          </a:bodyPr>
          <a:lstStyle/>
          <a:p>
            <a:r>
              <a:rPr lang="en-IN" b="1" dirty="0">
                <a:latin typeface="Century" panose="02040604050505020304" pitchFamily="18" charset="0"/>
              </a:rPr>
              <a:t> MATERNITY LEAVE R.135</a:t>
            </a:r>
            <a:r>
              <a:rPr lang="en-IN" b="1" dirty="0"/>
              <a:t/>
            </a:r>
            <a:br>
              <a:rPr lang="en-IN" b="1" dirty="0"/>
            </a:br>
            <a:endParaRPr lang="en-IN" b="1" dirty="0"/>
          </a:p>
        </p:txBody>
      </p:sp>
      <p:sp>
        <p:nvSpPr>
          <p:cNvPr id="3" name="Content Placeholder 2"/>
          <p:cNvSpPr>
            <a:spLocks noGrp="1"/>
          </p:cNvSpPr>
          <p:nvPr>
            <p:ph idx="1"/>
          </p:nvPr>
        </p:nvSpPr>
        <p:spPr/>
        <p:txBody>
          <a:bodyPr>
            <a:normAutofit lnSpcReduction="10000"/>
          </a:bodyPr>
          <a:lstStyle/>
          <a:p>
            <a:pPr algn="just"/>
            <a:r>
              <a:rPr lang="en-IN" dirty="0">
                <a:latin typeface="Century" panose="02040604050505020304" pitchFamily="18" charset="0"/>
              </a:rPr>
              <a:t>A female GS may be granted maternity leave by an authority competent to grant leave for a period of 180 days from the date of its commencement</a:t>
            </a:r>
          </a:p>
          <a:p>
            <a:pPr algn="just"/>
            <a:r>
              <a:rPr lang="en-IN" dirty="0">
                <a:latin typeface="Century" panose="02040604050505020304" pitchFamily="18" charset="0"/>
              </a:rPr>
              <a:t>Maternity leave may also be granted in case of miscarriage or abortion, the leave does not exceed six weeks and the application supported by MC from a registered medical practitioner</a:t>
            </a:r>
          </a:p>
          <a:p>
            <a:pPr algn="just"/>
            <a:r>
              <a:rPr lang="en-IN" dirty="0">
                <a:latin typeface="Century" panose="02040604050505020304" pitchFamily="18" charset="0"/>
              </a:rPr>
              <a:t>It shall not be admissible to female GS who has two or more living children</a:t>
            </a:r>
          </a:p>
          <a:p>
            <a:pPr algn="just"/>
            <a:r>
              <a:rPr lang="en-IN" dirty="0">
                <a:latin typeface="Century" panose="02040604050505020304" pitchFamily="18" charset="0"/>
              </a:rPr>
              <a:t>Maternity leave may be combined with vacation or any other leave not exceeding sixty days may be granted without MC. Leave in continuation requires MC from authorised Medical practitioner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31640" y="624110"/>
            <a:ext cx="7920880" cy="1436738"/>
          </a:xfrm>
        </p:spPr>
        <p:txBody>
          <a:bodyPr>
            <a:normAutofit fontScale="90000"/>
          </a:bodyPr>
          <a:lstStyle/>
          <a:p>
            <a:r>
              <a:rPr lang="en-IN" sz="3600" dirty="0">
                <a:latin typeface="Century" panose="02040604050505020304" pitchFamily="18" charset="0"/>
              </a:rPr>
              <a:t/>
            </a:r>
            <a:br>
              <a:rPr lang="en-IN" sz="3600" dirty="0">
                <a:latin typeface="Century" panose="02040604050505020304" pitchFamily="18" charset="0"/>
              </a:rPr>
            </a:br>
            <a:r>
              <a:rPr lang="en-IN" sz="3600" b="1" u="sng" dirty="0">
                <a:latin typeface="Century" panose="02040604050505020304" pitchFamily="18" charset="0"/>
              </a:rPr>
              <a:t>LEAVE TO ADOPTION OF CHILD-R.135(A)</a:t>
            </a:r>
            <a:br>
              <a:rPr lang="en-IN" sz="3600" b="1" u="sng" dirty="0">
                <a:latin typeface="Century" panose="02040604050505020304" pitchFamily="18" charset="0"/>
              </a:rPr>
            </a:br>
            <a:endParaRPr lang="en-IN" sz="3600" b="1" u="sng" dirty="0">
              <a:latin typeface="Century" panose="02040604050505020304" pitchFamily="18" charset="0"/>
            </a:endParaRPr>
          </a:p>
        </p:txBody>
      </p:sp>
      <p:sp>
        <p:nvSpPr>
          <p:cNvPr id="3" name="Content Placeholder 2"/>
          <p:cNvSpPr>
            <a:spLocks noGrp="1"/>
          </p:cNvSpPr>
          <p:nvPr>
            <p:ph idx="1"/>
          </p:nvPr>
        </p:nvSpPr>
        <p:spPr/>
        <p:txBody>
          <a:bodyPr/>
          <a:lstStyle/>
          <a:p>
            <a:pPr algn="just"/>
            <a:r>
              <a:rPr lang="en-IN" dirty="0">
                <a:latin typeface="Century" panose="02040604050505020304" pitchFamily="18" charset="0"/>
              </a:rPr>
              <a:t>A female GS on her adopting a child may be granted Leave of the kind due and admissible including commuted leave without production of MC for a period not exceeding 60 days and leave not due up to one year or  till the adopted child attains the age of one year whichever is less subject to the condition that such female GS should not have two living children at the time of adoption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dirty="0"/>
              <a:t> </a:t>
            </a:r>
            <a:r>
              <a:rPr lang="en-IN" dirty="0">
                <a:latin typeface="Century" panose="02040604050505020304" pitchFamily="18" charset="0"/>
              </a:rPr>
              <a:t>PATERNITY LEAVE R.135(B)</a:t>
            </a:r>
            <a:br>
              <a:rPr lang="en-IN" dirty="0">
                <a:latin typeface="Century" panose="02040604050505020304" pitchFamily="18" charset="0"/>
              </a:rPr>
            </a:br>
            <a:endParaRPr lang="en-IN" dirty="0">
              <a:latin typeface="Century" panose="02040604050505020304" pitchFamily="18" charset="0"/>
            </a:endParaRPr>
          </a:p>
        </p:txBody>
      </p:sp>
      <p:sp>
        <p:nvSpPr>
          <p:cNvPr id="3" name="Content Placeholder 2"/>
          <p:cNvSpPr>
            <a:spLocks noGrp="1"/>
          </p:cNvSpPr>
          <p:nvPr>
            <p:ph idx="1"/>
          </p:nvPr>
        </p:nvSpPr>
        <p:spPr/>
        <p:txBody>
          <a:bodyPr>
            <a:normAutofit/>
          </a:bodyPr>
          <a:lstStyle/>
          <a:p>
            <a:pPr algn="just"/>
            <a:r>
              <a:rPr lang="en-IN" dirty="0">
                <a:latin typeface="Century" panose="02040604050505020304" pitchFamily="18" charset="0"/>
              </a:rPr>
              <a:t>A male GS may be granted paternity during the confinement of his wife by an authority competent to grant leave for a period of fifteen days from the date of its commencement</a:t>
            </a:r>
          </a:p>
          <a:p>
            <a:pPr algn="just"/>
            <a:r>
              <a:rPr lang="en-IN" dirty="0">
                <a:latin typeface="Century" panose="02040604050505020304" pitchFamily="18" charset="0"/>
              </a:rPr>
              <a:t>It shall not be admissible to a male GS who has two or more living children </a:t>
            </a:r>
          </a:p>
          <a:p>
            <a:pPr algn="just"/>
            <a:r>
              <a:rPr lang="en-IN" dirty="0">
                <a:latin typeface="Century" panose="02040604050505020304" pitchFamily="18" charset="0"/>
              </a:rPr>
              <a:t>It shall not be debited to the leave account. It may be combined with any kind of leave except CL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
            </a:r>
            <a:br>
              <a:rPr lang="en-IN" dirty="0"/>
            </a:br>
            <a:r>
              <a:rPr lang="en-IN" dirty="0">
                <a:latin typeface="Century" panose="02040604050505020304" pitchFamily="18" charset="0"/>
              </a:rPr>
              <a:t>CHILD CARE LEAVE R.135(C)</a:t>
            </a:r>
            <a:br>
              <a:rPr lang="en-IN" dirty="0">
                <a:latin typeface="Century" panose="02040604050505020304" pitchFamily="18" charset="0"/>
              </a:rPr>
            </a:br>
            <a:endParaRPr lang="en-IN" dirty="0">
              <a:latin typeface="Century" panose="02040604050505020304" pitchFamily="18" charset="0"/>
            </a:endParaRPr>
          </a:p>
        </p:txBody>
      </p:sp>
      <p:sp>
        <p:nvSpPr>
          <p:cNvPr id="3" name="Content Placeholder 2"/>
          <p:cNvSpPr>
            <a:spLocks noGrp="1"/>
          </p:cNvSpPr>
          <p:nvPr>
            <p:ph idx="1"/>
          </p:nvPr>
        </p:nvSpPr>
        <p:spPr/>
        <p:txBody>
          <a:bodyPr>
            <a:normAutofit/>
          </a:bodyPr>
          <a:lstStyle/>
          <a:p>
            <a:pPr algn="just"/>
            <a:r>
              <a:rPr lang="en-IN" dirty="0">
                <a:latin typeface="Century" panose="02040604050505020304" pitchFamily="18" charset="0"/>
              </a:rPr>
              <a:t>The competent Authority to sanction leave may be grant </a:t>
            </a:r>
            <a:r>
              <a:rPr lang="en-IN" b="1" dirty="0">
                <a:latin typeface="Century" panose="02040604050505020304" pitchFamily="18" charset="0"/>
              </a:rPr>
              <a:t>‘child care leave</a:t>
            </a:r>
            <a:r>
              <a:rPr lang="en-IN" dirty="0">
                <a:latin typeface="Century" panose="02040604050505020304" pitchFamily="18" charset="0"/>
              </a:rPr>
              <a:t>’ only to the women GS to look after her special children with Austin, Blindness, Mental illness, cerebral palsy, Mental retardation and Multiple Disabilities for a period of two years i.e., 730 days in their entire service, not exceeding three times in a year and not less than 15  an occasion to only for two living children and the age shall not exceed 18 years take care, to correct and improve the behaviour of such children on MC issued by the Medical Board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latin typeface="Century" panose="02040604050505020304" pitchFamily="18" charset="0"/>
              </a:rPr>
              <a:t>Special disability leave R.136</a:t>
            </a:r>
            <a:br>
              <a:rPr lang="en-IN" dirty="0">
                <a:latin typeface="Century" panose="02040604050505020304" pitchFamily="18" charset="0"/>
              </a:rPr>
            </a:br>
            <a:endParaRPr lang="en-IN" dirty="0">
              <a:latin typeface="Century" panose="02040604050505020304" pitchFamily="18" charset="0"/>
            </a:endParaRPr>
          </a:p>
        </p:txBody>
      </p:sp>
      <p:sp>
        <p:nvSpPr>
          <p:cNvPr id="3" name="Content Placeholder 2"/>
          <p:cNvSpPr>
            <a:spLocks noGrp="1"/>
          </p:cNvSpPr>
          <p:nvPr>
            <p:ph idx="1"/>
          </p:nvPr>
        </p:nvSpPr>
        <p:spPr/>
        <p:txBody>
          <a:bodyPr>
            <a:normAutofit lnSpcReduction="10000"/>
          </a:bodyPr>
          <a:lstStyle/>
          <a:p>
            <a:pPr algn="just"/>
            <a:r>
              <a:rPr lang="en-IN" dirty="0">
                <a:latin typeface="Century" panose="02040604050505020304" pitchFamily="18" charset="0"/>
              </a:rPr>
              <a:t>Government may grant special disability leave to a GS who is disabled by injury intentionally inflicted or caused in, or in consequence of the due performance of his/her official duties or in consequence of his official position.</a:t>
            </a:r>
          </a:p>
          <a:p>
            <a:pPr algn="just"/>
            <a:r>
              <a:rPr lang="en-IN" dirty="0">
                <a:latin typeface="Century" panose="02040604050505020304" pitchFamily="18" charset="0"/>
              </a:rPr>
              <a:t>The </a:t>
            </a:r>
            <a:r>
              <a:rPr lang="en-IN" dirty="0" err="1">
                <a:latin typeface="Century" panose="02040604050505020304" pitchFamily="18" charset="0"/>
              </a:rPr>
              <a:t>spl</a:t>
            </a:r>
            <a:r>
              <a:rPr lang="en-IN" dirty="0">
                <a:latin typeface="Century" panose="02040604050505020304" pitchFamily="18" charset="0"/>
              </a:rPr>
              <a:t>. Disability leave granted on the basis of certificate of Authorised Medical Attendant shall in no case exceed 24 months</a:t>
            </a:r>
          </a:p>
          <a:p>
            <a:pPr algn="just"/>
            <a:r>
              <a:rPr lang="en-IN" dirty="0">
                <a:latin typeface="Century" panose="02040604050505020304" pitchFamily="18" charset="0"/>
              </a:rPr>
              <a:t>It will count as a duty for calculating service for pension but it will not count as service for leave</a:t>
            </a:r>
          </a:p>
          <a:p>
            <a:pPr algn="just"/>
            <a:r>
              <a:rPr lang="en-IN" dirty="0">
                <a:latin typeface="Century" panose="02040604050505020304" pitchFamily="18" charset="0"/>
              </a:rPr>
              <a:t>First 120 days of leave period full salary </a:t>
            </a:r>
          </a:p>
          <a:p>
            <a:pPr algn="just"/>
            <a:r>
              <a:rPr lang="en-IN" dirty="0">
                <a:latin typeface="Century" panose="02040604050505020304" pitchFamily="18" charset="0"/>
              </a:rPr>
              <a:t>Next remaining period of such leave be equal to the leave salary during HPL</a:t>
            </a:r>
          </a:p>
          <a:p>
            <a:pPr algn="just"/>
            <a:endParaRPr lang="en-IN" dirty="0">
              <a:latin typeface="Century" panose="02040604050505020304" pitchFamily="18" charset="0"/>
            </a:endParaRPr>
          </a:p>
          <a:p>
            <a:pPr algn="just"/>
            <a:endParaRPr lang="en-IN" dirty="0"/>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560</TotalTime>
  <Words>1728</Words>
  <Application>Microsoft Office PowerPoint</Application>
  <PresentationFormat>On-screen Show (4:3)</PresentationFormat>
  <Paragraphs>93</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Wisp</vt:lpstr>
      <vt:lpstr>LEAVE RULES </vt:lpstr>
      <vt:lpstr>LEAVE RULES </vt:lpstr>
      <vt:lpstr>DIFFERENT KINDS OF LEAVE</vt:lpstr>
      <vt:lpstr> CASUAL LEAVE-Annexure ‘B’ </vt:lpstr>
      <vt:lpstr>  CASUAL LEAVE-Annexure ‘B’ </vt:lpstr>
      <vt:lpstr>  CASUAL LEAVE-Annexure ‘B’ </vt:lpstr>
      <vt:lpstr>  EARNED LEAVE R.112-113 </vt:lpstr>
      <vt:lpstr>EARNED LEAVE R.112-113</vt:lpstr>
      <vt:lpstr>EARNED LEAVE R.112-113</vt:lpstr>
      <vt:lpstr> EARNED LEAVE R.112-113</vt:lpstr>
      <vt:lpstr> HALF PAY LEAVE R.114</vt:lpstr>
      <vt:lpstr> COMMUTED LEAVE R.114-(4) </vt:lpstr>
      <vt:lpstr>  LEAVE NOT DUE R.114(6) </vt:lpstr>
      <vt:lpstr>  EXTRORDINARY LEAVE R.117 </vt:lpstr>
      <vt:lpstr>  EXAMINATION LEAVE  R.130-134 </vt:lpstr>
      <vt:lpstr> MATERNITY LEAVE R.135 </vt:lpstr>
      <vt:lpstr> LEAVE TO ADOPTION OF CHILD-R.135(A) </vt:lpstr>
      <vt:lpstr>  PATERNITY LEAVE R.135(B) </vt:lpstr>
      <vt:lpstr> CHILD CARE LEAVE R.135(C) </vt:lpstr>
      <vt:lpstr>Special disability leave R.136 </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LEAVE RULES</dc:title>
  <dc:creator>HP</dc:creator>
  <cp:lastModifiedBy>ACER</cp:lastModifiedBy>
  <cp:revision>66</cp:revision>
  <dcterms:created xsi:type="dcterms:W3CDTF">2017-11-03T15:31:28Z</dcterms:created>
  <dcterms:modified xsi:type="dcterms:W3CDTF">2026-05-21T07:16:16Z</dcterms:modified>
</cp:coreProperties>
</file>