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2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8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88B3C-DD6E-4BF0-A0E8-BB3FEF37667B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C6A2E-3F29-42CE-A2FE-95540DE433B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25538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A352FE-82D3-4DD0-9213-1B3DC758341F}" type="slidenum">
              <a:rPr lang="en-IN" smtClean="0"/>
              <a:pPr/>
              <a:t>4</a:t>
            </a:fld>
            <a:endParaRPr lang="en-I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8DF43-E336-41FE-84C9-7517C300FF92}" type="datetimeFigureOut">
              <a:rPr lang="en-US" smtClean="0"/>
              <a:pPr/>
              <a:t>9/16/2017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5FBFE-320B-4DA8-ACCD-4FBF8AD9AD7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0"/>
            <a:ext cx="8305800" cy="1219200"/>
          </a:xfrm>
        </p:spPr>
        <p:txBody>
          <a:bodyPr>
            <a:normAutofit fontScale="90000"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/>
            </a:r>
            <a:br>
              <a:rPr lang="en-US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</a:br>
            <a:r>
              <a:rPr lang="en-US" sz="49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ರಜಾ ನಿಯಮ (Leave Rules)</a:t>
            </a:r>
            <a:br>
              <a:rPr lang="en-US" sz="49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</a:br>
            <a:r>
              <a:rPr lang="en-US" sz="49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ನಿಯಮ 105 ರಿಂದ 206</a:t>
            </a:r>
            <a: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US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</a:br>
            <a:endParaRPr lang="en-IN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643050"/>
            <a:ext cx="8991600" cy="500066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8000" b="1" u="sng" dirty="0" smtClean="0">
                <a:solidFill>
                  <a:schemeClr val="accent6">
                    <a:lumMod val="75000"/>
                  </a:schemeClr>
                </a:solidFill>
              </a:rPr>
              <a:t>ಸರ್ಕಾರಿ ನೌಕರನು ಈ ಕೆಳಕಂಡ ನಿಬಂಧನೆಗೆ ಒಳಪಟ್ಟ ರಜಾ ಸೌಲಭ್ಯವನ್ನು ಪಡೆಯಬಹುದು</a:t>
            </a:r>
            <a:r>
              <a:rPr lang="en-US" sz="2400" b="1" u="sng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360363" indent="-360363" algn="just">
              <a:lnSpc>
                <a:spcPct val="160000"/>
              </a:lnSpc>
              <a:buBlip>
                <a:blip r:embed="rId2"/>
              </a:buBlip>
            </a:pPr>
            <a:r>
              <a:rPr lang="en-US" sz="38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ಸಕ್ಷಮ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ಪ್ರಾಧಿಕಾರಿಯಿಂದ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ಪೂರ್ವ</a:t>
            </a:r>
            <a:endParaRPr lang="en-US" sz="360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60363" indent="-360363" algn="just">
              <a:lnSpc>
                <a:spcPct val="160000"/>
              </a:lnSpc>
              <a:buBlip>
                <a:blip r:embed="rId2"/>
              </a:buBlip>
            </a:pPr>
            <a:r>
              <a:rPr lang="en-US" sz="360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ಅನುಮತಿ ಪಡೆಯಬೇಕು.ಸಕ್ಷಮ ಪ್ರಾಧಿಕಾರಿ ಎಂದರೆ ರಜೆ      ಮಂಜೂರು ಮಾಡುವ ಪ್ರಾಧಿಕಾರಿ</a:t>
            </a:r>
          </a:p>
          <a:p>
            <a:pPr marL="360363" indent="-360363" algn="just">
              <a:lnSpc>
                <a:spcPct val="160000"/>
              </a:lnSpc>
              <a:buBlip>
                <a:blip r:embed="rId2"/>
              </a:buBlip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ರಜೆಯು ಸರ್ಕಾರಿ ನೌಕರನ ಹಕ್ಕಲ್ಲ.(ನಿಯಮ 107)</a:t>
            </a:r>
          </a:p>
          <a:p>
            <a:pPr marL="360363" indent="-360363" algn="just">
              <a:lnSpc>
                <a:spcPct val="160000"/>
              </a:lnSpc>
              <a:buBlip>
                <a:blip r:embed="rId2"/>
              </a:buBlip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ಸಾರ್ವಜನಿಕ ಸೇವಾ ಅಗತ್ಯತೆಯಲ್ಲಿ ರಜೆ ಮಂಜೂರು ಮಾಡುವ ಪ್ರಾಧಿಕಾರವು ಕೋರಿರುವ ರಜೆಯನ್ನು ತಿರಸ್ಕರಿಸಬಹುದು. ಈಗಾಗಲೇ ಮಂಜೂರಾಗಿದ್ದರೆ ರದ್ದು ಪಡಿಸಬಹುದು.(ನಿಯಮ 107)</a:t>
            </a:r>
          </a:p>
          <a:p>
            <a:pPr marL="360363" indent="-360363" algn="just">
              <a:lnSpc>
                <a:spcPct val="160000"/>
              </a:lnSpc>
              <a:buBlip>
                <a:blip r:embed="rId2"/>
              </a:buBlip>
            </a:pP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ಸರ್ಮಥನೀಯ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ಕಾರಣಗಳಿದಿದ್ದಲ್ಲಿ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ಅನಧಿಕೃತ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ಗೈರುಹಾಜರಿ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ಎಂದು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ತೀರ್ಮಾನಿಸಬಹುದು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ಹಾಗೂ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ದುರ್ನಡತೆಗೆ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ಇಲಾಖಾ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ವಿಚಾರಣಿ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ಹೂಡಬಹುದು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.(</a:t>
            </a:r>
            <a:r>
              <a:rPr lang="en-US" sz="3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ನಿಯಮ</a:t>
            </a:r>
            <a:r>
              <a:rPr lang="en-US" sz="3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106ಎ)</a:t>
            </a:r>
          </a:p>
          <a:p>
            <a:pPr algn="just"/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14356"/>
            <a:ext cx="8501122" cy="541180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 err="1" smtClean="0"/>
              <a:t>ಮುಷ್ಕರದಲ್ಲಿ</a:t>
            </a:r>
            <a:r>
              <a:rPr lang="en-US" sz="2400" dirty="0" smtClean="0"/>
              <a:t> </a:t>
            </a:r>
            <a:r>
              <a:rPr lang="en-US" sz="2400" dirty="0" err="1" smtClean="0"/>
              <a:t>ಭಾಗವಿಹಿಸಿದ್ದಲ್ಲಿ</a:t>
            </a:r>
            <a:r>
              <a:rPr lang="en-US" sz="2400" dirty="0" smtClean="0"/>
              <a:t> </a:t>
            </a:r>
            <a:r>
              <a:rPr lang="en-US" sz="2400" dirty="0" err="1" smtClean="0"/>
              <a:t>ಕಾನೂನು</a:t>
            </a:r>
            <a:r>
              <a:rPr lang="en-US" sz="2400" dirty="0" smtClean="0"/>
              <a:t> </a:t>
            </a:r>
            <a:r>
              <a:rPr lang="en-US" sz="2400" dirty="0" err="1" smtClean="0"/>
              <a:t>ಬಾಹಿರವೆಂದು</a:t>
            </a:r>
            <a:r>
              <a:rPr lang="en-US" sz="2400" dirty="0" smtClean="0"/>
              <a:t> </a:t>
            </a:r>
            <a:r>
              <a:rPr lang="en-US" sz="2400" dirty="0" err="1" smtClean="0"/>
              <a:t>ಪರಿಗಣಿಸಿ</a:t>
            </a:r>
            <a:r>
              <a:rPr lang="en-US" sz="2400" dirty="0" smtClean="0"/>
              <a:t> </a:t>
            </a:r>
            <a:r>
              <a:rPr lang="en-US" sz="2400" dirty="0" err="1" smtClean="0"/>
              <a:t>ಕ್ರಮ</a:t>
            </a:r>
            <a:r>
              <a:rPr lang="en-US" sz="2400" dirty="0" smtClean="0"/>
              <a:t> </a:t>
            </a:r>
            <a:r>
              <a:rPr lang="en-US" sz="2400" dirty="0" err="1" smtClean="0"/>
              <a:t>ಜರುಗಿಸಬಹುದು</a:t>
            </a:r>
            <a:r>
              <a:rPr lang="en-US" sz="2400" dirty="0" smtClean="0"/>
              <a:t>.(ನಿಯಮ106ಬಿ) </a:t>
            </a:r>
            <a:r>
              <a:rPr lang="en-US" sz="2400" dirty="0" err="1" smtClean="0"/>
              <a:t>ಮುಷ್ಕರದಲ್ಲಿ</a:t>
            </a:r>
            <a:r>
              <a:rPr lang="en-US" sz="2400" dirty="0" smtClean="0"/>
              <a:t> </a:t>
            </a:r>
            <a:r>
              <a:rPr lang="en-US" sz="2400" dirty="0" err="1" smtClean="0"/>
              <a:t>ಭಾಗವಿಹಿಸಿದ</a:t>
            </a:r>
            <a:r>
              <a:rPr lang="en-US" sz="2400" dirty="0" smtClean="0"/>
              <a:t> </a:t>
            </a:r>
            <a:r>
              <a:rPr lang="en-US" sz="2400" dirty="0" err="1" smtClean="0"/>
              <a:t>ದಿನಾಂಕದಂದು</a:t>
            </a:r>
            <a:r>
              <a:rPr lang="en-US" sz="2400" dirty="0" smtClean="0"/>
              <a:t> </a:t>
            </a:r>
            <a:r>
              <a:rPr lang="en-US" sz="2400" dirty="0" err="1" smtClean="0"/>
              <a:t>ನೌಕರನ</a:t>
            </a:r>
            <a:r>
              <a:rPr lang="en-US" sz="2400" dirty="0" smtClean="0"/>
              <a:t> </a:t>
            </a:r>
            <a:r>
              <a:rPr lang="en-US" sz="2400" dirty="0" err="1" smtClean="0"/>
              <a:t>ಲೆಕ್ಕದಲ್ಲಿರುವ</a:t>
            </a:r>
            <a:r>
              <a:rPr lang="en-US" sz="2400" dirty="0" smtClean="0"/>
              <a:t> (</a:t>
            </a:r>
            <a:r>
              <a:rPr lang="en-US" sz="2400" dirty="0" err="1" smtClean="0"/>
              <a:t>ಗಳಿಕೆ</a:t>
            </a:r>
            <a:r>
              <a:rPr lang="en-US" sz="2400" dirty="0" smtClean="0"/>
              <a:t> </a:t>
            </a:r>
            <a:r>
              <a:rPr lang="en-US" sz="2400" dirty="0" err="1" smtClean="0"/>
              <a:t>ರಜೆ</a:t>
            </a:r>
            <a:r>
              <a:rPr lang="en-US" sz="2400" dirty="0" smtClean="0"/>
              <a:t> </a:t>
            </a:r>
            <a:r>
              <a:rPr lang="en-US" sz="2400" dirty="0" err="1" smtClean="0"/>
              <a:t>ಮತ್ತು</a:t>
            </a:r>
            <a:r>
              <a:rPr lang="en-US" sz="2400" dirty="0" smtClean="0"/>
              <a:t> </a:t>
            </a:r>
            <a:r>
              <a:rPr lang="en-US" sz="2400" dirty="0" err="1" smtClean="0"/>
              <a:t>ಅರ್ಧ</a:t>
            </a:r>
            <a:r>
              <a:rPr lang="en-US" sz="2400" dirty="0" smtClean="0"/>
              <a:t> </a:t>
            </a:r>
            <a:r>
              <a:rPr lang="en-US" sz="2400" dirty="0" err="1" smtClean="0"/>
              <a:t>ವೇತನ</a:t>
            </a:r>
            <a:r>
              <a:rPr lang="en-US" sz="2400" dirty="0" smtClean="0"/>
              <a:t> </a:t>
            </a:r>
            <a:r>
              <a:rPr lang="en-US" sz="2400" dirty="0" err="1" smtClean="0"/>
              <a:t>ರಜೆ</a:t>
            </a:r>
            <a:r>
              <a:rPr lang="en-US" sz="2400" dirty="0" smtClean="0"/>
              <a:t>) </a:t>
            </a:r>
            <a:r>
              <a:rPr lang="en-US" sz="2400" dirty="0" err="1" smtClean="0"/>
              <a:t>ಎಲ್ಲಾ</a:t>
            </a:r>
            <a:r>
              <a:rPr lang="en-US" sz="2400" dirty="0" smtClean="0"/>
              <a:t> </a:t>
            </a:r>
            <a:r>
              <a:rPr lang="en-US" sz="2400" dirty="0" err="1" smtClean="0"/>
              <a:t>ರಜೆಯು</a:t>
            </a:r>
            <a:r>
              <a:rPr lang="en-US" sz="2400" dirty="0" smtClean="0"/>
              <a:t> </a:t>
            </a:r>
            <a:r>
              <a:rPr lang="en-US" sz="2400" dirty="0" err="1" smtClean="0"/>
              <a:t>ಸರ್ಕಾರಕ್ಕೆ</a:t>
            </a:r>
            <a:r>
              <a:rPr lang="en-US" sz="2400" dirty="0" smtClean="0"/>
              <a:t> </a:t>
            </a:r>
            <a:r>
              <a:rPr lang="en-US" sz="2400" dirty="0" err="1" smtClean="0"/>
              <a:t>ಮುಟ್ಟುಗೋಲಾಗುವುದು</a:t>
            </a:r>
            <a:r>
              <a:rPr lang="en-US" sz="2400" dirty="0" smtClean="0"/>
              <a:t>.</a:t>
            </a:r>
          </a:p>
          <a:p>
            <a:pPr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 smtClean="0"/>
              <a:t>4 </a:t>
            </a:r>
            <a:r>
              <a:rPr lang="en-US" sz="2400" dirty="0" err="1" smtClean="0"/>
              <a:t>ತಿಂಗಳಿಗೂ</a:t>
            </a:r>
            <a:r>
              <a:rPr lang="en-US" sz="2400" dirty="0" smtClean="0"/>
              <a:t> </a:t>
            </a:r>
            <a:r>
              <a:rPr lang="en-US" sz="2400" dirty="0" err="1" smtClean="0"/>
              <a:t>ಮೀರಿದ</a:t>
            </a:r>
            <a:r>
              <a:rPr lang="en-US" sz="2400" dirty="0" smtClean="0"/>
              <a:t> </a:t>
            </a:r>
            <a:r>
              <a:rPr lang="en-US" sz="2400" dirty="0" err="1" smtClean="0"/>
              <a:t>ಅನಧಿಕೃತ</a:t>
            </a:r>
            <a:r>
              <a:rPr lang="en-US" sz="2400" dirty="0" smtClean="0"/>
              <a:t> </a:t>
            </a:r>
            <a:r>
              <a:rPr lang="en-US" sz="2400" dirty="0" err="1" smtClean="0"/>
              <a:t>ಗೈರುಹಾಜರಾದ</a:t>
            </a:r>
            <a:r>
              <a:rPr lang="en-US" sz="2400" dirty="0" smtClean="0"/>
              <a:t> </a:t>
            </a:r>
            <a:r>
              <a:rPr lang="en-US" sz="2400" dirty="0" err="1" smtClean="0"/>
              <a:t>ನೌಕರನ್ನು</a:t>
            </a:r>
            <a:r>
              <a:rPr lang="en-US" sz="2400" dirty="0" smtClean="0"/>
              <a:t> </a:t>
            </a:r>
            <a:r>
              <a:rPr lang="en-US" sz="2400" dirty="0" err="1" smtClean="0"/>
              <a:t>ಕೆ.ಸಿ.ಎಸ್</a:t>
            </a:r>
            <a:r>
              <a:rPr lang="en-US" sz="2400" dirty="0" smtClean="0"/>
              <a:t>.(</a:t>
            </a:r>
            <a:r>
              <a:rPr lang="en-US" sz="2400" dirty="0" err="1" smtClean="0"/>
              <a:t>ಸಿ.ಸಿ.ಎ</a:t>
            </a:r>
            <a:r>
              <a:rPr lang="en-US" sz="2400" dirty="0" smtClean="0"/>
              <a:t>) </a:t>
            </a:r>
            <a:r>
              <a:rPr lang="en-US" sz="2400" dirty="0" err="1" smtClean="0"/>
              <a:t>ನಿಯಮ</a:t>
            </a:r>
            <a:r>
              <a:rPr lang="en-US" sz="2400" dirty="0" smtClean="0"/>
              <a:t> 1957 ರ </a:t>
            </a:r>
            <a:r>
              <a:rPr lang="en-US" sz="2400" dirty="0" err="1" smtClean="0"/>
              <a:t>ರೀತ್ಯಾ</a:t>
            </a:r>
            <a:r>
              <a:rPr lang="en-US" sz="2400" dirty="0" smtClean="0"/>
              <a:t> </a:t>
            </a:r>
            <a:r>
              <a:rPr lang="en-US" sz="2400" dirty="0" err="1" smtClean="0"/>
              <a:t>ವಿಚಾರಣಿಗೊಳಿಸಿ</a:t>
            </a:r>
            <a:r>
              <a:rPr lang="en-US" sz="2400" dirty="0" smtClean="0"/>
              <a:t> </a:t>
            </a:r>
            <a:r>
              <a:rPr lang="en-US" sz="2400" dirty="0" err="1" smtClean="0"/>
              <a:t>ಸೇವೆಯಿಂದ</a:t>
            </a:r>
            <a:r>
              <a:rPr lang="en-US" sz="2400" dirty="0" smtClean="0"/>
              <a:t> </a:t>
            </a:r>
            <a:r>
              <a:rPr lang="en-US" sz="2400" dirty="0" err="1" smtClean="0"/>
              <a:t>ವಜಾಗೊಳಿಸಬಹುದು</a:t>
            </a:r>
            <a:r>
              <a:rPr lang="en-US" sz="2400" dirty="0" smtClean="0"/>
              <a:t>(</a:t>
            </a:r>
            <a:r>
              <a:rPr lang="en-US" sz="2400" dirty="0" err="1" smtClean="0"/>
              <a:t>ನಿಯಮ</a:t>
            </a:r>
            <a:r>
              <a:rPr lang="en-US" sz="2400" dirty="0" smtClean="0"/>
              <a:t> 108)</a:t>
            </a:r>
          </a:p>
          <a:p>
            <a:pPr marL="360363" indent="-360363" algn="just">
              <a:lnSpc>
                <a:spcPct val="150000"/>
              </a:lnSpc>
              <a:buBlip>
                <a:blip r:embed="rId2"/>
              </a:buBlip>
            </a:pPr>
            <a:r>
              <a:rPr lang="en-US" sz="2400" dirty="0" err="1" smtClean="0"/>
              <a:t>ಒಂದು</a:t>
            </a:r>
            <a:r>
              <a:rPr lang="en-US" sz="2400" dirty="0" smtClean="0"/>
              <a:t> </a:t>
            </a:r>
            <a:r>
              <a:rPr lang="en-US" sz="2400" dirty="0" err="1" smtClean="0"/>
              <a:t>ರಜೆಯನ್ನು</a:t>
            </a:r>
            <a:r>
              <a:rPr lang="en-US" sz="2400" dirty="0" smtClean="0"/>
              <a:t> </a:t>
            </a:r>
            <a:r>
              <a:rPr lang="en-US" sz="2400" dirty="0" err="1" smtClean="0"/>
              <a:t>ಮತ್ತೊಂದು</a:t>
            </a:r>
            <a:r>
              <a:rPr lang="en-US" sz="2400" dirty="0" smtClean="0"/>
              <a:t> </a:t>
            </a:r>
            <a:r>
              <a:rPr lang="en-US" sz="2400" dirty="0" err="1" smtClean="0"/>
              <a:t>ರಜೆಯೊಂದಿಗೆ</a:t>
            </a:r>
            <a:r>
              <a:rPr lang="en-US" sz="2400" dirty="0" smtClean="0"/>
              <a:t> </a:t>
            </a:r>
            <a:r>
              <a:rPr lang="en-US" sz="2400" dirty="0" err="1" smtClean="0"/>
              <a:t>ಸಂಯೋಜಿಸಬಹುದು</a:t>
            </a:r>
            <a:r>
              <a:rPr lang="en-US" sz="2400" dirty="0" smtClean="0"/>
              <a:t>. </a:t>
            </a:r>
            <a:r>
              <a:rPr lang="en-US" sz="2400" dirty="0" err="1" smtClean="0"/>
              <a:t>ಆದರೆ</a:t>
            </a:r>
            <a:r>
              <a:rPr lang="en-US" sz="2400" dirty="0" smtClean="0"/>
              <a:t> </a:t>
            </a:r>
            <a:r>
              <a:rPr lang="en-US" sz="2400" dirty="0" err="1" smtClean="0"/>
              <a:t>ಆಕಸ್ಮಿಕ</a:t>
            </a:r>
            <a:r>
              <a:rPr lang="en-US" sz="2400" dirty="0" smtClean="0"/>
              <a:t> </a:t>
            </a:r>
            <a:r>
              <a:rPr lang="en-US" sz="2400" dirty="0" err="1" smtClean="0"/>
              <a:t>ರಜೆಯನ್ನು</a:t>
            </a:r>
            <a:r>
              <a:rPr lang="en-US" sz="2400" dirty="0" smtClean="0"/>
              <a:t> </a:t>
            </a:r>
            <a:r>
              <a:rPr lang="en-US" sz="2400" dirty="0" err="1" smtClean="0"/>
              <a:t>ಸಮಯೋಜಿಸಲು</a:t>
            </a:r>
            <a:r>
              <a:rPr lang="en-US" sz="2400" dirty="0" smtClean="0"/>
              <a:t> </a:t>
            </a:r>
            <a:r>
              <a:rPr lang="en-US" sz="2400" dirty="0" err="1" smtClean="0"/>
              <a:t>ಅವಕಾಶವಿಲ್ಲ</a:t>
            </a:r>
            <a:r>
              <a:rPr lang="en-US" sz="2400" dirty="0" smtClean="0"/>
              <a:t>.(</a:t>
            </a:r>
            <a:r>
              <a:rPr lang="en-US" sz="2400" dirty="0" err="1" smtClean="0"/>
              <a:t>ನಿಯಮ</a:t>
            </a:r>
            <a:r>
              <a:rPr lang="en-US" sz="2400" dirty="0" smtClean="0"/>
              <a:t> 109)</a:t>
            </a:r>
          </a:p>
          <a:p>
            <a:pPr algn="just">
              <a:lnSpc>
                <a:spcPct val="160000"/>
              </a:lnSpc>
              <a:buBlip>
                <a:blip r:embed="rId2"/>
              </a:buBlip>
            </a:pPr>
            <a:endParaRPr lang="en-US" sz="1400" dirty="0" smtClean="0">
              <a:solidFill>
                <a:schemeClr val="tx1"/>
              </a:solidFill>
            </a:endParaRPr>
          </a:p>
          <a:p>
            <a:pPr>
              <a:buBlip>
                <a:blip r:embed="rId2"/>
              </a:buBlip>
            </a:pPr>
            <a:endParaRPr lang="en-US" dirty="0" smtClean="0">
              <a:solidFill>
                <a:schemeClr val="bg1"/>
              </a:solidFill>
            </a:endParaRPr>
          </a:p>
          <a:p>
            <a:pPr>
              <a:buBlip>
                <a:blip r:embed="rId2"/>
              </a:buBlip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  <a:ln w="19050">
            <a:solidFill>
              <a:schemeClr val="tx1"/>
            </a:solidFill>
            <a:prstDash val="dashDot"/>
          </a:ln>
        </p:spPr>
        <p:txBody>
          <a:bodyPr>
            <a:normAutofit fontScale="92500" lnSpcReduction="10000"/>
          </a:bodyPr>
          <a:lstStyle/>
          <a:p>
            <a:pPr algn="l"/>
            <a:r>
              <a:rPr lang="en-US" u="dbl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C00000"/>
                </a:solidFill>
              </a:rPr>
              <a:t>ವಿವಿಧ ಬಗೆಯ ರಜೆಗಳು :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chemeClr val="tx1"/>
                </a:solidFill>
              </a:rPr>
              <a:t>ಸಾಂದರ್ಭಿಕ ರಜೆ (ಆಕಸ್ಮಿಕ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)	 	</a:t>
            </a:r>
            <a:r>
              <a:rPr lang="en-US" sz="2000" dirty="0" err="1" smtClean="0">
                <a:solidFill>
                  <a:schemeClr val="tx1"/>
                </a:solidFill>
              </a:rPr>
              <a:t>ಅನುಬಂಧ–ಬಿ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chemeClr val="tx1"/>
                </a:solidFill>
              </a:rPr>
              <a:t>ವಿಶೇಷ </a:t>
            </a:r>
            <a:r>
              <a:rPr lang="en-US" sz="2000" dirty="0" err="1" smtClean="0">
                <a:solidFill>
                  <a:schemeClr val="tx1"/>
                </a:solidFill>
              </a:rPr>
              <a:t>ಸಾಂದರ್ಭಿಕ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</a:t>
            </a:r>
            <a:r>
              <a:rPr lang="en-US" sz="2000" dirty="0" err="1" smtClean="0">
                <a:solidFill>
                  <a:schemeClr val="tx1"/>
                </a:solidFill>
              </a:rPr>
              <a:t>ಅನುಬಂಧ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ಬಿ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ಗಳಿಕೆ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112        --         </a:t>
            </a:r>
            <a:r>
              <a:rPr lang="en-US" sz="2000" dirty="0" err="1" smtClean="0">
                <a:solidFill>
                  <a:schemeClr val="tx1"/>
                </a:solidFill>
              </a:rPr>
              <a:t>ಬಿಡುವು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ರಹಿತ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ಇಲಾಖೆ</a:t>
            </a:r>
            <a:r>
              <a:rPr lang="en-US" sz="2000" dirty="0" smtClean="0">
                <a:solidFill>
                  <a:schemeClr val="tx1"/>
                </a:solidFill>
              </a:rPr>
              <a:t>    				               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 err="1" smtClean="0">
                <a:solidFill>
                  <a:schemeClr val="tx1"/>
                </a:solidFill>
              </a:rPr>
              <a:t>ನಿಯಮ</a:t>
            </a:r>
            <a:r>
              <a:rPr lang="en-IN" sz="2000" dirty="0" smtClean="0">
                <a:solidFill>
                  <a:schemeClr val="tx1"/>
                </a:solidFill>
              </a:rPr>
              <a:t> 113         --         </a:t>
            </a:r>
            <a:r>
              <a:rPr lang="en-IN" sz="2000" dirty="0" err="1" smtClean="0">
                <a:solidFill>
                  <a:schemeClr val="tx1"/>
                </a:solidFill>
              </a:rPr>
              <a:t>ಬಿಡುವು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 err="1" smtClean="0">
                <a:solidFill>
                  <a:schemeClr val="tx1"/>
                </a:solidFill>
              </a:rPr>
              <a:t>ಸಹಿತ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 err="1" smtClean="0">
                <a:solidFill>
                  <a:schemeClr val="tx1"/>
                </a:solidFill>
              </a:rPr>
              <a:t>ಇಲಾಖೆ</a:t>
            </a:r>
            <a:r>
              <a:rPr lang="en-IN" sz="2000" dirty="0" smtClean="0">
                <a:solidFill>
                  <a:schemeClr val="tx1"/>
                </a:solidFill>
              </a:rPr>
              <a:t> 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ಅರ್ಧವೇತನ</a:t>
            </a:r>
            <a:r>
              <a:rPr lang="en-US" sz="2000" dirty="0" smtClean="0">
                <a:solidFill>
                  <a:schemeClr val="tx1"/>
                </a:solidFill>
              </a:rPr>
              <a:t>‍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-114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ಪರಿವರ್ತಿತ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-114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chemeClr val="tx1"/>
                </a:solidFill>
              </a:rPr>
              <a:t>ಹಕ್ಕಿನಲ್ಲಿ </a:t>
            </a:r>
            <a:r>
              <a:rPr lang="en-US" sz="2000" dirty="0" err="1" smtClean="0">
                <a:solidFill>
                  <a:schemeClr val="tx1"/>
                </a:solidFill>
              </a:rPr>
              <a:t>ಇಲ್ಲದ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-114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ಅಸಾಧಾರಣ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117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ಪರೀಕ್ಷಾ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130 ರಿಂದ134 ಎ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ಹೆರಿಗೆ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135ಮತ್ತು 135 ಎ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err="1" smtClean="0">
                <a:solidFill>
                  <a:schemeClr val="tx1"/>
                </a:solidFill>
              </a:rPr>
              <a:t>ಪಿತೃತ್ವ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 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135 ಬಿ</a:t>
            </a:r>
          </a:p>
          <a:p>
            <a:pPr marL="514350" indent="-514350" algn="l">
              <a:lnSpc>
                <a:spcPct val="170000"/>
              </a:lnSpc>
              <a:buBlip>
                <a:blip r:embed="rId2"/>
              </a:buBlip>
            </a:pPr>
            <a:r>
              <a:rPr lang="en-US" sz="2000" dirty="0" smtClean="0">
                <a:solidFill>
                  <a:schemeClr val="tx1"/>
                </a:solidFill>
              </a:rPr>
              <a:t>ವಿಶೇಷ </a:t>
            </a:r>
            <a:r>
              <a:rPr lang="en-US" sz="2000" dirty="0" err="1" smtClean="0">
                <a:solidFill>
                  <a:schemeClr val="tx1"/>
                </a:solidFill>
              </a:rPr>
              <a:t>ದುರ್ಬಲತೆ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ರಜೆ</a:t>
            </a:r>
            <a:r>
              <a:rPr lang="en-US" sz="2000" dirty="0" smtClean="0">
                <a:solidFill>
                  <a:schemeClr val="tx1"/>
                </a:solidFill>
              </a:rPr>
              <a:t>			</a:t>
            </a:r>
            <a:r>
              <a:rPr lang="en-US" sz="2000" dirty="0" err="1" smtClean="0">
                <a:solidFill>
                  <a:schemeClr val="tx1"/>
                </a:solidFill>
              </a:rPr>
              <a:t>ನಿಯಮ</a:t>
            </a:r>
            <a:r>
              <a:rPr lang="en-US" sz="2000" dirty="0" smtClean="0">
                <a:solidFill>
                  <a:schemeClr val="tx1"/>
                </a:solidFill>
              </a:rPr>
              <a:t> 136,137 ಮತ್ತು 138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3357554" y="2857496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3286116" y="6429396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357554" y="3357562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286116" y="3857628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286116" y="4357694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86116" y="4929198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286116" y="5500702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286116" y="6000768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428992" y="713760"/>
            <a:ext cx="785818" cy="218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428992" y="1714488"/>
            <a:ext cx="784800" cy="36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428992" y="1214422"/>
            <a:ext cx="784800" cy="37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8763000" cy="838199"/>
          </a:xfrm>
        </p:spPr>
        <p:txBody>
          <a:bodyPr>
            <a:prstTxWarp prst="textPlain">
              <a:avLst/>
            </a:prstTxWarp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u="sng" dirty="0" smtClean="0">
                <a:ln w="18415" cmpd="sng">
                  <a:solidFill>
                    <a:srgbClr val="FFFFFF"/>
                  </a:solidFill>
                  <a:prstDash val="solid"/>
                </a:ln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ಸಾಂದರ್ಭಿಕ ರಜೆ</a:t>
            </a:r>
            <a:r>
              <a:rPr lang="en-US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	</a:t>
            </a:r>
            <a:endParaRPr lang="en-IN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066800"/>
            <a:ext cx="8839200" cy="5334000"/>
          </a:xfrm>
        </p:spPr>
        <p:txBody>
          <a:bodyPr>
            <a:normAutofit lnSpcReduction="10000"/>
          </a:bodyPr>
          <a:lstStyle/>
          <a:p>
            <a:pPr marL="449263" indent="-449263" algn="just">
              <a:lnSpc>
                <a:spcPct val="150000"/>
              </a:lnSpc>
              <a:buBlip>
                <a:blip r:embed="rId3"/>
              </a:buBlip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ಸರ್ಕಾರಿ ನೌಕರನ  ಸೇವೆಯ ಮೊದಲ ಒಂದು ವರ್ಷದ ಸೇವಾವಧಿಯಲ್ಲಿ ಒಂದು         ತಿಂಗಳ ಕರ್ತವ್ಯದ ನಂತರ ಒಂದು ದಿನದ ರಜೆ</a:t>
            </a:r>
          </a:p>
          <a:p>
            <a:pPr marL="449263" indent="-449263" algn="just"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>
                <a:solidFill>
                  <a:schemeClr val="tx1"/>
                </a:solidFill>
              </a:rPr>
              <a:t>ಆ ನಂತರ ಪ್ರತಿ ಕ್ಯಾಲೆಂಡರ್‍ ವರ್ಷಕ್ಕೆ 15 ದಿನಗಳು ಮುಂಗಡವಾಗಿ ಜಮೆ.ಅತಿರತವಾಗಿ ಗರಿಷ್ಠ 7 ದಿನಗಳು, ಸಾರ್ವತ್ರಿಕ ರಜೆಯೊಂದಿಗೆ ಸಂಯೋಜಿಸಿದಾಗ </a:t>
            </a:r>
            <a:r>
              <a:rPr lang="en-US" sz="2400" dirty="0" err="1" smtClean="0">
                <a:solidFill>
                  <a:schemeClr val="tx1"/>
                </a:solidFill>
              </a:rPr>
              <a:t>ಗರಿಷ್ಠ</a:t>
            </a:r>
            <a:r>
              <a:rPr lang="en-US" sz="2400" dirty="0" smtClean="0">
                <a:solidFill>
                  <a:schemeClr val="tx1"/>
                </a:solidFill>
              </a:rPr>
              <a:t> 10 </a:t>
            </a:r>
            <a:r>
              <a:rPr lang="en-US" sz="2400" dirty="0" err="1" smtClean="0">
                <a:solidFill>
                  <a:schemeClr val="tx1"/>
                </a:solidFill>
              </a:rPr>
              <a:t>ದಿನಗಳು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449263" indent="-449263" algn="just"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>
                <a:solidFill>
                  <a:schemeClr val="tx1"/>
                </a:solidFill>
              </a:rPr>
              <a:t>ಡಿಸೆಂಬರ್‍ ಅಂತ್ಯದೊಳಗೆ ಉಪಯೋಗಿಸಿಕೊಳ್ಳದಿದ್ದಲ್ಲಿ ವ್ಯಯವಾಗುವುದು.</a:t>
            </a:r>
          </a:p>
          <a:p>
            <a:pPr marL="449263" indent="-449263" algn="just"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>
                <a:solidFill>
                  <a:schemeClr val="tx1"/>
                </a:solidFill>
              </a:rPr>
              <a:t>ಇತರೇ ರಜೆಯೊಂದಿಗೆ ಸಂಯೋಜಿಸಲು ಅವಕಾಶವಿಲ್ಲ. ಸಾರ್ವತ್ರಿಕ ರಜೆ/ ನಿರ್ಬಂಧಿತ ರಜೆಯೊಂದಿಗೆ ಸಂಯೋಜಿಸಬಹುದು</a:t>
            </a:r>
          </a:p>
          <a:p>
            <a:pPr marL="449263" indent="-449263" algn="just">
              <a:lnSpc>
                <a:spcPct val="150000"/>
              </a:lnSpc>
              <a:buBlip>
                <a:blip r:embed="rId3"/>
              </a:buBlip>
            </a:pPr>
            <a:r>
              <a:rPr lang="en-US" sz="2400" dirty="0" smtClean="0">
                <a:solidFill>
                  <a:schemeClr val="tx1"/>
                </a:solidFill>
              </a:rPr>
              <a:t>ಕಛೇರಿ ಮಖ್ಯಾಧಿಕಾರಿ ಮಂಜೂರಾತಿ ಪ್ರಾಧಿಕಾರಿ.</a:t>
            </a:r>
            <a:endParaRPr lang="en-IN" sz="2400" dirty="0" smtClean="0">
              <a:solidFill>
                <a:schemeClr val="tx1"/>
              </a:solidFill>
            </a:endParaRPr>
          </a:p>
          <a:p>
            <a:pPr marL="449263" indent="-449263" algn="just"/>
            <a:endParaRPr lang="en-US" sz="24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prstTxWarp prst="textPlain">
              <a:avLst/>
            </a:prstTxWarp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b="1" dirty="0" smtClean="0">
                <a:ln>
                  <a:prstDash val="solid"/>
                </a:ln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ಗಳಿಕೆ ರಜೆ: ಬಿಡುವು ಇಲ್ಲದ ನೌಕರರಿಗೆ</a:t>
            </a:r>
            <a:endParaRPr lang="en-IN" b="1" dirty="0">
              <a:ln>
                <a:prstDash val="solid"/>
              </a:ln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382000" cy="5486400"/>
          </a:xfrm>
        </p:spPr>
        <p:txBody>
          <a:bodyPr>
            <a:normAutofit fontScale="62500" lnSpcReduction="20000"/>
          </a:bodyPr>
          <a:lstStyle/>
          <a:p>
            <a:pPr marL="449263" indent="-449263" algn="just">
              <a:buBlip>
                <a:blip r:embed="rId2"/>
              </a:buBlip>
            </a:pPr>
            <a:r>
              <a:rPr lang="en-US" dirty="0" smtClean="0"/>
              <a:t> ಸರ್ಕಾರಿ ನೌಕರನು ಕರ್ತವ್ಯದ ಅವಧಿಯಲ್ಲಿ ಗಲಿಸಿದ ರಜೆ ಪ್ರತಿ ಕ್ಯಾಲೆಂಡರ್‍ ಅರ್ಧ ವರ್ಷದ ಪ್ರಾರಂಭದ ದಿನಾಂಕದಂದು ಪ್ರತಿ ಜನವರಿ 1ಮತ್ತು ಜುಲೈ 1 ರಂದು ಮಂಗಡ 15 ದಿನಗಳು ಲೆಕ್ಕಕ್ಕೆ ಜಮೆ.</a:t>
            </a:r>
          </a:p>
          <a:p>
            <a:pPr marL="449263" indent="-449263" algn="just">
              <a:buBlip>
                <a:blip r:embed="rId2"/>
              </a:buBlip>
            </a:pPr>
            <a:r>
              <a:rPr lang="en-US" dirty="0" smtClean="0"/>
              <a:t>ಹೂಸದಾಗಿ ಕೆಲಸಕ್ಕೆ ಯಾವುದೇ ಕ್ಯಾಲೆಂಡರ್‍ ಅರ್ಧ ವರ್ಷದಲ್ಲಿ ಸೇರಿದಾಗ ಪ್ರತಿ ಪೂರ್ಣಗೊಂಡ ತಿಂಗಳಿಗೆ 2</a:t>
            </a:r>
            <a:r>
              <a:rPr lang="en-US" sz="4400" dirty="0" smtClean="0">
                <a:latin typeface="Narkisim"/>
                <a:cs typeface="Narkisim"/>
              </a:rPr>
              <a:t>½ </a:t>
            </a:r>
            <a:r>
              <a:rPr lang="en-US" dirty="0" smtClean="0">
                <a:cs typeface="Narkisim"/>
              </a:rPr>
              <a:t>ದಿನದಂತೆ ಮುಂದಿನ ಅರ್ಧ ವರ್ಷದ ಆರಂಭದ ಮುಂಗಡವಾಗಿ 15 ದಿನ ಲೆಕ್ಕಕ್ಕೆ ಜಮೆಯಾಗುತ್ತದೆ. ಇದೇ ರೀತಿ ಮರಣ/ನಿವೃತ್ತಿಯಾಗುವವರೆಗೂ </a:t>
            </a:r>
            <a:r>
              <a:rPr lang="en-US" dirty="0" smtClean="0"/>
              <a:t> 2</a:t>
            </a:r>
            <a:r>
              <a:rPr lang="en-US" sz="4400" dirty="0" smtClean="0">
                <a:latin typeface="Narkisim"/>
                <a:cs typeface="Narkisim"/>
              </a:rPr>
              <a:t>½ </a:t>
            </a:r>
            <a:r>
              <a:rPr lang="en-US" dirty="0" smtClean="0">
                <a:cs typeface="Narkisim"/>
              </a:rPr>
              <a:t>ದಿನದಂತೆ ಲೆಕ್ಕಚಾರ ಮಾಡಬೇಕು</a:t>
            </a:r>
          </a:p>
          <a:p>
            <a:pPr marL="449263" indent="-449263" algn="just">
              <a:buBlip>
                <a:blip r:embed="rId2"/>
              </a:buBlip>
            </a:pPr>
            <a:r>
              <a:rPr lang="en-US" dirty="0" smtClean="0">
                <a:cs typeface="Narkisim"/>
              </a:rPr>
              <a:t>ಕರ್ತವ್ಯವಲ್ಲದ ಅವಧಿಯ ಪ್ರತಿ 10ದಿನಗಳಿಗೆ ಒಂದು ದಿನದ ರಜೆ,ಮುಂದಿನ ಅರ್ಧವರ್ಷದ ಅವಧಿಯಲ್ಲಿ ಲೆಕ್ಕಕ್ಕೆ ನೀಡುವಾಗ ಮಿತಿಗೂಳಿಸಬೇಕು</a:t>
            </a:r>
          </a:p>
          <a:p>
            <a:pPr marL="449263" indent="-449263" algn="just">
              <a:buBlip>
                <a:blip r:embed="rId2"/>
              </a:buBlip>
            </a:pPr>
            <a:r>
              <a:rPr lang="en-US" dirty="0" smtClean="0">
                <a:cs typeface="Narkisim"/>
              </a:rPr>
              <a:t>ಲೆಕ್ಕದಲ್ಲಿ ಹೊಂದಿರಬಹುದಾದ ಗರಿಷ್ಠ ಮಿತಿ 240+15 ದಿನಗಳು. 15 ದಿನಗಳನ್ನು ಕ್ಯಾಲೆಂಡರ್‍ ಅರ್ಧ ವರ್ಷದ ಒಳಗಾಗಿ ಉಪಯೋಗಿಸದಿದ್ದರೆ ಲ್ಯಾಪ್ಸ್ ಆಗುವುದು.</a:t>
            </a:r>
          </a:p>
          <a:p>
            <a:pPr marL="449263" indent="-449263" algn="just">
              <a:buBlip>
                <a:blip r:embed="rId2"/>
              </a:buBlip>
            </a:pPr>
            <a:r>
              <a:rPr lang="en-US" dirty="0" smtClean="0">
                <a:cs typeface="Narkisim"/>
              </a:rPr>
              <a:t>ಅಧ್ಯರ್ಪಣೆ ಮತ್ತು ನಗಧೀಕರಣ ಸೌಲಭ್ಯ.</a:t>
            </a:r>
          </a:p>
          <a:p>
            <a:pPr marL="449263" indent="-449263" algn="just">
              <a:buBlip>
                <a:blip r:embed="rId2"/>
              </a:buBlip>
            </a:pPr>
            <a:r>
              <a:rPr lang="en-US" dirty="0" smtClean="0">
                <a:cs typeface="Narkisim"/>
              </a:rPr>
              <a:t>ಗಳಿಕೆ ರಜೆಯನ್ನು ಒಂದು ಅರ್ಧ ವರ್ಷದಿಂದ ಮುಂದಿನ ಅರ್ಧ ವರ್ಷದ ಅವಧಿಯ ವರೆಗೆ ಉಪಯೋಗಿಸಿದರೆ(26-06-2007 ರಿಂದ 10-07-2007 ರವರೆಗೆ ಅಥವಾ 26-12-2007 ರಿಂದ 09-01-2008 ರವರೆಗೆ ಬಳಸಿಕೊಂಡರೆ) ರಜೆ ಉಪಯೋಗಿಸಿದ ಅರ್ಧ ವರ್ಷಕ್ಕೆ ಮೊದಲು ಉಪಯೋಗಿಸಿಕೊಂಡ ರಜೆಯನ್ನು ನೌಕರನ ಹಕ್ಕಿನಲ್ಲಿರುವ ರಜೆಯಿಂದ ಕಳೆಯತಕ್ಕದ್ದು ಹಾಗೂ 01-07-2007 ಅಥವಾ 01-01-2008 ರ ಗಳಿಕೆ ರಜೆ ಜಮೆ ಮಾಡಿ ನಂತರದ ಅವಧಿಯನ್ನು ಉಪಯೋಗಿಸಿಕೊಂಡ ರಜೆಯನ್ನು ಲೆಕ್ಕದಿಂದ ಕಳೆಯುವುದು</a:t>
            </a:r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0"/>
            <a:ext cx="7620000" cy="631825"/>
          </a:xfrm>
        </p:spPr>
        <p:txBody>
          <a:bodyPr>
            <a:prstTxWarp prst="textPlain">
              <a:avLst/>
            </a:prstTxWarp>
            <a:normAutofit fontScale="90000"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r>
              <a:rPr lang="en-US" b="1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ಬಿಡುವು ಇಲಾಖೆ ನೌಕರರಿಗೆ</a:t>
            </a:r>
            <a:endParaRPr lang="en-IN" b="1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838200"/>
            <a:ext cx="8382000" cy="56388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ಸರ್ಕಾರಿ ನೌಕರನು ಕರ್ತವ್ಯದ ಅವಧಿಯಲ್ಲಿ ಅರ್ಜಿಸಿದ ರಜೆ :</a:t>
            </a:r>
          </a:p>
          <a:p>
            <a:pPr algn="just">
              <a:buBlip>
                <a:blip r:embed="rId2"/>
              </a:buBlip>
            </a:pPr>
            <a:r>
              <a:rPr lang="en-US" dirty="0" smtClean="0"/>
              <a:t> </a:t>
            </a:r>
            <a:r>
              <a:rPr lang="en-US" sz="2600" dirty="0" smtClean="0">
                <a:solidFill>
                  <a:schemeClr val="tx1"/>
                </a:solidFill>
              </a:rPr>
              <a:t>ಪ್ರತಿ ಅರ್ಧ ವರ್ಷದ ಪ್ರಾರಂಭದಲ್ಲಿ ಅಥವಾ ಪೂರ್ಣಗೊಳಿಸಿದ ಸಂದರ್ಭದಲ್ಲಿ ಪ್ರತಿ ತಿಂಗಳ ಕರ್ತವ್ಯದ ಅವಧಿಗೆ 5/6 ಅನುಪಾತದಲ್ಲಿ ಮುಂದಿನ ಅರ್ಧ ವರ್ಷದ ಅವಧಿಯಲ್ಲಿ ಲೆಕ್ಕಕ್ಕೆ ನೀಡುವಾಗ ಮಿತಿಗೊಳಿಸುವುದು</a:t>
            </a:r>
          </a:p>
          <a:p>
            <a:pPr algn="just">
              <a:buBlip>
                <a:blip r:embed="rId2"/>
              </a:buBlip>
            </a:pPr>
            <a:r>
              <a:rPr lang="en-US" sz="2600" dirty="0" smtClean="0">
                <a:solidFill>
                  <a:schemeClr val="tx1"/>
                </a:solidFill>
              </a:rPr>
              <a:t>ಲೆಕ್ಕದಲ್ಲಿ ಹೊಂದಿರಬಹುದಾದ ಗರಿಷ್ಠ ಮಿತಿ 240+5 ದಿನಗಳು</a:t>
            </a:r>
          </a:p>
          <a:p>
            <a:pPr algn="just">
              <a:buBlip>
                <a:blip r:embed="rId2"/>
              </a:buBlip>
            </a:pPr>
            <a:r>
              <a:rPr lang="en-US" sz="2600" dirty="0" err="1" smtClean="0">
                <a:solidFill>
                  <a:schemeClr val="tx1"/>
                </a:solidFill>
                <a:cs typeface="Narkisim"/>
              </a:rPr>
              <a:t>ಅಧ್ಯರ್ಪಣೆ</a:t>
            </a:r>
            <a:r>
              <a:rPr lang="en-US" sz="2600" dirty="0" smtClean="0">
                <a:solidFill>
                  <a:schemeClr val="tx1"/>
                </a:solidFill>
              </a:rPr>
              <a:t> ಮತ್ತು </a:t>
            </a:r>
            <a:r>
              <a:rPr lang="en-US" sz="2600" dirty="0" smtClean="0">
                <a:solidFill>
                  <a:schemeClr val="tx1"/>
                </a:solidFill>
                <a:latin typeface="Candara" pitchFamily="34" charset="0"/>
              </a:rPr>
              <a:t>ನಗಧಿಕರಣ</a:t>
            </a:r>
            <a:r>
              <a:rPr lang="en-US" sz="2600" dirty="0" smtClean="0">
                <a:solidFill>
                  <a:schemeClr val="tx1"/>
                </a:solidFill>
              </a:rPr>
              <a:t> ಸೌಲಭ್ಯ ಲಭ್ಯವಿದೆ.</a:t>
            </a:r>
          </a:p>
          <a:p>
            <a:pPr algn="just"/>
            <a:r>
              <a:rPr lang="en-US" sz="2600" dirty="0" smtClean="0">
                <a:solidFill>
                  <a:schemeClr val="tx1"/>
                </a:solidFill>
              </a:rPr>
              <a:t>        ಉದಾ: ಒಬ್ಬ ಸರ್ಕಾರಿ ನೌಕರನು ದಿನಾಂಕ :05-03-2007 ರಮದು ಸೇವೆಗೆ ಸೇರಿದ್ದರೆ, ದಿನಾಂಕ : 01-04-2007 ರಿಮದ 30-06-2007 ರವರೆಗೆ 3 ತಿಂಗಳು ಪೂರ್ಣಗೊಂಡ ಸೇವೆಗೆ ಗಳಿಕೆ ರಜೆ 3</a:t>
            </a:r>
            <a:r>
              <a:rPr lang="en-US" sz="2600" b="1" dirty="0" smtClean="0">
                <a:solidFill>
                  <a:schemeClr val="tx1"/>
                </a:solidFill>
                <a:latin typeface="Narkisim"/>
                <a:cs typeface="Narkisim"/>
              </a:rPr>
              <a:t>×</a:t>
            </a:r>
            <a:r>
              <a:rPr lang="en-US" sz="2600" dirty="0" smtClean="0">
                <a:solidFill>
                  <a:schemeClr val="tx1"/>
                </a:solidFill>
              </a:rPr>
              <a:t>5/6 =2 ದಿನಗಳು ಗಳಿಕೆ ರಜೆಯನ್ನು ಹೊಂದಿರುವವನು.</a:t>
            </a:r>
          </a:p>
          <a:p>
            <a:pPr algn="just"/>
            <a:r>
              <a:rPr lang="en-US" sz="2600" dirty="0" smtClean="0">
                <a:solidFill>
                  <a:schemeClr val="tx1"/>
                </a:solidFill>
              </a:rPr>
              <a:t>    ಉದಾ : ಒಬ್ಬ ಸರ್ಕಾರಿ ನೌಕರನು ದಿನಾಂಕ : 31-10-2007 ರಂದು ವಯೋಮಿತಿ ನಿವೃತ್ತಿ ಹೊಂದಿದ್ದಲ್ಲಿ, 01-07-2007 ರಿಂದ 31-10-2007 ರವರೆಗೆ 4 ತಿಂಗಳಿಗೆ 4</a:t>
            </a:r>
            <a:r>
              <a:rPr lang="en-US" sz="2600" b="1" dirty="0" smtClean="0">
                <a:solidFill>
                  <a:schemeClr val="tx1"/>
                </a:solidFill>
                <a:latin typeface="Narkisim"/>
                <a:cs typeface="Narkisim"/>
              </a:rPr>
              <a:t>×</a:t>
            </a:r>
            <a:r>
              <a:rPr lang="en-US" sz="2600" dirty="0" smtClean="0">
                <a:solidFill>
                  <a:schemeClr val="tx1"/>
                </a:solidFill>
              </a:rPr>
              <a:t>5/6 = 3.3 ಒಟ್ಟು 3 ದಿನಗಳು ರಜೆ ಜಮೆ ಮಾಡಬೇಕು.</a:t>
            </a:r>
          </a:p>
          <a:p>
            <a:pPr algn="l">
              <a:buBlip>
                <a:blip r:embed="rId2"/>
              </a:buBlip>
            </a:pPr>
            <a:endParaRPr lang="en-US" sz="1800" dirty="0" smtClean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448</Words>
  <Application>Microsoft Office PowerPoint</Application>
  <PresentationFormat>On-screen Show (4:3)</PresentationFormat>
  <Paragraphs>44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 ರಜಾ ನಿಯಮ (Leave Rules) ನಿಯಮ 105 ರಿಂದ 206 </vt:lpstr>
      <vt:lpstr>Slide 2</vt:lpstr>
      <vt:lpstr>Slide 3</vt:lpstr>
      <vt:lpstr>ಸಾಂದರ್ಭಿಕ ರಜೆ </vt:lpstr>
      <vt:lpstr>ಗಳಿಕೆ ರಜೆ: ಬಿಡುವು ಇಲ್ಲದ ನೌಕರರಿಗೆ</vt:lpstr>
      <vt:lpstr>ಬಿಡುವು ಇಲಾಖೆ ನೌಕರರಿಗೆ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ರಜಾ ನಿಯಮ (Leave Rules) ನಿಯಮ 105 ರಿಂದ 206 </dc:title>
  <dc:creator>ADMIN DTI</dc:creator>
  <cp:lastModifiedBy>ADMIN DTI</cp:lastModifiedBy>
  <cp:revision>16</cp:revision>
  <dcterms:created xsi:type="dcterms:W3CDTF">2017-08-29T05:47:39Z</dcterms:created>
  <dcterms:modified xsi:type="dcterms:W3CDTF">2017-09-16T06:44:43Z</dcterms:modified>
</cp:coreProperties>
</file>