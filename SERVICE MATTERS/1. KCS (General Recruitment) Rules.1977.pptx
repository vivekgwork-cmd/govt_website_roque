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151E397-12AA-4528-801A-64505B4C7592}" type="datetimeFigureOut">
              <a:rPr lang="en-IN" smtClean="0"/>
              <a:t>15-12-2022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2259756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151E397-12AA-4528-801A-64505B4C7592}" type="datetimeFigureOut">
              <a:rPr lang="en-IN" smtClean="0"/>
              <a:t>15-12-2022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3827162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151E397-12AA-4528-801A-64505B4C7592}" type="datetimeFigureOut">
              <a:rPr lang="en-IN" smtClean="0"/>
              <a:t>15-12-2022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2310853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151E397-12AA-4528-801A-64505B4C7592}" type="datetimeFigureOut">
              <a:rPr lang="en-IN" smtClean="0"/>
              <a:t>15-12-2022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561156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151E397-12AA-4528-801A-64505B4C7592}" type="datetimeFigureOut">
              <a:rPr lang="en-IN" smtClean="0"/>
              <a:t>15-12-2022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4086807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151E397-12AA-4528-801A-64505B4C7592}" type="datetimeFigureOut">
              <a:rPr lang="en-IN" smtClean="0"/>
              <a:t>15-12-2022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304135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51E397-12AA-4528-801A-64505B4C7592}" type="datetimeFigureOut">
              <a:rPr lang="en-IN" smtClean="0"/>
              <a:t>15-12-2022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1799519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151E397-12AA-4528-801A-64505B4C7592}" type="datetimeFigureOut">
              <a:rPr lang="en-IN" smtClean="0"/>
              <a:t>15-12-2022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36122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151E397-12AA-4528-801A-64505B4C7592}" type="datetimeFigureOut">
              <a:rPr lang="en-IN" smtClean="0"/>
              <a:t>15-12-2022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1303758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151E397-12AA-4528-801A-64505B4C7592}" type="datetimeFigureOut">
              <a:rPr lang="en-IN" smtClean="0"/>
              <a:t>15-12-2022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2959879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151E397-12AA-4528-801A-64505B4C7592}" type="datetimeFigureOut">
              <a:rPr lang="en-IN" smtClean="0"/>
              <a:t>15-12-2022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498D6-9E0C-400A-BEC1-86CDCCB6BC2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640451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151E397-12AA-4528-801A-64505B4C7592}" type="datetimeFigureOut">
              <a:rPr lang="en-IN" smtClean="0"/>
              <a:t>15-12-2022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459869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151E397-12AA-4528-801A-64505B4C7592}" type="datetimeFigureOut">
              <a:rPr lang="en-IN" smtClean="0"/>
              <a:t>15-12-2022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498D6-9E0C-400A-BEC1-86CDCCB6BC2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254889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151E397-12AA-4528-801A-64505B4C7592}" type="datetimeFigureOut">
              <a:rPr lang="en-IN" smtClean="0"/>
              <a:t>15-12-2022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2709378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151E397-12AA-4528-801A-64505B4C7592}" type="datetimeFigureOut">
              <a:rPr lang="en-IN" smtClean="0"/>
              <a:t>15-12-2022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2404973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151E397-12AA-4528-801A-64505B4C7592}" type="datetimeFigureOut">
              <a:rPr lang="en-IN" smtClean="0"/>
              <a:t>15-12-2022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54498D6-9E0C-400A-BEC1-86CDCCB6BC20}" type="slidenum">
              <a:rPr lang="en-IN" smtClean="0"/>
              <a:t>‹#›</a:t>
            </a:fld>
            <a:endParaRPr lang="en-IN"/>
          </a:p>
        </p:txBody>
      </p:sp>
    </p:spTree>
    <p:extLst>
      <p:ext uri="{BB962C8B-B14F-4D97-AF65-F5344CB8AC3E}">
        <p14:creationId xmlns:p14="http://schemas.microsoft.com/office/powerpoint/2010/main" val="423339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151E397-12AA-4528-801A-64505B4C7592}" type="datetimeFigureOut">
              <a:rPr lang="en-IN" smtClean="0"/>
              <a:t>15-12-2022</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54498D6-9E0C-400A-BEC1-86CDCCB6BC20}" type="slidenum">
              <a:rPr lang="en-IN" smtClean="0"/>
              <a:t>‹#›</a:t>
            </a:fld>
            <a:endParaRPr lang="en-IN"/>
          </a:p>
        </p:txBody>
      </p:sp>
    </p:spTree>
    <p:extLst>
      <p:ext uri="{BB962C8B-B14F-4D97-AF65-F5344CB8AC3E}">
        <p14:creationId xmlns:p14="http://schemas.microsoft.com/office/powerpoint/2010/main" val="16727514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KARNATAKA CIVIL SERVICES (GENERAL RECRUITMENT) RULES, 1977</a:t>
            </a: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586432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idx="1"/>
          </p:nvPr>
        </p:nvSpPr>
        <p:spPr>
          <a:xfrm>
            <a:off x="838200" y="649288"/>
            <a:ext cx="10515600" cy="5527675"/>
          </a:xfrm>
        </p:spPr>
        <p:txBody>
          <a:bodyPr/>
          <a:lstStyle/>
          <a:p>
            <a:r>
              <a:rPr lang="en-US" dirty="0" smtClean="0"/>
              <a:t>1</a:t>
            </a:r>
            <a:r>
              <a:rPr lang="en-US" dirty="0" smtClean="0">
                <a:latin typeface="Century" panose="02040604050505020304" pitchFamily="18" charset="0"/>
              </a:rPr>
              <a:t>. Title, Commencement and Application .-</a:t>
            </a:r>
          </a:p>
          <a:p>
            <a:r>
              <a:rPr lang="en-US" dirty="0" smtClean="0">
                <a:latin typeface="Century" panose="02040604050505020304" pitchFamily="18" charset="0"/>
              </a:rPr>
              <a:t> (1) These rules may be called the Karnataka Civil Services (General Recruitment) Rules, 1977. </a:t>
            </a:r>
          </a:p>
          <a:p>
            <a:r>
              <a:rPr lang="en-US" dirty="0" smtClean="0">
                <a:latin typeface="Century" panose="02040604050505020304" pitchFamily="18" charset="0"/>
              </a:rPr>
              <a:t>2) They shall come into force on the date of their publication in the Official Gazette</a:t>
            </a:r>
          </a:p>
          <a:p>
            <a:r>
              <a:rPr lang="en-US" dirty="0" smtClean="0">
                <a:latin typeface="Century" panose="02040604050505020304" pitchFamily="18" charset="0"/>
              </a:rPr>
              <a:t>(b) These rules shall not apply to recruitment to posts-</a:t>
            </a:r>
          </a:p>
          <a:p>
            <a:r>
              <a:rPr lang="en-US" dirty="0" smtClean="0">
                <a:latin typeface="Century" panose="02040604050505020304" pitchFamily="18" charset="0"/>
              </a:rPr>
              <a:t> (</a:t>
            </a:r>
            <a:r>
              <a:rPr lang="en-US" dirty="0" err="1" smtClean="0">
                <a:latin typeface="Century" panose="02040604050505020304" pitchFamily="18" charset="0"/>
              </a:rPr>
              <a:t>i</a:t>
            </a:r>
            <a:r>
              <a:rPr lang="en-US" dirty="0" smtClean="0">
                <a:latin typeface="Century" panose="02040604050505020304" pitchFamily="18" charset="0"/>
              </a:rPr>
              <a:t>) members of All </a:t>
            </a:r>
            <a:r>
              <a:rPr lang="en-US" dirty="0" err="1" smtClean="0">
                <a:latin typeface="Century" panose="02040604050505020304" pitchFamily="18" charset="0"/>
              </a:rPr>
              <a:t>lndia</a:t>
            </a:r>
            <a:r>
              <a:rPr lang="en-US" dirty="0" smtClean="0">
                <a:latin typeface="Century" panose="02040604050505020304" pitchFamily="18" charset="0"/>
              </a:rPr>
              <a:t> Services; </a:t>
            </a:r>
          </a:p>
          <a:p>
            <a:r>
              <a:rPr lang="en-US" dirty="0" smtClean="0">
                <a:latin typeface="Century" panose="02040604050505020304" pitchFamily="18" charset="0"/>
              </a:rPr>
              <a:t>(ii) in any </a:t>
            </a:r>
            <a:r>
              <a:rPr lang="en-US" dirty="0" err="1" smtClean="0">
                <a:latin typeface="Century" panose="02040604050505020304" pitchFamily="18" charset="0"/>
              </a:rPr>
              <a:t>lndustrial</a:t>
            </a:r>
            <a:r>
              <a:rPr lang="en-US" dirty="0" smtClean="0">
                <a:latin typeface="Century" panose="02040604050505020304" pitchFamily="18" charset="0"/>
              </a:rPr>
              <a:t> Undertakings of the Government; </a:t>
            </a:r>
          </a:p>
          <a:p>
            <a:r>
              <a:rPr lang="en-US" dirty="0" smtClean="0">
                <a:latin typeface="Century" panose="02040604050505020304" pitchFamily="18" charset="0"/>
              </a:rPr>
              <a:t>(iii) filled by casual employment; and </a:t>
            </a:r>
          </a:p>
          <a:p>
            <a:r>
              <a:rPr lang="en-US" dirty="0" smtClean="0">
                <a:latin typeface="Century" panose="02040604050505020304" pitchFamily="18" charset="0"/>
              </a:rPr>
              <a:t>(iv) in work-charged establishments.</a:t>
            </a:r>
            <a:endParaRPr lang="en-IN" dirty="0">
              <a:latin typeface="Century" panose="02040604050505020304" pitchFamily="18" charset="0"/>
            </a:endParaRPr>
          </a:p>
        </p:txBody>
      </p:sp>
    </p:spTree>
    <p:extLst>
      <p:ext uri="{BB962C8B-B14F-4D97-AF65-F5344CB8AC3E}">
        <p14:creationId xmlns:p14="http://schemas.microsoft.com/office/powerpoint/2010/main" val="1403477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6835"/>
            <a:ext cx="10515600" cy="5660128"/>
          </a:xfrm>
        </p:spPr>
        <p:txBody>
          <a:bodyPr/>
          <a:lstStyle/>
          <a:p>
            <a:r>
              <a:rPr lang="en-IN" dirty="0" smtClean="0"/>
              <a:t>2</a:t>
            </a:r>
            <a:r>
              <a:rPr lang="en-IN" dirty="0" smtClean="0">
                <a:latin typeface="Century" panose="02040604050505020304" pitchFamily="18" charset="0"/>
              </a:rPr>
              <a:t>. </a:t>
            </a:r>
          </a:p>
          <a:p>
            <a:r>
              <a:rPr lang="en-US" dirty="0" smtClean="0">
                <a:latin typeface="Century" panose="02040604050505020304" pitchFamily="18" charset="0"/>
              </a:rPr>
              <a:t>(a) "appointed on probation" or "appointed on officiating basis" means appointed on trial. </a:t>
            </a:r>
          </a:p>
          <a:p>
            <a:r>
              <a:rPr lang="en-US" dirty="0" smtClean="0">
                <a:latin typeface="Century" panose="02040604050505020304" pitchFamily="18" charset="0"/>
              </a:rPr>
              <a:t>(b) "Armed Forces of the Union" means the Naval Military Air Forces of the Union and includes the Armed Forces of the former Indian States (but excludes the Assam Rifles, </a:t>
            </a:r>
            <a:r>
              <a:rPr lang="en-US" dirty="0" err="1" smtClean="0">
                <a:latin typeface="Century" panose="02040604050505020304" pitchFamily="18" charset="0"/>
              </a:rPr>
              <a:t>Defence</a:t>
            </a:r>
            <a:r>
              <a:rPr lang="en-US" dirty="0" smtClean="0">
                <a:latin typeface="Century" panose="02040604050505020304" pitchFamily="18" charset="0"/>
              </a:rPr>
              <a:t> security Corps, General Reserve Engineering Force, </a:t>
            </a:r>
            <a:r>
              <a:rPr lang="en-US" dirty="0" err="1" smtClean="0">
                <a:latin typeface="Century" panose="02040604050505020304" pitchFamily="18" charset="0"/>
              </a:rPr>
              <a:t>Lok</a:t>
            </a:r>
            <a:r>
              <a:rPr lang="en-US" dirty="0" smtClean="0">
                <a:latin typeface="Century" panose="02040604050505020304" pitchFamily="18" charset="0"/>
              </a:rPr>
              <a:t> </a:t>
            </a:r>
            <a:r>
              <a:rPr lang="en-US" dirty="0" err="1" smtClean="0">
                <a:latin typeface="Century" panose="02040604050505020304" pitchFamily="18" charset="0"/>
              </a:rPr>
              <a:t>Sahayak</a:t>
            </a:r>
            <a:r>
              <a:rPr lang="en-US" dirty="0" smtClean="0">
                <a:latin typeface="Century" panose="02040604050505020304" pitchFamily="18" charset="0"/>
              </a:rPr>
              <a:t> </a:t>
            </a:r>
            <a:r>
              <a:rPr lang="en-US" dirty="0" err="1" smtClean="0">
                <a:latin typeface="Century" panose="02040604050505020304" pitchFamily="18" charset="0"/>
              </a:rPr>
              <a:t>Sena</a:t>
            </a:r>
            <a:r>
              <a:rPr lang="en-US" dirty="0" smtClean="0">
                <a:latin typeface="Century" panose="02040604050505020304" pitchFamily="18" charset="0"/>
              </a:rPr>
              <a:t> and Territorial Army</a:t>
            </a:r>
          </a:p>
          <a:p>
            <a:r>
              <a:rPr lang="en-US" dirty="0" smtClean="0">
                <a:latin typeface="Century" panose="02040604050505020304" pitchFamily="18" charset="0"/>
              </a:rPr>
              <a:t> (c) "Bachelor's degree", "Masters degree:', "Degree", or "Doctorate" means such degree or Doctorate granted by a University established by law in India</a:t>
            </a:r>
            <a:r>
              <a:rPr lang="en-US" dirty="0" smtClean="0">
                <a:latin typeface="Century" panose="02040604050505020304" pitchFamily="18" charset="0"/>
              </a:rPr>
              <a:t>.</a:t>
            </a:r>
          </a:p>
          <a:p>
            <a:r>
              <a:rPr lang="en-US" dirty="0">
                <a:latin typeface="Century" panose="02040604050505020304" pitchFamily="18" charset="0"/>
              </a:rPr>
              <a:t>0) "Government" means the Government of Karnataka</a:t>
            </a:r>
            <a:endParaRPr lang="en-IN" dirty="0">
              <a:latin typeface="Century" panose="02040604050505020304" pitchFamily="18" charset="0"/>
            </a:endParaRPr>
          </a:p>
        </p:txBody>
      </p:sp>
    </p:spTree>
    <p:extLst>
      <p:ext uri="{BB962C8B-B14F-4D97-AF65-F5344CB8AC3E}">
        <p14:creationId xmlns:p14="http://schemas.microsoft.com/office/powerpoint/2010/main" val="492483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7322"/>
            <a:ext cx="10515600" cy="5739641"/>
          </a:xfrm>
        </p:spPr>
        <p:txBody>
          <a:bodyPr>
            <a:normAutofit/>
          </a:bodyPr>
          <a:lstStyle/>
          <a:p>
            <a:pPr marL="0" indent="0">
              <a:buNone/>
            </a:pPr>
            <a:endParaRPr lang="en-US" dirty="0" smtClean="0"/>
          </a:p>
          <a:p>
            <a:r>
              <a:rPr lang="en-US" dirty="0" smtClean="0"/>
              <a:t>(</a:t>
            </a:r>
            <a:r>
              <a:rPr lang="en-US" dirty="0" smtClean="0">
                <a:latin typeface="Century" panose="02040604050505020304" pitchFamily="18" charset="0"/>
              </a:rPr>
              <a:t>k) "Government servant" means a person who is the member of the Civil Service of the State of Karnataka or who holds a civi</a:t>
            </a:r>
            <a:r>
              <a:rPr lang="en-US" dirty="0">
                <a:latin typeface="Century" panose="02040604050505020304" pitchFamily="18" charset="0"/>
              </a:rPr>
              <a:t>l</a:t>
            </a:r>
            <a:r>
              <a:rPr lang="en-US" dirty="0" smtClean="0">
                <a:latin typeface="Century" panose="02040604050505020304" pitchFamily="18" charset="0"/>
              </a:rPr>
              <a:t> post in connection with the affairs of State of Karnataka and includes any person whose services are temporarily placed at the disposal of the Government of India, the Government of another State, a local authority, any person or persons whether incorporated or not;</a:t>
            </a:r>
          </a:p>
          <a:p>
            <a:r>
              <a:rPr lang="en-US" dirty="0" smtClean="0">
                <a:latin typeface="Century" panose="02040604050505020304" pitchFamily="18" charset="0"/>
              </a:rPr>
              <a:t> (l) "local candidate" shall have the same meaning as in the Karnataka Civil Services Rules. ,</a:t>
            </a:r>
          </a:p>
          <a:p>
            <a:r>
              <a:rPr lang="en-US" dirty="0" smtClean="0">
                <a:latin typeface="Century" panose="02040604050505020304" pitchFamily="18" charset="0"/>
              </a:rPr>
              <a:t>(1-1) "Other Backward Classes" means the persons belonging to the classes or categories classified as,-</a:t>
            </a:r>
          </a:p>
          <a:p>
            <a:r>
              <a:rPr lang="en-US" dirty="0" smtClean="0">
                <a:latin typeface="Century" panose="02040604050505020304" pitchFamily="18" charset="0"/>
              </a:rPr>
              <a:t> </a:t>
            </a:r>
            <a:r>
              <a:rPr lang="en-US" dirty="0" err="1" smtClean="0">
                <a:latin typeface="Century" panose="02040604050505020304" pitchFamily="18" charset="0"/>
              </a:rPr>
              <a:t>i</a:t>
            </a:r>
            <a:r>
              <a:rPr lang="en-US" dirty="0" smtClean="0">
                <a:latin typeface="Century" panose="02040604050505020304" pitchFamily="18" charset="0"/>
              </a:rPr>
              <a:t>) Category-l (Most Backward); </a:t>
            </a:r>
          </a:p>
          <a:p>
            <a:r>
              <a:rPr lang="en-US" dirty="0" smtClean="0">
                <a:latin typeface="Century" panose="02040604050505020304" pitchFamily="18" charset="0"/>
              </a:rPr>
              <a:t>ii) Category-</a:t>
            </a:r>
            <a:r>
              <a:rPr lang="en-US" dirty="0" err="1" smtClean="0">
                <a:latin typeface="Century" panose="02040604050505020304" pitchFamily="18" charset="0"/>
              </a:rPr>
              <a:t>ll</a:t>
            </a:r>
            <a:r>
              <a:rPr lang="en-US" dirty="0" smtClean="0">
                <a:latin typeface="Century" panose="02040604050505020304" pitchFamily="18" charset="0"/>
              </a:rPr>
              <a:t> (a) (Relatively More Backward)</a:t>
            </a:r>
          </a:p>
          <a:p>
            <a:r>
              <a:rPr lang="en-US" dirty="0" smtClean="0">
                <a:latin typeface="Century" panose="02040604050505020304" pitchFamily="18" charset="0"/>
              </a:rPr>
              <a:t>; iii) Category-</a:t>
            </a:r>
            <a:r>
              <a:rPr lang="en-US" dirty="0" err="1" smtClean="0">
                <a:latin typeface="Century" panose="02040604050505020304" pitchFamily="18" charset="0"/>
              </a:rPr>
              <a:t>ll</a:t>
            </a:r>
            <a:r>
              <a:rPr lang="en-US" dirty="0" smtClean="0">
                <a:latin typeface="Century" panose="02040604050505020304" pitchFamily="18" charset="0"/>
              </a:rPr>
              <a:t> (b) (more Backward);</a:t>
            </a:r>
          </a:p>
          <a:p>
            <a:r>
              <a:rPr lang="en-US" dirty="0" smtClean="0">
                <a:latin typeface="Century" panose="02040604050505020304" pitchFamily="18" charset="0"/>
              </a:rPr>
              <a:t> iv) Category-</a:t>
            </a:r>
            <a:r>
              <a:rPr lang="en-US" dirty="0" err="1" smtClean="0">
                <a:latin typeface="Century" panose="02040604050505020304" pitchFamily="18" charset="0"/>
              </a:rPr>
              <a:t>lll</a:t>
            </a:r>
            <a:r>
              <a:rPr lang="en-US" dirty="0" smtClean="0">
                <a:latin typeface="Century" panose="02040604050505020304" pitchFamily="18" charset="0"/>
              </a:rPr>
              <a:t>(a) (Backward)</a:t>
            </a:r>
          </a:p>
          <a:p>
            <a:r>
              <a:rPr lang="en-US" dirty="0" smtClean="0">
                <a:latin typeface="Century" panose="02040604050505020304" pitchFamily="18" charset="0"/>
              </a:rPr>
              <a:t> v) Category-</a:t>
            </a:r>
            <a:r>
              <a:rPr lang="en-US" dirty="0" err="1" smtClean="0">
                <a:latin typeface="Century" panose="02040604050505020304" pitchFamily="18" charset="0"/>
              </a:rPr>
              <a:t>lll</a:t>
            </a:r>
            <a:r>
              <a:rPr lang="en-US" dirty="0" smtClean="0">
                <a:latin typeface="Century" panose="02040604050505020304" pitchFamily="18" charset="0"/>
              </a:rPr>
              <a:t> (b) (Relatively Backward)</a:t>
            </a:r>
            <a:endParaRPr lang="en-IN" dirty="0">
              <a:latin typeface="Century" panose="02040604050505020304" pitchFamily="18" charset="0"/>
            </a:endParaRPr>
          </a:p>
        </p:txBody>
      </p:sp>
    </p:spTree>
    <p:extLst>
      <p:ext uri="{BB962C8B-B14F-4D97-AF65-F5344CB8AC3E}">
        <p14:creationId xmlns:p14="http://schemas.microsoft.com/office/powerpoint/2010/main" val="2699065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7078"/>
            <a:ext cx="10515600" cy="5699885"/>
          </a:xfrm>
        </p:spPr>
        <p:txBody>
          <a:bodyPr/>
          <a:lstStyle/>
          <a:p>
            <a:pPr>
              <a:lnSpc>
                <a:spcPct val="150000"/>
              </a:lnSpc>
            </a:pPr>
            <a:r>
              <a:rPr lang="en-US" dirty="0" smtClean="0">
                <a:latin typeface="Century" panose="02040604050505020304" pitchFamily="18" charset="0"/>
              </a:rPr>
              <a:t>[(</a:t>
            </a:r>
            <a:r>
              <a:rPr lang="en-US" dirty="0" err="1" smtClean="0">
                <a:latin typeface="Century" panose="02040604050505020304" pitchFamily="18" charset="0"/>
              </a:rPr>
              <a:t>ll</a:t>
            </a:r>
            <a:r>
              <a:rPr lang="en-US" dirty="0" smtClean="0">
                <a:latin typeface="Century" panose="02040604050505020304" pitchFamily="18" charset="0"/>
              </a:rPr>
              <a:t>) "Physically handicapped candidate" or "Person with disability" means a person suffering from not less than forty percent of any of the following disabilities as certified by a medical authority, namely:- (</a:t>
            </a:r>
            <a:r>
              <a:rPr lang="en-US" dirty="0" err="1" smtClean="0">
                <a:latin typeface="Century" panose="02040604050505020304" pitchFamily="18" charset="0"/>
              </a:rPr>
              <a:t>i</a:t>
            </a:r>
            <a:r>
              <a:rPr lang="en-US" dirty="0" smtClean="0">
                <a:latin typeface="Century" panose="02040604050505020304" pitchFamily="18" charset="0"/>
              </a:rPr>
              <a:t>) blindness </a:t>
            </a:r>
          </a:p>
          <a:p>
            <a:pPr>
              <a:lnSpc>
                <a:spcPct val="150000"/>
              </a:lnSpc>
            </a:pPr>
            <a:r>
              <a:rPr lang="en-US" dirty="0" smtClean="0">
                <a:latin typeface="Century" panose="02040604050505020304" pitchFamily="18" charset="0"/>
              </a:rPr>
              <a:t>(ii) low vision </a:t>
            </a:r>
          </a:p>
          <a:p>
            <a:pPr>
              <a:lnSpc>
                <a:spcPct val="150000"/>
              </a:lnSpc>
            </a:pPr>
            <a:r>
              <a:rPr lang="en-US" dirty="0" smtClean="0">
                <a:latin typeface="Century" panose="02040604050505020304" pitchFamily="18" charset="0"/>
              </a:rPr>
              <a:t>(iii) leprosy cured </a:t>
            </a:r>
          </a:p>
          <a:p>
            <a:pPr>
              <a:lnSpc>
                <a:spcPct val="150000"/>
              </a:lnSpc>
            </a:pPr>
            <a:r>
              <a:rPr lang="en-US" dirty="0" smtClean="0">
                <a:latin typeface="Century" panose="02040604050505020304" pitchFamily="18" charset="0"/>
              </a:rPr>
              <a:t>(iv) hearing impairment</a:t>
            </a:r>
          </a:p>
          <a:p>
            <a:pPr>
              <a:lnSpc>
                <a:spcPct val="150000"/>
              </a:lnSpc>
            </a:pPr>
            <a:r>
              <a:rPr lang="en-US" dirty="0" smtClean="0">
                <a:latin typeface="Century" panose="02040604050505020304" pitchFamily="18" charset="0"/>
              </a:rPr>
              <a:t> (v) Locomotor disability </a:t>
            </a:r>
          </a:p>
          <a:p>
            <a:pPr>
              <a:lnSpc>
                <a:spcPct val="150000"/>
              </a:lnSpc>
            </a:pPr>
            <a:r>
              <a:rPr lang="en-US" dirty="0" smtClean="0">
                <a:latin typeface="Century" panose="02040604050505020304" pitchFamily="18" charset="0"/>
              </a:rPr>
              <a:t>(vi) mental retardation </a:t>
            </a:r>
          </a:p>
          <a:p>
            <a:pPr>
              <a:lnSpc>
                <a:spcPct val="150000"/>
              </a:lnSpc>
            </a:pPr>
            <a:r>
              <a:rPr lang="en-US" dirty="0" smtClean="0">
                <a:latin typeface="Century" panose="02040604050505020304" pitchFamily="18" charset="0"/>
              </a:rPr>
              <a:t>(vii) mental illness</a:t>
            </a:r>
            <a:endParaRPr lang="en-IN" dirty="0">
              <a:latin typeface="Century" panose="02040604050505020304" pitchFamily="18" charset="0"/>
            </a:endParaRPr>
          </a:p>
        </p:txBody>
      </p:sp>
    </p:spTree>
    <p:extLst>
      <p:ext uri="{BB962C8B-B14F-4D97-AF65-F5344CB8AC3E}">
        <p14:creationId xmlns:p14="http://schemas.microsoft.com/office/powerpoint/2010/main" val="3239649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nSpc>
                <a:spcPct val="150000"/>
              </a:lnSpc>
            </a:pPr>
            <a:r>
              <a:rPr lang="en-US" dirty="0" smtClean="0">
                <a:latin typeface="Century" panose="02040604050505020304" pitchFamily="18" charset="0"/>
              </a:rPr>
              <a:t>Qualification in respect of Ex-Servicemen. Notwithstanding anything contained in rule 3 of these rules or the rules of recruitment specially made in respect of any service </a:t>
            </a:r>
            <a:r>
              <a:rPr lang="en-US" dirty="0">
                <a:latin typeface="Century" panose="02040604050505020304" pitchFamily="18" charset="0"/>
              </a:rPr>
              <a:t>o</a:t>
            </a:r>
            <a:r>
              <a:rPr lang="en-US" dirty="0" smtClean="0">
                <a:latin typeface="Century" panose="02040604050505020304" pitchFamily="18" charset="0"/>
              </a:rPr>
              <a:t>r post,- </a:t>
            </a:r>
          </a:p>
          <a:p>
            <a:pPr>
              <a:lnSpc>
                <a:spcPct val="150000"/>
              </a:lnSpc>
            </a:pPr>
            <a:r>
              <a:rPr lang="en-US" dirty="0" smtClean="0">
                <a:latin typeface="Century" panose="02040604050505020304" pitchFamily="18" charset="0"/>
              </a:rPr>
              <a:t>(1) For appointment to any vacancy reserved for ex-servicemen in cadres or posts falling under Group-D, every ex-serviceman who has put not less than three years service in Armed Forces of the Union shall be exempt from minimum educational qualification, if any, prescribed in respect of such cadre or posts, </a:t>
            </a:r>
            <a:endParaRPr lang="en-IN" dirty="0">
              <a:latin typeface="Century" panose="02040604050505020304" pitchFamily="18" charset="0"/>
            </a:endParaRPr>
          </a:p>
        </p:txBody>
      </p:sp>
    </p:spTree>
    <p:extLst>
      <p:ext uri="{BB962C8B-B14F-4D97-AF65-F5344CB8AC3E}">
        <p14:creationId xmlns:p14="http://schemas.microsoft.com/office/powerpoint/2010/main" val="2942687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7566" y="526848"/>
            <a:ext cx="11317356" cy="5632311"/>
          </a:xfrm>
          <a:prstGeom prst="rect">
            <a:avLst/>
          </a:prstGeom>
        </p:spPr>
        <p:txBody>
          <a:bodyPr wrap="square">
            <a:spAutoFit/>
          </a:bodyPr>
          <a:lstStyle/>
          <a:p>
            <a:r>
              <a:rPr lang="en-US" dirty="0" smtClean="0"/>
              <a:t>4</a:t>
            </a:r>
            <a:r>
              <a:rPr lang="en-US" dirty="0" smtClean="0">
                <a:latin typeface="Century" panose="02040604050505020304" pitchFamily="18" charset="0"/>
              </a:rPr>
              <a:t>. Procedure of appointment Subject to the provisions of these rules, appointments to any service or post shall be made'- </a:t>
            </a:r>
          </a:p>
          <a:p>
            <a:pPr marL="342900" indent="-342900">
              <a:buAutoNum type="arabicParenBoth"/>
            </a:pPr>
            <a:r>
              <a:rPr lang="en-US" dirty="0" smtClean="0">
                <a:latin typeface="Century" panose="02040604050505020304" pitchFamily="18" charset="0"/>
              </a:rPr>
              <a:t>in the case of recruitment by direct recruitment,-</a:t>
            </a:r>
          </a:p>
          <a:p>
            <a:pPr marL="342900" indent="-342900">
              <a:buAutoNum type="arabicParenBoth"/>
            </a:pPr>
            <a:r>
              <a:rPr lang="en-US" dirty="0" smtClean="0">
                <a:latin typeface="Century" panose="02040604050505020304" pitchFamily="18" charset="0"/>
              </a:rPr>
              <a:t> (a) if it is by competitive examination, in the order of merit from the list of candidates, prepared by the Commission or other examining authority;</a:t>
            </a:r>
          </a:p>
          <a:p>
            <a:pPr marL="342900" indent="-342900">
              <a:buAutoNum type="arabicParenBoth"/>
            </a:pPr>
            <a:r>
              <a:rPr lang="en-US" dirty="0" smtClean="0">
                <a:latin typeface="Century" panose="02040604050505020304" pitchFamily="18" charset="0"/>
              </a:rPr>
              <a:t> (b) if it is by selection, after giving such adequate publicity to the recruitment as the appointing authority may determine, in the order of merit of candidates as determined by the Commission, the Advisory or Selection Committee or the Appointing Authority as the case may be; </a:t>
            </a:r>
            <a:r>
              <a:rPr lang="en-US" dirty="0" smtClean="0">
                <a:latin typeface="Century" panose="02040604050505020304" pitchFamily="18" charset="0"/>
              </a:rPr>
              <a:t>[........</a:t>
            </a:r>
          </a:p>
          <a:p>
            <a:pPr marL="342900" indent="-342900">
              <a:buAutoNum type="arabicParenBoth"/>
            </a:pPr>
            <a:r>
              <a:rPr lang="en-US" dirty="0">
                <a:latin typeface="Century" panose="02040604050505020304" pitchFamily="18" charset="0"/>
              </a:rPr>
              <a:t>o[,TA </a:t>
            </a:r>
            <a:r>
              <a:rPr lang="en-US" dirty="0" err="1">
                <a:latin typeface="Century" panose="02040604050505020304" pitchFamily="18" charset="0"/>
              </a:rPr>
              <a:t>Foreqoing</a:t>
            </a:r>
            <a:r>
              <a:rPr lang="en-US" dirty="0">
                <a:latin typeface="Century" panose="02040604050505020304" pitchFamily="18" charset="0"/>
              </a:rPr>
              <a:t> Promotion </a:t>
            </a:r>
            <a:r>
              <a:rPr lang="en-US" dirty="0" smtClean="0">
                <a:latin typeface="Century" panose="02040604050505020304" pitchFamily="18" charset="0"/>
              </a:rPr>
              <a:t>:-</a:t>
            </a:r>
          </a:p>
          <a:p>
            <a:pPr marL="342900" indent="-342900">
              <a:buAutoNum type="arabicParenBoth"/>
            </a:pPr>
            <a:r>
              <a:rPr lang="en-US" dirty="0" smtClean="0">
                <a:latin typeface="Century" panose="02040604050505020304" pitchFamily="18" charset="0"/>
              </a:rPr>
              <a:t> </a:t>
            </a:r>
            <a:r>
              <a:rPr lang="en-US" dirty="0">
                <a:latin typeface="Century" panose="02040604050505020304" pitchFamily="18" charset="0"/>
              </a:rPr>
              <a:t>(1) A Government servant who, on promotion does not want to accept </a:t>
            </a:r>
            <a:r>
              <a:rPr lang="en-US" dirty="0" err="1">
                <a:latin typeface="Century" panose="02040604050505020304" pitchFamily="18" charset="0"/>
              </a:rPr>
              <a:t>sucn</a:t>
            </a:r>
            <a:r>
              <a:rPr lang="en-US" dirty="0">
                <a:latin typeface="Century" panose="02040604050505020304" pitchFamily="18" charset="0"/>
              </a:rPr>
              <a:t> pro*</a:t>
            </a:r>
            <a:r>
              <a:rPr lang="en-US" dirty="0" err="1">
                <a:latin typeface="Century" panose="02040604050505020304" pitchFamily="18" charset="0"/>
              </a:rPr>
              <a:t>otion</a:t>
            </a:r>
            <a:r>
              <a:rPr lang="en-US" dirty="0">
                <a:latin typeface="Century" panose="02040604050505020304" pitchFamily="18" charset="0"/>
              </a:rPr>
              <a:t> may, </a:t>
            </a:r>
            <a:r>
              <a:rPr lang="en-US" dirty="0" err="1">
                <a:latin typeface="Century" panose="02040604050505020304" pitchFamily="18" charset="0"/>
              </a:rPr>
              <a:t>witnin</a:t>
            </a:r>
            <a:r>
              <a:rPr lang="en-US" dirty="0">
                <a:latin typeface="Century" panose="02040604050505020304" pitchFamily="18" charset="0"/>
              </a:rPr>
              <a:t> fifteen days from the date of receipt of the order of promotion, make a written request seeking permission of the appointing </a:t>
            </a:r>
            <a:r>
              <a:rPr lang="en-US" dirty="0" err="1">
                <a:latin typeface="Century" panose="02040604050505020304" pitchFamily="18" charset="0"/>
              </a:rPr>
              <a:t>authori</a:t>
            </a:r>
            <a:r>
              <a:rPr lang="en-US" dirty="0">
                <a:latin typeface="Century" panose="02040604050505020304" pitchFamily="18" charset="0"/>
              </a:rPr>
              <a:t>$ to forego the promotion so made, and if on consideration or such request the reasons given for foregoing the promotion are found acceptable by the appointing authority, it may permit the Government servant to forego the same. </a:t>
            </a:r>
            <a:endParaRPr lang="en-US" dirty="0" smtClean="0">
              <a:latin typeface="Century" panose="02040604050505020304" pitchFamily="18" charset="0"/>
            </a:endParaRPr>
          </a:p>
          <a:p>
            <a:pPr marL="342900" indent="-342900">
              <a:buAutoNum type="arabicParenBoth"/>
            </a:pPr>
            <a:r>
              <a:rPr lang="en-US" dirty="0" smtClean="0">
                <a:latin typeface="Century" panose="02040604050505020304" pitchFamily="18" charset="0"/>
              </a:rPr>
              <a:t>(</a:t>
            </a:r>
            <a:r>
              <a:rPr lang="en-US" dirty="0">
                <a:latin typeface="Century" panose="02040604050505020304" pitchFamily="18" charset="0"/>
              </a:rPr>
              <a:t>2) In all such cases of foregoing promotion by the Government servant he shall not be considered for promotion for a period of one year from the date of his request seeking permission to forego the promotion or till the immediate next date of consideration </a:t>
            </a:r>
            <a:r>
              <a:rPr lang="en-US" dirty="0" err="1">
                <a:latin typeface="Century" panose="02040604050505020304" pitchFamily="18" charset="0"/>
              </a:rPr>
              <a:t>ofpromotion</a:t>
            </a:r>
            <a:r>
              <a:rPr lang="en-US" dirty="0">
                <a:latin typeface="Century" panose="02040604050505020304" pitchFamily="18" charset="0"/>
              </a:rPr>
              <a:t>' whichever is later, on the eventual promotion to the higher grade, such Government servant shall lose seniority vis-a-vis his juniors piomoted to the higher </a:t>
            </a:r>
            <a:r>
              <a:rPr lang="en-US" dirty="0" err="1">
                <a:latin typeface="Century" panose="02040604050505020304" pitchFamily="18" charset="0"/>
              </a:rPr>
              <a:t>grioe</a:t>
            </a:r>
            <a:r>
              <a:rPr lang="en-US" dirty="0">
                <a:latin typeface="Century" panose="02040604050505020304" pitchFamily="18" charset="0"/>
              </a:rPr>
              <a:t> earlier, irrespective of the fact whether the posts in question are filled by selectionarr otherwise.</a:t>
            </a:r>
            <a:endParaRPr lang="en-IN" dirty="0">
              <a:latin typeface="Century" panose="02040604050505020304" pitchFamily="18" charset="0"/>
            </a:endParaRPr>
          </a:p>
        </p:txBody>
      </p:sp>
    </p:spTree>
    <p:extLst>
      <p:ext uri="{BB962C8B-B14F-4D97-AF65-F5344CB8AC3E}">
        <p14:creationId xmlns:p14="http://schemas.microsoft.com/office/powerpoint/2010/main" val="346977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6835" y="1013794"/>
            <a:ext cx="10601740" cy="4611968"/>
          </a:xfrm>
          <a:prstGeom prst="rect">
            <a:avLst/>
          </a:prstGeom>
        </p:spPr>
        <p:txBody>
          <a:bodyPr wrap="square">
            <a:spAutoFit/>
          </a:bodyPr>
          <a:lstStyle/>
          <a:p>
            <a:pPr>
              <a:lnSpc>
                <a:spcPct val="150000"/>
              </a:lnSpc>
            </a:pPr>
            <a:r>
              <a:rPr lang="en-US" dirty="0"/>
              <a:t>6</a:t>
            </a:r>
            <a:r>
              <a:rPr lang="en-US" dirty="0">
                <a:latin typeface="Century" panose="02040604050505020304" pitchFamily="18" charset="0"/>
              </a:rPr>
              <a:t>. Age </a:t>
            </a:r>
            <a:r>
              <a:rPr lang="en-US" dirty="0" smtClean="0">
                <a:latin typeface="Century" panose="02040604050505020304" pitchFamily="18" charset="0"/>
              </a:rPr>
              <a:t>limit for Appointment </a:t>
            </a:r>
            <a:r>
              <a:rPr lang="en-US" dirty="0">
                <a:latin typeface="Century" panose="02040604050505020304" pitchFamily="18" charset="0"/>
              </a:rPr>
              <a:t>,</a:t>
            </a:r>
            <a:r>
              <a:rPr lang="en-US" dirty="0" smtClean="0">
                <a:latin typeface="Century" panose="02040604050505020304" pitchFamily="18" charset="0"/>
              </a:rPr>
              <a:t>t</a:t>
            </a:r>
          </a:p>
          <a:p>
            <a:pPr>
              <a:lnSpc>
                <a:spcPct val="150000"/>
              </a:lnSpc>
            </a:pPr>
            <a:r>
              <a:rPr lang="en-US" dirty="0" smtClean="0">
                <a:latin typeface="Century" panose="02040604050505020304" pitchFamily="18" charset="0"/>
              </a:rPr>
              <a:t>(</a:t>
            </a:r>
            <a:r>
              <a:rPr lang="en-US" dirty="0">
                <a:latin typeface="Century" panose="02040604050505020304" pitchFamily="18" charset="0"/>
              </a:rPr>
              <a:t>1) Save as other wise provided in the rules of recruitment specially made and applicable to any service or post prescribing higher age limit, every candidate for appointment by direct recruitment must have attained the age of eighteen years and not attained the age of,- ,[(a) (thirty eight years) in the case of a person belonging to any of the Scheduled Castes or Scheduled </a:t>
            </a:r>
            <a:r>
              <a:rPr lang="en-US" dirty="0" err="1">
                <a:latin typeface="Century" panose="02040604050505020304" pitchFamily="18" charset="0"/>
              </a:rPr>
              <a:t>Ti'ibes</a:t>
            </a:r>
            <a:r>
              <a:rPr lang="en-US" dirty="0">
                <a:latin typeface="Century" panose="02040604050505020304" pitchFamily="18" charset="0"/>
              </a:rPr>
              <a:t> or Category-1 of the Backward Classes; </a:t>
            </a:r>
            <a:endParaRPr lang="en-US" dirty="0" smtClean="0">
              <a:latin typeface="Century" panose="02040604050505020304" pitchFamily="18" charset="0"/>
            </a:endParaRPr>
          </a:p>
          <a:p>
            <a:pPr>
              <a:lnSpc>
                <a:spcPct val="150000"/>
              </a:lnSpc>
            </a:pPr>
            <a:r>
              <a:rPr lang="en-US" dirty="0" smtClean="0">
                <a:latin typeface="Century" panose="02040604050505020304" pitchFamily="18" charset="0"/>
              </a:rPr>
              <a:t>(</a:t>
            </a:r>
            <a:r>
              <a:rPr lang="en-US" dirty="0">
                <a:latin typeface="Century" panose="02040604050505020304" pitchFamily="18" charset="0"/>
              </a:rPr>
              <a:t>b) (thirty six years) in the case of a person belonging to any of the category-</a:t>
            </a:r>
            <a:r>
              <a:rPr lang="en-US" dirty="0" err="1">
                <a:latin typeface="Century" panose="02040604050505020304" pitchFamily="18" charset="0"/>
              </a:rPr>
              <a:t>ll</a:t>
            </a:r>
            <a:r>
              <a:rPr lang="en-US" dirty="0">
                <a:latin typeface="Century" panose="02040604050505020304" pitchFamily="18" charset="0"/>
              </a:rPr>
              <a:t>(a) or </a:t>
            </a:r>
            <a:r>
              <a:rPr lang="en-US" dirty="0" err="1">
                <a:latin typeface="Century" panose="02040604050505020304" pitchFamily="18" charset="0"/>
              </a:rPr>
              <a:t>ll</a:t>
            </a:r>
            <a:r>
              <a:rPr lang="en-US" dirty="0">
                <a:latin typeface="Century" panose="02040604050505020304" pitchFamily="18" charset="0"/>
              </a:rPr>
              <a:t>(b), </a:t>
            </a:r>
            <a:r>
              <a:rPr lang="en-US" dirty="0" err="1">
                <a:latin typeface="Century" panose="02040604050505020304" pitchFamily="18" charset="0"/>
              </a:rPr>
              <a:t>lll</a:t>
            </a:r>
            <a:r>
              <a:rPr lang="en-US" dirty="0">
                <a:latin typeface="Century" panose="02040604050505020304" pitchFamily="18" charset="0"/>
              </a:rPr>
              <a:t>(a) or </a:t>
            </a:r>
            <a:r>
              <a:rPr lang="en-US" dirty="0" err="1">
                <a:latin typeface="Century" panose="02040604050505020304" pitchFamily="18" charset="0"/>
              </a:rPr>
              <a:t>lll</a:t>
            </a:r>
            <a:r>
              <a:rPr lang="en-US" dirty="0">
                <a:latin typeface="Century" panose="02040604050505020304" pitchFamily="18" charset="0"/>
              </a:rPr>
              <a:t>(b) of Other Backward Classes; </a:t>
            </a:r>
            <a:r>
              <a:rPr lang="en-US" dirty="0" smtClean="0">
                <a:latin typeface="Century" panose="02040604050505020304" pitchFamily="18" charset="0"/>
              </a:rPr>
              <a:t>and</a:t>
            </a:r>
          </a:p>
          <a:p>
            <a:pPr>
              <a:lnSpc>
                <a:spcPct val="150000"/>
              </a:lnSpc>
            </a:pPr>
            <a:r>
              <a:rPr lang="en-US" dirty="0" smtClean="0">
                <a:latin typeface="Century" panose="02040604050505020304" pitchFamily="18" charset="0"/>
              </a:rPr>
              <a:t> </a:t>
            </a:r>
            <a:r>
              <a:rPr lang="en-US" dirty="0">
                <a:latin typeface="Century" panose="02040604050505020304" pitchFamily="18" charset="0"/>
              </a:rPr>
              <a:t>(c) (thirty three years) in the case of any other person. on the last date fixed for the receipt of applications or on such other date, as may be specified by the appointing </a:t>
            </a:r>
            <a:r>
              <a:rPr lang="en-US" dirty="0" err="1">
                <a:latin typeface="Century" panose="02040604050505020304" pitchFamily="18" charset="0"/>
              </a:rPr>
              <a:t>authority.l</a:t>
            </a:r>
            <a:r>
              <a:rPr lang="en-US" dirty="0">
                <a:latin typeface="Century" panose="02040604050505020304" pitchFamily="18" charset="0"/>
              </a:rPr>
              <a:t> </a:t>
            </a:r>
            <a:endParaRPr lang="en-US" dirty="0" smtClean="0">
              <a:latin typeface="Century" panose="02040604050505020304" pitchFamily="18" charset="0"/>
            </a:endParaRPr>
          </a:p>
          <a:p>
            <a:pPr>
              <a:lnSpc>
                <a:spcPct val="150000"/>
              </a:lnSpc>
            </a:pPr>
            <a:endParaRPr lang="en-IN" dirty="0">
              <a:latin typeface="Century" panose="02040604050505020304" pitchFamily="18" charset="0"/>
            </a:endParaRPr>
          </a:p>
        </p:txBody>
      </p:sp>
    </p:spTree>
    <p:extLst>
      <p:ext uri="{BB962C8B-B14F-4D97-AF65-F5344CB8AC3E}">
        <p14:creationId xmlns:p14="http://schemas.microsoft.com/office/powerpoint/2010/main" val="2705141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2852" y="735499"/>
            <a:ext cx="10999304" cy="4196470"/>
          </a:xfrm>
          <a:prstGeom prst="rect">
            <a:avLst/>
          </a:prstGeom>
        </p:spPr>
        <p:txBody>
          <a:bodyPr wrap="square">
            <a:spAutoFit/>
          </a:bodyPr>
          <a:lstStyle/>
          <a:p>
            <a:pPr>
              <a:lnSpc>
                <a:spcPct val="150000"/>
              </a:lnSpc>
            </a:pPr>
            <a:r>
              <a:rPr lang="en-US" dirty="0">
                <a:latin typeface="Century" panose="02040604050505020304" pitchFamily="18" charset="0"/>
              </a:rPr>
              <a:t>(f) in the case of a candidate who is physically handicapped, by ten years; </a:t>
            </a:r>
            <a:endParaRPr lang="en-US" dirty="0" smtClean="0">
              <a:latin typeface="Century" panose="02040604050505020304" pitchFamily="18" charset="0"/>
            </a:endParaRPr>
          </a:p>
          <a:p>
            <a:pPr>
              <a:lnSpc>
                <a:spcPct val="150000"/>
              </a:lnSpc>
            </a:pPr>
            <a:r>
              <a:rPr lang="en-US" dirty="0" smtClean="0">
                <a:latin typeface="Century" panose="02040604050505020304" pitchFamily="18" charset="0"/>
              </a:rPr>
              <a:t>(</a:t>
            </a:r>
            <a:r>
              <a:rPr lang="en-US" dirty="0">
                <a:latin typeface="Century" panose="02040604050505020304" pitchFamily="18" charset="0"/>
              </a:rPr>
              <a:t>g) in the case of a candidate who is or was a member of the staff of the former Maharaja of Mysore, by the number of years he is or was such a member</a:t>
            </a:r>
            <a:r>
              <a:rPr lang="en-US" dirty="0" smtClean="0">
                <a:latin typeface="Century" panose="02040604050505020304" pitchFamily="18" charset="0"/>
              </a:rPr>
              <a:t>;</a:t>
            </a:r>
          </a:p>
          <a:p>
            <a:pPr>
              <a:lnSpc>
                <a:spcPct val="150000"/>
              </a:lnSpc>
            </a:pPr>
            <a:r>
              <a:rPr lang="en-US" dirty="0" smtClean="0">
                <a:latin typeface="Century" panose="02040604050505020304" pitchFamily="18" charset="0"/>
              </a:rPr>
              <a:t> </a:t>
            </a:r>
            <a:r>
              <a:rPr lang="en-US" dirty="0">
                <a:latin typeface="Century" panose="02040604050505020304" pitchFamily="18" charset="0"/>
              </a:rPr>
              <a:t>(h) in the case of a candidate who is or was holding a post under the Census </a:t>
            </a:r>
            <a:r>
              <a:rPr lang="en-US" dirty="0" err="1">
                <a:latin typeface="Century" panose="02040604050505020304" pitchFamily="18" charset="0"/>
              </a:rPr>
              <a:t>Organisation</a:t>
            </a:r>
            <a:r>
              <a:rPr lang="en-US" dirty="0">
                <a:latin typeface="Century" panose="02040604050505020304" pitchFamily="18" charset="0"/>
              </a:rPr>
              <a:t> of the Government of India in this State, by the number of years during which he is or was holding such post or by five years whichever is less</a:t>
            </a:r>
            <a:r>
              <a:rPr lang="en-US" dirty="0" smtClean="0">
                <a:latin typeface="Century" panose="02040604050505020304" pitchFamily="18" charset="0"/>
              </a:rPr>
              <a:t>;</a:t>
            </a:r>
          </a:p>
          <a:p>
            <a:pPr>
              <a:lnSpc>
                <a:spcPct val="150000"/>
              </a:lnSpc>
            </a:pPr>
            <a:r>
              <a:rPr lang="en-US" dirty="0" smtClean="0">
                <a:latin typeface="Century" panose="02040604050505020304" pitchFamily="18" charset="0"/>
              </a:rPr>
              <a:t> </a:t>
            </a:r>
            <a:r>
              <a:rPr lang="en-US" dirty="0">
                <a:latin typeface="Century" panose="02040604050505020304" pitchFamily="18" charset="0"/>
              </a:rPr>
              <a:t>(</a:t>
            </a:r>
            <a:r>
              <a:rPr lang="en-US" dirty="0" err="1">
                <a:latin typeface="Century" panose="02040604050505020304" pitchFamily="18" charset="0"/>
              </a:rPr>
              <a:t>i</a:t>
            </a:r>
            <a:r>
              <a:rPr lang="en-US" dirty="0">
                <a:latin typeface="Century" panose="02040604050505020304" pitchFamily="18" charset="0"/>
              </a:rPr>
              <a:t>) in </a:t>
            </a:r>
            <a:r>
              <a:rPr lang="en-US" dirty="0" err="1">
                <a:latin typeface="Century" panose="02040604050505020304" pitchFamily="18" charset="0"/>
              </a:rPr>
              <a:t>ti:e</a:t>
            </a:r>
            <a:r>
              <a:rPr lang="en-US" dirty="0">
                <a:latin typeface="Century" panose="02040604050505020304" pitchFamily="18" charset="0"/>
              </a:rPr>
              <a:t> case of a candidate who is a widow, by </a:t>
            </a:r>
            <a:r>
              <a:rPr lang="en-US" dirty="0" err="1">
                <a:latin typeface="Century" panose="02040604050505020304" pitchFamily="18" charset="0"/>
              </a:rPr>
              <a:t>te</a:t>
            </a:r>
            <a:r>
              <a:rPr lang="en-US" dirty="0">
                <a:latin typeface="Century" panose="02040604050505020304" pitchFamily="18" charset="0"/>
              </a:rPr>
              <a:t> t years; 1 [Explanation :- Omitted</a:t>
            </a:r>
            <a:r>
              <a:rPr lang="en-US" dirty="0" smtClean="0">
                <a:latin typeface="Century" panose="02040604050505020304" pitchFamily="18" charset="0"/>
              </a:rPr>
              <a:t>.</a:t>
            </a:r>
          </a:p>
          <a:p>
            <a:pPr>
              <a:lnSpc>
                <a:spcPct val="150000"/>
              </a:lnSpc>
            </a:pPr>
            <a:r>
              <a:rPr lang="en-US" dirty="0" smtClean="0">
                <a:latin typeface="Century" panose="02040604050505020304" pitchFamily="18" charset="0"/>
              </a:rPr>
              <a:t> </a:t>
            </a:r>
            <a:r>
              <a:rPr lang="en-US" dirty="0">
                <a:latin typeface="Century" panose="02040604050505020304" pitchFamily="18" charset="0"/>
              </a:rPr>
              <a:t>'[0) in the case of a candidate who is bonded </a:t>
            </a:r>
            <a:r>
              <a:rPr lang="en-US" dirty="0" err="1">
                <a:latin typeface="Century" panose="02040604050505020304" pitchFamily="18" charset="0"/>
              </a:rPr>
              <a:t>labourer</a:t>
            </a:r>
            <a:r>
              <a:rPr lang="en-US" dirty="0">
                <a:latin typeface="Century" panose="02040604050505020304" pitchFamily="18" charset="0"/>
              </a:rPr>
              <a:t>, by ten years </a:t>
            </a:r>
            <a:endParaRPr lang="en-US" dirty="0" smtClean="0">
              <a:latin typeface="Century" panose="02040604050505020304" pitchFamily="18" charset="0"/>
            </a:endParaRPr>
          </a:p>
          <a:p>
            <a:pPr>
              <a:lnSpc>
                <a:spcPct val="150000"/>
              </a:lnSpc>
            </a:pPr>
            <a:r>
              <a:rPr lang="en-US" dirty="0" smtClean="0">
                <a:latin typeface="Century" panose="02040604050505020304" pitchFamily="18" charset="0"/>
              </a:rPr>
              <a:t>(</a:t>
            </a:r>
            <a:r>
              <a:rPr lang="en-US" dirty="0">
                <a:latin typeface="Century" panose="02040604050505020304" pitchFamily="18" charset="0"/>
              </a:rPr>
              <a:t>k) in the case of a candidate for appointment to a Group B, Group C or Group D post in the office of the Resident Commissioner, New Delhi and the Karnataka </a:t>
            </a:r>
            <a:r>
              <a:rPr lang="en-US" dirty="0" err="1">
                <a:latin typeface="Century" panose="02040604050505020304" pitchFamily="18" charset="0"/>
              </a:rPr>
              <a:t>Bhavan</a:t>
            </a:r>
            <a:r>
              <a:rPr lang="en-US" dirty="0">
                <a:latin typeface="Century" panose="02040604050505020304" pitchFamily="18" charset="0"/>
              </a:rPr>
              <a:t>, by eight years.</a:t>
            </a:r>
            <a:endParaRPr lang="en-IN" dirty="0">
              <a:latin typeface="Century" panose="02040604050505020304" pitchFamily="18" charset="0"/>
            </a:endParaRPr>
          </a:p>
        </p:txBody>
      </p:sp>
    </p:spTree>
    <p:extLst>
      <p:ext uri="{BB962C8B-B14F-4D97-AF65-F5344CB8AC3E}">
        <p14:creationId xmlns:p14="http://schemas.microsoft.com/office/powerpoint/2010/main" val="191898206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1524</TotalTime>
  <Words>1206</Words>
  <Application>Microsoft Office PowerPoint</Application>
  <PresentationFormat>Widescreen</PresentationFormat>
  <Paragraphs>49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Century</vt:lpstr>
      <vt:lpstr>Trebuchet MS</vt:lpstr>
      <vt:lpstr>Wingdings 3</vt:lpstr>
      <vt:lpstr>Facet</vt:lpstr>
      <vt:lpstr>KARNATAKA CIVIL SERVICES (GENERAL RECRUITMENT) RULES, 1977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KARNATAKA CIVIL SERVICES (GENERAL RECRUITMENT) RULES, 1977</dc:title>
  <dc:creator>DELL</dc:creator>
  <cp:lastModifiedBy>DELL</cp:lastModifiedBy>
  <cp:revision>9</cp:revision>
  <dcterms:created xsi:type="dcterms:W3CDTF">2022-12-13T05:41:25Z</dcterms:created>
  <dcterms:modified xsi:type="dcterms:W3CDTF">2022-12-15T08:07:29Z</dcterms:modified>
</cp:coreProperties>
</file>