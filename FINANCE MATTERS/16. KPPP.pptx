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84" r:id="rId3"/>
    <p:sldId id="257" r:id="rId4"/>
    <p:sldId id="258" r:id="rId5"/>
    <p:sldId id="259" r:id="rId6"/>
    <p:sldId id="260" r:id="rId7"/>
    <p:sldId id="285" r:id="rId8"/>
    <p:sldId id="287" r:id="rId9"/>
    <p:sldId id="288" r:id="rId10"/>
    <p:sldId id="289" r:id="rId11"/>
    <p:sldId id="290" r:id="rId12"/>
    <p:sldId id="261" r:id="rId13"/>
    <p:sldId id="262" r:id="rId14"/>
    <p:sldId id="265" r:id="rId15"/>
    <p:sldId id="266" r:id="rId16"/>
    <p:sldId id="267" r:id="rId17"/>
    <p:sldId id="268" r:id="rId18"/>
    <p:sldId id="269" r:id="rId19"/>
    <p:sldId id="270" r:id="rId20"/>
    <p:sldId id="272" r:id="rId21"/>
    <p:sldId id="273" r:id="rId22"/>
    <p:sldId id="274" r:id="rId23"/>
    <p:sldId id="275" r:id="rId24"/>
    <p:sldId id="278" r:id="rId25"/>
    <p:sldId id="283"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ounded Rectangle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smtClean="0"/>
              <a:t>Click to edit Master title style</a:t>
            </a:r>
            <a:endParaRPr kumimoji="0" lang="en-US"/>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9" name="Date Placeholder 18"/>
          <p:cNvSpPr>
            <a:spLocks noGrp="1"/>
          </p:cNvSpPr>
          <p:nvPr>
            <p:ph type="dt" sz="half" idx="10"/>
          </p:nvPr>
        </p:nvSpPr>
        <p:spPr/>
        <p:txBody>
          <a:bodyPr/>
          <a:lstStyle>
            <a:extLst/>
          </a:lstStyle>
          <a:p>
            <a:fld id="{1D8BD707-D9CF-40AE-B4C6-C98DA3205C09}" type="datetimeFigureOut">
              <a:rPr lang="en-US" smtClean="0"/>
              <a:pPr/>
              <a:t>7/20/2026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11" name="Slide Number Placeholder 10"/>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a:xfrm>
            <a:off x="502920" y="530352"/>
            <a:ext cx="8183880" cy="4187952"/>
          </a:xfrm>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7/20/2026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ed Rectangle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7/20/2026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7/20/2026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7/20/2026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7/20/2026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7/20/2026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7/20/2026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 Single Corner Rectangle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7/20/2026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smtClean="0"/>
              <a:t>Click icon to add picture</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02920" y="530352"/>
            <a:ext cx="8183880" cy="4187952"/>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7/20/2026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33400" y="533402"/>
            <a:ext cx="5943600" cy="525780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7/20/2026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extLst/>
          </a:lstStyle>
          <a:p>
            <a:r>
              <a:rPr kumimoji="0" lang="en-US" smtClean="0"/>
              <a:t>Click to edit Master title style</a:t>
            </a:r>
            <a:endParaRPr kumimoji="0" lang="en-US"/>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5" name="Date Placeholder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1D8BD707-D9CF-40AE-B4C6-C98DA3205C09}" type="datetimeFigureOut">
              <a:rPr lang="en-US" smtClean="0"/>
              <a:pPr/>
              <a:t>7/20/2026</a:t>
            </a:fld>
            <a:endParaRPr lang="en-US"/>
          </a:p>
        </p:txBody>
      </p:sp>
      <p:sp>
        <p:nvSpPr>
          <p:cNvPr id="18" name="Footer Placeholder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US"/>
          </a:p>
        </p:txBody>
      </p:sp>
      <p:sp>
        <p:nvSpPr>
          <p:cNvPr id="5" name="Slide Number Placeholder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14400"/>
            <a:ext cx="7772400" cy="2133600"/>
          </a:xfrm>
        </p:spPr>
        <p:txBody>
          <a:bodyPr>
            <a:normAutofit fontScale="90000"/>
          </a:bodyPr>
          <a:lstStyle/>
          <a:p>
            <a:pPr algn="ctr"/>
            <a:r>
              <a:rPr lang="en-US" b="1" dirty="0" smtClean="0"/>
              <a:t/>
            </a:r>
            <a:br>
              <a:rPr lang="en-US" b="1" dirty="0" smtClean="0"/>
            </a:br>
            <a:r>
              <a:rPr lang="en-US" b="1" dirty="0" err="1" smtClean="0"/>
              <a:t>ಕರ್ನಾಟಕ</a:t>
            </a:r>
            <a:r>
              <a:rPr lang="en-US" b="1" dirty="0" smtClean="0"/>
              <a:t> </a:t>
            </a:r>
            <a:r>
              <a:rPr lang="en-US" b="1" dirty="0" err="1" smtClean="0"/>
              <a:t>ಸಾರ್ವಜನಿಕ</a:t>
            </a:r>
            <a:r>
              <a:rPr lang="en-US" b="1" dirty="0" smtClean="0"/>
              <a:t> </a:t>
            </a:r>
            <a:r>
              <a:rPr lang="en-US" b="1" dirty="0" err="1" smtClean="0"/>
              <a:t>ಸಂಗ್ರಹಣೆಯಲ್ಲಿ</a:t>
            </a:r>
            <a:r>
              <a:rPr lang="en-US" b="1" dirty="0" smtClean="0"/>
              <a:t> </a:t>
            </a:r>
            <a:r>
              <a:rPr lang="en-US" b="1" dirty="0" err="1" smtClean="0"/>
              <a:t>ಪಾರದರ್ಶಕತೆ</a:t>
            </a:r>
            <a:r>
              <a:rPr lang="en-US" b="1" dirty="0" smtClean="0"/>
              <a:t> </a:t>
            </a:r>
            <a:r>
              <a:rPr lang="en-US" b="1" dirty="0" smtClean="0"/>
              <a:t>ಅಧಿನಿಯಮ-1999</a:t>
            </a:r>
            <a:endParaRPr lang="en-US" b="1" dirty="0"/>
          </a:p>
        </p:txBody>
      </p:sp>
      <p:sp>
        <p:nvSpPr>
          <p:cNvPr id="3" name="Subtitle 2"/>
          <p:cNvSpPr>
            <a:spLocks noGrp="1"/>
          </p:cNvSpPr>
          <p:nvPr>
            <p:ph type="subTitle" idx="1"/>
          </p:nvPr>
        </p:nvSpPr>
        <p:spPr>
          <a:xfrm>
            <a:off x="762000" y="3962400"/>
            <a:ext cx="7772400" cy="914400"/>
          </a:xfrm>
        </p:spPr>
        <p:txBody>
          <a:bodyPr>
            <a:normAutofit/>
          </a:bodyPr>
          <a:lstStyle/>
          <a:p>
            <a:pPr algn="r"/>
            <a:r>
              <a:rPr lang="en-US" sz="2400" dirty="0" err="1" smtClean="0">
                <a:solidFill>
                  <a:schemeClr val="tx1"/>
                </a:solidFill>
              </a:rPr>
              <a:t>ಅಧಿನಿಯಮ</a:t>
            </a:r>
            <a:r>
              <a:rPr lang="en-US" sz="2400" dirty="0" smtClean="0">
                <a:solidFill>
                  <a:schemeClr val="tx1"/>
                </a:solidFill>
              </a:rPr>
              <a:t> </a:t>
            </a:r>
            <a:r>
              <a:rPr lang="en-US" sz="2400" dirty="0" err="1" smtClean="0">
                <a:solidFill>
                  <a:schemeClr val="tx1"/>
                </a:solidFill>
              </a:rPr>
              <a:t>ಜಾರಿಗೆ</a:t>
            </a:r>
            <a:r>
              <a:rPr lang="en-US" sz="2400" dirty="0" smtClean="0">
                <a:solidFill>
                  <a:schemeClr val="tx1"/>
                </a:solidFill>
              </a:rPr>
              <a:t> </a:t>
            </a:r>
            <a:r>
              <a:rPr lang="en-US" sz="2400" dirty="0" err="1" smtClean="0">
                <a:solidFill>
                  <a:schemeClr val="tx1"/>
                </a:solidFill>
              </a:rPr>
              <a:t>ಬಂದ</a:t>
            </a:r>
            <a:r>
              <a:rPr lang="en-US" sz="2400" dirty="0" smtClean="0">
                <a:solidFill>
                  <a:schemeClr val="tx1"/>
                </a:solidFill>
              </a:rPr>
              <a:t> ದಿನಾಂಕ:04.10.2000.</a:t>
            </a:r>
          </a:p>
          <a:p>
            <a:pPr algn="r"/>
            <a:r>
              <a:rPr lang="en-US" sz="2400" dirty="0" err="1" smtClean="0">
                <a:solidFill>
                  <a:schemeClr val="tx1"/>
                </a:solidFill>
              </a:rPr>
              <a:t>ನಿಯಮ</a:t>
            </a:r>
            <a:r>
              <a:rPr lang="en-US" sz="2400" dirty="0" smtClean="0">
                <a:solidFill>
                  <a:schemeClr val="tx1"/>
                </a:solidFill>
              </a:rPr>
              <a:t> </a:t>
            </a:r>
            <a:r>
              <a:rPr lang="en-US" sz="2400" dirty="0" err="1" smtClean="0">
                <a:solidFill>
                  <a:schemeClr val="tx1"/>
                </a:solidFill>
              </a:rPr>
              <a:t>ಜಾರಿಗೆ</a:t>
            </a:r>
            <a:r>
              <a:rPr lang="en-US" sz="2400" dirty="0" smtClean="0">
                <a:solidFill>
                  <a:schemeClr val="tx1"/>
                </a:solidFill>
              </a:rPr>
              <a:t> </a:t>
            </a:r>
            <a:r>
              <a:rPr lang="en-US" sz="2400" dirty="0" err="1" smtClean="0">
                <a:solidFill>
                  <a:schemeClr val="tx1"/>
                </a:solidFill>
              </a:rPr>
              <a:t>ಬಂದ</a:t>
            </a:r>
            <a:r>
              <a:rPr lang="en-US" sz="2400" dirty="0" smtClean="0">
                <a:solidFill>
                  <a:schemeClr val="tx1"/>
                </a:solidFill>
              </a:rPr>
              <a:t> ದಿನಾಂಕ:24.10.2000</a:t>
            </a:r>
            <a:r>
              <a:rPr lang="en-US" sz="2400" dirty="0" smtClean="0"/>
              <a:t>.</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183880" cy="3127248"/>
          </a:xfrm>
        </p:spPr>
        <p:txBody>
          <a:bodyPr>
            <a:noAutofit/>
          </a:bodyPr>
          <a:lstStyle/>
          <a:p>
            <a:pPr algn="just"/>
            <a:r>
              <a:rPr lang="en-US" sz="3600" dirty="0" smtClean="0">
                <a:latin typeface="Centaur" pitchFamily="18" charset="0"/>
              </a:rPr>
              <a:t>An Act to Provide for Ensuring transparency   in public procurement of goods and services by streamlining the procedure in inviting, processing and acceptance of tenders by procurement entities, and for matters related thereto.</a:t>
            </a:r>
            <a:endParaRPr lang="en-US" sz="3600" dirty="0">
              <a:latin typeface="Centaur"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7772400" cy="914400"/>
          </a:xfrm>
        </p:spPr>
        <p:txBody>
          <a:bodyPr>
            <a:normAutofit/>
          </a:bodyPr>
          <a:lstStyle/>
          <a:p>
            <a:pPr algn="r"/>
            <a:r>
              <a:rPr lang="en-US" sz="4000" b="1" u="sng" dirty="0" err="1" smtClean="0">
                <a:effectLst>
                  <a:outerShdw blurRad="38100" dist="38100" dir="2700000" algn="tl">
                    <a:srgbClr val="000000">
                      <a:alpha val="43137"/>
                    </a:srgbClr>
                  </a:outerShdw>
                </a:effectLst>
              </a:rPr>
              <a:t>ವ್ಯಾಪ್ತಿಗೆ</a:t>
            </a:r>
            <a:r>
              <a:rPr lang="en-US" sz="4000" b="1" u="sng" dirty="0" smtClean="0">
                <a:effectLst>
                  <a:outerShdw blurRad="38100" dist="38100" dir="2700000" algn="tl">
                    <a:srgbClr val="000000">
                      <a:alpha val="43137"/>
                    </a:srgbClr>
                  </a:outerShdw>
                </a:effectLst>
              </a:rPr>
              <a:t> </a:t>
            </a:r>
            <a:r>
              <a:rPr lang="en-US" sz="4000" b="1" u="sng" dirty="0" err="1" smtClean="0">
                <a:effectLst>
                  <a:outerShdw blurRad="38100" dist="38100" dir="2700000" algn="tl">
                    <a:srgbClr val="000000">
                      <a:alpha val="43137"/>
                    </a:srgbClr>
                  </a:outerShdw>
                </a:effectLst>
              </a:rPr>
              <a:t>ಒಳಪಡುವ</a:t>
            </a:r>
            <a:r>
              <a:rPr lang="en-US" sz="4000" b="1" u="sng" dirty="0" smtClean="0">
                <a:effectLst>
                  <a:outerShdw blurRad="38100" dist="38100" dir="2700000" algn="tl">
                    <a:srgbClr val="000000">
                      <a:alpha val="43137"/>
                    </a:srgbClr>
                  </a:outerShdw>
                </a:effectLst>
              </a:rPr>
              <a:t> </a:t>
            </a:r>
            <a:r>
              <a:rPr lang="en-US" sz="4000" b="1" u="sng" dirty="0" err="1" smtClean="0">
                <a:effectLst>
                  <a:outerShdw blurRad="38100" dist="38100" dir="2700000" algn="tl">
                    <a:srgbClr val="000000">
                      <a:alpha val="43137"/>
                    </a:srgbClr>
                  </a:outerShdw>
                </a:effectLst>
              </a:rPr>
              <a:t>ಸಂಸ್ಥೆಗಳು</a:t>
            </a:r>
            <a:r>
              <a:rPr lang="en-US" sz="4000" b="1" u="sng" dirty="0" smtClean="0">
                <a:effectLst>
                  <a:outerShdw blurRad="38100" dist="38100" dir="2700000" algn="tl">
                    <a:srgbClr val="000000">
                      <a:alpha val="43137"/>
                    </a:srgbClr>
                  </a:outerShdw>
                </a:effectLst>
              </a:rPr>
              <a:t>.</a:t>
            </a:r>
            <a:endParaRPr lang="en-US" sz="4000" b="1" u="sng"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01752" y="1905000"/>
            <a:ext cx="8503920" cy="2667000"/>
          </a:xfrm>
        </p:spPr>
        <p:txBody>
          <a:bodyPr/>
          <a:lstStyle/>
          <a:p>
            <a:r>
              <a:rPr lang="en-US" dirty="0" err="1" smtClean="0"/>
              <a:t>ಎಲ್ಲಾ</a:t>
            </a:r>
            <a:r>
              <a:rPr lang="en-US" dirty="0" smtClean="0"/>
              <a:t> </a:t>
            </a:r>
            <a:r>
              <a:rPr lang="en-US" dirty="0" err="1" smtClean="0"/>
              <a:t>ರಾಜ್ಯ</a:t>
            </a:r>
            <a:r>
              <a:rPr lang="en-US" dirty="0" smtClean="0"/>
              <a:t> </a:t>
            </a:r>
            <a:r>
              <a:rPr lang="en-US" dirty="0" err="1" smtClean="0"/>
              <a:t>ಸರ್ಕಾರಿ</a:t>
            </a:r>
            <a:r>
              <a:rPr lang="en-US" dirty="0" smtClean="0"/>
              <a:t> </a:t>
            </a:r>
            <a:r>
              <a:rPr lang="en-US" dirty="0" err="1" smtClean="0"/>
              <a:t>ಕಛೇರಿಗಳು</a:t>
            </a:r>
            <a:r>
              <a:rPr lang="en-US" dirty="0" smtClean="0"/>
              <a:t>.</a:t>
            </a:r>
          </a:p>
          <a:p>
            <a:r>
              <a:rPr lang="en-US" dirty="0" err="1" smtClean="0"/>
              <a:t>ಎಲ್ಲಾ</a:t>
            </a:r>
            <a:r>
              <a:rPr lang="en-US" dirty="0" smtClean="0"/>
              <a:t> </a:t>
            </a:r>
            <a:r>
              <a:rPr lang="en-US" dirty="0" err="1" smtClean="0"/>
              <a:t>ಸರ್ಕಾರಿ</a:t>
            </a:r>
            <a:r>
              <a:rPr lang="en-US" dirty="0" smtClean="0"/>
              <a:t> </a:t>
            </a:r>
            <a:r>
              <a:rPr lang="en-US" dirty="0" err="1" smtClean="0"/>
              <a:t>ಉದ್ಯಮಗಳು</a:t>
            </a:r>
            <a:r>
              <a:rPr lang="en-US" dirty="0" smtClean="0"/>
              <a:t>.</a:t>
            </a:r>
          </a:p>
          <a:p>
            <a:r>
              <a:rPr lang="en-US" dirty="0" err="1" smtClean="0"/>
              <a:t>ಎಲ್ಲಾ</a:t>
            </a:r>
            <a:r>
              <a:rPr lang="en-US" dirty="0" smtClean="0"/>
              <a:t> </a:t>
            </a:r>
            <a:r>
              <a:rPr lang="en-US" dirty="0" err="1" smtClean="0"/>
              <a:t>ಸ್ಥಳೀಯ</a:t>
            </a:r>
            <a:r>
              <a:rPr lang="en-US" dirty="0" smtClean="0"/>
              <a:t> </a:t>
            </a:r>
            <a:r>
              <a:rPr lang="en-US" dirty="0" err="1" smtClean="0"/>
              <a:t>ಸಂಸ್ಥೆಗಳು</a:t>
            </a:r>
            <a:r>
              <a:rPr lang="en-US" dirty="0" smtClean="0"/>
              <a:t>.</a:t>
            </a:r>
          </a:p>
          <a:p>
            <a:r>
              <a:rPr lang="en-US" dirty="0" err="1" smtClean="0"/>
              <a:t>ಸರ್ಕಾರದ</a:t>
            </a:r>
            <a:r>
              <a:rPr lang="en-US" dirty="0" smtClean="0"/>
              <a:t> </a:t>
            </a:r>
            <a:r>
              <a:rPr lang="en-US" dirty="0" err="1" smtClean="0"/>
              <a:t>ನಿಯಂತ್ರಣಗೊಳಪಡುವ</a:t>
            </a:r>
            <a:r>
              <a:rPr lang="en-US" dirty="0" smtClean="0"/>
              <a:t> </a:t>
            </a:r>
            <a:r>
              <a:rPr lang="en-US" dirty="0" err="1" smtClean="0"/>
              <a:t>ಎಲ್ಲಾ</a:t>
            </a:r>
            <a:r>
              <a:rPr lang="en-US" dirty="0" smtClean="0"/>
              <a:t> </a:t>
            </a:r>
            <a:r>
              <a:rPr lang="en-US" dirty="0" err="1" smtClean="0"/>
              <a:t>ನಿಗಮಗಳು</a:t>
            </a:r>
            <a:r>
              <a:rPr lang="en-US" dirty="0" smtClean="0"/>
              <a:t>.</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3813048"/>
          </a:xfrm>
        </p:spPr>
        <p:txBody>
          <a:bodyPr>
            <a:normAutofit/>
          </a:bodyPr>
          <a:lstStyle/>
          <a:p>
            <a:pPr algn="ctr">
              <a:buNone/>
            </a:pPr>
            <a:r>
              <a:rPr lang="en-US" sz="4000" b="1" dirty="0" err="1" smtClean="0">
                <a:solidFill>
                  <a:schemeClr val="accent1"/>
                </a:solidFill>
                <a:effectLst>
                  <a:outerShdw blurRad="38100" dist="38100" dir="2700000" algn="tl">
                    <a:srgbClr val="000000">
                      <a:alpha val="43137"/>
                    </a:srgbClr>
                  </a:outerShdw>
                </a:effectLst>
              </a:rPr>
              <a:t>ಒಳಪಡುವ</a:t>
            </a:r>
            <a:r>
              <a:rPr lang="en-US" sz="4000" b="1" dirty="0" smtClean="0">
                <a:solidFill>
                  <a:schemeClr val="accent1"/>
                </a:solidFill>
                <a:effectLst>
                  <a:outerShdw blurRad="38100" dist="38100" dir="2700000" algn="tl">
                    <a:srgbClr val="000000">
                      <a:alpha val="43137"/>
                    </a:srgbClr>
                  </a:outerShdw>
                </a:effectLst>
              </a:rPr>
              <a:t> </a:t>
            </a:r>
            <a:r>
              <a:rPr lang="en-US" sz="4000" b="1" dirty="0" err="1" smtClean="0">
                <a:solidFill>
                  <a:schemeClr val="accent1"/>
                </a:solidFill>
                <a:effectLst>
                  <a:outerShdw blurRad="38100" dist="38100" dir="2700000" algn="tl">
                    <a:srgbClr val="000000">
                      <a:alpha val="43137"/>
                    </a:srgbClr>
                  </a:outerShdw>
                </a:effectLst>
              </a:rPr>
              <a:t>ವ್ಯವಹಾರಗಳು</a:t>
            </a:r>
            <a:r>
              <a:rPr lang="en-US" sz="4000" b="1" dirty="0" smtClean="0">
                <a:solidFill>
                  <a:schemeClr val="accent1"/>
                </a:solidFill>
                <a:effectLst>
                  <a:outerShdw blurRad="38100" dist="38100" dir="2700000" algn="tl">
                    <a:srgbClr val="000000">
                      <a:alpha val="43137"/>
                    </a:srgbClr>
                  </a:outerShdw>
                </a:effectLst>
              </a:rPr>
              <a:t>.</a:t>
            </a:r>
          </a:p>
          <a:p>
            <a:pPr>
              <a:buNone/>
            </a:pPr>
            <a:endParaRPr lang="en-US" sz="4000" dirty="0" smtClean="0">
              <a:solidFill>
                <a:schemeClr val="accent1"/>
              </a:solidFill>
            </a:endParaRPr>
          </a:p>
          <a:p>
            <a:r>
              <a:rPr lang="en-US" sz="3200" dirty="0" err="1" smtClean="0"/>
              <a:t>ಎಲ್ಲಾ</a:t>
            </a:r>
            <a:r>
              <a:rPr lang="en-US" sz="3200" dirty="0" smtClean="0"/>
              <a:t> </a:t>
            </a:r>
            <a:r>
              <a:rPr lang="en-US" sz="3200" dirty="0" err="1" smtClean="0"/>
              <a:t>ವಿಧಧ</a:t>
            </a:r>
            <a:r>
              <a:rPr lang="en-US" sz="3200" dirty="0" smtClean="0"/>
              <a:t> </a:t>
            </a:r>
            <a:r>
              <a:rPr lang="en-US" sz="3200" dirty="0" err="1" smtClean="0"/>
              <a:t>ಕಾಮಗಾರಿಗಳು</a:t>
            </a:r>
            <a:r>
              <a:rPr lang="en-US" sz="3200" dirty="0" smtClean="0"/>
              <a:t>,</a:t>
            </a:r>
          </a:p>
          <a:p>
            <a:r>
              <a:rPr lang="en-US" sz="3200" dirty="0" err="1" smtClean="0"/>
              <a:t>ಸರಕು</a:t>
            </a:r>
            <a:r>
              <a:rPr lang="en-US" sz="3200" dirty="0" smtClean="0"/>
              <a:t> </a:t>
            </a:r>
            <a:r>
              <a:rPr lang="en-US" sz="3200" dirty="0" err="1" smtClean="0"/>
              <a:t>ಹಾಗೂ</a:t>
            </a:r>
            <a:r>
              <a:rPr lang="en-US" sz="3200" dirty="0" smtClean="0"/>
              <a:t> </a:t>
            </a:r>
            <a:r>
              <a:rPr lang="en-US" sz="3200" dirty="0" err="1" smtClean="0"/>
              <a:t>ಸೇವೆಗಳನ್ನು</a:t>
            </a:r>
            <a:r>
              <a:rPr lang="en-US" sz="3200" dirty="0" smtClean="0"/>
              <a:t> </a:t>
            </a:r>
            <a:r>
              <a:rPr lang="en-US" sz="3200" dirty="0" err="1" smtClean="0"/>
              <a:t>ಒದಗಿಸುವುದು</a:t>
            </a:r>
            <a:r>
              <a:rPr lang="en-US" sz="3200" dirty="0" smtClean="0"/>
              <a:t>.</a:t>
            </a:r>
          </a:p>
          <a:p>
            <a:r>
              <a:rPr lang="en-US" sz="3200" dirty="0" err="1" smtClean="0"/>
              <a:t>ಸಮಾಲೋಚನಾ</a:t>
            </a:r>
            <a:r>
              <a:rPr lang="en-US" sz="3200" dirty="0" smtClean="0"/>
              <a:t> </a:t>
            </a:r>
            <a:r>
              <a:rPr lang="en-US" sz="3200" dirty="0" err="1" smtClean="0"/>
              <a:t>ಸೇವೆಗಳು</a:t>
            </a:r>
            <a:r>
              <a:rPr lang="en-US" sz="3200" dirty="0" smtClean="0"/>
              <a:t>.</a:t>
            </a:r>
            <a:endParaRPr lang="en-US" sz="3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89448"/>
          </a:xfrm>
        </p:spPr>
        <p:txBody>
          <a:bodyPr>
            <a:normAutofit/>
          </a:bodyPr>
          <a:lstStyle/>
          <a:p>
            <a:pPr algn="ctr">
              <a:buNone/>
            </a:pPr>
            <a:r>
              <a:rPr lang="en-US" sz="4000" b="1" dirty="0" err="1" smtClean="0">
                <a:solidFill>
                  <a:schemeClr val="accent1"/>
                </a:solidFill>
                <a:effectLst>
                  <a:outerShdw blurRad="38100" dist="38100" dir="2700000" algn="tl">
                    <a:srgbClr val="000000">
                      <a:alpha val="43137"/>
                    </a:srgbClr>
                  </a:outerShdw>
                </a:effectLst>
              </a:rPr>
              <a:t>ಕಾಮಗಾರಿಗಳು</a:t>
            </a:r>
            <a:r>
              <a:rPr lang="en-US" sz="4000" b="1" dirty="0" smtClean="0">
                <a:solidFill>
                  <a:schemeClr val="accent1"/>
                </a:solidFill>
                <a:effectLst>
                  <a:outerShdw blurRad="38100" dist="38100" dir="2700000" algn="tl">
                    <a:srgbClr val="000000">
                      <a:alpha val="43137"/>
                    </a:srgbClr>
                  </a:outerShdw>
                </a:effectLst>
              </a:rPr>
              <a:t>.</a:t>
            </a:r>
          </a:p>
          <a:p>
            <a:pPr>
              <a:buNone/>
            </a:pPr>
            <a:endParaRPr lang="en-US" sz="3600" dirty="0" smtClean="0">
              <a:solidFill>
                <a:schemeClr val="accent1"/>
              </a:solidFill>
            </a:endParaRPr>
          </a:p>
          <a:p>
            <a:r>
              <a:rPr lang="en-US" dirty="0" err="1" smtClean="0"/>
              <a:t>ಸಿವಿಲ್</a:t>
            </a:r>
            <a:r>
              <a:rPr lang="en-US" dirty="0" smtClean="0"/>
              <a:t> </a:t>
            </a:r>
            <a:r>
              <a:rPr lang="en-US" dirty="0" err="1" smtClean="0"/>
              <a:t>ಕಾಮಗಾರಿಗಳು</a:t>
            </a:r>
            <a:r>
              <a:rPr lang="en-US" dirty="0" smtClean="0"/>
              <a:t>, </a:t>
            </a:r>
          </a:p>
          <a:p>
            <a:r>
              <a:rPr lang="en-US" dirty="0" err="1" smtClean="0"/>
              <a:t>ಕಟ್ಟಡಗಳ</a:t>
            </a:r>
            <a:r>
              <a:rPr lang="en-US" dirty="0" smtClean="0"/>
              <a:t> </a:t>
            </a:r>
            <a:r>
              <a:rPr lang="en-US" dirty="0" err="1" smtClean="0"/>
              <a:t>ನಿರ್ಮಾಣ</a:t>
            </a:r>
            <a:r>
              <a:rPr lang="en-US" dirty="0" smtClean="0"/>
              <a:t>, </a:t>
            </a:r>
          </a:p>
          <a:p>
            <a:r>
              <a:rPr lang="en-US" dirty="0" err="1" smtClean="0"/>
              <a:t>ರಸ್ತೆ</a:t>
            </a:r>
            <a:r>
              <a:rPr lang="en-US" dirty="0" smtClean="0"/>
              <a:t> </a:t>
            </a:r>
            <a:r>
              <a:rPr lang="en-US" dirty="0" err="1" smtClean="0"/>
              <a:t>ನಿರ್ಮಾಣ</a:t>
            </a:r>
            <a:r>
              <a:rPr lang="en-US" dirty="0" smtClean="0"/>
              <a:t>, </a:t>
            </a:r>
          </a:p>
          <a:p>
            <a:r>
              <a:rPr lang="en-US" dirty="0" err="1" smtClean="0"/>
              <a:t>ಸೇತುವೆಗಳ</a:t>
            </a:r>
            <a:r>
              <a:rPr lang="en-US" dirty="0" smtClean="0"/>
              <a:t> </a:t>
            </a:r>
            <a:r>
              <a:rPr lang="en-US" dirty="0" err="1" smtClean="0"/>
              <a:t>ನಿರ್ಮಾಣ</a:t>
            </a:r>
            <a:r>
              <a:rPr lang="en-US" dirty="0" smtClean="0"/>
              <a:t>, </a:t>
            </a:r>
          </a:p>
          <a:p>
            <a:r>
              <a:rPr lang="en-US" dirty="0" err="1" smtClean="0"/>
              <a:t>ವಿವಿಧ</a:t>
            </a:r>
            <a:r>
              <a:rPr lang="en-US" dirty="0" smtClean="0"/>
              <a:t> </a:t>
            </a:r>
            <a:r>
              <a:rPr lang="en-US" dirty="0" err="1" smtClean="0"/>
              <a:t>ದುರಸ್ತಿಗಳು</a:t>
            </a:r>
            <a:r>
              <a:rPr lang="en-US" dirty="0" smtClean="0"/>
              <a:t>, </a:t>
            </a:r>
          </a:p>
          <a:p>
            <a:r>
              <a:rPr lang="en-US" dirty="0" err="1" smtClean="0"/>
              <a:t>ವಿವಿಧ</a:t>
            </a:r>
            <a:r>
              <a:rPr lang="en-US" dirty="0" smtClean="0"/>
              <a:t> </a:t>
            </a:r>
            <a:r>
              <a:rPr lang="en-US" dirty="0" err="1" smtClean="0"/>
              <a:t>ರೀತಿಯ</a:t>
            </a:r>
            <a:r>
              <a:rPr lang="en-US" dirty="0" smtClean="0"/>
              <a:t> </a:t>
            </a:r>
            <a:r>
              <a:rPr lang="en-US" dirty="0" err="1" smtClean="0"/>
              <a:t>ಜೀರ್ಣೋಧ್ದಾರ</a:t>
            </a:r>
            <a:r>
              <a:rPr lang="en-US" dirty="0" smtClean="0"/>
              <a:t> </a:t>
            </a:r>
            <a:r>
              <a:rPr lang="en-US" dirty="0" err="1" smtClean="0"/>
              <a:t>ಕೆಲಸಗಳು</a:t>
            </a:r>
            <a:r>
              <a:rPr lang="en-US" dirty="0" smtClean="0"/>
              <a:t>, </a:t>
            </a:r>
          </a:p>
          <a:p>
            <a:r>
              <a:rPr lang="en-US" dirty="0" err="1" smtClean="0"/>
              <a:t>ಆಟದ</a:t>
            </a:r>
            <a:r>
              <a:rPr lang="en-US" dirty="0" smtClean="0"/>
              <a:t> </a:t>
            </a:r>
            <a:r>
              <a:rPr lang="en-US" dirty="0" err="1" smtClean="0"/>
              <a:t>ಮೈದಾನ</a:t>
            </a:r>
            <a:r>
              <a:rPr lang="en-US" dirty="0" smtClean="0"/>
              <a:t>, </a:t>
            </a:r>
          </a:p>
          <a:p>
            <a:r>
              <a:rPr lang="en-US" dirty="0" err="1" smtClean="0"/>
              <a:t>ಈಜುಕೊಳಗಳ</a:t>
            </a:r>
            <a:r>
              <a:rPr lang="en-US" dirty="0" smtClean="0"/>
              <a:t> </a:t>
            </a:r>
            <a:r>
              <a:rPr lang="en-US" dirty="0" err="1" smtClean="0"/>
              <a:t>ನಿರ್ವಹಣೆ</a:t>
            </a:r>
            <a:r>
              <a:rPr lang="en-US" dirty="0" smtClean="0"/>
              <a:t>.</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458200" cy="6248400"/>
          </a:xfrm>
        </p:spPr>
        <p:txBody>
          <a:bodyPr>
            <a:normAutofit fontScale="77500" lnSpcReduction="20000"/>
          </a:bodyPr>
          <a:lstStyle/>
          <a:p>
            <a:pPr algn="ctr">
              <a:buNone/>
            </a:pPr>
            <a:r>
              <a:rPr lang="en-US" sz="4600" b="1" dirty="0" err="1" smtClean="0">
                <a:solidFill>
                  <a:schemeClr val="accent1"/>
                </a:solidFill>
                <a:effectLst>
                  <a:outerShdw blurRad="38100" dist="38100" dir="2700000" algn="tl">
                    <a:srgbClr val="000000">
                      <a:alpha val="43137"/>
                    </a:srgbClr>
                  </a:outerShdw>
                </a:effectLst>
              </a:rPr>
              <a:t>ಸಾಮಾಗ್ರಿ</a:t>
            </a:r>
            <a:r>
              <a:rPr lang="en-US" sz="4600" b="1" dirty="0" smtClean="0">
                <a:solidFill>
                  <a:schemeClr val="accent1"/>
                </a:solidFill>
                <a:effectLst>
                  <a:outerShdw blurRad="38100" dist="38100" dir="2700000" algn="tl">
                    <a:srgbClr val="000000">
                      <a:alpha val="43137"/>
                    </a:srgbClr>
                  </a:outerShdw>
                </a:effectLst>
              </a:rPr>
              <a:t> / </a:t>
            </a:r>
            <a:r>
              <a:rPr lang="en-US" sz="4600" b="1" dirty="0" err="1" smtClean="0">
                <a:solidFill>
                  <a:schemeClr val="accent1"/>
                </a:solidFill>
                <a:effectLst>
                  <a:outerShdw blurRad="38100" dist="38100" dir="2700000" algn="tl">
                    <a:srgbClr val="000000">
                      <a:alpha val="43137"/>
                    </a:srgbClr>
                  </a:outerShdw>
                </a:effectLst>
              </a:rPr>
              <a:t>ಉಪಕರಣಗಳ</a:t>
            </a:r>
            <a:r>
              <a:rPr lang="en-US" sz="4600" b="1" dirty="0" smtClean="0">
                <a:solidFill>
                  <a:schemeClr val="accent1"/>
                </a:solidFill>
                <a:effectLst>
                  <a:outerShdw blurRad="38100" dist="38100" dir="2700000" algn="tl">
                    <a:srgbClr val="000000">
                      <a:alpha val="43137"/>
                    </a:srgbClr>
                  </a:outerShdw>
                </a:effectLst>
              </a:rPr>
              <a:t> </a:t>
            </a:r>
            <a:r>
              <a:rPr lang="en-US" sz="4600" b="1" dirty="0" err="1" smtClean="0">
                <a:solidFill>
                  <a:schemeClr val="accent1"/>
                </a:solidFill>
                <a:effectLst>
                  <a:outerShdw blurRad="38100" dist="38100" dir="2700000" algn="tl">
                    <a:srgbClr val="000000">
                      <a:alpha val="43137"/>
                    </a:srgbClr>
                  </a:outerShdw>
                </a:effectLst>
              </a:rPr>
              <a:t>ಖರೀದಿ</a:t>
            </a:r>
            <a:endParaRPr lang="en-US" sz="4600" b="1" dirty="0" smtClean="0">
              <a:solidFill>
                <a:schemeClr val="accent1"/>
              </a:solidFill>
              <a:effectLst>
                <a:outerShdw blurRad="38100" dist="38100" dir="2700000" algn="tl">
                  <a:srgbClr val="000000">
                    <a:alpha val="43137"/>
                  </a:srgbClr>
                </a:outerShdw>
              </a:effectLst>
            </a:endParaRPr>
          </a:p>
          <a:p>
            <a:pPr algn="ctr">
              <a:buNone/>
            </a:pPr>
            <a:endParaRPr lang="en-US" sz="1300" b="1" dirty="0" smtClean="0">
              <a:solidFill>
                <a:schemeClr val="accent1"/>
              </a:solidFill>
              <a:effectLst>
                <a:outerShdw blurRad="38100" dist="38100" dir="2700000" algn="tl">
                  <a:srgbClr val="000000">
                    <a:alpha val="43137"/>
                  </a:srgbClr>
                </a:outerShdw>
              </a:effectLst>
            </a:endParaRPr>
          </a:p>
          <a:p>
            <a:pPr>
              <a:lnSpc>
                <a:spcPct val="120000"/>
              </a:lnSpc>
            </a:pPr>
            <a:r>
              <a:rPr lang="en-US" dirty="0" err="1" smtClean="0"/>
              <a:t>ವಿವಿಧ</a:t>
            </a:r>
            <a:r>
              <a:rPr lang="en-US" dirty="0" smtClean="0"/>
              <a:t> </a:t>
            </a:r>
            <a:r>
              <a:rPr lang="en-US" dirty="0" err="1" smtClean="0"/>
              <a:t>ರೀತಿಯ</a:t>
            </a:r>
            <a:r>
              <a:rPr lang="en-US" dirty="0" smtClean="0"/>
              <a:t> </a:t>
            </a:r>
            <a:r>
              <a:rPr lang="en-US" dirty="0" err="1" smtClean="0"/>
              <a:t>ಸರಕುಗಳ</a:t>
            </a:r>
            <a:r>
              <a:rPr lang="en-US" dirty="0" smtClean="0"/>
              <a:t> </a:t>
            </a:r>
            <a:r>
              <a:rPr lang="en-US" dirty="0" err="1" smtClean="0"/>
              <a:t>ಖರೀದಿ</a:t>
            </a:r>
            <a:r>
              <a:rPr lang="en-US" dirty="0" smtClean="0"/>
              <a:t>,</a:t>
            </a:r>
          </a:p>
          <a:p>
            <a:pPr>
              <a:lnSpc>
                <a:spcPct val="120000"/>
              </a:lnSpc>
            </a:pPr>
            <a:r>
              <a:rPr lang="en-US" dirty="0" err="1" smtClean="0"/>
              <a:t>ವಿವಿಧ</a:t>
            </a:r>
            <a:r>
              <a:rPr lang="en-US" dirty="0" smtClean="0"/>
              <a:t> </a:t>
            </a:r>
            <a:r>
              <a:rPr lang="en-US" dirty="0" err="1" smtClean="0"/>
              <a:t>ರೀತಿಯ</a:t>
            </a:r>
            <a:r>
              <a:rPr lang="en-US" dirty="0" smtClean="0"/>
              <a:t> </a:t>
            </a:r>
            <a:r>
              <a:rPr lang="en-US" dirty="0" err="1" smtClean="0"/>
              <a:t>ಯಂತ್ರೋಪಕರಣಗಳು</a:t>
            </a:r>
            <a:r>
              <a:rPr lang="en-US" dirty="0" smtClean="0"/>
              <a:t>,</a:t>
            </a:r>
          </a:p>
          <a:p>
            <a:pPr>
              <a:lnSpc>
                <a:spcPct val="120000"/>
              </a:lnSpc>
            </a:pPr>
            <a:r>
              <a:rPr lang="en-US" dirty="0" err="1" smtClean="0"/>
              <a:t>ಮೋಟಾರ್</a:t>
            </a:r>
            <a:r>
              <a:rPr lang="en-US" dirty="0" smtClean="0"/>
              <a:t> </a:t>
            </a:r>
            <a:r>
              <a:rPr lang="en-US" dirty="0" err="1" smtClean="0"/>
              <a:t>ವಾಹನಗಳು</a:t>
            </a:r>
            <a:r>
              <a:rPr lang="en-US" dirty="0" smtClean="0"/>
              <a:t>,</a:t>
            </a:r>
          </a:p>
          <a:p>
            <a:pPr>
              <a:lnSpc>
                <a:spcPct val="120000"/>
              </a:lnSpc>
            </a:pPr>
            <a:r>
              <a:rPr lang="en-US" dirty="0" err="1" smtClean="0"/>
              <a:t>ಪೀಠೋಪಕರಣಗಳು</a:t>
            </a:r>
            <a:r>
              <a:rPr lang="en-US" dirty="0" smtClean="0"/>
              <a:t>,</a:t>
            </a:r>
          </a:p>
          <a:p>
            <a:pPr>
              <a:lnSpc>
                <a:spcPct val="120000"/>
              </a:lnSpc>
            </a:pPr>
            <a:r>
              <a:rPr lang="en-US" dirty="0" err="1" smtClean="0"/>
              <a:t>ಕಾರ್ಖಾನೆಗಳ</a:t>
            </a:r>
            <a:r>
              <a:rPr lang="en-US" dirty="0" smtClean="0"/>
              <a:t> </a:t>
            </a:r>
            <a:r>
              <a:rPr lang="en-US" dirty="0" err="1" smtClean="0"/>
              <a:t>ನಿರ್ವಹಣೆ</a:t>
            </a:r>
            <a:r>
              <a:rPr lang="en-US" dirty="0" smtClean="0"/>
              <a:t>,</a:t>
            </a:r>
          </a:p>
          <a:p>
            <a:pPr>
              <a:lnSpc>
                <a:spcPct val="120000"/>
              </a:lnSpc>
            </a:pPr>
            <a:r>
              <a:rPr lang="en-US" dirty="0" err="1" smtClean="0"/>
              <a:t>ಲೇಖನ</a:t>
            </a:r>
            <a:r>
              <a:rPr lang="en-US" dirty="0" smtClean="0"/>
              <a:t> </a:t>
            </a:r>
            <a:r>
              <a:rPr lang="en-US" dirty="0" err="1" smtClean="0"/>
              <a:t>ಸಾಮಾಗ್ರಿಗಳು</a:t>
            </a:r>
            <a:r>
              <a:rPr lang="en-US" dirty="0" smtClean="0"/>
              <a:t>,</a:t>
            </a:r>
          </a:p>
          <a:p>
            <a:pPr>
              <a:lnSpc>
                <a:spcPct val="120000"/>
              </a:lnSpc>
            </a:pPr>
            <a:r>
              <a:rPr lang="en-US" dirty="0" err="1" smtClean="0"/>
              <a:t>ಜವಳಿ</a:t>
            </a:r>
            <a:r>
              <a:rPr lang="en-US" dirty="0" smtClean="0"/>
              <a:t> </a:t>
            </a:r>
            <a:r>
              <a:rPr lang="en-US" dirty="0" err="1" smtClean="0"/>
              <a:t>ಕಚ್ಛಾ</a:t>
            </a:r>
            <a:r>
              <a:rPr lang="en-US" dirty="0" smtClean="0"/>
              <a:t> </a:t>
            </a:r>
            <a:r>
              <a:rPr lang="en-US" dirty="0" err="1" smtClean="0"/>
              <a:t>ಸಾಮಾಗ್ರಿಗಳು</a:t>
            </a:r>
            <a:r>
              <a:rPr lang="en-US" dirty="0" smtClean="0"/>
              <a:t>,</a:t>
            </a:r>
          </a:p>
          <a:p>
            <a:pPr>
              <a:lnSpc>
                <a:spcPct val="120000"/>
              </a:lnSpc>
            </a:pPr>
            <a:r>
              <a:rPr lang="en-US" dirty="0" err="1" smtClean="0"/>
              <a:t>ವಿಧ್ಯುತ್</a:t>
            </a:r>
            <a:r>
              <a:rPr lang="en-US" dirty="0" smtClean="0"/>
              <a:t> </a:t>
            </a:r>
            <a:r>
              <a:rPr lang="en-US" dirty="0" err="1" smtClean="0"/>
              <a:t>ದೀಪ</a:t>
            </a:r>
            <a:r>
              <a:rPr lang="en-US" dirty="0" smtClean="0"/>
              <a:t> </a:t>
            </a:r>
            <a:r>
              <a:rPr lang="en-US" dirty="0" err="1" smtClean="0"/>
              <a:t>ಸಲಕರಣೆಗಳು</a:t>
            </a:r>
            <a:r>
              <a:rPr lang="en-US" dirty="0" smtClean="0"/>
              <a:t>,</a:t>
            </a:r>
          </a:p>
          <a:p>
            <a:pPr>
              <a:lnSpc>
                <a:spcPct val="120000"/>
              </a:lnSpc>
            </a:pPr>
            <a:r>
              <a:rPr lang="en-US" dirty="0" err="1" smtClean="0"/>
              <a:t>ಗಣಕಯಂತ್ರ</a:t>
            </a:r>
            <a:r>
              <a:rPr lang="en-US" dirty="0" smtClean="0"/>
              <a:t> </a:t>
            </a:r>
            <a:r>
              <a:rPr lang="en-US" dirty="0" err="1" smtClean="0"/>
              <a:t>ಹಾಗೂ</a:t>
            </a:r>
            <a:r>
              <a:rPr lang="en-US" dirty="0" smtClean="0"/>
              <a:t> </a:t>
            </a:r>
            <a:r>
              <a:rPr lang="en-US" dirty="0" err="1" smtClean="0"/>
              <a:t>ಎಲೆಕ್ಟ್ರಾನಿಕ್</a:t>
            </a:r>
            <a:r>
              <a:rPr lang="en-US" dirty="0" smtClean="0"/>
              <a:t> </a:t>
            </a:r>
            <a:r>
              <a:rPr lang="en-US" dirty="0" err="1" smtClean="0"/>
              <a:t>ಉಪಕರಣಗಳು</a:t>
            </a:r>
            <a:r>
              <a:rPr lang="en-US" dirty="0" smtClean="0"/>
              <a:t>,</a:t>
            </a:r>
          </a:p>
          <a:p>
            <a:pPr>
              <a:lnSpc>
                <a:spcPct val="120000"/>
              </a:lnSpc>
            </a:pPr>
            <a:r>
              <a:rPr lang="en-US" dirty="0" err="1" smtClean="0"/>
              <a:t>ಬಟ್ಟೆಗಳು</a:t>
            </a:r>
            <a:r>
              <a:rPr lang="en-US" dirty="0" smtClean="0"/>
              <a:t>, </a:t>
            </a:r>
            <a:r>
              <a:rPr lang="en-US" dirty="0" err="1" smtClean="0"/>
              <a:t>ರಾಸಾಯನಿಕಗಳು</a:t>
            </a:r>
            <a:r>
              <a:rPr lang="en-US" dirty="0" smtClean="0"/>
              <a:t>,</a:t>
            </a:r>
          </a:p>
          <a:p>
            <a:pPr>
              <a:lnSpc>
                <a:spcPct val="120000"/>
              </a:lnSpc>
            </a:pPr>
            <a:r>
              <a:rPr lang="en-US" dirty="0" err="1" smtClean="0"/>
              <a:t>ಔಷಧಿ</a:t>
            </a:r>
            <a:r>
              <a:rPr lang="en-US" dirty="0" smtClean="0"/>
              <a:t> </a:t>
            </a:r>
            <a:r>
              <a:rPr lang="en-US" dirty="0" err="1" smtClean="0"/>
              <a:t>ವಸ್ತುಗಳು</a:t>
            </a:r>
            <a:r>
              <a:rPr lang="en-US" dirty="0" smtClean="0"/>
              <a:t>,</a:t>
            </a:r>
          </a:p>
          <a:p>
            <a:pPr>
              <a:lnSpc>
                <a:spcPct val="120000"/>
              </a:lnSpc>
            </a:pPr>
            <a:r>
              <a:rPr lang="en-US" dirty="0" err="1" smtClean="0"/>
              <a:t>ಆಹಾರ</a:t>
            </a:r>
            <a:r>
              <a:rPr lang="en-US" dirty="0" smtClean="0"/>
              <a:t> </a:t>
            </a:r>
            <a:r>
              <a:rPr lang="en-US" dirty="0" err="1" smtClean="0"/>
              <a:t>ಸಾಮಾಗ್ರಿಗಳು</a:t>
            </a:r>
            <a:r>
              <a:rPr lang="en-US" dirty="0" smtClean="0"/>
              <a:t>,</a:t>
            </a:r>
          </a:p>
          <a:p>
            <a:pPr>
              <a:lnSpc>
                <a:spcPct val="120000"/>
              </a:lnSpc>
            </a:pPr>
            <a:r>
              <a:rPr lang="en-US" dirty="0" err="1" smtClean="0"/>
              <a:t>ಇತರೆ</a:t>
            </a:r>
            <a:r>
              <a:rPr lang="en-US" dirty="0" smtClean="0"/>
              <a:t> </a:t>
            </a:r>
            <a:r>
              <a:rPr lang="en-US" dirty="0" err="1" smtClean="0"/>
              <a:t>ಯಾವುದೇ</a:t>
            </a:r>
            <a:r>
              <a:rPr lang="en-US" dirty="0" smtClean="0"/>
              <a:t> </a:t>
            </a:r>
            <a:r>
              <a:rPr lang="en-US" dirty="0" err="1" smtClean="0"/>
              <a:t>ರೂಪದ</a:t>
            </a:r>
            <a:r>
              <a:rPr lang="en-US" dirty="0" smtClean="0"/>
              <a:t> </a:t>
            </a:r>
            <a:r>
              <a:rPr lang="en-US" dirty="0" err="1" smtClean="0"/>
              <a:t>ಸಾಮಾಗ್ರಿ</a:t>
            </a:r>
            <a:r>
              <a:rPr lang="en-US" dirty="0" smtClean="0"/>
              <a:t>, </a:t>
            </a:r>
            <a:r>
              <a:rPr lang="en-US" dirty="0" err="1" smtClean="0"/>
              <a:t>ಸಲಕರಣೆ</a:t>
            </a:r>
            <a:r>
              <a:rPr lang="en-US" dirty="0" smtClean="0"/>
              <a:t> </a:t>
            </a:r>
            <a:r>
              <a:rPr lang="en-US" dirty="0" err="1" smtClean="0"/>
              <a:t>ಹಾಗೂ</a:t>
            </a:r>
            <a:r>
              <a:rPr lang="en-US" dirty="0" smtClean="0"/>
              <a:t> </a:t>
            </a:r>
            <a:r>
              <a:rPr lang="en-US" dirty="0" err="1" smtClean="0"/>
              <a:t>ವ್ಯಾಪಾರ</a:t>
            </a:r>
            <a:r>
              <a:rPr lang="en-US" dirty="0" smtClean="0"/>
              <a:t> </a:t>
            </a:r>
            <a:r>
              <a:rPr lang="en-US" dirty="0" err="1" smtClean="0"/>
              <a:t>ಸರಕುಗಳು</a:t>
            </a:r>
            <a:r>
              <a:rPr lang="en-US" dirty="0" smtClean="0"/>
              <a:t>.</a:t>
            </a:r>
            <a:endParaRPr lang="en-US" dirty="0">
              <a:solidFill>
                <a:schemeClr val="accen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183880" cy="5867400"/>
          </a:xfrm>
        </p:spPr>
        <p:txBody>
          <a:bodyPr>
            <a:normAutofit lnSpcReduction="10000"/>
          </a:bodyPr>
          <a:lstStyle/>
          <a:p>
            <a:r>
              <a:rPr lang="en-US" dirty="0" smtClean="0"/>
              <a:t>2.C-ಸರ್ಕಾರ </a:t>
            </a:r>
            <a:r>
              <a:rPr lang="en-US" dirty="0" err="1" smtClean="0"/>
              <a:t>ಎಂದರೆ</a:t>
            </a:r>
            <a:r>
              <a:rPr lang="en-US" dirty="0" smtClean="0"/>
              <a:t> “</a:t>
            </a:r>
            <a:r>
              <a:rPr lang="en-US" dirty="0" err="1" smtClean="0"/>
              <a:t>ಕರ್ನಾಟಕ</a:t>
            </a:r>
            <a:r>
              <a:rPr lang="en-US" dirty="0" smtClean="0"/>
              <a:t> </a:t>
            </a:r>
            <a:r>
              <a:rPr lang="en-US" dirty="0" err="1" smtClean="0"/>
              <a:t>ಸರ್ಕಾರ</a:t>
            </a:r>
            <a:r>
              <a:rPr lang="en-US" dirty="0" smtClean="0"/>
              <a:t>” </a:t>
            </a:r>
          </a:p>
          <a:p>
            <a:endParaRPr lang="en-US" dirty="0" smtClean="0"/>
          </a:p>
          <a:p>
            <a:pPr algn="just"/>
            <a:r>
              <a:rPr lang="en-US" sz="2400" dirty="0" smtClean="0">
                <a:latin typeface="Century" pitchFamily="18" charset="0"/>
              </a:rPr>
              <a:t>C(A) “Karnataka </a:t>
            </a:r>
            <a:r>
              <a:rPr lang="en-US" sz="2400" dirty="0" smtClean="0">
                <a:latin typeface="Century" pitchFamily="18" charset="0"/>
              </a:rPr>
              <a:t>Public Procurement Portal' means a procurement platform of electronic media comprising of procurement process set up and managed by the State Government through integrated enabled procurement tools incorporated by customization</a:t>
            </a:r>
            <a:r>
              <a:rPr lang="en-US" sz="2400" dirty="0" smtClean="0">
                <a:latin typeface="Century" pitchFamily="18" charset="0"/>
              </a:rPr>
              <a:t>.”</a:t>
            </a:r>
          </a:p>
          <a:p>
            <a:pPr algn="just"/>
            <a:endParaRPr lang="en-US" sz="2400" dirty="0" smtClean="0">
              <a:latin typeface="Century" pitchFamily="18" charset="0"/>
            </a:endParaRPr>
          </a:p>
          <a:p>
            <a:pPr algn="just"/>
            <a:r>
              <a:rPr lang="en-US" sz="2400" dirty="0" smtClean="0">
                <a:latin typeface="Century" pitchFamily="18" charset="0"/>
              </a:rPr>
              <a:t>(D) - 'Procurement Entity' means any Government Department, a State Government Undertaking, Local Authority or Board, Body or Corporation established by or under any law and owned or controlled by the Government, and any other body or authority owned or controlled by the Government and as may be specified by it.</a:t>
            </a:r>
          </a:p>
          <a:p>
            <a:pPr algn="just"/>
            <a:endParaRPr lang="en-US" sz="2400" dirty="0" smtClean="0">
              <a:latin typeface="Century" pitchFamily="18" charset="0"/>
            </a:endParaRPr>
          </a:p>
          <a:p>
            <a:pPr algn="just"/>
            <a:endParaRPr lang="en-US" sz="2400" dirty="0" smtClean="0">
              <a:latin typeface="Century"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718048"/>
          </a:xfrm>
        </p:spPr>
        <p:txBody>
          <a:bodyPr>
            <a:normAutofit fontScale="92500" lnSpcReduction="10000"/>
          </a:bodyPr>
          <a:lstStyle/>
          <a:p>
            <a:pPr algn="just"/>
            <a:r>
              <a:rPr lang="en-US" sz="2600" dirty="0" smtClean="0">
                <a:latin typeface="Century" pitchFamily="18" charset="0"/>
              </a:rPr>
              <a:t>(E) - 'Public </a:t>
            </a:r>
            <a:r>
              <a:rPr lang="en-US" sz="2600" dirty="0" smtClean="0">
                <a:latin typeface="Century" pitchFamily="18" charset="0"/>
              </a:rPr>
              <a:t>Procurement' or 'procurement' means purchase of goods, obtaining of services or undertaking of construction works by the procurement entities</a:t>
            </a:r>
            <a:r>
              <a:rPr lang="en-US" sz="2600" dirty="0" smtClean="0">
                <a:latin typeface="Century" pitchFamily="18" charset="0"/>
              </a:rPr>
              <a:t>;</a:t>
            </a:r>
          </a:p>
          <a:p>
            <a:pPr algn="just"/>
            <a:endParaRPr lang="en-US" sz="2600" dirty="0" smtClean="0">
              <a:latin typeface="Century" pitchFamily="18" charset="0"/>
            </a:endParaRPr>
          </a:p>
          <a:p>
            <a:pPr algn="just"/>
            <a:r>
              <a:rPr lang="en-US" sz="2600" dirty="0" smtClean="0">
                <a:latin typeface="Century" pitchFamily="18" charset="0"/>
              </a:rPr>
              <a:t>(G) - 'Specified </a:t>
            </a:r>
            <a:r>
              <a:rPr lang="en-US" sz="2600" dirty="0" smtClean="0">
                <a:latin typeface="Century" pitchFamily="18" charset="0"/>
              </a:rPr>
              <a:t>goods or Services' means the goods or services as the case may be specified in a tender and identified in the contract resulting from acceptance of a tender on account of a procurement entity</a:t>
            </a:r>
            <a:r>
              <a:rPr lang="en-US" sz="2600" dirty="0" smtClean="0">
                <a:latin typeface="Century" pitchFamily="18" charset="0"/>
              </a:rPr>
              <a:t>;</a:t>
            </a:r>
          </a:p>
          <a:p>
            <a:pPr algn="just"/>
            <a:endParaRPr lang="en-US" sz="2600" dirty="0" smtClean="0">
              <a:latin typeface="Century" pitchFamily="18" charset="0"/>
            </a:endParaRPr>
          </a:p>
          <a:p>
            <a:pPr algn="just"/>
            <a:r>
              <a:rPr lang="en-US" sz="2600" dirty="0" smtClean="0">
                <a:latin typeface="Century" pitchFamily="18" charset="0"/>
              </a:rPr>
              <a:t>(H) </a:t>
            </a:r>
            <a:r>
              <a:rPr lang="en-US" sz="2600" dirty="0" smtClean="0">
                <a:latin typeface="Century" pitchFamily="18" charset="0"/>
              </a:rPr>
              <a:t>'Tender' means the formal offer made for supply of goods or services or construction works and includes tenders done through 'Electronic Reverse Auctions' in response to an invitation for tender published in the Karnataka Public Procurement Portal."</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183880" cy="5791200"/>
          </a:xfrm>
        </p:spPr>
        <p:txBody>
          <a:bodyPr>
            <a:normAutofit fontScale="92500"/>
          </a:bodyPr>
          <a:lstStyle/>
          <a:p>
            <a:pPr algn="just"/>
            <a:r>
              <a:rPr lang="en-US" sz="2600" dirty="0" smtClean="0">
                <a:latin typeface="Century" pitchFamily="18" charset="0"/>
              </a:rPr>
              <a:t>(I) Tender </a:t>
            </a:r>
            <a:r>
              <a:rPr lang="en-US" sz="2600" dirty="0" smtClean="0">
                <a:latin typeface="Century" pitchFamily="18" charset="0"/>
              </a:rPr>
              <a:t>Accepting Authority' means an officer or a Committee appointed to accept tenders and a Tender Inviting Authority' means an officer or a Committee appointed to invite tenders, under section 9</a:t>
            </a:r>
            <a:r>
              <a:rPr lang="en-US" sz="2600" dirty="0" smtClean="0">
                <a:latin typeface="Century" pitchFamily="18" charset="0"/>
              </a:rPr>
              <a:t>;</a:t>
            </a:r>
          </a:p>
          <a:p>
            <a:pPr algn="just"/>
            <a:endParaRPr lang="en-US" sz="2600" dirty="0" smtClean="0">
              <a:latin typeface="Century" pitchFamily="18" charset="0"/>
            </a:endParaRPr>
          </a:p>
          <a:p>
            <a:pPr algn="just"/>
            <a:r>
              <a:rPr lang="en-US" sz="2600" dirty="0" smtClean="0">
                <a:latin typeface="Century" pitchFamily="18" charset="0"/>
              </a:rPr>
              <a:t>(L) </a:t>
            </a:r>
            <a:r>
              <a:rPr lang="en-US" sz="2600" dirty="0" smtClean="0">
                <a:latin typeface="Century" pitchFamily="18" charset="0"/>
              </a:rPr>
              <a:t>Tender Document' means the set of document including in electronic form detailing the schedule of works, calendar of events, requirement of goods and services, technical specifications, procurement criteria and such other particulars, as may be prescribed for evaluation and comparison of tenders</a:t>
            </a:r>
            <a:r>
              <a:rPr lang="en-US" sz="2600" dirty="0" smtClean="0">
                <a:latin typeface="Century" pitchFamily="18" charset="0"/>
              </a:rPr>
              <a:t>.“</a:t>
            </a:r>
          </a:p>
          <a:p>
            <a:pPr algn="just"/>
            <a:endParaRPr lang="en-US" sz="2600" dirty="0" smtClean="0">
              <a:latin typeface="Century" pitchFamily="18" charset="0"/>
            </a:endParaRPr>
          </a:p>
          <a:p>
            <a:pPr algn="just"/>
            <a:r>
              <a:rPr lang="en-US" sz="2200" dirty="0" smtClean="0">
                <a:latin typeface="Century" pitchFamily="18" charset="0"/>
              </a:rPr>
              <a:t>["Provided that for the purpose of e-Procurement, the 'tender papers' means set of documents in electronic form."]</a:t>
            </a:r>
          </a:p>
          <a:p>
            <a:pPr algn="just"/>
            <a:endParaRPr lang="en-US" sz="2600" dirty="0">
              <a:latin typeface="Century"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337048"/>
          </a:xfrm>
        </p:spPr>
        <p:txBody>
          <a:bodyPr>
            <a:normAutofit/>
          </a:bodyPr>
          <a:lstStyle/>
          <a:p>
            <a:pPr algn="ctr">
              <a:buNone/>
            </a:pPr>
            <a:r>
              <a:rPr lang="kn-IN" sz="3600" b="1" u="sng" dirty="0" smtClean="0">
                <a:solidFill>
                  <a:schemeClr val="accent1"/>
                </a:solidFill>
                <a:effectLst>
                  <a:outerShdw blurRad="38100" dist="38100" dir="2700000" algn="tl">
                    <a:srgbClr val="000000">
                      <a:alpha val="43137"/>
                    </a:srgbClr>
                  </a:outerShdw>
                </a:effectLst>
              </a:rPr>
              <a:t>ಪಾರದರ್ಶಕತೆ ಅಧಿನಿಯಮಕ್ಕೆ ಸಂಬಂಧಿಸಿದಂತೆ </a:t>
            </a:r>
            <a:r>
              <a:rPr lang="kn-IN" sz="3600" b="1" u="sng" dirty="0" smtClean="0">
                <a:solidFill>
                  <a:schemeClr val="accent1"/>
                </a:solidFill>
                <a:effectLst>
                  <a:outerShdw blurRad="38100" dist="38100" dir="2700000" algn="tl">
                    <a:srgbClr val="000000">
                      <a:alpha val="43137"/>
                    </a:srgbClr>
                  </a:outerShdw>
                </a:effectLst>
              </a:rPr>
              <a:t>ಇರತಕ್ಕ</a:t>
            </a:r>
            <a:r>
              <a:rPr lang="en-US" sz="3600" b="1" u="sng" dirty="0" smtClean="0">
                <a:solidFill>
                  <a:schemeClr val="accent1"/>
                </a:solidFill>
                <a:effectLst>
                  <a:outerShdw blurRad="38100" dist="38100" dir="2700000" algn="tl">
                    <a:srgbClr val="000000">
                      <a:alpha val="43137"/>
                    </a:srgbClr>
                  </a:outerShdw>
                </a:effectLst>
              </a:rPr>
              <a:t> </a:t>
            </a:r>
            <a:r>
              <a:rPr lang="kn-IN" sz="3600" b="1" u="sng" dirty="0" smtClean="0">
                <a:solidFill>
                  <a:schemeClr val="accent1"/>
                </a:solidFill>
                <a:effectLst>
                  <a:outerShdw blurRad="38100" dist="38100" dir="2700000" algn="tl">
                    <a:srgbClr val="000000">
                      <a:alpha val="43137"/>
                    </a:srgbClr>
                  </a:outerShdw>
                </a:effectLst>
              </a:rPr>
              <a:t>ಇತರೆ </a:t>
            </a:r>
            <a:r>
              <a:rPr lang="kn-IN" sz="3600" b="1" u="sng" dirty="0" smtClean="0">
                <a:solidFill>
                  <a:schemeClr val="accent1"/>
                </a:solidFill>
                <a:effectLst>
                  <a:outerShdw blurRad="38100" dist="38100" dir="2700000" algn="tl">
                    <a:srgbClr val="000000">
                      <a:alpha val="43137"/>
                    </a:srgbClr>
                  </a:outerShdw>
                </a:effectLst>
              </a:rPr>
              <a:t>ಮುಖ ಮುಖ್ಯಾಂಶಗಳು</a:t>
            </a:r>
            <a:r>
              <a:rPr lang="en-US" sz="3600" b="1" u="sng" dirty="0" smtClean="0">
                <a:solidFill>
                  <a:schemeClr val="accent1"/>
                </a:solidFill>
                <a:effectLst>
                  <a:outerShdw blurRad="38100" dist="38100" dir="2700000" algn="tl">
                    <a:srgbClr val="000000">
                      <a:alpha val="43137"/>
                    </a:srgbClr>
                  </a:outerShdw>
                </a:effectLst>
              </a:rPr>
              <a:t>.</a:t>
            </a:r>
          </a:p>
          <a:p>
            <a:endParaRPr lang="en-US" sz="2000" dirty="0" smtClean="0"/>
          </a:p>
          <a:p>
            <a:pPr algn="just"/>
            <a:r>
              <a:rPr lang="kn-IN" sz="2000" dirty="0" smtClean="0"/>
              <a:t>ಅನುಚ್ಚೇದ 3 ರ ಪ್ರಕಾರ ಪಾರದರ್ಶಕ ಕಾಯಿದೆ ಈ ಕೆಳಕ೦ಡ ಖರೀದಿಗೆ ಅನ್ವಯವಾಗುವುದಿಲ್ಲ</a:t>
            </a:r>
            <a:r>
              <a:rPr lang="en-US" sz="2000" dirty="0" smtClean="0"/>
              <a:t>.</a:t>
            </a:r>
          </a:p>
          <a:p>
            <a:pPr algn="just"/>
            <a:r>
              <a:rPr lang="kn-IN" sz="2000" dirty="0" smtClean="0"/>
              <a:t>ಅ0ತರರಾಷ್ಟ್ರೀಯ ಹಣಕಾಸು ಸಂಸ್ಥೆಗಳಿಂದ ಹಣಕಾಸು ಪಡೆದು ನಿರ್ವಹಿಸತಕ್ಕ ಯೋಜನೆಗಳಿಗೆ</a:t>
            </a:r>
            <a:r>
              <a:rPr lang="en-US" sz="2000" dirty="0" smtClean="0"/>
              <a:t>.</a:t>
            </a:r>
          </a:p>
          <a:p>
            <a:pPr algn="just"/>
            <a:r>
              <a:rPr lang="kn-IN" sz="2000" dirty="0" smtClean="0"/>
              <a:t>ಅ0ತರರಾಷ್ಟ್ರೀಯ ಸ0ಸ್ಥೆಗಳು ಜೊತೆಗೆ ಮಾಡಿದ ಒಪ್ಪ೦ದದ ಅನ್ವಯ ನಿರ್ವಹಿಸತಕ್ಕ ಯೋಜನೆಗಳಿಗೆ</a:t>
            </a:r>
            <a:endParaRPr lang="en-US" sz="2000" dirty="0" smtClean="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946648"/>
          </a:xfrm>
        </p:spPr>
        <p:txBody>
          <a:bodyPr>
            <a:normAutofit fontScale="70000" lnSpcReduction="20000"/>
          </a:bodyPr>
          <a:lstStyle/>
          <a:p>
            <a:pPr algn="ctr">
              <a:buNone/>
            </a:pPr>
            <a:r>
              <a:rPr lang="kn-IN" sz="4000" b="1" dirty="0" smtClean="0">
                <a:solidFill>
                  <a:schemeClr val="accent1"/>
                </a:solidFill>
                <a:effectLst>
                  <a:outerShdw blurRad="38100" dist="38100" dir="2700000" algn="tl">
                    <a:srgbClr val="000000">
                      <a:alpha val="43137"/>
                    </a:srgbClr>
                  </a:outerShdw>
                </a:effectLst>
              </a:rPr>
              <a:t>ಪಾರದರ್ಶಕತೆ ಕಾಯಿದೆಯ ವಿನಾಯಿತಿಗಳು</a:t>
            </a:r>
            <a:r>
              <a:rPr lang="en-US" sz="4000" b="1" dirty="0" smtClean="0">
                <a:solidFill>
                  <a:schemeClr val="accent1"/>
                </a:solidFill>
                <a:effectLst>
                  <a:outerShdw blurRad="38100" dist="38100" dir="2700000" algn="tl">
                    <a:srgbClr val="000000">
                      <a:alpha val="43137"/>
                    </a:srgbClr>
                  </a:outerShdw>
                </a:effectLst>
              </a:rPr>
              <a:t>.</a:t>
            </a:r>
          </a:p>
          <a:p>
            <a:pPr algn="just"/>
            <a:endParaRPr lang="en-US" dirty="0" smtClean="0"/>
          </a:p>
          <a:p>
            <a:pPr algn="just"/>
            <a:r>
              <a:rPr lang="kn-IN" sz="2900" dirty="0" smtClean="0"/>
              <a:t>ಅನುಚ್ಚೇದ 4 ಕಾಯಿದೆಯಡಿ ವಿನಾಯಿತಿ ಪಡೆದ ವ್ಯವಹಾರಗಳು</a:t>
            </a:r>
            <a:r>
              <a:rPr lang="en-US" sz="2900" dirty="0" smtClean="0"/>
              <a:t>.</a:t>
            </a:r>
          </a:p>
          <a:p>
            <a:pPr algn="just"/>
            <a:r>
              <a:rPr lang="kn-IN" sz="2900" dirty="0" smtClean="0"/>
              <a:t>ಪ್ರಕೃತಿ ವಿಕೋಪ ಅಥವಾ ಸರ್ಕಾರ ತುರ್ತು ಪರಿಸ್ಥಿತಿ ಘೋಷಿಸಿದ ಸ೦ದರ್ಭದಲ್ಲಿನ ವ್ಯವಹಾರಕ್ಕೆ ವಿನಾಯಿತಿ ಇದೆ</a:t>
            </a:r>
            <a:r>
              <a:rPr lang="en-US" sz="2900" dirty="0" smtClean="0"/>
              <a:t>.</a:t>
            </a:r>
          </a:p>
          <a:p>
            <a:pPr algn="just"/>
            <a:r>
              <a:rPr lang="kn-IN" sz="2900" dirty="0" smtClean="0"/>
              <a:t>ಸಾಮಾಗ್ರಿಗಳ ಖರೀದಿ ಅಥವಾ ಸೇವೆಯ ಲಭ್ಯತೆ ಏಕ ಮೂಲದಿ೦ದ ಲಭ್ಯವಿದ್ದಲ್ಲಿ ಅಥವಾ ಒಬ್ಬ ಸರಬರಾಜುದಾರ ಅಥವಾ ಕ0ಟ್ರಾಕ್ಟರ್‌ಗೆ ಕೆಲಸ ನಿರ್ವಹಿಸಲು, ಸಾಮಾಗ್ರಿ ಸರಬರಾಜು ಮಾಡಲು ಅಥವಾ ಸೇವೆಯನ್ನು ನೀಡಲು ವಿಶೇಷ ಅರ್ಹತೆ ಗುರುತಿಸಿದಲ್ಲಿ ಈ ಕಾಯಿದೆ ವಿನಾಯಿತಿ ನೀಡುತ್ತದೆ.</a:t>
            </a:r>
            <a:endParaRPr lang="en-US" sz="2900" dirty="0" smtClean="0"/>
          </a:p>
          <a:p>
            <a:pPr algn="just"/>
            <a:r>
              <a:rPr lang="kn-IN" sz="2900" dirty="0" smtClean="0"/>
              <a:t>ಸರ್ಕಾರಿ ಸಂಸ್ಥೆ ಅಥವಾ ಇಲಾಖೆಯ ಒಬ್ಬ ಸರಬರಾಜುದಾರರಿ0ದ ಅಥವಾ ಕ೦ಟ್ರಾಕ್ಟರ್‌ನಿ೦ದ ಈಗಾಗಲೇ ಸಾಮಾಗ್ರಿ ಸೇವೆ ಅಥವಾ ತಾ೦ತ್ರಿಕ ಜ್ಞಾನ ಪಡೆದಿದ್ದು ವಿನಾಯಿತಿಗೆ ಒಳಪಡುವುದು</a:t>
            </a:r>
            <a:r>
              <a:rPr lang="en-US" sz="2900" dirty="0" smtClean="0"/>
              <a:t>.</a:t>
            </a:r>
          </a:p>
          <a:p>
            <a:pPr algn="just"/>
            <a:r>
              <a:rPr lang="kn-IN" sz="2900" dirty="0" smtClean="0"/>
              <a:t>ಡಿ.ಜಿ.ಎಸ್.ಡಿ. ಅಥವಾ ಸ್ಟೋರ್ ಪರ್ಚ್‌ಸ್ ಡಿಪಸಿಟ್‌ಮೆಂಟ್ ದರ ಒಪ್ಪ0ದದಡಿ ಖರೀದಿ/ ಸೇವೆ ಪಡೆದಲ್ಲಿ ವಿನಾಯಿತಿ ಇರುತ್ತದೆ</a:t>
            </a:r>
            <a:endParaRPr lang="en-US" sz="2900" dirty="0" smtClean="0"/>
          </a:p>
          <a:p>
            <a:pPr algn="just"/>
            <a:r>
              <a:rPr lang="kn-IN" sz="2900" dirty="0" smtClean="0"/>
              <a:t>ಸರ್ಕಾರ ಸೂಚನೆ ನೀಡಿ ಇಂತಹ ಖರೀದಿ/ಸೇವೆ/</a:t>
            </a:r>
            <a:r>
              <a:rPr lang="en-US" sz="2900" dirty="0" smtClean="0"/>
              <a:t> </a:t>
            </a:r>
            <a:r>
              <a:rPr lang="kn-IN" sz="2900" dirty="0" smtClean="0"/>
              <a:t>ಕ0ಟ್ರಾಕ್ಟರ್‌ನ್ನು ಇ೦ತಹವರಿ೦ದ ಪಡೆಯಬೇಕೆ0ದು ಸೂಚಿಸಿದ ಸ೦ದರ್ಭದಲ್ಲಿ ವಿನಾಯಿತಿ ಇದೆ. ಅದೇ ಸಾಮಾಗ್ರಿ ಸೇವೆ ತಾ೦ತ್ರಿಕ ಜ್ಞಾನದ ಹೆಚ್ಚುವರಿ ಅವಶ್ಯಕತೆ ಇದ್ದಲ್ಲಿ, ಸದರಿ ಸಾಮಾಗ್ರಿ ಸೇವೆ, ತಾಂತ್ರಿಕ ಜ್ಞಾನದ ಎಕ ರೀತಿಯ ಸ್ಟಾ೦ಡರ್ಡ್ ಇರುವುದರಿ0ದ ಅದೇ ಸರಬರಾಜುದಾರರಿ0ದ ಅಥವಾ ಕ0ಟ್ರಾಕ್ಟರ್‌ದಾರರಿ೦ದ ಪಡೆಯುವ ಕಾರಣದಿ0ದ ವಿನಾಯಿತಿ ಇದೆ</a:t>
            </a:r>
            <a:r>
              <a:rPr lang="en-US" sz="2900" dirty="0" smtClean="0"/>
              <a:t>.</a:t>
            </a:r>
          </a:p>
          <a:p>
            <a:pPr algn="just"/>
            <a:r>
              <a:rPr lang="kn-IN" sz="2900" dirty="0" smtClean="0"/>
              <a:t>ಅನುಚ್ಚೇದ </a:t>
            </a:r>
            <a:r>
              <a:rPr lang="kn-IN" sz="2900" dirty="0" smtClean="0"/>
              <a:t>4 ರ ಕೆಳಗೆ ಸೂಚಿಸಲ್ಪಟ್ಟ ವಿನಾಯಿತಿಗಳ ಬಗ್ಗೆ ಸರ್ಕಾರ ಆಗಿ0ದಾಗ್ಗೆ ವಿನಾಯಿತಿಗಳನ್ನು ಘೋಷಿಸಿ ಆದೇಶ ಹೊರಡಿಸುವ </a:t>
            </a:r>
            <a:r>
              <a:rPr lang="kn-IN" sz="2900" dirty="0" smtClean="0"/>
              <a:t>ಕ್ರಮವಿರುತ್ತದೆ</a:t>
            </a:r>
            <a:endParaRPr lang="en-US" sz="2900"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183880" cy="3660648"/>
          </a:xfrm>
        </p:spPr>
        <p:txBody>
          <a:bodyPr>
            <a:normAutofit/>
          </a:bodyPr>
          <a:lstStyle/>
          <a:p>
            <a:pPr algn="ctr">
              <a:buNone/>
            </a:pPr>
            <a:r>
              <a:rPr lang="en-US" sz="3600" b="1" dirty="0" err="1" smtClean="0">
                <a:solidFill>
                  <a:schemeClr val="accent1"/>
                </a:solidFill>
              </a:rPr>
              <a:t>ಸಾಮಾಗ್ರಿಗಳ</a:t>
            </a:r>
            <a:r>
              <a:rPr lang="en-US" sz="3600" b="1" dirty="0" smtClean="0">
                <a:solidFill>
                  <a:schemeClr val="accent1"/>
                </a:solidFill>
              </a:rPr>
              <a:t> </a:t>
            </a:r>
            <a:r>
              <a:rPr lang="en-US" sz="3600" b="1" dirty="0" err="1" smtClean="0">
                <a:solidFill>
                  <a:schemeClr val="accent1"/>
                </a:solidFill>
              </a:rPr>
              <a:t>ಖರೀದಿ</a:t>
            </a:r>
            <a:endParaRPr lang="en-US" sz="3600" b="1" dirty="0" smtClean="0">
              <a:solidFill>
                <a:schemeClr val="accent1"/>
              </a:solidFill>
            </a:endParaRPr>
          </a:p>
          <a:p>
            <a:pPr algn="ctr">
              <a:buNone/>
            </a:pPr>
            <a:endParaRPr lang="en-US" sz="3600" b="1" dirty="0" smtClean="0">
              <a:solidFill>
                <a:schemeClr val="accent1"/>
              </a:solidFill>
            </a:endParaRPr>
          </a:p>
          <a:p>
            <a:pPr algn="just"/>
            <a:r>
              <a:rPr lang="en-US" dirty="0" err="1" smtClean="0"/>
              <a:t>ಯಾವುದೇ</a:t>
            </a:r>
            <a:r>
              <a:rPr lang="en-US" dirty="0" smtClean="0"/>
              <a:t> </a:t>
            </a:r>
            <a:r>
              <a:rPr lang="en-US" dirty="0" err="1" smtClean="0"/>
              <a:t>ಖರೀದಿಗಳಲ್ಲಿ</a:t>
            </a:r>
            <a:r>
              <a:rPr lang="en-US" dirty="0" smtClean="0"/>
              <a:t> ರೂ.1–ಲಕ್ಷ </a:t>
            </a:r>
            <a:r>
              <a:rPr lang="en-US" dirty="0" err="1" smtClean="0"/>
              <a:t>ಮೀರಿದರೆ</a:t>
            </a:r>
            <a:r>
              <a:rPr lang="en-US" dirty="0" smtClean="0"/>
              <a:t> </a:t>
            </a:r>
            <a:r>
              <a:rPr lang="en-US" dirty="0" err="1" smtClean="0"/>
              <a:t>ವಿದ್ಯುನ್ಮಾನ</a:t>
            </a:r>
            <a:r>
              <a:rPr lang="en-US" dirty="0" smtClean="0"/>
              <a:t> </a:t>
            </a:r>
            <a:r>
              <a:rPr lang="en-US" dirty="0" err="1" smtClean="0"/>
              <a:t>ಸಂಗ್ರಹಣ</a:t>
            </a:r>
            <a:r>
              <a:rPr lang="en-US" dirty="0" smtClean="0"/>
              <a:t> </a:t>
            </a:r>
            <a:r>
              <a:rPr lang="en-US" dirty="0" err="1" smtClean="0"/>
              <a:t>ವೇಧಿಕೆಯ</a:t>
            </a:r>
            <a:r>
              <a:rPr lang="en-US" dirty="0" smtClean="0"/>
              <a:t> </a:t>
            </a:r>
            <a:r>
              <a:rPr lang="en-US" dirty="0" err="1" smtClean="0"/>
              <a:t>ಮೂಲಕವೇ</a:t>
            </a:r>
            <a:r>
              <a:rPr lang="en-US" dirty="0" smtClean="0"/>
              <a:t> </a:t>
            </a:r>
            <a:r>
              <a:rPr lang="en-US" dirty="0" err="1" smtClean="0"/>
              <a:t>ಖರೀದಿಯನ್ನು</a:t>
            </a:r>
            <a:r>
              <a:rPr lang="en-US" dirty="0" smtClean="0"/>
              <a:t> </a:t>
            </a:r>
            <a:r>
              <a:rPr lang="en-US" dirty="0" err="1" smtClean="0"/>
              <a:t>ಮಾಡಬೇಕು</a:t>
            </a:r>
            <a:r>
              <a:rPr lang="en-US" dirty="0" smtClean="0"/>
              <a:t>.</a:t>
            </a:r>
          </a:p>
          <a:p>
            <a:pPr algn="just">
              <a:buNone/>
            </a:pPr>
            <a:r>
              <a:rPr lang="en-US" dirty="0" smtClean="0"/>
              <a:t>		</a:t>
            </a:r>
            <a:r>
              <a:rPr lang="en-US" sz="2400" dirty="0" err="1" smtClean="0"/>
              <a:t>ಸಂ.ಆಇ</a:t>
            </a:r>
            <a:r>
              <a:rPr lang="en-US" sz="2400" dirty="0" smtClean="0"/>
              <a:t> 876(ಪಿ2) ವೆಚ್ಚ-12/2018 ದಿ:05.02.2018</a:t>
            </a:r>
            <a:r>
              <a:rPr lang="en-US" sz="2400" dirty="0" smtClean="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4575048"/>
          </a:xfrm>
        </p:spPr>
        <p:txBody>
          <a:bodyPr/>
          <a:lstStyle/>
          <a:p>
            <a:pPr algn="just">
              <a:buNone/>
            </a:pPr>
            <a:r>
              <a:rPr lang="en-US" sz="3600" b="1" dirty="0" err="1" smtClean="0">
                <a:solidFill>
                  <a:schemeClr val="accent1"/>
                </a:solidFill>
                <a:effectLst>
                  <a:outerShdw blurRad="38100" dist="38100" dir="2700000" algn="tl">
                    <a:srgbClr val="000000">
                      <a:alpha val="43137"/>
                    </a:srgbClr>
                  </a:outerShdw>
                </a:effectLst>
              </a:rPr>
              <a:t>ಟೆಂಡರ್</a:t>
            </a:r>
            <a:r>
              <a:rPr lang="en-US" sz="3600" b="1" dirty="0" smtClean="0">
                <a:solidFill>
                  <a:schemeClr val="accent1"/>
                </a:solidFill>
                <a:effectLst>
                  <a:outerShdw blurRad="38100" dist="38100" dir="2700000" algn="tl">
                    <a:srgbClr val="000000">
                      <a:alpha val="43137"/>
                    </a:srgbClr>
                  </a:outerShdw>
                </a:effectLst>
              </a:rPr>
              <a:t> </a:t>
            </a:r>
            <a:r>
              <a:rPr lang="en-US" sz="3600" b="1" dirty="0" err="1" smtClean="0">
                <a:solidFill>
                  <a:schemeClr val="accent1"/>
                </a:solidFill>
                <a:effectLst>
                  <a:outerShdw blurRad="38100" dist="38100" dir="2700000" algn="tl">
                    <a:srgbClr val="000000">
                      <a:alpha val="43137"/>
                    </a:srgbClr>
                  </a:outerShdw>
                </a:effectLst>
              </a:rPr>
              <a:t>ಕರೆಯುವ</a:t>
            </a:r>
            <a:r>
              <a:rPr lang="en-US" sz="3600" b="1" dirty="0" smtClean="0">
                <a:solidFill>
                  <a:schemeClr val="accent1"/>
                </a:solidFill>
                <a:effectLst>
                  <a:outerShdw blurRad="38100" dist="38100" dir="2700000" algn="tl">
                    <a:srgbClr val="000000">
                      <a:alpha val="43137"/>
                    </a:srgbClr>
                  </a:outerShdw>
                </a:effectLst>
              </a:rPr>
              <a:t>, </a:t>
            </a:r>
            <a:r>
              <a:rPr lang="en-US" sz="3600" b="1" dirty="0" err="1" smtClean="0">
                <a:solidFill>
                  <a:schemeClr val="accent1"/>
                </a:solidFill>
                <a:effectLst>
                  <a:outerShdw blurRad="38100" dist="38100" dir="2700000" algn="tl">
                    <a:srgbClr val="000000">
                      <a:alpha val="43137"/>
                    </a:srgbClr>
                  </a:outerShdw>
                </a:effectLst>
              </a:rPr>
              <a:t>ಪರಿಶೀಲಿಸುವ</a:t>
            </a:r>
            <a:r>
              <a:rPr lang="en-US" sz="3600" b="1" dirty="0" smtClean="0">
                <a:solidFill>
                  <a:schemeClr val="accent1"/>
                </a:solidFill>
                <a:effectLst>
                  <a:outerShdw blurRad="38100" dist="38100" dir="2700000" algn="tl">
                    <a:srgbClr val="000000">
                      <a:alpha val="43137"/>
                    </a:srgbClr>
                  </a:outerShdw>
                </a:effectLst>
              </a:rPr>
              <a:t> </a:t>
            </a:r>
            <a:r>
              <a:rPr lang="en-US" sz="3600" b="1" dirty="0" err="1" smtClean="0">
                <a:solidFill>
                  <a:schemeClr val="accent1"/>
                </a:solidFill>
                <a:effectLst>
                  <a:outerShdw blurRad="38100" dist="38100" dir="2700000" algn="tl">
                    <a:srgbClr val="000000">
                      <a:alpha val="43137"/>
                    </a:srgbClr>
                  </a:outerShdw>
                </a:effectLst>
              </a:rPr>
              <a:t>ಮತ್ತು</a:t>
            </a:r>
            <a:r>
              <a:rPr lang="en-US" sz="3600" b="1" dirty="0" smtClean="0">
                <a:solidFill>
                  <a:schemeClr val="accent1"/>
                </a:solidFill>
                <a:effectLst>
                  <a:outerShdw blurRad="38100" dist="38100" dir="2700000" algn="tl">
                    <a:srgbClr val="000000">
                      <a:alpha val="43137"/>
                    </a:srgbClr>
                  </a:outerShdw>
                </a:effectLst>
              </a:rPr>
              <a:t> </a:t>
            </a:r>
            <a:r>
              <a:rPr lang="en-US" sz="3600" b="1" dirty="0" err="1" smtClean="0">
                <a:solidFill>
                  <a:schemeClr val="accent1"/>
                </a:solidFill>
                <a:effectLst>
                  <a:outerShdw blurRad="38100" dist="38100" dir="2700000" algn="tl">
                    <a:srgbClr val="000000">
                      <a:alpha val="43137"/>
                    </a:srgbClr>
                  </a:outerShdw>
                </a:effectLst>
              </a:rPr>
              <a:t>ಅಂಗೀಕರಿಸುವ</a:t>
            </a:r>
            <a:r>
              <a:rPr lang="en-US" sz="3600" b="1" dirty="0" smtClean="0">
                <a:solidFill>
                  <a:schemeClr val="accent1"/>
                </a:solidFill>
                <a:effectLst>
                  <a:outerShdw blurRad="38100" dist="38100" dir="2700000" algn="tl">
                    <a:srgbClr val="000000">
                      <a:alpha val="43137"/>
                    </a:srgbClr>
                  </a:outerShdw>
                </a:effectLst>
              </a:rPr>
              <a:t> </a:t>
            </a:r>
            <a:r>
              <a:rPr lang="en-US" sz="3600" b="1" dirty="0" err="1" smtClean="0">
                <a:solidFill>
                  <a:schemeClr val="accent1"/>
                </a:solidFill>
                <a:effectLst>
                  <a:outerShdw blurRad="38100" dist="38100" dir="2700000" algn="tl">
                    <a:srgbClr val="000000">
                      <a:alpha val="43137"/>
                    </a:srgbClr>
                  </a:outerShdw>
                </a:effectLst>
              </a:rPr>
              <a:t>ಪ್ರಾಧಿಕಾರಗಳು</a:t>
            </a:r>
            <a:r>
              <a:rPr lang="en-US" sz="3600" b="1" dirty="0" smtClean="0">
                <a:solidFill>
                  <a:schemeClr val="accent1"/>
                </a:solidFill>
                <a:effectLst>
                  <a:outerShdw blurRad="38100" dist="38100" dir="2700000" algn="tl">
                    <a:srgbClr val="000000">
                      <a:alpha val="43137"/>
                    </a:srgbClr>
                  </a:outerShdw>
                </a:effectLst>
              </a:rPr>
              <a:t>.</a:t>
            </a:r>
          </a:p>
          <a:p>
            <a:pPr algn="just">
              <a:buNone/>
            </a:pPr>
            <a:endParaRPr lang="en-US" sz="3600" b="1" dirty="0" smtClean="0">
              <a:solidFill>
                <a:schemeClr val="accent1"/>
              </a:solidFill>
              <a:effectLst>
                <a:outerShdw blurRad="38100" dist="38100" dir="2700000" algn="tl">
                  <a:srgbClr val="000000">
                    <a:alpha val="43137"/>
                  </a:srgbClr>
                </a:outerShdw>
              </a:effectLst>
            </a:endParaRPr>
          </a:p>
          <a:p>
            <a:pPr>
              <a:lnSpc>
                <a:spcPct val="150000"/>
              </a:lnSpc>
            </a:pPr>
            <a:r>
              <a:rPr lang="en-US" dirty="0" err="1" smtClean="0"/>
              <a:t>ಟೆಂಡರ್</a:t>
            </a:r>
            <a:r>
              <a:rPr lang="en-US" dirty="0" smtClean="0"/>
              <a:t> </a:t>
            </a:r>
            <a:r>
              <a:rPr lang="en-US" dirty="0" err="1" smtClean="0"/>
              <a:t>ಆಹ್ವಾನಿಸುವ</a:t>
            </a:r>
            <a:r>
              <a:rPr lang="en-US" dirty="0" smtClean="0"/>
              <a:t> </a:t>
            </a:r>
            <a:r>
              <a:rPr lang="en-US" dirty="0" err="1" smtClean="0"/>
              <a:t>ಪ್ರಾಧಿಕಾರ</a:t>
            </a:r>
            <a:r>
              <a:rPr lang="en-US" dirty="0" smtClean="0"/>
              <a:t> (TIA)</a:t>
            </a:r>
            <a:endParaRPr lang="en-US" dirty="0" smtClean="0"/>
          </a:p>
          <a:p>
            <a:pPr>
              <a:lnSpc>
                <a:spcPct val="150000"/>
              </a:lnSpc>
            </a:pPr>
            <a:r>
              <a:rPr lang="en-US" dirty="0" err="1" smtClean="0"/>
              <a:t>ಟೆಂಡರ್</a:t>
            </a:r>
            <a:r>
              <a:rPr lang="en-US" dirty="0" smtClean="0"/>
              <a:t> </a:t>
            </a:r>
            <a:r>
              <a:rPr lang="en-US" dirty="0" err="1" smtClean="0"/>
              <a:t>ಪರಿಶೀಲಿಸುವ</a:t>
            </a:r>
            <a:r>
              <a:rPr lang="en-US" dirty="0" smtClean="0"/>
              <a:t>  </a:t>
            </a:r>
            <a:r>
              <a:rPr lang="en-US" dirty="0" err="1" smtClean="0"/>
              <a:t>ಸಮಿತಿ</a:t>
            </a:r>
            <a:r>
              <a:rPr lang="en-US" dirty="0" smtClean="0"/>
              <a:t>(TSC)</a:t>
            </a:r>
            <a:r>
              <a:rPr lang="en-US" dirty="0" smtClean="0"/>
              <a:t> </a:t>
            </a:r>
            <a:r>
              <a:rPr lang="en-US" sz="1600" dirty="0" smtClean="0"/>
              <a:t>(Above 5-crore, Rule-20)</a:t>
            </a:r>
            <a:endParaRPr lang="en-US" sz="2000" dirty="0" smtClean="0"/>
          </a:p>
          <a:p>
            <a:pPr>
              <a:lnSpc>
                <a:spcPct val="150000"/>
              </a:lnSpc>
            </a:pPr>
            <a:r>
              <a:rPr lang="en-US" dirty="0" err="1" smtClean="0"/>
              <a:t>ಟೆಂಡರ್</a:t>
            </a:r>
            <a:r>
              <a:rPr lang="en-US" dirty="0" smtClean="0"/>
              <a:t> </a:t>
            </a:r>
            <a:r>
              <a:rPr lang="en-US" dirty="0" err="1" smtClean="0"/>
              <a:t>ಅಂಗೀಕರಿಸುವ</a:t>
            </a:r>
            <a:r>
              <a:rPr lang="en-US" dirty="0" smtClean="0"/>
              <a:t> </a:t>
            </a:r>
            <a:r>
              <a:rPr lang="en-US" dirty="0" err="1" smtClean="0"/>
              <a:t>ಪ್ರಾಧಿಕಾರ</a:t>
            </a:r>
            <a:r>
              <a:rPr lang="en-US" dirty="0" smtClean="0"/>
              <a:t> (TAA)</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183880" cy="4187952"/>
          </a:xfrm>
        </p:spPr>
        <p:txBody>
          <a:bodyPr/>
          <a:lstStyle/>
          <a:p>
            <a:pPr algn="ctr">
              <a:buNone/>
            </a:pPr>
            <a:r>
              <a:rPr lang="en-US" sz="3600" b="1" dirty="0" err="1" smtClean="0">
                <a:solidFill>
                  <a:schemeClr val="accent1"/>
                </a:solidFill>
                <a:effectLst>
                  <a:outerShdw blurRad="38100" dist="38100" dir="2700000" algn="tl">
                    <a:srgbClr val="000000">
                      <a:alpha val="43137"/>
                    </a:srgbClr>
                  </a:outerShdw>
                </a:effectLst>
              </a:rPr>
              <a:t>ಪತ್ರಿಕೆಯಲ್ಲಿ</a:t>
            </a:r>
            <a:r>
              <a:rPr lang="en-US" sz="3600" b="1" dirty="0" smtClean="0">
                <a:solidFill>
                  <a:schemeClr val="accent1"/>
                </a:solidFill>
                <a:effectLst>
                  <a:outerShdw blurRad="38100" dist="38100" dir="2700000" algn="tl">
                    <a:srgbClr val="000000">
                      <a:alpha val="43137"/>
                    </a:srgbClr>
                  </a:outerShdw>
                </a:effectLst>
              </a:rPr>
              <a:t> </a:t>
            </a:r>
            <a:r>
              <a:rPr lang="en-US" sz="3600" b="1" dirty="0" err="1" smtClean="0">
                <a:solidFill>
                  <a:schemeClr val="accent1"/>
                </a:solidFill>
                <a:effectLst>
                  <a:outerShdw blurRad="38100" dist="38100" dir="2700000" algn="tl">
                    <a:srgbClr val="000000">
                      <a:alpha val="43137"/>
                    </a:srgbClr>
                  </a:outerShdw>
                </a:effectLst>
              </a:rPr>
              <a:t>ಪ್ರಕಟಣೆ</a:t>
            </a:r>
            <a:r>
              <a:rPr lang="en-US" sz="3600" b="1" dirty="0" smtClean="0">
                <a:solidFill>
                  <a:schemeClr val="accent1"/>
                </a:solidFill>
                <a:effectLst>
                  <a:outerShdw blurRad="38100" dist="38100" dir="2700000" algn="tl">
                    <a:srgbClr val="000000">
                      <a:alpha val="43137"/>
                    </a:srgbClr>
                  </a:outerShdw>
                </a:effectLst>
              </a:rPr>
              <a:t>.</a:t>
            </a:r>
          </a:p>
          <a:p>
            <a:endParaRPr lang="en-US" dirty="0" smtClean="0"/>
          </a:p>
          <a:p>
            <a:pPr algn="just"/>
            <a:r>
              <a:rPr lang="en-US" dirty="0" err="1" smtClean="0"/>
              <a:t>ಆಯಾ</a:t>
            </a:r>
            <a:r>
              <a:rPr lang="en-US" dirty="0" smtClean="0"/>
              <a:t> </a:t>
            </a:r>
            <a:r>
              <a:rPr lang="en-US" dirty="0" err="1" smtClean="0"/>
              <a:t>ಇಲಾಖಾ</a:t>
            </a:r>
            <a:r>
              <a:rPr lang="en-US" dirty="0" smtClean="0"/>
              <a:t> </a:t>
            </a:r>
            <a:r>
              <a:rPr lang="en-US" dirty="0" err="1" smtClean="0"/>
              <a:t>ಮುಖ್ಯಸ್ಥರು</a:t>
            </a:r>
            <a:r>
              <a:rPr lang="en-US" dirty="0" smtClean="0"/>
              <a:t> </a:t>
            </a:r>
            <a:r>
              <a:rPr lang="en-US" dirty="0" err="1" smtClean="0"/>
              <a:t>ನಿರ್ಧರಿಸಿದಂತೆ</a:t>
            </a:r>
            <a:r>
              <a:rPr lang="en-US" dirty="0" smtClean="0"/>
              <a:t>, </a:t>
            </a:r>
            <a:r>
              <a:rPr lang="en-US" dirty="0" err="1" smtClean="0"/>
              <a:t>ಪ್ರಕಟಣೆಯನ್ನು</a:t>
            </a:r>
            <a:r>
              <a:rPr lang="en-US" dirty="0" smtClean="0"/>
              <a:t> </a:t>
            </a:r>
            <a:r>
              <a:rPr lang="en-US" dirty="0" err="1" smtClean="0"/>
              <a:t>ಪ್ರಾದೇಶಿಕ</a:t>
            </a:r>
            <a:r>
              <a:rPr lang="en-US" dirty="0" smtClean="0"/>
              <a:t> /</a:t>
            </a:r>
            <a:r>
              <a:rPr lang="en-US" dirty="0" err="1" smtClean="0"/>
              <a:t>ಸ್ಥಳೀಯ</a:t>
            </a:r>
            <a:r>
              <a:rPr lang="en-US" dirty="0" smtClean="0"/>
              <a:t> </a:t>
            </a:r>
            <a:r>
              <a:rPr lang="en-US" dirty="0" err="1" smtClean="0"/>
              <a:t>ದಿನ</a:t>
            </a:r>
            <a:r>
              <a:rPr lang="en-US" dirty="0" smtClean="0"/>
              <a:t> </a:t>
            </a:r>
            <a:r>
              <a:rPr lang="en-US" dirty="0" err="1" smtClean="0"/>
              <a:t>ಪತ್ರಿಕೆಯಲ್ಲಿ</a:t>
            </a:r>
            <a:r>
              <a:rPr lang="en-US" dirty="0" smtClean="0"/>
              <a:t> </a:t>
            </a:r>
            <a:r>
              <a:rPr lang="en-US" dirty="0" err="1" smtClean="0"/>
              <a:t>ಪ್ರಕಟಿಸಬೇಕು</a:t>
            </a:r>
            <a:r>
              <a:rPr lang="en-US" dirty="0" smtClean="0"/>
              <a:t> </a:t>
            </a:r>
            <a:r>
              <a:rPr lang="en-US" dirty="0" err="1" smtClean="0"/>
              <a:t>ಹಾಗೂ</a:t>
            </a:r>
            <a:r>
              <a:rPr lang="en-US" dirty="0" smtClean="0"/>
              <a:t> </a:t>
            </a:r>
            <a:r>
              <a:rPr lang="en-US" dirty="0" err="1" smtClean="0"/>
              <a:t>ಪ್ರಕಟಣೆಯನ್ನು</a:t>
            </a:r>
            <a:r>
              <a:rPr lang="en-US" dirty="0" smtClean="0"/>
              <a:t> </a:t>
            </a:r>
            <a:r>
              <a:rPr lang="en-US" dirty="0" err="1" smtClean="0"/>
              <a:t>ವಾರ್ತಾ</a:t>
            </a:r>
            <a:r>
              <a:rPr lang="en-US" dirty="0" smtClean="0"/>
              <a:t> </a:t>
            </a:r>
            <a:r>
              <a:rPr lang="en-US" dirty="0" err="1" smtClean="0"/>
              <a:t>ಮತ್ತು</a:t>
            </a:r>
            <a:r>
              <a:rPr lang="en-US" dirty="0" smtClean="0"/>
              <a:t> </a:t>
            </a:r>
            <a:r>
              <a:rPr lang="en-US" dirty="0" err="1" smtClean="0"/>
              <a:t>ಪ್ರಚಾರ</a:t>
            </a:r>
            <a:r>
              <a:rPr lang="en-US" dirty="0" smtClean="0"/>
              <a:t> </a:t>
            </a:r>
            <a:r>
              <a:rPr lang="en-US" dirty="0" err="1" smtClean="0"/>
              <a:t>ಇಲಾಖೆಯ</a:t>
            </a:r>
            <a:r>
              <a:rPr lang="en-US" dirty="0" smtClean="0"/>
              <a:t> </a:t>
            </a:r>
            <a:r>
              <a:rPr lang="en-US" dirty="0" err="1" smtClean="0"/>
              <a:t>ಮೂಲಕ</a:t>
            </a:r>
            <a:r>
              <a:rPr lang="en-US" dirty="0" smtClean="0"/>
              <a:t> </a:t>
            </a:r>
            <a:r>
              <a:rPr lang="en-US" dirty="0" err="1" smtClean="0"/>
              <a:t>ನೀಡಿ</a:t>
            </a:r>
            <a:r>
              <a:rPr lang="en-US" dirty="0" smtClean="0"/>
              <a:t> </a:t>
            </a:r>
            <a:r>
              <a:rPr lang="en-US" dirty="0" err="1" smtClean="0"/>
              <a:t>ಜಾಹಿರಾತು</a:t>
            </a:r>
            <a:r>
              <a:rPr lang="en-US" dirty="0" smtClean="0"/>
              <a:t> </a:t>
            </a:r>
            <a:r>
              <a:rPr lang="en-US" dirty="0" err="1" smtClean="0"/>
              <a:t>ದರ</a:t>
            </a:r>
            <a:r>
              <a:rPr lang="en-US" dirty="0" smtClean="0"/>
              <a:t> </a:t>
            </a:r>
            <a:r>
              <a:rPr lang="en-US" dirty="0" err="1" smtClean="0"/>
              <a:t>ಪಾವತಿಸಬೇಕು</a:t>
            </a:r>
            <a:r>
              <a:rPr lang="en-US" dirty="0" smtClean="0"/>
              <a: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183880" cy="4187952"/>
          </a:xfrm>
        </p:spPr>
        <p:txBody>
          <a:bodyPr/>
          <a:lstStyle/>
          <a:p>
            <a:pPr algn="ctr">
              <a:buNone/>
            </a:pPr>
            <a:r>
              <a:rPr lang="en-US" sz="3600" b="1" dirty="0" err="1" smtClean="0">
                <a:solidFill>
                  <a:schemeClr val="accent1"/>
                </a:solidFill>
                <a:effectLst>
                  <a:outerShdw blurRad="38100" dist="38100" dir="2700000" algn="tl">
                    <a:srgbClr val="000000">
                      <a:alpha val="43137"/>
                    </a:srgbClr>
                  </a:outerShdw>
                </a:effectLst>
              </a:rPr>
              <a:t>ಟೆಂಡರ್</a:t>
            </a:r>
            <a:r>
              <a:rPr lang="en-US" sz="3600" b="1" dirty="0" smtClean="0">
                <a:solidFill>
                  <a:schemeClr val="accent1"/>
                </a:solidFill>
                <a:effectLst>
                  <a:outerShdw blurRad="38100" dist="38100" dir="2700000" algn="tl">
                    <a:srgbClr val="000000">
                      <a:alpha val="43137"/>
                    </a:srgbClr>
                  </a:outerShdw>
                </a:effectLst>
              </a:rPr>
              <a:t> </a:t>
            </a:r>
            <a:r>
              <a:rPr lang="en-US" sz="3600" b="1" dirty="0" err="1" smtClean="0">
                <a:solidFill>
                  <a:schemeClr val="accent1"/>
                </a:solidFill>
                <a:effectLst>
                  <a:outerShdw blurRad="38100" dist="38100" dir="2700000" algn="tl">
                    <a:srgbClr val="000000">
                      <a:alpha val="43137"/>
                    </a:srgbClr>
                  </a:outerShdw>
                </a:effectLst>
              </a:rPr>
              <a:t>ಆಹ್ವಾನಿಸುವ</a:t>
            </a:r>
            <a:r>
              <a:rPr lang="en-US" sz="3600" b="1" dirty="0" smtClean="0">
                <a:solidFill>
                  <a:schemeClr val="accent1"/>
                </a:solidFill>
                <a:effectLst>
                  <a:outerShdw blurRad="38100" dist="38100" dir="2700000" algn="tl">
                    <a:srgbClr val="000000">
                      <a:alpha val="43137"/>
                    </a:srgbClr>
                  </a:outerShdw>
                </a:effectLst>
              </a:rPr>
              <a:t> </a:t>
            </a:r>
            <a:r>
              <a:rPr lang="en-US" sz="3600" b="1" dirty="0" err="1" smtClean="0">
                <a:solidFill>
                  <a:schemeClr val="accent1"/>
                </a:solidFill>
                <a:effectLst>
                  <a:outerShdw blurRad="38100" dist="38100" dir="2700000" algn="tl">
                    <a:srgbClr val="000000">
                      <a:alpha val="43137"/>
                    </a:srgbClr>
                  </a:outerShdw>
                </a:effectLst>
              </a:rPr>
              <a:t>ಮುನ್ನ</a:t>
            </a:r>
            <a:r>
              <a:rPr lang="en-US" sz="3600" b="1" dirty="0" smtClean="0">
                <a:solidFill>
                  <a:schemeClr val="accent1"/>
                </a:solidFill>
                <a:effectLst>
                  <a:outerShdw blurRad="38100" dist="38100" dir="2700000" algn="tl">
                    <a:srgbClr val="000000">
                      <a:alpha val="43137"/>
                    </a:srgbClr>
                  </a:outerShdw>
                </a:effectLst>
              </a:rPr>
              <a:t> </a:t>
            </a:r>
            <a:r>
              <a:rPr lang="en-US" sz="3600" b="1" dirty="0" err="1" smtClean="0">
                <a:solidFill>
                  <a:schemeClr val="accent1"/>
                </a:solidFill>
                <a:effectLst>
                  <a:outerShdw blurRad="38100" dist="38100" dir="2700000" algn="tl">
                    <a:srgbClr val="000000">
                      <a:alpha val="43137"/>
                    </a:srgbClr>
                  </a:outerShdw>
                </a:effectLst>
              </a:rPr>
              <a:t>ಕೈಗೊಳ್ಳಬೇಕಾದ</a:t>
            </a:r>
            <a:r>
              <a:rPr lang="en-US" sz="3600" b="1" dirty="0" smtClean="0">
                <a:solidFill>
                  <a:schemeClr val="accent1"/>
                </a:solidFill>
                <a:effectLst>
                  <a:outerShdw blurRad="38100" dist="38100" dir="2700000" algn="tl">
                    <a:srgbClr val="000000">
                      <a:alpha val="43137"/>
                    </a:srgbClr>
                  </a:outerShdw>
                </a:effectLst>
              </a:rPr>
              <a:t> </a:t>
            </a:r>
            <a:r>
              <a:rPr lang="en-US" sz="3600" b="1" dirty="0" err="1" smtClean="0">
                <a:solidFill>
                  <a:schemeClr val="accent1"/>
                </a:solidFill>
                <a:effectLst>
                  <a:outerShdw blurRad="38100" dist="38100" dir="2700000" algn="tl">
                    <a:srgbClr val="000000">
                      <a:alpha val="43137"/>
                    </a:srgbClr>
                  </a:outerShdw>
                </a:effectLst>
              </a:rPr>
              <a:t>ತೀರ್ಮಾನಗಳು</a:t>
            </a:r>
            <a:endParaRPr lang="en-US" sz="3600" b="1" dirty="0" smtClean="0">
              <a:solidFill>
                <a:schemeClr val="accent1"/>
              </a:solidFill>
              <a:effectLst>
                <a:outerShdw blurRad="38100" dist="38100" dir="2700000" algn="tl">
                  <a:srgbClr val="000000">
                    <a:alpha val="43137"/>
                  </a:srgbClr>
                </a:outerShdw>
              </a:effectLst>
            </a:endParaRPr>
          </a:p>
          <a:p>
            <a:endParaRPr lang="en-US" dirty="0" smtClean="0"/>
          </a:p>
          <a:p>
            <a:pPr>
              <a:lnSpc>
                <a:spcPct val="150000"/>
              </a:lnSpc>
            </a:pPr>
            <a:r>
              <a:rPr lang="en-US" dirty="0" err="1" smtClean="0"/>
              <a:t>ಪೂರ್ವಾಹತೆ</a:t>
            </a:r>
            <a:r>
              <a:rPr lang="en-US" dirty="0" smtClean="0"/>
              <a:t> </a:t>
            </a:r>
            <a:r>
              <a:rPr lang="en-US" dirty="0" err="1" smtClean="0"/>
              <a:t>ಪರಿಶೀಲನೆ</a:t>
            </a:r>
            <a:r>
              <a:rPr lang="en-US" dirty="0" smtClean="0"/>
              <a:t> </a:t>
            </a:r>
            <a:r>
              <a:rPr lang="en-US" dirty="0" err="1" smtClean="0"/>
              <a:t>ಮಾಡುವುದು</a:t>
            </a:r>
            <a:r>
              <a:rPr lang="en-US" dirty="0" smtClean="0"/>
              <a:t>.</a:t>
            </a:r>
          </a:p>
          <a:p>
            <a:pPr>
              <a:lnSpc>
                <a:spcPct val="150000"/>
              </a:lnSpc>
            </a:pPr>
            <a:r>
              <a:rPr lang="en-US" dirty="0" err="1" smtClean="0"/>
              <a:t>ಎರಡು</a:t>
            </a:r>
            <a:r>
              <a:rPr lang="en-US" dirty="0" smtClean="0"/>
              <a:t> </a:t>
            </a:r>
            <a:r>
              <a:rPr lang="en-US" dirty="0" err="1" smtClean="0"/>
              <a:t>ಲಕೋಟೆಯಲ್ಲಿ</a:t>
            </a:r>
            <a:r>
              <a:rPr lang="en-US" dirty="0" smtClean="0"/>
              <a:t> </a:t>
            </a:r>
            <a:r>
              <a:rPr lang="en-US" dirty="0" err="1" smtClean="0"/>
              <a:t>ಜಾಹಿರಾತು</a:t>
            </a:r>
            <a:r>
              <a:rPr lang="en-US" dirty="0" smtClean="0"/>
              <a:t> </a:t>
            </a:r>
            <a:r>
              <a:rPr lang="en-US" dirty="0" err="1" smtClean="0"/>
              <a:t>ನಿಯಮ</a:t>
            </a:r>
            <a:r>
              <a:rPr lang="en-US" dirty="0" smtClean="0"/>
              <a:t> </a:t>
            </a:r>
            <a:r>
              <a:rPr lang="en-US" dirty="0" err="1" smtClean="0"/>
              <a:t>ಅನುಸರಣೆ</a:t>
            </a:r>
            <a:r>
              <a:rPr lang="en-US" dirty="0" smtClean="0"/>
              <a:t>.</a:t>
            </a:r>
          </a:p>
          <a:p>
            <a:pPr>
              <a:lnSpc>
                <a:spcPct val="150000"/>
              </a:lnSpc>
            </a:pPr>
            <a:r>
              <a:rPr lang="en-US" dirty="0" err="1" smtClean="0"/>
              <a:t>ಎರಡು</a:t>
            </a:r>
            <a:r>
              <a:rPr lang="en-US" dirty="0" smtClean="0"/>
              <a:t> </a:t>
            </a:r>
            <a:r>
              <a:rPr lang="en-US" dirty="0" err="1" smtClean="0"/>
              <a:t>ಹಂತದ</a:t>
            </a:r>
            <a:r>
              <a:rPr lang="en-US" dirty="0" smtClean="0"/>
              <a:t> </a:t>
            </a:r>
            <a:r>
              <a:rPr lang="en-US" dirty="0" err="1" smtClean="0"/>
              <a:t>ಟೆಂಡರ್</a:t>
            </a:r>
            <a:r>
              <a:rPr lang="en-US" dirty="0" smtClean="0"/>
              <a:t> </a:t>
            </a:r>
            <a:r>
              <a:rPr lang="en-US" dirty="0" err="1" smtClean="0"/>
              <a:t>ಕ್ರಮ</a:t>
            </a:r>
            <a:r>
              <a:rPr lang="en-US" dirty="0" smtClean="0"/>
              <a:t> </a:t>
            </a:r>
            <a:r>
              <a:rPr lang="en-US" dirty="0" err="1" smtClean="0"/>
              <a:t>ಅನುಸರಣೆ</a:t>
            </a:r>
            <a:r>
              <a:rPr lang="en-US" dirty="0" smtClean="0"/>
              <a:t>.</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381000"/>
            <a:ext cx="8183880" cy="6019800"/>
          </a:xfrm>
        </p:spPr>
        <p:txBody>
          <a:bodyPr>
            <a:normAutofit lnSpcReduction="10000"/>
          </a:bodyPr>
          <a:lstStyle/>
          <a:p>
            <a:pPr algn="ctr">
              <a:buNone/>
            </a:pPr>
            <a:r>
              <a:rPr lang="kn-IN" sz="3000" b="1" dirty="0" smtClean="0">
                <a:solidFill>
                  <a:schemeClr val="accent1"/>
                </a:solidFill>
                <a:effectLst>
                  <a:outerShdw blurRad="38100" dist="38100" dir="2700000" algn="tl">
                    <a:srgbClr val="000000">
                      <a:alpha val="43137"/>
                    </a:srgbClr>
                  </a:outerShdw>
                </a:effectLst>
              </a:rPr>
              <a:t>ಪೂರ್ವಾ</a:t>
            </a:r>
            <a:r>
              <a:rPr lang="en-US" sz="3000" b="1" dirty="0" err="1" smtClean="0">
                <a:solidFill>
                  <a:schemeClr val="accent1"/>
                </a:solidFill>
                <a:effectLst>
                  <a:outerShdw blurRad="38100" dist="38100" dir="2700000" algn="tl">
                    <a:srgbClr val="000000">
                      <a:alpha val="43137"/>
                    </a:srgbClr>
                  </a:outerShdw>
                </a:effectLst>
              </a:rPr>
              <a:t>ರ್ಹ</a:t>
            </a:r>
            <a:r>
              <a:rPr lang="kn-IN" sz="3000" b="1" dirty="0" smtClean="0">
                <a:solidFill>
                  <a:schemeClr val="accent1"/>
                </a:solidFill>
                <a:effectLst>
                  <a:outerShdw blurRad="38100" dist="38100" dir="2700000" algn="tl">
                    <a:srgbClr val="000000">
                      <a:alpha val="43137"/>
                    </a:srgbClr>
                  </a:outerShdw>
                </a:effectLst>
              </a:rPr>
              <a:t>ತೆ </a:t>
            </a:r>
            <a:r>
              <a:rPr lang="kn-IN" sz="3000" b="1" dirty="0" smtClean="0">
                <a:solidFill>
                  <a:schemeClr val="accent1"/>
                </a:solidFill>
                <a:effectLst>
                  <a:outerShdw blurRad="38100" dist="38100" dir="2700000" algn="tl">
                    <a:srgbClr val="000000">
                      <a:alpha val="43137"/>
                    </a:srgbClr>
                  </a:outerShdw>
                </a:effectLst>
              </a:rPr>
              <a:t>ಪರಿಶೀಲನೆ ಮಾಡುವುದು</a:t>
            </a:r>
            <a:r>
              <a:rPr lang="en-US" sz="3000" b="1" dirty="0" smtClean="0">
                <a:solidFill>
                  <a:schemeClr val="accent1"/>
                </a:solidFill>
                <a:effectLst>
                  <a:outerShdw blurRad="38100" dist="38100" dir="2700000" algn="tl">
                    <a:srgbClr val="000000">
                      <a:alpha val="43137"/>
                    </a:srgbClr>
                  </a:outerShdw>
                </a:effectLst>
              </a:rPr>
              <a:t>.</a:t>
            </a:r>
          </a:p>
          <a:p>
            <a:pPr algn="ctr">
              <a:buNone/>
            </a:pPr>
            <a:endParaRPr lang="en-US" sz="1500" b="1" dirty="0" smtClean="0">
              <a:solidFill>
                <a:schemeClr val="accent1"/>
              </a:solidFill>
              <a:effectLst>
                <a:outerShdw blurRad="38100" dist="38100" dir="2700000" algn="tl">
                  <a:srgbClr val="000000">
                    <a:alpha val="43137"/>
                  </a:srgbClr>
                </a:outerShdw>
              </a:effectLst>
            </a:endParaRPr>
          </a:p>
          <a:p>
            <a:pPr algn="just"/>
            <a:r>
              <a:rPr lang="kn-IN" sz="2000" dirty="0" smtClean="0"/>
              <a:t>ಟೆಂಡರ್‌ನಲ್ಲಿ ಸೂಚಿಸಿದಂತೆ, ಈ ಹಿಂದೆ ಮಾಡಿದ ಕಾಮಗಾರಿ/ ಸಾಮಾಗ್ರಿ ಮತ್ತು ಸೇವೆಯ ಅನುಭವ ಮತ್ತು ಅದಕ್ಕೆ ಸ೦ಬಂಧಿಸಿದ ವಿವರ ಇರಬೇಕು</a:t>
            </a:r>
            <a:r>
              <a:rPr lang="en-US" sz="2000" dirty="0" smtClean="0"/>
              <a:t>.</a:t>
            </a:r>
          </a:p>
          <a:p>
            <a:pPr algn="just"/>
            <a:endParaRPr lang="en-US" sz="2000" dirty="0" smtClean="0"/>
          </a:p>
          <a:p>
            <a:pPr algn="just"/>
            <a:r>
              <a:rPr lang="kn-IN" sz="2000" dirty="0" smtClean="0"/>
              <a:t>ಟೆ0ಡರ್‌ದಾರರಲ್ಲಿ ಇರುವ ನೌಕರ ವರ್ಗ, ಉಪಕರಣಗಳು, ನಿರ್ಮಾಣ ಮತ್ತು ಉತ್ಪಾದನೆಗೆ ಸ೦ಬ೦ಧಿಸಿದ೦ತೆ ಸೌಲಭ್ಯಗಳನ್ನು ಪರಿಶೀಲನೆ ಮಾಡಬೇಕು</a:t>
            </a:r>
            <a:r>
              <a:rPr lang="en-US" sz="2000" dirty="0" smtClean="0"/>
              <a:t>.</a:t>
            </a:r>
          </a:p>
          <a:p>
            <a:pPr algn="just"/>
            <a:endParaRPr lang="en-US" sz="2000" dirty="0" smtClean="0"/>
          </a:p>
          <a:p>
            <a:pPr algn="just"/>
            <a:r>
              <a:rPr lang="kn-IN" sz="2000" dirty="0" smtClean="0"/>
              <a:t>ಟೆಂಡರ್‌ದಾರನ ಆರ್ಥಿಕ ಸ್ಥಿತಿಗತಿ ಮತ್ತು ದೃಡತೆ ಹಾಗೂ ಆರ್ಹತೆಗಳನ್ನು ಪರಿಶೀಲಿಸಬೇಕು</a:t>
            </a:r>
            <a:r>
              <a:rPr lang="en-US" sz="2000" dirty="0" smtClean="0"/>
              <a:t>.</a:t>
            </a:r>
          </a:p>
          <a:p>
            <a:pPr algn="just"/>
            <a:endParaRPr lang="en-US" sz="2000" dirty="0" smtClean="0"/>
          </a:p>
          <a:p>
            <a:pPr algn="just"/>
            <a:r>
              <a:rPr lang="kn-IN" sz="2000" dirty="0" smtClean="0"/>
              <a:t>ಪೂರ್ವಾರ್ಹತೆ ನಿಗದಿ ಪಡಿಸಿದ ಸ೦ದರ್ಭದಲ್ಲಿ ಪೂರ್ವಾರ್ಹತೆ ಇರತಕ್ಕ ಟೆ೦ಡರ್‌ದಾರರು ಸಲ್ಲಿಸಿದ ಟೆಂಡ‌ನ್ನು ಮಾತ್ರ ಮೌಲ್ಯ ಮಾಪನ ಮಾಡಬೇಕು</a:t>
            </a:r>
            <a:r>
              <a:rPr lang="en-US" sz="2000" dirty="0" smtClean="0"/>
              <a:t>.</a:t>
            </a:r>
          </a:p>
          <a:p>
            <a:pPr algn="just"/>
            <a:endParaRPr lang="en-US" sz="2000" dirty="0" smtClean="0"/>
          </a:p>
          <a:p>
            <a:pPr algn="just"/>
            <a:r>
              <a:rPr lang="kn-IN" sz="2000" dirty="0" smtClean="0"/>
              <a:t>ಪೂರ್ವಾರ್ಹತೆ ಇರುವ ಟೆಂಡರ್‌ದಾರ ಪಟ್ಟಿಯನ್ನು ತಯಾರಿಸಬೇಕು</a:t>
            </a:r>
            <a:r>
              <a:rPr lang="en-US" sz="2000" dirty="0" smtClean="0"/>
              <a:t>.</a:t>
            </a:r>
          </a:p>
          <a:p>
            <a:pPr algn="just"/>
            <a:endParaRPr lang="en-US" sz="2000" dirty="0" smtClean="0"/>
          </a:p>
          <a:p>
            <a:pPr algn="just"/>
            <a:r>
              <a:rPr lang="kn-IN" sz="2000" dirty="0" smtClean="0"/>
              <a:t>ಈ ಬಗ್ಗೆ ರಾಜ್ಯದ ಮಾಹಿತಿ-ತ0ತ್ರಜ್ಞಾನ ಇಲಾಖೆಯಿ೦ದ ಪೂರ್ವಾರ್ಹತೆ ದವರ ಪಟ್ಟಿಯನ್ನು ಪಡೆಯಬಹುದು</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794248"/>
          </a:xfrm>
        </p:spPr>
        <p:txBody>
          <a:bodyPr>
            <a:normAutofit fontScale="92500" lnSpcReduction="20000"/>
          </a:bodyPr>
          <a:lstStyle/>
          <a:p>
            <a:pPr algn="ctr">
              <a:buNone/>
            </a:pPr>
            <a:r>
              <a:rPr lang="kn-IN" sz="3000" b="1" dirty="0" smtClean="0">
                <a:solidFill>
                  <a:schemeClr val="accent1"/>
                </a:solidFill>
                <a:effectLst>
                  <a:outerShdw blurRad="38100" dist="38100" dir="2700000" algn="tl">
                    <a:srgbClr val="000000">
                      <a:alpha val="43137"/>
                    </a:srgbClr>
                  </a:outerShdw>
                </a:effectLst>
              </a:rPr>
              <a:t>ಎರಡು ಲಕೋಟೆಯಲ್ಲಿ ಜಾಹೀರಾತು ನಿಯಮ ಅನುಸರಣೆ</a:t>
            </a:r>
            <a:r>
              <a:rPr lang="en-US" sz="3000" b="1" dirty="0" smtClean="0">
                <a:solidFill>
                  <a:schemeClr val="accent1"/>
                </a:solidFill>
                <a:effectLst>
                  <a:outerShdw blurRad="38100" dist="38100" dir="2700000" algn="tl">
                    <a:srgbClr val="000000">
                      <a:alpha val="43137"/>
                    </a:srgbClr>
                  </a:outerShdw>
                </a:effectLst>
              </a:rPr>
              <a:t>.</a:t>
            </a:r>
          </a:p>
          <a:p>
            <a:pPr algn="ctr">
              <a:buNone/>
            </a:pPr>
            <a:endParaRPr lang="en-US" b="1" dirty="0" smtClean="0">
              <a:solidFill>
                <a:schemeClr val="accent1"/>
              </a:solidFill>
              <a:effectLst>
                <a:outerShdw blurRad="38100" dist="38100" dir="2700000" algn="tl">
                  <a:srgbClr val="000000">
                    <a:alpha val="43137"/>
                  </a:srgbClr>
                </a:outerShdw>
              </a:effectLst>
            </a:endParaRPr>
          </a:p>
          <a:p>
            <a:pPr algn="just">
              <a:lnSpc>
                <a:spcPct val="150000"/>
              </a:lnSpc>
            </a:pPr>
            <a:r>
              <a:rPr lang="kn-IN" sz="2000" dirty="0" smtClean="0"/>
              <a:t>ಟೆ0ಡರ್‌ನಲ್ಲಿ ಸೂಚಿಸಿದ೦ತೆ, ಈ ಹಿಂದೆ ಮಾಡಿದ ಕಾಮಗಾರಿ/ ಸಾಮಾಗ್ರಿ ಮತ್ತು ಸೇವೆಯ ಅನುಭವ ಮತ್ತು ಅದಕ್ಕೆ ಸಂಬಂಧಿಸಿದ ವಿವರ ಇರಬೇಕು</a:t>
            </a:r>
            <a:r>
              <a:rPr lang="en-US" sz="2000" dirty="0" smtClean="0"/>
              <a:t>.</a:t>
            </a:r>
          </a:p>
          <a:p>
            <a:pPr algn="just">
              <a:lnSpc>
                <a:spcPct val="150000"/>
              </a:lnSpc>
            </a:pPr>
            <a:r>
              <a:rPr lang="kn-IN" sz="2000" dirty="0" smtClean="0"/>
              <a:t>ಟೆ0ಡರ್‌ದಾರರಲ್ಲಿ ಇರಬಹುದಾದ ನೌಕರ ವರ್ಗ, ಉಪಕರಣಗಳು, ನಿರ್ಮಾಣ ಕೌಶಲ್ಯ ಅದಕ್ಕಿರುವ ಉತ್ಪಾದನ ಸೌಲಭ್ಯದ ವಿವರ ಇರಬೇಕು</a:t>
            </a:r>
            <a:r>
              <a:rPr lang="en-US" sz="2000" dirty="0" smtClean="0"/>
              <a:t>.</a:t>
            </a:r>
          </a:p>
          <a:p>
            <a:pPr algn="just">
              <a:lnSpc>
                <a:spcPct val="150000"/>
              </a:lnSpc>
            </a:pPr>
            <a:r>
              <a:rPr lang="kn-IN" sz="2000" dirty="0" smtClean="0"/>
              <a:t>ಟೆ0ಡರ್‌ದಾರನಿಗೆ ಅರ್ಜಿ ಸಲ್ಲಿಸಲು ದೃಡತೆ ಹಾಗೂ ಆರ್ಹತೆ ಇರಬೇಕು</a:t>
            </a:r>
            <a:r>
              <a:rPr lang="en-US" sz="2000" dirty="0" smtClean="0"/>
              <a:t>.</a:t>
            </a:r>
          </a:p>
          <a:p>
            <a:pPr algn="just">
              <a:lnSpc>
                <a:spcPct val="150000"/>
              </a:lnSpc>
            </a:pPr>
            <a:r>
              <a:rPr lang="kn-IN" sz="2000" dirty="0" smtClean="0"/>
              <a:t>ಇತರೆ ಯಾವುದೇ ಪೂರಕ ಮಾಹಿತಿಗಳು ಇರಬಹುದು</a:t>
            </a:r>
            <a:r>
              <a:rPr lang="en-US" sz="2000" dirty="0" smtClean="0"/>
              <a:t>.</a:t>
            </a:r>
          </a:p>
          <a:p>
            <a:pPr algn="just">
              <a:lnSpc>
                <a:spcPct val="150000"/>
              </a:lnSpc>
            </a:pPr>
            <a:r>
              <a:rPr lang="kn-IN" sz="2000" dirty="0" smtClean="0"/>
              <a:t>1ನೇ ಲಕೋಟೆ ತೆರೆದು ಟೆಂಡರ್‌ನಲ್ಲಿರುವ ಷರತ್ತುಗಳನ್ನು ಪರಿಶೀಲಿಸಿ ಮೌಲ್ಯಮಾಪನ ಮಾಡಿ ಅರ್ಹ ಪಟ್ಟಿ ತಯಾರಿ ಮಾಡುವುದು</a:t>
            </a:r>
            <a:r>
              <a:rPr lang="en-US" sz="2000" dirty="0" smtClean="0"/>
              <a:t>.</a:t>
            </a:r>
          </a:p>
          <a:p>
            <a:pPr algn="just">
              <a:lnSpc>
                <a:spcPct val="150000"/>
              </a:lnSpc>
            </a:pPr>
            <a:r>
              <a:rPr lang="kn-IN" sz="2000" dirty="0" smtClean="0"/>
              <a:t>ತಾ೦ತ್ರಿಕ ಅರ್ಹತೆ ಇರುವ ಟೆಂಡರ್‌ದಾರರ ಪ್ರಕಾರ ಮಾತ್ರ 2ನೇ ಲಕೋಟೆಯನ್ನು ತೆರೆಯಬೇಕು. ಅದರಲ್ಲಿ ಹಣಕಾಸಿನ ಬಿಡ್ ಇರುತ್ತದೆ.</a:t>
            </a:r>
            <a:endParaRPr lang="en-US" sz="2000" dirty="0" smtClean="0"/>
          </a:p>
          <a:p>
            <a:pPr algn="just">
              <a:lnSpc>
                <a:spcPct val="150000"/>
              </a:lnSpc>
            </a:pPr>
            <a:r>
              <a:rPr lang="kn-IN" sz="2000" dirty="0" smtClean="0"/>
              <a:t>ಯಾವುದೇ ಕಾರಣಕ್ಕೂ ತಾಂತ್ರಿಕ ಬಿಡ್‌ ನಲ್ಲಿ ಅರ್ಹತೆ ಪಡೆಯದ ಟೆ0ಡರ್‌ದಾರರ 03 ಹಣಕಾಸು ಬಿಡ್ಜ್ ಇರತಕ್ಕ 2ನೇ ಲಕೋಟೆಯನ್ನು ತೆರೆಯಕೂಡದು.</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870448"/>
          </a:xfrm>
        </p:spPr>
        <p:txBody>
          <a:bodyPr>
            <a:normAutofit fontScale="92500" lnSpcReduction="20000"/>
          </a:bodyPr>
          <a:lstStyle/>
          <a:p>
            <a:pPr algn="ctr">
              <a:buNone/>
            </a:pPr>
            <a:r>
              <a:rPr lang="kn-IN" sz="3000" b="1" dirty="0" smtClean="0">
                <a:solidFill>
                  <a:schemeClr val="accent1"/>
                </a:solidFill>
                <a:effectLst>
                  <a:outerShdw blurRad="38100" dist="38100" dir="2700000" algn="tl">
                    <a:srgbClr val="000000">
                      <a:alpha val="43137"/>
                    </a:srgbClr>
                  </a:outerShdw>
                </a:effectLst>
              </a:rPr>
              <a:t>ಎರಡ</a:t>
            </a:r>
            <a:r>
              <a:rPr lang="en-US" sz="3000" b="1" dirty="0" err="1" smtClean="0">
                <a:solidFill>
                  <a:schemeClr val="accent1"/>
                </a:solidFill>
                <a:effectLst>
                  <a:outerShdw blurRad="38100" dist="38100" dir="2700000" algn="tl">
                    <a:srgbClr val="000000">
                      <a:alpha val="43137"/>
                    </a:srgbClr>
                  </a:outerShdw>
                </a:effectLst>
              </a:rPr>
              <a:t>ನೇ</a:t>
            </a:r>
            <a:r>
              <a:rPr lang="kn-IN" sz="3000" b="1" dirty="0" smtClean="0">
                <a:solidFill>
                  <a:schemeClr val="accent1"/>
                </a:solidFill>
                <a:effectLst>
                  <a:outerShdw blurRad="38100" dist="38100" dir="2700000" algn="tl">
                    <a:srgbClr val="000000">
                      <a:alpha val="43137"/>
                    </a:srgbClr>
                  </a:outerShdw>
                </a:effectLst>
              </a:rPr>
              <a:t> </a:t>
            </a:r>
            <a:r>
              <a:rPr lang="kn-IN" sz="3000" b="1" dirty="0" smtClean="0">
                <a:solidFill>
                  <a:schemeClr val="accent1"/>
                </a:solidFill>
                <a:effectLst>
                  <a:outerShdw blurRad="38100" dist="38100" dir="2700000" algn="tl">
                    <a:srgbClr val="000000">
                      <a:alpha val="43137"/>
                    </a:srgbClr>
                  </a:outerShdw>
                </a:effectLst>
              </a:rPr>
              <a:t>ಹಂತದ ಟೆಂಡ‌ರ್ ಕ್ರಮ ಅನುಸರಣೆ</a:t>
            </a:r>
            <a:r>
              <a:rPr lang="en-US" sz="3000" b="1" dirty="0" smtClean="0">
                <a:solidFill>
                  <a:schemeClr val="accent1"/>
                </a:solidFill>
                <a:effectLst>
                  <a:outerShdw blurRad="38100" dist="38100" dir="2700000" algn="tl">
                    <a:srgbClr val="000000">
                      <a:alpha val="43137"/>
                    </a:srgbClr>
                  </a:outerShdw>
                </a:effectLst>
              </a:rPr>
              <a:t>.</a:t>
            </a:r>
          </a:p>
          <a:p>
            <a:endParaRPr lang="en-US" sz="1700" dirty="0" smtClean="0"/>
          </a:p>
          <a:p>
            <a:pPr algn="just">
              <a:lnSpc>
                <a:spcPct val="150000"/>
              </a:lnSpc>
            </a:pPr>
            <a:r>
              <a:rPr lang="kn-IN" sz="2200" dirty="0" smtClean="0"/>
              <a:t>ಇದು ಮುಖ್ಯವಾಗಿ ತಾಂತ್ರಿಕ</a:t>
            </a:r>
            <a:r>
              <a:rPr lang="en-US" sz="2200" dirty="0" smtClean="0"/>
              <a:t> </a:t>
            </a:r>
            <a:r>
              <a:rPr lang="kn-IN" sz="2200" dirty="0" smtClean="0"/>
              <a:t>ಟೆಂಡರ್ ಅಗಿರುತ್ತದೆ</a:t>
            </a:r>
            <a:r>
              <a:rPr lang="en-US" sz="2200" dirty="0" smtClean="0"/>
              <a:t>. </a:t>
            </a:r>
          </a:p>
          <a:p>
            <a:pPr algn="just">
              <a:lnSpc>
                <a:spcPct val="150000"/>
              </a:lnSpc>
            </a:pPr>
            <a:r>
              <a:rPr lang="kn-IN" sz="2200" dirty="0" smtClean="0"/>
              <a:t>ಟೆ೦ಡರ್‌ದಾರರು ತಮ್ಮ ತಾಂತ್ರಿಕ ಟೆಂಡರ್‌ನ್ನು ಸಲ್ಲಿಸುವಾಗ ಸರಿಯಾದ ತಾ೦ತ್ರಿಕ ವಿವರವನ್ನು ನೀಡಬೇಕು</a:t>
            </a:r>
            <a:r>
              <a:rPr lang="en-US" sz="2200" dirty="0" smtClean="0"/>
              <a:t>.</a:t>
            </a:r>
          </a:p>
          <a:p>
            <a:pPr algn="just">
              <a:lnSpc>
                <a:spcPct val="150000"/>
              </a:lnSpc>
            </a:pPr>
            <a:r>
              <a:rPr lang="kn-IN" sz="2200" dirty="0" smtClean="0"/>
              <a:t>ಟೆ೦ಡ‌ರ್ ದಾಖಲಾತಿಗಳು ವತ್ಯಾಸವನ್ನುಮತ್ತು ವಾಸ್ತವಿಕತೆಯಲ್ಲಿ ವ್ಯತ್ಯಾಸವಿದ್ದಲ್ಲಿ </a:t>
            </a:r>
            <a:r>
              <a:rPr lang="en-US" sz="2200" dirty="0" smtClean="0"/>
              <a:t>ಆ </a:t>
            </a:r>
            <a:r>
              <a:rPr lang="en-US" sz="2200" dirty="0" err="1" smtClean="0"/>
              <a:t>ವ್ಯತ್ಯಾಸವನ್ನು</a:t>
            </a:r>
            <a:r>
              <a:rPr lang="en-US" sz="2200" dirty="0" smtClean="0"/>
              <a:t> </a:t>
            </a:r>
            <a:r>
              <a:rPr lang="kn-IN" sz="2200" dirty="0" smtClean="0"/>
              <a:t>ಗುರುತಿಸಬೇಕು </a:t>
            </a:r>
            <a:endParaRPr lang="en-US" sz="2200" dirty="0" smtClean="0"/>
          </a:p>
          <a:p>
            <a:pPr algn="just">
              <a:lnSpc>
                <a:spcPct val="150000"/>
              </a:lnSpc>
            </a:pPr>
            <a:r>
              <a:rPr lang="kn-IN" sz="2200" dirty="0" smtClean="0"/>
              <a:t>ವ್ಯತ್ಯಾಸ, ಮೌಲ್ಯಮಾಪನೆ, ಪರಿಶೀಲನೆ ನಂತರ ಟೆಂಡರ್‌ದಾರನನ್ನು ಅಹ್ವಾನಿಸಿ, ತಾಂತ್ರಿಕ ನಿರ್ಧಿಷ್ಟತೆ ತಿದ್ದುಪಡಿ ಮಾಡಿ ಮತ್ತು ತಿದ್ದುಪಡಿಯ ಪ್ರಕಾರ ಅರ್ಹತೆ ಪಟ್ಟಿ ತಯಾರಿಸಬೇಕು</a:t>
            </a:r>
            <a:r>
              <a:rPr lang="en-US" sz="2200" dirty="0" smtClean="0"/>
              <a:t>.</a:t>
            </a:r>
          </a:p>
          <a:p>
            <a:pPr algn="just">
              <a:lnSpc>
                <a:spcPct val="150000"/>
              </a:lnSpc>
            </a:pPr>
            <a:r>
              <a:rPr lang="kn-IN" sz="2200" dirty="0" smtClean="0"/>
              <a:t>ಅರ್ಹತೆ ಇದ್ದವರಿಗೆ ಮಾತ್ರ ಎರಡನೇ ಹ೦ತದ ಟೆಂಡರ್‌ನಲ್ಲಿ ಭಾಗವಹಿಸಲು ಅವಕಾಶ ನೀಡಬೇಕು</a:t>
            </a:r>
            <a:r>
              <a:rPr lang="en-US" sz="2200" dirty="0" smtClean="0"/>
              <a:t>.</a:t>
            </a:r>
          </a:p>
          <a:p>
            <a:pPr algn="just">
              <a:lnSpc>
                <a:spcPct val="150000"/>
              </a:lnSpc>
            </a:pPr>
            <a:r>
              <a:rPr lang="kn-IN" sz="2200" dirty="0" smtClean="0"/>
              <a:t>ಹೀಗೆ ಪುನರ್ ಅರ್ಹತೆಯೊ0ದಿಗೆ 2 ನೇ ಹ೦ತಕ್ಕೆ ಬರುವ ಹಣಕಾಸಿನ ಬಿಡ್ಸ್ ನಲ್ಲಿ ಟೆ0ಡರನ್ನು ಟೆಂಡ‌ರ್ ದಾರರ ಸಮ್ಮುಖದಲ್ಲಿ ತೆರೆದು ಮೌಲ್ಯಮಾಪನ </a:t>
            </a:r>
            <a:r>
              <a:rPr lang="kn-IN" sz="2200" dirty="0" smtClean="0"/>
              <a:t>ಮಾಡಬೇಕು</a:t>
            </a:r>
            <a:r>
              <a:rPr lang="en-US" sz="2200" dirty="0" smtClean="0"/>
              <a:t>.</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794248"/>
          </a:xfrm>
        </p:spPr>
        <p:txBody>
          <a:bodyPr>
            <a:normAutofit fontScale="92500"/>
          </a:bodyPr>
          <a:lstStyle/>
          <a:p>
            <a:pPr algn="ctr">
              <a:buNone/>
            </a:pPr>
            <a:r>
              <a:rPr lang="kn-IN" sz="3200" b="1" dirty="0" smtClean="0">
                <a:solidFill>
                  <a:schemeClr val="accent1"/>
                </a:solidFill>
                <a:effectLst>
                  <a:outerShdw blurRad="38100" dist="38100" dir="2700000" algn="tl">
                    <a:srgbClr val="000000">
                      <a:alpha val="43137"/>
                    </a:srgbClr>
                  </a:outerShdw>
                </a:effectLst>
              </a:rPr>
              <a:t>ಟೆಂಡರ್‌ಗೆ ಸಂಬಂಧಿಸಿದ ಪೂರ್ವಭಾವಿ ಕೆಲಸಗಳು</a:t>
            </a:r>
            <a:r>
              <a:rPr lang="en-US" sz="3200" b="1" dirty="0" smtClean="0">
                <a:solidFill>
                  <a:schemeClr val="accent1"/>
                </a:solidFill>
                <a:effectLst>
                  <a:outerShdw blurRad="38100" dist="38100" dir="2700000" algn="tl">
                    <a:srgbClr val="000000">
                      <a:alpha val="43137"/>
                    </a:srgbClr>
                  </a:outerShdw>
                </a:effectLst>
              </a:rPr>
              <a:t>.</a:t>
            </a:r>
          </a:p>
          <a:p>
            <a:endParaRPr lang="en-US" dirty="0" smtClean="0"/>
          </a:p>
          <a:p>
            <a:pPr algn="just">
              <a:lnSpc>
                <a:spcPct val="150000"/>
              </a:lnSpc>
            </a:pPr>
            <a:r>
              <a:rPr lang="kn-IN" sz="2200" dirty="0" smtClean="0"/>
              <a:t>ಟೆಂಡ‌ರ್ ನಿಗದಿತ ನಮೂನೆಯಲ್ಲಿ ತಯಾರಿಸಬೇಕು</a:t>
            </a:r>
            <a:r>
              <a:rPr lang="en-US" sz="2200" dirty="0" smtClean="0"/>
              <a:t>.</a:t>
            </a:r>
          </a:p>
          <a:p>
            <a:pPr algn="just">
              <a:lnSpc>
                <a:spcPct val="150000"/>
              </a:lnSpc>
            </a:pPr>
            <a:r>
              <a:rPr lang="kn-IN" sz="2200" dirty="0" smtClean="0"/>
              <a:t>ಟೆಂಡ‌ರ್ </a:t>
            </a:r>
            <a:r>
              <a:rPr lang="en-US" sz="2200" dirty="0" err="1" smtClean="0"/>
              <a:t>ಆಹ್ವಾನಿಸುವ</a:t>
            </a:r>
            <a:r>
              <a:rPr lang="kn-IN" sz="2200" dirty="0" smtClean="0"/>
              <a:t> ಅಧಿಕಾರಿ </a:t>
            </a:r>
            <a:r>
              <a:rPr lang="kn-IN" sz="2200" dirty="0" smtClean="0"/>
              <a:t>ಟೆಂಡರ್ </a:t>
            </a:r>
            <a:r>
              <a:rPr lang="kn-IN" sz="2200" dirty="0" smtClean="0"/>
              <a:t>ಪ್ರಕಟಿ</a:t>
            </a:r>
            <a:r>
              <a:rPr lang="en-US" sz="2200" dirty="0" err="1" smtClean="0"/>
              <a:t>ಸು</a:t>
            </a:r>
            <a:r>
              <a:rPr lang="kn-IN" sz="2200" dirty="0" smtClean="0"/>
              <a:t>ವುದು</a:t>
            </a:r>
            <a:r>
              <a:rPr lang="en-US" sz="2200" dirty="0" smtClean="0"/>
              <a:t>.</a:t>
            </a:r>
          </a:p>
          <a:p>
            <a:pPr algn="just">
              <a:lnSpc>
                <a:spcPct val="150000"/>
              </a:lnSpc>
            </a:pPr>
            <a:r>
              <a:rPr lang="kn-IN" sz="2200" dirty="0" smtClean="0"/>
              <a:t>ನಿಯಮಗಳ೦ತೆ ಟೆ೦ಡರ್ ಮೊತ್ತ </a:t>
            </a:r>
            <a:r>
              <a:rPr lang="kn-IN" sz="2200" dirty="0" smtClean="0"/>
              <a:t>ರೂ.2 </a:t>
            </a:r>
            <a:r>
              <a:rPr lang="kn-IN" sz="2200" dirty="0" smtClean="0"/>
              <a:t>ಕೋಟಿಯವರೆಗಿದ್ದಲ್ಲಿ, ಪ್ರಕಟಣೆ ದಿನಾ0ಕದಿ0ದ 30 ದಿನಗಳ ಕಾಲಾವಾಕಾಶವನ್ನು ನೀಡಿ ಟೆ೦ಡರ್ ಸಲ್ಲಿಸಲು ಸೂಚಿಸಬೇಕು. ಟೆ0ಡ‌ರ್ ಮೊತ್ತ 2 ಕೋಟಿಗಿ0ತ ಹೆಚ್ಚು ಇದ್ದಲ್ಲಿ 60 ದಿನಗಳ ಕಾಲಾವಕಾಶ ಕೊಡಬೇಕು</a:t>
            </a:r>
            <a:r>
              <a:rPr lang="en-US" sz="2200" dirty="0" smtClean="0"/>
              <a:t>.</a:t>
            </a:r>
          </a:p>
          <a:p>
            <a:pPr algn="just">
              <a:lnSpc>
                <a:spcPct val="150000"/>
              </a:lnSpc>
            </a:pPr>
            <a:r>
              <a:rPr lang="kn-IN" sz="2200" dirty="0" smtClean="0"/>
              <a:t>ಟೆ೦ಡರ್ ನೀಡಲು ಇಚ್ಚಿಸುವ ಕಾ0ಟ್ರಾಕ್ಟ್ದಾರರಿಗೆ ಸೂಕ್ತ ಪ್ರಮಾಣದಲ್ಲಿ ಟೆ0ಡರ್ ದಾಖಲಾತಿಗಳನ್ನು ಒದಗಿಸುವುದು</a:t>
            </a:r>
            <a:r>
              <a:rPr lang="en-US" sz="2200" dirty="0" smtClean="0"/>
              <a:t>.</a:t>
            </a:r>
          </a:p>
          <a:p>
            <a:pPr algn="just">
              <a:lnSpc>
                <a:spcPct val="150000"/>
              </a:lnSpc>
            </a:pPr>
            <a:r>
              <a:rPr lang="en-US" sz="2200" dirty="0" err="1" smtClean="0"/>
              <a:t>ಸ್ವೀಕರಿಸಲ್ಪಟ್ಟ</a:t>
            </a:r>
            <a:r>
              <a:rPr lang="en-US" sz="2200" dirty="0" smtClean="0"/>
              <a:t> </a:t>
            </a:r>
            <a:r>
              <a:rPr lang="kn-IN" sz="2200" dirty="0" smtClean="0"/>
              <a:t>ಟೆ೦ಡರ್</a:t>
            </a:r>
            <a:r>
              <a:rPr lang="en-US" sz="2200" dirty="0" smtClean="0"/>
              <a:t> </a:t>
            </a:r>
            <a:r>
              <a:rPr lang="kn-IN" sz="2200" dirty="0" smtClean="0"/>
              <a:t>ಗಳನ್ನು</a:t>
            </a:r>
            <a:r>
              <a:rPr lang="en-US" sz="2200" dirty="0" smtClean="0"/>
              <a:t> </a:t>
            </a:r>
            <a:r>
              <a:rPr lang="en-US" sz="2200" dirty="0" err="1" smtClean="0"/>
              <a:t>ಪರಾಮರ್ಶಿಸಿ</a:t>
            </a:r>
            <a:r>
              <a:rPr lang="kn-IN" sz="2200" dirty="0" smtClean="0"/>
              <a:t> ಸ೦ಬ೦ಧಪಟ್ಟ </a:t>
            </a:r>
            <a:r>
              <a:rPr lang="kn-IN" sz="2200" dirty="0" smtClean="0"/>
              <a:t>ಟೆಂಡರ್ ಅ0ಗೀಕರಿಸತಕ್ಕ </a:t>
            </a:r>
            <a:r>
              <a:rPr lang="kn-IN" sz="2200" dirty="0" smtClean="0"/>
              <a:t>ಪ್ರಾಧಿಕಾರಕ್ಕೆ</a:t>
            </a:r>
            <a:r>
              <a:rPr lang="en-US" sz="2200" dirty="0" smtClean="0"/>
              <a:t> KPPP Portal </a:t>
            </a:r>
            <a:r>
              <a:rPr lang="en-US" sz="2200" dirty="0" err="1" smtClean="0"/>
              <a:t>ನಲ್ಲಿ</a:t>
            </a:r>
            <a:r>
              <a:rPr lang="kn-IN" sz="2200" dirty="0" smtClean="0"/>
              <a:t> </a:t>
            </a:r>
            <a:r>
              <a:rPr lang="kn-IN" sz="2200" dirty="0" smtClean="0"/>
              <a:t>ರವಾನಿಸುವುದು</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30352"/>
            <a:ext cx="8153400" cy="5108448"/>
          </a:xfrm>
        </p:spPr>
        <p:txBody>
          <a:bodyPr>
            <a:normAutofit/>
          </a:bodyPr>
          <a:lstStyle/>
          <a:p>
            <a:pPr algn="ctr">
              <a:buNone/>
            </a:pPr>
            <a:r>
              <a:rPr lang="kn-IN" sz="3200" b="1" dirty="0" smtClean="0">
                <a:solidFill>
                  <a:schemeClr val="accent1"/>
                </a:solidFill>
                <a:effectLst>
                  <a:outerShdw blurRad="38100" dist="38100" dir="2700000" algn="tl">
                    <a:srgbClr val="000000">
                      <a:alpha val="43137"/>
                    </a:srgbClr>
                  </a:outerShdw>
                </a:effectLst>
              </a:rPr>
              <a:t>ಟೆಂಡ‌ರ್ ಪ್ರಾಧಿಕಾರದ ಕಾರ್ಯವ್ಯಾಪ್ತಿ</a:t>
            </a:r>
            <a:r>
              <a:rPr lang="en-US" sz="3200" b="1" dirty="0" smtClean="0">
                <a:solidFill>
                  <a:schemeClr val="accent1"/>
                </a:solidFill>
                <a:effectLst>
                  <a:outerShdw blurRad="38100" dist="38100" dir="2700000" algn="tl">
                    <a:srgbClr val="000000">
                      <a:alpha val="43137"/>
                    </a:srgbClr>
                  </a:outerShdw>
                </a:effectLst>
              </a:rPr>
              <a:t>.</a:t>
            </a:r>
          </a:p>
          <a:p>
            <a:endParaRPr lang="en-US" dirty="0" smtClean="0"/>
          </a:p>
          <a:p>
            <a:pPr algn="just"/>
            <a:r>
              <a:rPr lang="kn-IN" sz="2000" dirty="0" smtClean="0"/>
              <a:t>ನಿಗದಿಪಡಿಸಿರುವ ಕಾಮಗಾರಿಯನ್ನು ಪರಿಶೀಲಿಸಿ ಅ0ಗೀಕರಿಸುವುದು</a:t>
            </a:r>
            <a:r>
              <a:rPr lang="en-US" sz="2000" dirty="0" smtClean="0"/>
              <a:t>.</a:t>
            </a:r>
          </a:p>
          <a:p>
            <a:pPr algn="just"/>
            <a:endParaRPr lang="en-US" sz="2000" dirty="0" smtClean="0"/>
          </a:p>
          <a:p>
            <a:pPr algn="just"/>
            <a:r>
              <a:rPr lang="kn-IN" sz="2000" dirty="0" smtClean="0"/>
              <a:t>ಕಾಮಗಾರಿಗೆ </a:t>
            </a:r>
            <a:r>
              <a:rPr lang="kn-IN" sz="2000" dirty="0" smtClean="0"/>
              <a:t>ಸಲ್ಲಿಸಲ್ಪಟ್ಟ ‌ ಸಾಮಾಗ್ರಿಗಳನ್ನು ಅಥವಾ ಅದಕ್ಕೆ ಸ0ಬ0ಧಿಸಿದ ಸೇವೆಗಳ ಟೆ0ಡರನ್ನು ಅ0ಗೀಕರಿಸುವ ಜವಾಬ್ದಾರಿಯನ್ನು ಟೆ೦ಡರ್ ಪ್ರಾಧಿಕಾರ ಹೊ೦ದಿರುತ್ತದೆ</a:t>
            </a:r>
            <a:r>
              <a:rPr lang="en-US" sz="2000" dirty="0" smtClean="0"/>
              <a:t>.</a:t>
            </a:r>
          </a:p>
          <a:p>
            <a:pPr algn="just"/>
            <a:endParaRPr lang="en-US" sz="2000" dirty="0" smtClean="0"/>
          </a:p>
          <a:p>
            <a:pPr algn="just"/>
            <a:r>
              <a:rPr lang="kn-IN" sz="2000" dirty="0" smtClean="0"/>
              <a:t>ಕಾಮಗಾರಿ ಇಲಾಖೆ, ನೀರಾವರಿ ಇಲಾಖೆ, ಸಣ್ಣ ನೀರಾವರಿ ಇಲಾಖೆಗಳ ಟೆಂಡ‌ರ್ ಮೌಲ್ಯ ರೂ 5 ಕೋಟಿ ಮೇಲ್ಪಟ್ಟಲ್ಲಿ ಟೆಂಡರ್ ಪರಿಶೀಲನಾ ಸಮಿತಿ ರಚಿಸಿ ಕೆಲಸ ನಿಯೋಜಿಸಬಹುದು</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565648"/>
          </a:xfrm>
        </p:spPr>
        <p:txBody>
          <a:bodyPr>
            <a:normAutofit/>
          </a:bodyPr>
          <a:lstStyle/>
          <a:p>
            <a:pPr algn="ctr">
              <a:buNone/>
            </a:pPr>
            <a:r>
              <a:rPr lang="kn-IN" sz="3500" b="1" dirty="0" smtClean="0">
                <a:solidFill>
                  <a:schemeClr val="accent1"/>
                </a:solidFill>
                <a:effectLst>
                  <a:outerShdw blurRad="38100" dist="38100" dir="2700000" algn="tl">
                    <a:srgbClr val="000000">
                      <a:alpha val="43137"/>
                    </a:srgbClr>
                  </a:outerShdw>
                </a:effectLst>
              </a:rPr>
              <a:t>ಗಮನಿಸಬೇಕಾದ ಅಂಶಗಳು</a:t>
            </a:r>
            <a:r>
              <a:rPr lang="en-US" sz="3500" b="1" dirty="0" smtClean="0">
                <a:solidFill>
                  <a:schemeClr val="accent1"/>
                </a:solidFill>
                <a:effectLst>
                  <a:outerShdw blurRad="38100" dist="38100" dir="2700000" algn="tl">
                    <a:srgbClr val="000000">
                      <a:alpha val="43137"/>
                    </a:srgbClr>
                  </a:outerShdw>
                </a:effectLst>
              </a:rPr>
              <a:t>.</a:t>
            </a:r>
          </a:p>
          <a:p>
            <a:endParaRPr lang="en-US" dirty="0" smtClean="0"/>
          </a:p>
          <a:p>
            <a:pPr algn="just"/>
            <a:r>
              <a:rPr lang="kn-IN" sz="2000" dirty="0" smtClean="0"/>
              <a:t>ಸರಿಯಾದ ತಾಂತ್ರಿಕ ವಿವರ</a:t>
            </a:r>
            <a:r>
              <a:rPr lang="en-US" sz="2000" dirty="0" smtClean="0"/>
              <a:t>. </a:t>
            </a:r>
          </a:p>
          <a:p>
            <a:pPr algn="just"/>
            <a:r>
              <a:rPr lang="kn-IN" sz="2000" dirty="0" smtClean="0"/>
              <a:t>ಸೂಕ್ತ ವಾಣಿಜ್ಯ ಷರತ್ತುಗಳು</a:t>
            </a:r>
            <a:r>
              <a:rPr lang="en-US" sz="2000" dirty="0" smtClean="0"/>
              <a:t>.</a:t>
            </a:r>
          </a:p>
          <a:p>
            <a:pPr algn="just"/>
            <a:endParaRPr lang="en-US" dirty="0" smtClean="0"/>
          </a:p>
          <a:p>
            <a:pPr algn="ctr">
              <a:buNone/>
            </a:pPr>
            <a:r>
              <a:rPr lang="kn-IN" b="1" u="sng" dirty="0" smtClean="0">
                <a:solidFill>
                  <a:schemeClr val="accent1"/>
                </a:solidFill>
              </a:rPr>
              <a:t>ಸರಿಯಾದ ತಾಂತ್ರಿಕ ವಿವರ</a:t>
            </a:r>
            <a:endParaRPr lang="en-US" b="1" u="sng" dirty="0" smtClean="0">
              <a:solidFill>
                <a:schemeClr val="accent1"/>
              </a:solidFill>
            </a:endParaRPr>
          </a:p>
          <a:p>
            <a:pPr algn="just"/>
            <a:r>
              <a:rPr lang="kn-IN" sz="2000" dirty="0" smtClean="0"/>
              <a:t>ಎಲ್ಲಿ ಅನಿವಾರ್ಯವೋ ಅಲ್ಲಿ ಬ್ರಾ0ಡ್ ಹೆಸರು ಅಥವಾ ಕ್ಯಾಟಲಾಗ್ ಹೆಸರು ಜೊತೆ ಸರಿಸಮಾನವಾದ ಸಾಮಾಗ್ರಿ ಎ0ದು ಸೂಚಿಸಬೇಕು</a:t>
            </a:r>
            <a:r>
              <a:rPr lang="en-US" sz="2000" dirty="0" smtClean="0"/>
              <a:t>.</a:t>
            </a:r>
          </a:p>
          <a:p>
            <a:pPr algn="just"/>
            <a:endParaRPr lang="en-US" sz="2000" dirty="0" smtClean="0"/>
          </a:p>
          <a:p>
            <a:pPr algn="just"/>
            <a:r>
              <a:rPr lang="kn-IN" sz="2000" dirty="0" smtClean="0"/>
              <a:t>ಸಾಧ್ಯವಾದಷ್ಟು ಮಟ್ಟಿಗೆ ಐ.ಎಸ್.ಐ. ನಂಬರನ್ನು ನಮೂದಿಸಬೇಕು</a:t>
            </a:r>
            <a:r>
              <a:rPr lang="en-US" sz="2000" dirty="0" smtClean="0"/>
              <a:t>.</a:t>
            </a:r>
          </a:p>
          <a:p>
            <a:pPr algn="just"/>
            <a:endParaRPr lang="en-US" sz="2000" dirty="0" smtClean="0"/>
          </a:p>
          <a:p>
            <a:pPr algn="just"/>
            <a:r>
              <a:rPr lang="kn-IN" sz="2000" dirty="0" smtClean="0"/>
              <a:t>ಅಸ್ತಿ ನಿರ್ಮಾಣದ ಟೆ0ಡರನ್ನು ತಾ0ತ್ರಿಕ ಪ್ರಾಧಿಕಾರ ಜಿಲ್ಲೆಯ ಚಾಲ್ತಿ ವರ್ಷದ ದರಪಟ್ಟಿಯ ಆಧಾರದ ಮೇಲೆ ತಯಾರಿಸಬೇಕು</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4346448"/>
          </a:xfrm>
        </p:spPr>
        <p:txBody>
          <a:bodyPr>
            <a:normAutofit lnSpcReduction="10000"/>
          </a:bodyPr>
          <a:lstStyle/>
          <a:p>
            <a:pPr algn="ctr">
              <a:buNone/>
            </a:pPr>
            <a:r>
              <a:rPr lang="en-US" sz="3600" b="1" dirty="0" err="1" smtClean="0">
                <a:solidFill>
                  <a:schemeClr val="accent1"/>
                </a:solidFill>
                <a:effectLst>
                  <a:outerShdw blurRad="38100" dist="38100" dir="2700000" algn="tl">
                    <a:srgbClr val="000000">
                      <a:alpha val="43137"/>
                    </a:srgbClr>
                  </a:outerShdw>
                </a:effectLst>
              </a:rPr>
              <a:t>ವಾಣಿಜ್ಯ</a:t>
            </a:r>
            <a:r>
              <a:rPr lang="en-US" sz="3600" b="1" dirty="0" smtClean="0">
                <a:solidFill>
                  <a:schemeClr val="accent1"/>
                </a:solidFill>
                <a:effectLst>
                  <a:outerShdw blurRad="38100" dist="38100" dir="2700000" algn="tl">
                    <a:srgbClr val="000000">
                      <a:alpha val="43137"/>
                    </a:srgbClr>
                  </a:outerShdw>
                </a:effectLst>
              </a:rPr>
              <a:t> </a:t>
            </a:r>
            <a:r>
              <a:rPr lang="en-US" sz="3600" b="1" dirty="0" err="1" smtClean="0">
                <a:solidFill>
                  <a:schemeClr val="accent1"/>
                </a:solidFill>
                <a:effectLst>
                  <a:outerShdw blurRad="38100" dist="38100" dir="2700000" algn="tl">
                    <a:srgbClr val="000000">
                      <a:alpha val="43137"/>
                    </a:srgbClr>
                  </a:outerShdw>
                </a:effectLst>
              </a:rPr>
              <a:t>ಷರತ್ತುಗಳು</a:t>
            </a:r>
            <a:r>
              <a:rPr lang="en-US" sz="3600" b="1" dirty="0" smtClean="0">
                <a:solidFill>
                  <a:schemeClr val="accent1"/>
                </a:solidFill>
                <a:effectLst>
                  <a:outerShdw blurRad="38100" dist="38100" dir="2700000" algn="tl">
                    <a:srgbClr val="000000">
                      <a:alpha val="43137"/>
                    </a:srgbClr>
                  </a:outerShdw>
                </a:effectLst>
              </a:rPr>
              <a:t>.</a:t>
            </a:r>
          </a:p>
          <a:p>
            <a:endParaRPr lang="en-US" dirty="0" smtClean="0"/>
          </a:p>
          <a:p>
            <a:r>
              <a:rPr lang="en-US" sz="2200" dirty="0" err="1" smtClean="0"/>
              <a:t>ನಂಬುಗೆಯ</a:t>
            </a:r>
            <a:r>
              <a:rPr lang="en-US" sz="2200" dirty="0" smtClean="0"/>
              <a:t> </a:t>
            </a:r>
            <a:r>
              <a:rPr lang="en-US" sz="2200" dirty="0" err="1" smtClean="0"/>
              <a:t>ಹಣ</a:t>
            </a:r>
            <a:r>
              <a:rPr lang="en-US" sz="2200" dirty="0" smtClean="0"/>
              <a:t> </a:t>
            </a:r>
            <a:r>
              <a:rPr lang="en-US" sz="2200" dirty="0" err="1" smtClean="0"/>
              <a:t>ಎ.ಎಂ.ಡಿ</a:t>
            </a:r>
            <a:r>
              <a:rPr lang="en-US" sz="2200" dirty="0" smtClean="0"/>
              <a:t>,</a:t>
            </a:r>
          </a:p>
          <a:p>
            <a:endParaRPr lang="en-US" sz="2200" dirty="0" smtClean="0"/>
          </a:p>
          <a:p>
            <a:r>
              <a:rPr lang="en-US" sz="2200" dirty="0" smtClean="0"/>
              <a:t>ರೂ.20 </a:t>
            </a:r>
            <a:r>
              <a:rPr lang="en-US" sz="2200" dirty="0" err="1" smtClean="0"/>
              <a:t>ಲಕ್ಷದವರೆಗೆ</a:t>
            </a:r>
            <a:r>
              <a:rPr lang="en-US" sz="2200" dirty="0" smtClean="0"/>
              <a:t> </a:t>
            </a:r>
            <a:r>
              <a:rPr lang="en-US" sz="2200" dirty="0" err="1" smtClean="0"/>
              <a:t>ಶೇಕಡಾ</a:t>
            </a:r>
            <a:r>
              <a:rPr lang="en-US" sz="2200" dirty="0" smtClean="0"/>
              <a:t> </a:t>
            </a:r>
            <a:r>
              <a:rPr lang="en-US" sz="2200" dirty="0" smtClean="0"/>
              <a:t>2.5</a:t>
            </a:r>
            <a:r>
              <a:rPr lang="en-US" sz="2200" dirty="0" smtClean="0"/>
              <a:t>%</a:t>
            </a:r>
            <a:endParaRPr lang="en-US" sz="2200" dirty="0" smtClean="0"/>
          </a:p>
          <a:p>
            <a:endParaRPr lang="en-US" sz="2200" dirty="0" smtClean="0"/>
          </a:p>
          <a:p>
            <a:r>
              <a:rPr lang="en-US" sz="2200" dirty="0" smtClean="0"/>
              <a:t>ರೂ.20 </a:t>
            </a:r>
            <a:r>
              <a:rPr lang="en-US" sz="2200" dirty="0" err="1" smtClean="0"/>
              <a:t>ಲಕ್ಷದಿಂದ</a:t>
            </a:r>
            <a:r>
              <a:rPr lang="en-US" sz="2200" dirty="0" smtClean="0"/>
              <a:t> </a:t>
            </a:r>
            <a:r>
              <a:rPr lang="en-US" sz="2200" dirty="0" err="1" smtClean="0"/>
              <a:t>ಒಂದು</a:t>
            </a:r>
            <a:r>
              <a:rPr lang="en-US" sz="2200" dirty="0" smtClean="0"/>
              <a:t> </a:t>
            </a:r>
            <a:r>
              <a:rPr lang="en-US" sz="2200" dirty="0" err="1" smtClean="0"/>
              <a:t>ಕೋಟಿ</a:t>
            </a:r>
            <a:r>
              <a:rPr lang="en-US" sz="2200" dirty="0" smtClean="0"/>
              <a:t> </a:t>
            </a:r>
            <a:r>
              <a:rPr lang="en-US" sz="2200" dirty="0" err="1" smtClean="0"/>
              <a:t>ವರೆಗೆ</a:t>
            </a:r>
            <a:r>
              <a:rPr lang="en-US" sz="2200" dirty="0" smtClean="0"/>
              <a:t> </a:t>
            </a:r>
            <a:r>
              <a:rPr lang="en-US" sz="2200" dirty="0" err="1" smtClean="0"/>
              <a:t>ಶೇಕಡಾ</a:t>
            </a:r>
            <a:r>
              <a:rPr lang="en-US" sz="2200" dirty="0" smtClean="0"/>
              <a:t> </a:t>
            </a:r>
            <a:r>
              <a:rPr lang="en-US" sz="2200" dirty="0" smtClean="0"/>
              <a:t>2%</a:t>
            </a:r>
          </a:p>
          <a:p>
            <a:endParaRPr lang="en-US" sz="2200" dirty="0" smtClean="0"/>
          </a:p>
          <a:p>
            <a:r>
              <a:rPr lang="en-US" sz="2200" dirty="0" smtClean="0"/>
              <a:t>ರೂ.1-ಕೋಟಿಯಿಂದ 10-ಕೋಟಿ </a:t>
            </a:r>
            <a:r>
              <a:rPr lang="en-US" sz="2200" dirty="0" err="1" smtClean="0"/>
              <a:t>ವರೆಗೆ</a:t>
            </a:r>
            <a:r>
              <a:rPr lang="en-US" sz="2200" dirty="0" smtClean="0"/>
              <a:t> </a:t>
            </a:r>
            <a:r>
              <a:rPr lang="en-US" sz="2200" dirty="0" smtClean="0"/>
              <a:t>ಶೇಕಡಾ-1.5%</a:t>
            </a:r>
          </a:p>
          <a:p>
            <a:endParaRPr lang="en-US" sz="2200" dirty="0" smtClean="0"/>
          </a:p>
          <a:p>
            <a:r>
              <a:rPr lang="en-US" sz="2200" dirty="0" err="1" smtClean="0"/>
              <a:t>ರೂ</a:t>
            </a:r>
            <a:r>
              <a:rPr lang="en-US" sz="2200" dirty="0" smtClean="0"/>
              <a:t>. 10-ಕೋಟಿ </a:t>
            </a:r>
            <a:r>
              <a:rPr lang="en-US" sz="2200" dirty="0" err="1" smtClean="0"/>
              <a:t>ಮೇಲ್ಪಟ್ಟು</a:t>
            </a:r>
            <a:r>
              <a:rPr lang="en-US" sz="2200" dirty="0" smtClean="0"/>
              <a:t> </a:t>
            </a:r>
            <a:r>
              <a:rPr lang="en-US" sz="2200" dirty="0" err="1" smtClean="0"/>
              <a:t>ಶೇಕಡಾ</a:t>
            </a:r>
            <a:r>
              <a:rPr lang="en-US" sz="2200" dirty="0" smtClean="0"/>
              <a:t> </a:t>
            </a:r>
            <a:r>
              <a:rPr lang="en-US" sz="2200" dirty="0" smtClean="0"/>
              <a:t>1%</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5413248"/>
          </a:xfrm>
        </p:spPr>
        <p:txBody>
          <a:bodyPr>
            <a:normAutofit fontScale="92500" lnSpcReduction="10000"/>
          </a:bodyPr>
          <a:lstStyle/>
          <a:p>
            <a:pPr algn="ctr">
              <a:buNone/>
            </a:pPr>
            <a:r>
              <a:rPr lang="en-US" sz="3500" b="1" dirty="0" err="1" smtClean="0">
                <a:solidFill>
                  <a:schemeClr val="accent1"/>
                </a:solidFill>
                <a:effectLst>
                  <a:outerShdw blurRad="38100" dist="38100" dir="2700000" algn="tl">
                    <a:srgbClr val="000000">
                      <a:alpha val="43137"/>
                    </a:srgbClr>
                  </a:outerShdw>
                </a:effectLst>
              </a:rPr>
              <a:t>ನಂಬುಗೆಯ</a:t>
            </a:r>
            <a:r>
              <a:rPr lang="en-US" sz="3500" b="1" dirty="0" smtClean="0">
                <a:solidFill>
                  <a:schemeClr val="accent1"/>
                </a:solidFill>
                <a:effectLst>
                  <a:outerShdw blurRad="38100" dist="38100" dir="2700000" algn="tl">
                    <a:srgbClr val="000000">
                      <a:alpha val="43137"/>
                    </a:srgbClr>
                  </a:outerShdw>
                </a:effectLst>
              </a:rPr>
              <a:t> </a:t>
            </a:r>
            <a:r>
              <a:rPr lang="en-US" sz="3500" b="1" dirty="0" err="1" smtClean="0">
                <a:solidFill>
                  <a:schemeClr val="accent1"/>
                </a:solidFill>
                <a:effectLst>
                  <a:outerShdw blurRad="38100" dist="38100" dir="2700000" algn="tl">
                    <a:srgbClr val="000000">
                      <a:alpha val="43137"/>
                    </a:srgbClr>
                  </a:outerShdw>
                </a:effectLst>
              </a:rPr>
              <a:t>ಹಣ</a:t>
            </a:r>
            <a:endParaRPr lang="en-US" sz="3500" b="1" dirty="0" smtClean="0">
              <a:solidFill>
                <a:schemeClr val="accent1"/>
              </a:solidFill>
              <a:effectLst>
                <a:outerShdw blurRad="38100" dist="38100" dir="2700000" algn="tl">
                  <a:srgbClr val="000000">
                    <a:alpha val="43137"/>
                  </a:srgbClr>
                </a:outerShdw>
              </a:effectLst>
            </a:endParaRPr>
          </a:p>
          <a:p>
            <a:endParaRPr lang="en-US" dirty="0" smtClean="0"/>
          </a:p>
          <a:p>
            <a:pPr algn="just"/>
            <a:r>
              <a:rPr lang="en-US" sz="2200" dirty="0" err="1" smtClean="0"/>
              <a:t>ಡಿಮ್ಯಾಂಡ್</a:t>
            </a:r>
            <a:r>
              <a:rPr lang="en-US" sz="2200" dirty="0" smtClean="0"/>
              <a:t> </a:t>
            </a:r>
            <a:r>
              <a:rPr lang="en-US" sz="2200" dirty="0" err="1" smtClean="0"/>
              <a:t>ಡ್ರಾಫ್ಟ್</a:t>
            </a:r>
            <a:endParaRPr lang="en-US" sz="2200" dirty="0" smtClean="0"/>
          </a:p>
          <a:p>
            <a:pPr algn="just"/>
            <a:endParaRPr lang="en-US" sz="2200" dirty="0" smtClean="0"/>
          </a:p>
          <a:p>
            <a:pPr algn="just"/>
            <a:r>
              <a:rPr lang="en-US" sz="2200" dirty="0" err="1" smtClean="0"/>
              <a:t>ಬ್ಯಾಂಕರ್</a:t>
            </a:r>
            <a:r>
              <a:rPr lang="en-US" sz="2200" dirty="0" smtClean="0"/>
              <a:t> </a:t>
            </a:r>
            <a:r>
              <a:rPr lang="en-US" sz="2200" dirty="0" err="1" smtClean="0"/>
              <a:t>ಚೆಕ್ಸ್</a:t>
            </a:r>
            <a:endParaRPr lang="en-US" sz="2200" dirty="0" smtClean="0"/>
          </a:p>
          <a:p>
            <a:pPr algn="just"/>
            <a:endParaRPr lang="en-US" sz="2200" dirty="0" smtClean="0"/>
          </a:p>
          <a:p>
            <a:pPr algn="just"/>
            <a:r>
              <a:rPr lang="en-US" sz="2200" dirty="0" err="1" smtClean="0"/>
              <a:t>ನಿರ್ದಿಷ್ಟ</a:t>
            </a:r>
            <a:r>
              <a:rPr lang="en-US" sz="2200" dirty="0" smtClean="0"/>
              <a:t> </a:t>
            </a:r>
            <a:r>
              <a:rPr lang="en-US" sz="2200" dirty="0" err="1" smtClean="0"/>
              <a:t>ಸಣ್ಣ</a:t>
            </a:r>
            <a:r>
              <a:rPr lang="en-US" sz="2200" dirty="0" smtClean="0"/>
              <a:t> </a:t>
            </a:r>
            <a:r>
              <a:rPr lang="en-US" sz="2200" dirty="0" err="1" smtClean="0"/>
              <a:t>ಉಳಿತಾಯ</a:t>
            </a:r>
            <a:endParaRPr lang="en-US" sz="2200" dirty="0" smtClean="0"/>
          </a:p>
          <a:p>
            <a:pPr algn="just"/>
            <a:endParaRPr lang="en-US" sz="2200" dirty="0" smtClean="0"/>
          </a:p>
          <a:p>
            <a:pPr algn="just"/>
            <a:r>
              <a:rPr lang="en-US" sz="2200" dirty="0" err="1" smtClean="0"/>
              <a:t>ಮರು</a:t>
            </a:r>
            <a:r>
              <a:rPr lang="en-US" sz="2200" dirty="0" smtClean="0"/>
              <a:t> </a:t>
            </a:r>
            <a:r>
              <a:rPr lang="en-US" sz="2200" dirty="0" err="1" smtClean="0"/>
              <a:t>ವಸೂಲಾತಿಗೆ</a:t>
            </a:r>
            <a:r>
              <a:rPr lang="en-US" sz="2200" dirty="0" smtClean="0"/>
              <a:t> </a:t>
            </a:r>
            <a:r>
              <a:rPr lang="en-US" sz="2200" dirty="0" err="1" smtClean="0"/>
              <a:t>ಒಳಪಡದ</a:t>
            </a:r>
            <a:r>
              <a:rPr lang="en-US" sz="2200" dirty="0" smtClean="0"/>
              <a:t> </a:t>
            </a:r>
            <a:r>
              <a:rPr lang="en-US" sz="2200" dirty="0" err="1" smtClean="0"/>
              <a:t>ಬ್ಯಾಂಕ್</a:t>
            </a:r>
            <a:r>
              <a:rPr lang="en-US" sz="2200" dirty="0" smtClean="0"/>
              <a:t> </a:t>
            </a:r>
            <a:r>
              <a:rPr lang="en-US" sz="2200" dirty="0" err="1" smtClean="0"/>
              <a:t>ಗ್ಯಾರಂಟಿ</a:t>
            </a:r>
            <a:r>
              <a:rPr lang="en-US" sz="2200" dirty="0" smtClean="0"/>
              <a:t>.</a:t>
            </a:r>
          </a:p>
          <a:p>
            <a:pPr algn="just"/>
            <a:endParaRPr lang="en-US" sz="2200" dirty="0" smtClean="0"/>
          </a:p>
          <a:p>
            <a:pPr algn="just"/>
            <a:r>
              <a:rPr lang="en-US" sz="2200" dirty="0" err="1" smtClean="0"/>
              <a:t>ಟೆಂಡರ್</a:t>
            </a:r>
            <a:r>
              <a:rPr lang="en-US" sz="2200" dirty="0" smtClean="0"/>
              <a:t> </a:t>
            </a:r>
            <a:r>
              <a:rPr lang="en-US" sz="2200" dirty="0" err="1" smtClean="0"/>
              <a:t>ಷರತ್ತು</a:t>
            </a:r>
            <a:r>
              <a:rPr lang="en-US" sz="2200" dirty="0" smtClean="0"/>
              <a:t> </a:t>
            </a:r>
            <a:r>
              <a:rPr lang="en-US" sz="2200" dirty="0" err="1" smtClean="0"/>
              <a:t>ವಿಫಲವಾದ</a:t>
            </a:r>
            <a:r>
              <a:rPr lang="en-US" sz="2200" dirty="0" smtClean="0"/>
              <a:t> </a:t>
            </a:r>
            <a:r>
              <a:rPr lang="en-US" sz="2200" dirty="0" err="1" smtClean="0"/>
              <a:t>ವೇಳೆ</a:t>
            </a:r>
            <a:r>
              <a:rPr lang="en-US" sz="2200" dirty="0" smtClean="0"/>
              <a:t> </a:t>
            </a:r>
            <a:r>
              <a:rPr lang="en-US" sz="2200" dirty="0" err="1" smtClean="0"/>
              <a:t>ದಂಡ</a:t>
            </a:r>
            <a:r>
              <a:rPr lang="en-US" sz="2200" dirty="0" smtClean="0"/>
              <a:t> </a:t>
            </a:r>
            <a:r>
              <a:rPr lang="en-US" sz="2200" dirty="0" err="1" smtClean="0"/>
              <a:t>ಅಥವಾ</a:t>
            </a:r>
            <a:r>
              <a:rPr lang="en-US" sz="2200" dirty="0" smtClean="0"/>
              <a:t> </a:t>
            </a:r>
            <a:r>
              <a:rPr lang="en-US" sz="2200" dirty="0" err="1" smtClean="0"/>
              <a:t>ನಷ್ಟ</a:t>
            </a:r>
            <a:r>
              <a:rPr lang="en-US" sz="2200" dirty="0" smtClean="0"/>
              <a:t> </a:t>
            </a:r>
            <a:r>
              <a:rPr lang="en-US" sz="2200" dirty="0" err="1" smtClean="0"/>
              <a:t>ಭರ್ತಿಯ</a:t>
            </a:r>
            <a:r>
              <a:rPr lang="en-US" sz="2200" dirty="0" smtClean="0"/>
              <a:t> </a:t>
            </a:r>
            <a:r>
              <a:rPr lang="en-US" sz="2200" dirty="0" err="1" smtClean="0"/>
              <a:t>ಬಗ್ಗೆ</a:t>
            </a:r>
            <a:r>
              <a:rPr lang="en-US" sz="2200" dirty="0" smtClean="0"/>
              <a:t> </a:t>
            </a:r>
            <a:r>
              <a:rPr lang="en-US" sz="2200" dirty="0" err="1" smtClean="0"/>
              <a:t>ಕಡ್ಡಾಯವಾಗಿ</a:t>
            </a:r>
            <a:r>
              <a:rPr lang="en-US" sz="2200" dirty="0" smtClean="0"/>
              <a:t> </a:t>
            </a:r>
            <a:r>
              <a:rPr lang="en-US" sz="2200" dirty="0" err="1" smtClean="0"/>
              <a:t>ನಿಯಮಗಳನ್ನು</a:t>
            </a:r>
            <a:r>
              <a:rPr lang="en-US" sz="2200" dirty="0" smtClean="0"/>
              <a:t> </a:t>
            </a:r>
            <a:r>
              <a:rPr lang="en-US" sz="2200" dirty="0" err="1" smtClean="0"/>
              <a:t>ಜಾರಿಗೊಳಿಸಬೇಕು</a:t>
            </a:r>
            <a:r>
              <a:rPr lang="en-US" sz="2200" dirty="0" smtClean="0"/>
              <a:t>.</a:t>
            </a:r>
          </a:p>
          <a:p>
            <a:pPr algn="just"/>
            <a:endParaRPr lang="en-US" sz="2200" dirty="0" smtClean="0"/>
          </a:p>
          <a:p>
            <a:pPr algn="just"/>
            <a:r>
              <a:rPr lang="en-US" sz="2200" dirty="0" err="1" smtClean="0"/>
              <a:t>ಕಾಮಗಾರಿ</a:t>
            </a:r>
            <a:r>
              <a:rPr lang="en-US" sz="2200" dirty="0" smtClean="0"/>
              <a:t> </a:t>
            </a:r>
            <a:r>
              <a:rPr lang="en-US" sz="2200" dirty="0" err="1" smtClean="0"/>
              <a:t>ಕೆಲಸ</a:t>
            </a:r>
            <a:r>
              <a:rPr lang="en-US" sz="2200" dirty="0" smtClean="0"/>
              <a:t> </a:t>
            </a:r>
            <a:r>
              <a:rPr lang="en-US" sz="2200" dirty="0" err="1" smtClean="0"/>
              <a:t>ಮತ್ತು</a:t>
            </a:r>
            <a:r>
              <a:rPr lang="en-US" sz="2200" dirty="0" smtClean="0"/>
              <a:t> </a:t>
            </a:r>
            <a:r>
              <a:rPr lang="en-US" sz="2200" dirty="0" err="1" smtClean="0"/>
              <a:t>ಸರಕು</a:t>
            </a:r>
            <a:r>
              <a:rPr lang="en-US" sz="2200" dirty="0" smtClean="0"/>
              <a:t> </a:t>
            </a:r>
            <a:r>
              <a:rPr lang="en-US" sz="2200" dirty="0" err="1" smtClean="0"/>
              <a:t>ಹಾಗೂ</a:t>
            </a:r>
            <a:r>
              <a:rPr lang="en-US" sz="2200" dirty="0" smtClean="0"/>
              <a:t> </a:t>
            </a:r>
            <a:r>
              <a:rPr lang="en-US" sz="2200" dirty="0" err="1" smtClean="0"/>
              <a:t>ಸೇವೆಗಳ</a:t>
            </a:r>
            <a:r>
              <a:rPr lang="en-US" sz="2200" dirty="0" smtClean="0"/>
              <a:t> </a:t>
            </a:r>
            <a:r>
              <a:rPr lang="en-US" sz="2200" dirty="0" err="1" smtClean="0"/>
              <a:t>ಬಗ್ಗೆ</a:t>
            </a:r>
            <a:r>
              <a:rPr lang="en-US" sz="2200" dirty="0" smtClean="0"/>
              <a:t> </a:t>
            </a:r>
            <a:r>
              <a:rPr lang="en-US" sz="2200" dirty="0" err="1" smtClean="0"/>
              <a:t>ಸ್ಪಷ್ಟವಾದ</a:t>
            </a:r>
            <a:r>
              <a:rPr lang="en-US" sz="2200" dirty="0" smtClean="0"/>
              <a:t> </a:t>
            </a:r>
            <a:r>
              <a:rPr lang="en-US" sz="2200" dirty="0" err="1" smtClean="0"/>
              <a:t>ಪ್ರಮಾಣವನ್ನು</a:t>
            </a:r>
            <a:r>
              <a:rPr lang="en-US" sz="2200" dirty="0" smtClean="0"/>
              <a:t> </a:t>
            </a:r>
            <a:r>
              <a:rPr lang="en-US" sz="2200" dirty="0" err="1" smtClean="0"/>
              <a:t>ಟೆಂಡರ್</a:t>
            </a:r>
            <a:r>
              <a:rPr lang="en-US" sz="2200" dirty="0" smtClean="0"/>
              <a:t> </a:t>
            </a:r>
            <a:r>
              <a:rPr lang="en-US" sz="2200" dirty="0" err="1" smtClean="0"/>
              <a:t>ದಾಖಲಾತಿಯಲ್ಲಿ</a:t>
            </a:r>
            <a:r>
              <a:rPr lang="en-US" sz="2200" dirty="0" smtClean="0"/>
              <a:t> </a:t>
            </a:r>
            <a:r>
              <a:rPr lang="en-US" sz="2200" dirty="0" err="1" smtClean="0"/>
              <a:t>ನಮೂಸಿದಬೇಕು</a:t>
            </a:r>
            <a:r>
              <a:rPr lang="en-US" sz="2200" dirty="0" smtClean="0"/>
              <a:t>.</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260080" cy="6096000"/>
          </a:xfrm>
        </p:spPr>
        <p:txBody>
          <a:bodyPr>
            <a:normAutofit/>
          </a:bodyPr>
          <a:lstStyle/>
          <a:p>
            <a:pPr algn="ctr">
              <a:buNone/>
            </a:pPr>
            <a:r>
              <a:rPr lang="kn-IN" b="1" u="sng" dirty="0" smtClean="0">
                <a:solidFill>
                  <a:schemeClr val="accent1"/>
                </a:solidFill>
              </a:rPr>
              <a:t>ಪಾರದರ್ಶಕತೆ </a:t>
            </a:r>
            <a:r>
              <a:rPr lang="kn-IN" b="1" u="sng" dirty="0" smtClean="0">
                <a:solidFill>
                  <a:schemeClr val="accent1"/>
                </a:solidFill>
              </a:rPr>
              <a:t>ಕಾಯಿದೆಯಡಿ ಸರ್ಕಾರಕ್ಕೆ ಇರತಕ್ಕ ಅಧಿಕಾರ</a:t>
            </a:r>
            <a:r>
              <a:rPr lang="en-US" b="1" u="sng" dirty="0" smtClean="0">
                <a:solidFill>
                  <a:schemeClr val="accent1"/>
                </a:solidFill>
              </a:rPr>
              <a:t>.</a:t>
            </a:r>
          </a:p>
          <a:p>
            <a:pPr algn="just"/>
            <a:endParaRPr lang="en-US" dirty="0" smtClean="0"/>
          </a:p>
          <a:p>
            <a:pPr algn="just"/>
            <a:r>
              <a:rPr lang="kn-IN" sz="2000" dirty="0" smtClean="0"/>
              <a:t>ಸ್ರ೦ಗ್ರಹಣೆ ಪ್ರಾಧಿಕಾರಕ್ಕೆ ಸರ್ಕಾರ ಸೂಕ್ತ ನಿರ್ದೇಶನ ನೀಡಬಹುದು.</a:t>
            </a:r>
            <a:endParaRPr lang="en-US" sz="2000" dirty="0" smtClean="0"/>
          </a:p>
          <a:p>
            <a:pPr algn="just"/>
            <a:r>
              <a:rPr lang="kn-IN" sz="2000" dirty="0" smtClean="0"/>
              <a:t>ಸ0ಗ್ರಹಣೆ ಪ್ರಾಧಿಕಾರದಿ೦ದ ಬೇಕಾದ ವಿವರ ಪಡೆಯಬಹುದು</a:t>
            </a:r>
            <a:r>
              <a:rPr lang="en-US" sz="2000" dirty="0" smtClean="0"/>
              <a:t>.</a:t>
            </a:r>
          </a:p>
          <a:p>
            <a:pPr algn="just"/>
            <a:r>
              <a:rPr lang="kn-IN" sz="2000" dirty="0" smtClean="0"/>
              <a:t>ಸ0ಗ್ರಹಣೆ ಪ್ರಾಧಿಕಾರದಿ೦ದ ಯಾವ ದಾಖಲಾತಿಯನ್ನಾದರೂ ಪಡೆಯಬಹುದು</a:t>
            </a:r>
            <a:endParaRPr lang="en-US" sz="2000" dirty="0" smtClean="0"/>
          </a:p>
          <a:p>
            <a:pPr algn="ctr">
              <a:buNone/>
            </a:pPr>
            <a:endParaRPr lang="en-US" sz="3600" b="1" dirty="0" smtClean="0">
              <a:solidFill>
                <a:schemeClr val="accent1"/>
              </a:solidFill>
              <a:effectLst>
                <a:outerShdw blurRad="38100" dist="38100" dir="2700000" algn="tl">
                  <a:srgbClr val="000000">
                    <a:alpha val="43137"/>
                  </a:srgbClr>
                </a:outerShdw>
              </a:effectLst>
            </a:endParaRPr>
          </a:p>
          <a:p>
            <a:pPr algn="ctr">
              <a:buNone/>
            </a:pPr>
            <a:r>
              <a:rPr lang="kn-IN" sz="3600" b="1" u="sng" dirty="0" smtClean="0">
                <a:solidFill>
                  <a:schemeClr val="accent1"/>
                </a:solidFill>
                <a:effectLst>
                  <a:outerShdw blurRad="38100" dist="38100" dir="2700000" algn="tl">
                    <a:srgbClr val="000000">
                      <a:alpha val="43137"/>
                    </a:srgbClr>
                  </a:outerShdw>
                </a:effectLst>
              </a:rPr>
              <a:t>ನ್ಯಾಯಾಲಯದ </a:t>
            </a:r>
            <a:r>
              <a:rPr lang="kn-IN" sz="3600" b="1" u="sng" dirty="0" smtClean="0">
                <a:solidFill>
                  <a:schemeClr val="accent1"/>
                </a:solidFill>
                <a:effectLst>
                  <a:outerShdw blurRad="38100" dist="38100" dir="2700000" algn="tl">
                    <a:srgbClr val="000000">
                      <a:alpha val="43137"/>
                    </a:srgbClr>
                  </a:outerShdw>
                </a:effectLst>
              </a:rPr>
              <a:t>ವ್ಯಾಪ್ತಿ</a:t>
            </a:r>
            <a:r>
              <a:rPr lang="en-US" sz="3600" b="1" u="sng" dirty="0" smtClean="0">
                <a:solidFill>
                  <a:schemeClr val="accent1"/>
                </a:solidFill>
                <a:effectLst>
                  <a:outerShdw blurRad="38100" dist="38100" dir="2700000" algn="tl">
                    <a:srgbClr val="000000">
                      <a:alpha val="43137"/>
                    </a:srgbClr>
                  </a:outerShdw>
                </a:effectLst>
              </a:rPr>
              <a:t>.</a:t>
            </a:r>
          </a:p>
          <a:p>
            <a:endParaRPr lang="en-US" sz="2000" dirty="0" smtClean="0"/>
          </a:p>
          <a:p>
            <a:pPr algn="just"/>
            <a:r>
              <a:rPr lang="kn-IN" sz="2000" dirty="0" smtClean="0"/>
              <a:t>ತೀರ್ಮಾನವನ್ನು ಪ್ರಶ್ನಿಸುವ ಅಧಿಕಾರ ಪಾರದರ್ಶಕತೆ ಕಾಯಿದೆಯಡಿ ಆದ ತೀರ್ಮಾ ನ್ಯಾಯಾಲಯಕ್ಕೆ ಇಲ್ಲ</a:t>
            </a:r>
            <a:r>
              <a:rPr lang="en-US" sz="2000" dirty="0" smtClean="0"/>
              <a:t>.</a:t>
            </a:r>
          </a:p>
          <a:p>
            <a:pPr algn="just"/>
            <a:r>
              <a:rPr lang="kn-IN" sz="2000" dirty="0" smtClean="0"/>
              <a:t>ನ್ಯಾಯಾಲಯ ಯಾವ ಕ್ರಮವನ್ನು ತಡೆಯಲು ಅಧಿಕಾರವಿಲ್ಲ</a:t>
            </a:r>
            <a:r>
              <a:rPr lang="en-US" sz="2000" dirty="0" smtClean="0"/>
              <a:t>.</a:t>
            </a:r>
          </a:p>
          <a:p>
            <a:pPr algn="just"/>
            <a:r>
              <a:rPr lang="kn-IN" sz="2000" dirty="0" smtClean="0"/>
              <a:t>ಸರ್ಕಾರದ ಹಿತದೃಷ್ಟಿಯಿ೦ದ ಪ್ರಾಧಿಕಾರಗಳು/ ಅಧಿಕಾರಗಳು ಕೈಗೊಂಡ ಕ್ರಮವನ್ನು ಪ್ರಶ್ನಿಸಿ ನ್ಯಾಯಾಲಯದಲ್ಲಿ ಅವರ ಮೇಲೆ ದಾವೆ ಹೂಡಲು ಅವಕಾಶವಿಲ್ಲ</a:t>
            </a:r>
            <a:endParaRPr lang="en-US" sz="2000" dirty="0" smtClean="0"/>
          </a:p>
          <a:p>
            <a:pPr algn="just"/>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696164" y="374882"/>
            <a:ext cx="8018276" cy="5416318"/>
          </a:xfrm>
          <a:prstGeom prst="rect">
            <a:avLst/>
          </a:prstGeom>
          <a:noFill/>
          <a:ln w="9525">
            <a:noFill/>
            <a:miter lim="800000"/>
            <a:headEnd/>
            <a:tailEnd/>
          </a:ln>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161</TotalTime>
  <Words>1301</Words>
  <Application>Microsoft Office PowerPoint</Application>
  <PresentationFormat>On-screen Show (4:3)</PresentationFormat>
  <Paragraphs>175</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Aspect</vt:lpstr>
      <vt:lpstr> ಕರ್ನಾಟಕ ಸಾರ್ವಜನಿಕ ಸಂಗ್ರಹಣೆಯಲ್ಲಿ ಪಾರದರ್ಶಕತೆ ಅಧಿನಿಯಮ-1999</vt:lpstr>
      <vt:lpstr>Slide 2</vt:lpstr>
      <vt:lpstr>ವ್ಯಾಪ್ತಿಗೆ ಒಳಪಡುವ ಸಂಸ್ಥೆಗಳು.</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ಕರ್ನಾಟಕ ಸಾರ್ವಜನಿಕ ಸಂಗ್ರಹಣೆಯಲ್ಲಿ ಪಾರದರ್ಶಕತೆ ಅಧಿನಿಯಮ-1999 ಮತ್ತು ನಿಯಮಗಳು-2000</dc:title>
  <dc:creator>ACER</dc:creator>
  <cp:lastModifiedBy>ACER</cp:lastModifiedBy>
  <cp:revision>24</cp:revision>
  <dcterms:created xsi:type="dcterms:W3CDTF">2006-08-16T00:00:00Z</dcterms:created>
  <dcterms:modified xsi:type="dcterms:W3CDTF">2026-07-20T07:27:27Z</dcterms:modified>
</cp:coreProperties>
</file>