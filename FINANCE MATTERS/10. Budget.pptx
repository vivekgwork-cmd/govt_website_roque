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legacyDocTextInfo.bin" ContentType="application/vnd.ms-office.legacyDocTextInfo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ms-office.legacyDiagramTex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06/relationships/legacyDocTextInfo" Target="legacyDocTextInfo.bin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3" Type="http://schemas.microsoft.com/office/2006/relationships/legacyDiagramText" Target="legacyDiagramText3.bin"/><Relationship Id="rId2" Type="http://schemas.microsoft.com/office/2006/relationships/legacyDiagramText" Target="legacyDiagramText2.bin"/><Relationship Id="rId1" Type="http://schemas.microsoft.com/office/2006/relationships/legacyDiagramText" Target="legacyDiagramText1.bin"/><Relationship Id="rId4" Type="http://schemas.microsoft.com/office/2006/relationships/legacyDiagramText" Target="legacyDiagramText4.bin"/></Relationships>
</file>

<file path=ppt/drawings/_rels/vmlDrawing2.vml.rels><?xml version="1.0" encoding="UTF-8" standalone="yes"?>
<Relationships xmlns="http://schemas.openxmlformats.org/package/2006/relationships"><Relationship Id="rId3" Type="http://schemas.microsoft.com/office/2006/relationships/legacyDiagramText" Target="legacyDiagramText7.bin"/><Relationship Id="rId2" Type="http://schemas.microsoft.com/office/2006/relationships/legacyDiagramText" Target="legacyDiagramText6.bin"/><Relationship Id="rId1" Type="http://schemas.microsoft.com/office/2006/relationships/legacyDiagramText" Target="legacyDiagramText5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7879080" cy="2438400"/>
          </a:xfrm>
        </p:spPr>
        <p:txBody>
          <a:bodyPr>
            <a:normAutofit/>
          </a:bodyPr>
          <a:lstStyle/>
          <a:p>
            <a:pPr algn="ctr"/>
            <a:r>
              <a:rPr lang="en-US" sz="49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aur" pitchFamily="18" charset="0"/>
              </a:rPr>
              <a:t>Preparation of Annual Budget, Revision &amp; Budget Control</a:t>
            </a:r>
            <a:r>
              <a:rPr lang="en-US" sz="4400" b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4400" b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505200"/>
            <a:ext cx="7498080" cy="27432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400" b="1" dirty="0" smtClean="0">
                <a:solidFill>
                  <a:srgbClr val="002060"/>
                </a:solidFill>
                <a:latin typeface="Centaur" pitchFamily="18" charset="0"/>
              </a:rPr>
              <a:t>Sri </a:t>
            </a:r>
            <a:r>
              <a:rPr lang="en-US" sz="4400" b="1" dirty="0" err="1" smtClean="0">
                <a:solidFill>
                  <a:srgbClr val="002060"/>
                </a:solidFill>
                <a:latin typeface="Centaur" pitchFamily="18" charset="0"/>
              </a:rPr>
              <a:t>G.Rajesh</a:t>
            </a:r>
            <a:r>
              <a:rPr lang="en-US" sz="4400" b="1" dirty="0" smtClean="0">
                <a:solidFill>
                  <a:srgbClr val="002060"/>
                </a:solidFill>
                <a:latin typeface="Centaur" pitchFamily="18" charset="0"/>
              </a:rPr>
              <a:t>.</a:t>
            </a:r>
            <a:endParaRPr lang="en-US" sz="4400" b="1" dirty="0" smtClean="0">
              <a:solidFill>
                <a:srgbClr val="002060"/>
              </a:solidFill>
              <a:latin typeface="Centaur" pitchFamily="18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002060"/>
                </a:solidFill>
                <a:latin typeface="Centaur" pitchFamily="18" charset="0"/>
              </a:rPr>
              <a:t>Principal, </a:t>
            </a:r>
            <a:r>
              <a:rPr lang="en-US" dirty="0" err="1" smtClean="0">
                <a:solidFill>
                  <a:srgbClr val="002060"/>
                </a:solidFill>
                <a:latin typeface="Centaur" pitchFamily="18" charset="0"/>
              </a:rPr>
              <a:t>Sistrict</a:t>
            </a:r>
            <a:r>
              <a:rPr lang="en-US" dirty="0" smtClean="0">
                <a:solidFill>
                  <a:srgbClr val="002060"/>
                </a:solidFill>
                <a:latin typeface="Centaur" pitchFamily="18" charset="0"/>
              </a:rPr>
              <a:t> Training Institute, </a:t>
            </a:r>
            <a:r>
              <a:rPr lang="en-US" dirty="0" err="1" smtClean="0">
                <a:solidFill>
                  <a:srgbClr val="002060"/>
                </a:solidFill>
                <a:latin typeface="Centaur" pitchFamily="18" charset="0"/>
              </a:rPr>
              <a:t>Shivamogga</a:t>
            </a:r>
            <a:r>
              <a:rPr lang="en-US" dirty="0" smtClean="0">
                <a:solidFill>
                  <a:srgbClr val="002060"/>
                </a:solidFill>
                <a:latin typeface="Centaur" pitchFamily="18" charset="0"/>
              </a:rPr>
              <a:t>.</a:t>
            </a:r>
            <a:endParaRPr lang="en-US" dirty="0" smtClean="0">
              <a:solidFill>
                <a:srgbClr val="002060"/>
              </a:solidFill>
              <a:latin typeface="Centaur" pitchFamily="18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002060"/>
                </a:solidFill>
                <a:latin typeface="Centaur" pitchFamily="18" charset="0"/>
              </a:rPr>
              <a:t>Ph: </a:t>
            </a:r>
            <a:r>
              <a:rPr lang="en-US" dirty="0" smtClean="0">
                <a:solidFill>
                  <a:srgbClr val="002060"/>
                </a:solidFill>
                <a:latin typeface="Centaur" pitchFamily="18" charset="0"/>
              </a:rPr>
              <a:t>9731053073</a:t>
            </a:r>
            <a:endParaRPr lang="en-US" dirty="0" smtClean="0">
              <a:solidFill>
                <a:srgbClr val="002060"/>
              </a:solidFill>
              <a:latin typeface="Centaur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u="sng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BUDGET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3600" dirty="0" smtClean="0">
                <a:solidFill>
                  <a:srgbClr val="000066"/>
                </a:solidFill>
              </a:rPr>
              <a:t>According to article 202 of the </a:t>
            </a:r>
          </a:p>
          <a:p>
            <a:pPr algn="ctr">
              <a:buNone/>
            </a:pPr>
            <a:r>
              <a:rPr lang="en-US" sz="3600" dirty="0" smtClean="0">
                <a:solidFill>
                  <a:srgbClr val="000066"/>
                </a:solidFill>
              </a:rPr>
              <a:t>Constitution of India, details of </a:t>
            </a:r>
          </a:p>
          <a:p>
            <a:pPr algn="ctr">
              <a:buNone/>
            </a:pPr>
            <a:r>
              <a:rPr lang="en-US" sz="3600" dirty="0" smtClean="0">
                <a:solidFill>
                  <a:srgbClr val="000066"/>
                </a:solidFill>
              </a:rPr>
              <a:t>anticipated receipts &amp; expenditure of a </a:t>
            </a:r>
          </a:p>
          <a:p>
            <a:pPr algn="ctr">
              <a:buNone/>
            </a:pPr>
            <a:r>
              <a:rPr lang="en-US" sz="3600" dirty="0" smtClean="0">
                <a:solidFill>
                  <a:srgbClr val="000066"/>
                </a:solidFill>
              </a:rPr>
              <a:t>state for the year are to be placed before </a:t>
            </a:r>
          </a:p>
          <a:p>
            <a:pPr algn="ctr">
              <a:buNone/>
            </a:pPr>
            <a:r>
              <a:rPr lang="en-US" sz="3600" dirty="0" smtClean="0">
                <a:solidFill>
                  <a:srgbClr val="000066"/>
                </a:solidFill>
              </a:rPr>
              <a:t>both the houses of legislature.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8229600" cy="5943600"/>
          </a:xfrm>
        </p:spPr>
        <p:txBody>
          <a:bodyPr>
            <a:normAutofit fontScale="90000"/>
          </a:bodyPr>
          <a:lstStyle/>
          <a:p>
            <a:pPr lvl="1" algn="ctr">
              <a:defRPr/>
            </a:pPr>
            <a:r>
              <a:rPr lang="en-US" sz="6000" b="1" i="1" u="sng" dirty="0">
                <a:solidFill>
                  <a:srgbClr val="660033"/>
                </a:solidFill>
              </a:rPr>
              <a:t>DEFINITION :</a:t>
            </a:r>
            <a:br>
              <a:rPr lang="en-US" sz="6000" b="1" i="1" u="sng" dirty="0">
                <a:solidFill>
                  <a:srgbClr val="660033"/>
                </a:solidFill>
              </a:rPr>
            </a:br>
            <a:r>
              <a:rPr lang="en-US" sz="4000" dirty="0" smtClean="0">
                <a:solidFill>
                  <a:srgbClr val="CC3300"/>
                </a:solidFill>
              </a:rPr>
              <a:t>    </a:t>
            </a:r>
            <a:br>
              <a:rPr lang="en-US" sz="4000" dirty="0" smtClean="0">
                <a:solidFill>
                  <a:srgbClr val="CC3300"/>
                </a:solidFill>
              </a:rPr>
            </a:br>
            <a:r>
              <a:rPr lang="en-US" sz="4000" dirty="0" smtClean="0">
                <a:solidFill>
                  <a:srgbClr val="660033"/>
                </a:solidFill>
              </a:rPr>
              <a:t>Annual </a:t>
            </a:r>
            <a:r>
              <a:rPr lang="en-US" sz="4000" dirty="0">
                <a:solidFill>
                  <a:srgbClr val="660033"/>
                </a:solidFill>
              </a:rPr>
              <a:t>financial statement            </a:t>
            </a:r>
            <a:r>
              <a:rPr lang="en-US" sz="4000" b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4000" b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4000" b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4000" b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4000" dirty="0">
                <a:solidFill>
                  <a:srgbClr val="660033"/>
                </a:solidFill>
              </a:rPr>
              <a:t>It is a statement of estimated receipts</a:t>
            </a:r>
            <a:br>
              <a:rPr lang="en-US" sz="4000" dirty="0">
                <a:solidFill>
                  <a:srgbClr val="660033"/>
                </a:solidFill>
              </a:rPr>
            </a:br>
            <a:r>
              <a:rPr lang="en-US" sz="4000" dirty="0">
                <a:solidFill>
                  <a:srgbClr val="660033"/>
                </a:solidFill>
              </a:rPr>
              <a:t>   and expenditure of each financial year.</a:t>
            </a:r>
            <a:br>
              <a:rPr lang="en-US" sz="4000" dirty="0">
                <a:solidFill>
                  <a:srgbClr val="660033"/>
                </a:solidFill>
              </a:rPr>
            </a:br>
            <a:r>
              <a:rPr lang="en-US" sz="4000" dirty="0">
                <a:solidFill>
                  <a:srgbClr val="660033"/>
                </a:solidFill>
              </a:rPr>
              <a:t>   It is a mechanism to have a financial </a:t>
            </a:r>
            <a:br>
              <a:rPr lang="en-US" sz="4000" dirty="0">
                <a:solidFill>
                  <a:srgbClr val="660033"/>
                </a:solidFill>
              </a:rPr>
            </a:br>
            <a:r>
              <a:rPr lang="en-US" sz="4000" dirty="0">
                <a:solidFill>
                  <a:srgbClr val="660033"/>
                </a:solidFill>
              </a:rPr>
              <a:t>   control in the government system.</a:t>
            </a:r>
            <a:r>
              <a:rPr lang="en-US" sz="3100" dirty="0">
                <a:solidFill>
                  <a:srgbClr val="660033"/>
                </a:solidFill>
              </a:rPr>
              <a:t/>
            </a:r>
            <a:br>
              <a:rPr lang="en-US" sz="3100" dirty="0">
                <a:solidFill>
                  <a:srgbClr val="660033"/>
                </a:solidFill>
              </a:rPr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685800"/>
            <a:ext cx="7498080" cy="5105400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en-US" sz="4800" dirty="0" smtClean="0">
                <a:solidFill>
                  <a:srgbClr val="660033"/>
                </a:solidFill>
              </a:rPr>
              <a:t>Finance department in the </a:t>
            </a:r>
          </a:p>
          <a:p>
            <a:pPr algn="ctr">
              <a:buNone/>
            </a:pPr>
            <a:r>
              <a:rPr lang="en-US" sz="4800" dirty="0" smtClean="0">
                <a:solidFill>
                  <a:srgbClr val="660033"/>
                </a:solidFill>
              </a:rPr>
              <a:t>government will finalize the </a:t>
            </a:r>
          </a:p>
          <a:p>
            <a:pPr algn="ctr">
              <a:buNone/>
            </a:pPr>
            <a:r>
              <a:rPr lang="en-US" sz="4800" dirty="0" smtClean="0">
                <a:solidFill>
                  <a:srgbClr val="660033"/>
                </a:solidFill>
              </a:rPr>
              <a:t>budget by obtaining all required information from all the departments and place before the legislature for approval.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BUDGET CALENDAR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Clr>
                <a:srgbClr val="660066"/>
              </a:buClr>
              <a:buSzPct val="125000"/>
              <a:buFont typeface="Wingdings" pitchFamily="2" charset="2"/>
              <a:buChar char="Ø"/>
              <a:defRPr/>
            </a:pPr>
            <a:r>
              <a:rPr lang="en-US" sz="4000" dirty="0" smtClean="0">
                <a:solidFill>
                  <a:srgbClr val="000066"/>
                </a:solidFill>
              </a:rPr>
              <a:t> F.D. will issue budget calendar      fixing the dates to be adhered to      while submitting budget proposals      at different levels of administration</a:t>
            </a:r>
          </a:p>
          <a:p>
            <a:pPr algn="just">
              <a:buClr>
                <a:srgbClr val="660066"/>
              </a:buClr>
              <a:buSzPct val="125000"/>
              <a:buFont typeface="Wingdings" pitchFamily="2" charset="2"/>
              <a:buNone/>
              <a:defRPr/>
            </a:pPr>
            <a:endParaRPr lang="en-US" sz="1100" dirty="0" smtClean="0">
              <a:solidFill>
                <a:srgbClr val="000066"/>
              </a:solidFill>
            </a:endParaRPr>
          </a:p>
          <a:p>
            <a:pPr algn="just">
              <a:buClr>
                <a:srgbClr val="660066"/>
              </a:buClr>
              <a:buSzPct val="125000"/>
              <a:buFont typeface="Wingdings" pitchFamily="2" charset="2"/>
              <a:buChar char="Ø"/>
              <a:defRPr/>
            </a:pPr>
            <a:r>
              <a:rPr lang="en-US" sz="4000" dirty="0" smtClean="0">
                <a:solidFill>
                  <a:srgbClr val="000066"/>
                </a:solidFill>
              </a:rPr>
              <a:t> Process starts from October every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STRUCTURE OF THE BUDGET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buNone/>
              <a:defRPr/>
            </a:pPr>
            <a:r>
              <a:rPr lang="en-US" dirty="0" smtClean="0"/>
              <a:t>BUDGET WILL BE PREPARED IN 3 PARTS</a:t>
            </a:r>
          </a:p>
          <a:p>
            <a:pPr marL="1377950" indent="-1377950" algn="ctr">
              <a:buNone/>
              <a:defRPr/>
            </a:pPr>
            <a:r>
              <a:rPr lang="en-US" b="1" dirty="0" smtClean="0">
                <a:latin typeface="Cambria" pitchFamily="18" charset="0"/>
                <a:cs typeface="Arial" charset="0"/>
              </a:rPr>
              <a:t>ಭಾಗ1:	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ಕೇಂದ್ರ</a:t>
            </a:r>
            <a:r>
              <a:rPr lang="en-US" dirty="0" smtClean="0">
                <a:latin typeface="Cambria" pitchFamily="18" charset="0"/>
                <a:cs typeface="Arial" charset="0"/>
              </a:rPr>
              <a:t>/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ರಾಜ್ಯದ</a:t>
            </a:r>
            <a:r>
              <a:rPr lang="en-US" dirty="0" smtClean="0">
                <a:latin typeface="Cambria" pitchFamily="18" charset="0"/>
                <a:cs typeface="Arial" charset="0"/>
              </a:rPr>
              <a:t> 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ಸಂಚಿತ</a:t>
            </a:r>
            <a:r>
              <a:rPr lang="en-US" dirty="0" smtClean="0">
                <a:latin typeface="Cambria" pitchFamily="18" charset="0"/>
                <a:cs typeface="Arial" charset="0"/>
              </a:rPr>
              <a:t> 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ನಿಧಿ</a:t>
            </a:r>
            <a:r>
              <a:rPr lang="en-US" dirty="0" smtClean="0">
                <a:latin typeface="Cambria" pitchFamily="18" charset="0"/>
                <a:cs typeface="Arial" charset="0"/>
              </a:rPr>
              <a:t> </a:t>
            </a:r>
          </a:p>
          <a:p>
            <a:pPr marL="1377950" indent="-1377950" algn="ctr">
              <a:buNone/>
              <a:defRPr/>
            </a:pPr>
            <a:r>
              <a:rPr lang="en-US" dirty="0" smtClean="0">
                <a:latin typeface="Cambria" pitchFamily="18" charset="0"/>
                <a:cs typeface="Arial" charset="0"/>
              </a:rPr>
              <a:t>ಅನುಚ್ಚೇದ-266(1) </a:t>
            </a:r>
          </a:p>
          <a:p>
            <a:pPr marL="1377950" indent="-1377950" algn="ctr">
              <a:buNone/>
              <a:defRPr/>
            </a:pPr>
            <a:r>
              <a:rPr lang="en-US" dirty="0" smtClean="0">
                <a:latin typeface="Cambria" pitchFamily="18" charset="0"/>
                <a:cs typeface="Arial" charset="0"/>
              </a:rPr>
              <a:t>(Consolidated Fund of India/State)</a:t>
            </a:r>
          </a:p>
          <a:p>
            <a:pPr marL="1377950" indent="-1377950" algn="ctr">
              <a:defRPr/>
            </a:pPr>
            <a:endParaRPr lang="en-US" sz="2000" b="1" dirty="0" smtClean="0">
              <a:latin typeface="Cambria" pitchFamily="18" charset="0"/>
              <a:cs typeface="Arial" charset="0"/>
            </a:endParaRPr>
          </a:p>
          <a:p>
            <a:pPr marL="1377950" indent="-1377950" algn="ctr">
              <a:buNone/>
              <a:defRPr/>
            </a:pPr>
            <a:r>
              <a:rPr lang="en-US" b="1" dirty="0" err="1" smtClean="0">
                <a:latin typeface="Cambria" pitchFamily="18" charset="0"/>
                <a:cs typeface="Arial" charset="0"/>
              </a:rPr>
              <a:t>ಭಾಗ</a:t>
            </a:r>
            <a:r>
              <a:rPr lang="en-US" b="1" dirty="0" smtClean="0">
                <a:latin typeface="Cambria" pitchFamily="18" charset="0"/>
                <a:cs typeface="Arial" charset="0"/>
              </a:rPr>
              <a:t> 2: 	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ಕೇಂದ್ರ</a:t>
            </a:r>
            <a:r>
              <a:rPr lang="en-US" dirty="0" smtClean="0">
                <a:latin typeface="Cambria" pitchFamily="18" charset="0"/>
                <a:cs typeface="Arial" charset="0"/>
              </a:rPr>
              <a:t>/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ರಾಜ್ಯದ</a:t>
            </a:r>
            <a:r>
              <a:rPr lang="en-US" dirty="0" smtClean="0">
                <a:latin typeface="Cambria" pitchFamily="18" charset="0"/>
                <a:cs typeface="Arial" charset="0"/>
              </a:rPr>
              <a:t> 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ಸಾಧಿಲ್ವಾರು</a:t>
            </a:r>
            <a:r>
              <a:rPr lang="en-US" dirty="0" smtClean="0">
                <a:latin typeface="Cambria" pitchFamily="18" charset="0"/>
                <a:cs typeface="Arial" charset="0"/>
              </a:rPr>
              <a:t> 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ನಿಧಿ</a:t>
            </a:r>
            <a:endParaRPr lang="en-US" dirty="0" smtClean="0">
              <a:latin typeface="Cambria" pitchFamily="18" charset="0"/>
              <a:cs typeface="Arial" charset="0"/>
            </a:endParaRPr>
          </a:p>
          <a:p>
            <a:pPr marL="1377950" indent="-1377950" algn="ctr">
              <a:buNone/>
              <a:defRPr/>
            </a:pPr>
            <a:r>
              <a:rPr lang="en-US" dirty="0" smtClean="0">
                <a:latin typeface="Cambria" pitchFamily="18" charset="0"/>
                <a:cs typeface="Arial" charset="0"/>
              </a:rPr>
              <a:t>ಅನುಚ್ಚೇದ-267</a:t>
            </a:r>
          </a:p>
          <a:p>
            <a:pPr marL="1377950" indent="-1377950" algn="ctr">
              <a:buNone/>
              <a:defRPr/>
            </a:pPr>
            <a:r>
              <a:rPr lang="en-US" dirty="0" smtClean="0">
                <a:latin typeface="Cambria" pitchFamily="18" charset="0"/>
                <a:cs typeface="Arial" charset="0"/>
              </a:rPr>
              <a:t>(Contingency Fund of India/State)</a:t>
            </a:r>
          </a:p>
          <a:p>
            <a:pPr marL="1377950" indent="-1377950" algn="ctr">
              <a:defRPr/>
            </a:pPr>
            <a:endParaRPr lang="en-US" sz="1600" b="1" dirty="0" smtClean="0">
              <a:latin typeface="Cambria" pitchFamily="18" charset="0"/>
              <a:cs typeface="Arial" charset="0"/>
            </a:endParaRPr>
          </a:p>
          <a:p>
            <a:pPr marL="1377950" indent="-1377950" algn="ctr">
              <a:buNone/>
              <a:defRPr/>
            </a:pPr>
            <a:r>
              <a:rPr lang="en-US" b="1" dirty="0" err="1" smtClean="0">
                <a:latin typeface="Cambria" pitchFamily="18" charset="0"/>
                <a:cs typeface="Arial" charset="0"/>
              </a:rPr>
              <a:t>ಭಾಗ</a:t>
            </a:r>
            <a:r>
              <a:rPr lang="en-US" b="1" dirty="0" smtClean="0">
                <a:latin typeface="Cambria" pitchFamily="18" charset="0"/>
                <a:cs typeface="Arial" charset="0"/>
              </a:rPr>
              <a:t> 3: 	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ಕೇಂದ್ರ</a:t>
            </a:r>
            <a:r>
              <a:rPr lang="en-US" dirty="0" smtClean="0">
                <a:latin typeface="Cambria" pitchFamily="18" charset="0"/>
                <a:cs typeface="Arial" charset="0"/>
              </a:rPr>
              <a:t>/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ರಾಜ್ಯದ</a:t>
            </a:r>
            <a:r>
              <a:rPr lang="en-US" dirty="0" smtClean="0">
                <a:latin typeface="Cambria" pitchFamily="18" charset="0"/>
                <a:cs typeface="Arial" charset="0"/>
              </a:rPr>
              <a:t> 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ಸಾರ್ವಜನಿಕ</a:t>
            </a:r>
            <a:r>
              <a:rPr lang="en-US" dirty="0" smtClean="0">
                <a:latin typeface="Cambria" pitchFamily="18" charset="0"/>
                <a:cs typeface="Arial" charset="0"/>
              </a:rPr>
              <a:t> </a:t>
            </a:r>
            <a:r>
              <a:rPr lang="en-US" dirty="0" err="1" smtClean="0">
                <a:latin typeface="Cambria" pitchFamily="18" charset="0"/>
                <a:cs typeface="Arial" charset="0"/>
              </a:rPr>
              <a:t>ಲೆಕ್ಕ</a:t>
            </a:r>
            <a:endParaRPr lang="en-US" dirty="0" smtClean="0">
              <a:latin typeface="Cambria" pitchFamily="18" charset="0"/>
              <a:cs typeface="Arial" charset="0"/>
            </a:endParaRPr>
          </a:p>
          <a:p>
            <a:pPr marL="1377950" indent="-1377950" algn="ctr">
              <a:buNone/>
              <a:defRPr/>
            </a:pPr>
            <a:r>
              <a:rPr lang="en-US" dirty="0" smtClean="0">
                <a:latin typeface="Cambria" pitchFamily="18" charset="0"/>
                <a:cs typeface="Arial" charset="0"/>
              </a:rPr>
              <a:t>ಅನುಚ್ಚೇದ-266(2) </a:t>
            </a:r>
          </a:p>
          <a:p>
            <a:pPr marL="1377950" indent="-1377950" algn="ctr">
              <a:buNone/>
              <a:defRPr/>
            </a:pPr>
            <a:r>
              <a:rPr lang="en-US" dirty="0" smtClean="0">
                <a:latin typeface="Cambria" pitchFamily="18" charset="0"/>
                <a:cs typeface="Arial" charset="0"/>
              </a:rPr>
              <a:t>(Public Account of India/State)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498080" cy="223996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  <a:defRPr/>
            </a:pPr>
            <a:r>
              <a:rPr lang="en-US" sz="3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I.  Consolidated   Fund  :  comprises</a:t>
            </a:r>
            <a:br>
              <a:rPr lang="en-US" sz="3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1) all revenues received by government</a:t>
            </a:r>
            <a:br>
              <a:rPr lang="en-US" sz="3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2) all loans raised by government</a:t>
            </a:r>
            <a:br>
              <a:rPr lang="en-US" sz="3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3) all moneys received by govt. in repayment of loans Divided   into   3   as   shown  :-  </a:t>
            </a:r>
            <a:endParaRPr lang="en-US" dirty="0"/>
          </a:p>
        </p:txBody>
      </p:sp>
      <p:graphicFrame>
        <p:nvGraphicFramePr>
          <p:cNvPr id="1026" name="Organization Chart 10"/>
          <p:cNvGraphicFramePr>
            <a:graphicFrameLocks/>
          </p:cNvGraphicFramePr>
          <p:nvPr>
            <p:ph idx="1"/>
          </p:nvPr>
        </p:nvGraphicFramePr>
        <p:xfrm>
          <a:off x="1219200" y="2590800"/>
          <a:ext cx="7715250" cy="3962400"/>
        </p:xfrm>
        <a:graphic>
          <a:graphicData uri="http://schemas.openxmlformats.org/drawingml/2006/compatibility">
            <com:legacyDrawing xmlns:com="http://schemas.openxmlformats.org/drawingml/2006/compatibility" spid="_x0000_s102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II.  CONTINGENCY     FUND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i="1" dirty="0" smtClean="0">
                <a:solidFill>
                  <a:schemeClr val="tx2"/>
                </a:solidFill>
              </a:rPr>
              <a:t>In pursuance of article 267(2) of the Constitution </a:t>
            </a:r>
          </a:p>
          <a:p>
            <a:pPr>
              <a:defRPr/>
            </a:pPr>
            <a:r>
              <a:rPr lang="en-US" i="1" dirty="0" smtClean="0">
                <a:solidFill>
                  <a:schemeClr val="tx2"/>
                </a:solidFill>
              </a:rPr>
              <a:t>Nature of an </a:t>
            </a:r>
            <a:r>
              <a:rPr lang="en-US" i="1" dirty="0" err="1" smtClean="0">
                <a:solidFill>
                  <a:schemeClr val="tx2"/>
                </a:solidFill>
              </a:rPr>
              <a:t>imprest</a:t>
            </a:r>
            <a:r>
              <a:rPr lang="en-US" i="1" dirty="0" smtClean="0">
                <a:solidFill>
                  <a:schemeClr val="tx2"/>
                </a:solidFill>
              </a:rPr>
              <a:t> (Advance) </a:t>
            </a:r>
          </a:p>
          <a:p>
            <a:pPr>
              <a:defRPr/>
            </a:pPr>
            <a:r>
              <a:rPr lang="en-US" i="1" dirty="0" smtClean="0">
                <a:solidFill>
                  <a:schemeClr val="tx2"/>
                </a:solidFill>
              </a:rPr>
              <a:t>To meet </a:t>
            </a:r>
            <a:r>
              <a:rPr lang="en-US" i="1" dirty="0" err="1" smtClean="0">
                <a:solidFill>
                  <a:schemeClr val="tx2"/>
                </a:solidFill>
              </a:rPr>
              <a:t>unforseen</a:t>
            </a:r>
            <a:r>
              <a:rPr lang="en-US" i="1" dirty="0" smtClean="0">
                <a:solidFill>
                  <a:schemeClr val="tx2"/>
                </a:solidFill>
              </a:rPr>
              <a:t> expenditure</a:t>
            </a:r>
          </a:p>
          <a:p>
            <a:pPr>
              <a:defRPr/>
            </a:pPr>
            <a:r>
              <a:rPr lang="en-US" i="1" dirty="0" smtClean="0">
                <a:solidFill>
                  <a:schemeClr val="tx2"/>
                </a:solidFill>
              </a:rPr>
              <a:t>Intended to provide advances</a:t>
            </a:r>
          </a:p>
          <a:p>
            <a:pPr>
              <a:defRPr/>
            </a:pPr>
            <a:r>
              <a:rPr lang="en-US" i="1" dirty="0" smtClean="0">
                <a:solidFill>
                  <a:schemeClr val="tx2"/>
                </a:solidFill>
              </a:rPr>
              <a:t>Held by Finance Secretary &amp; sanctioned</a:t>
            </a:r>
          </a:p>
          <a:p>
            <a:pPr>
              <a:buNone/>
              <a:defRPr/>
            </a:pPr>
            <a:r>
              <a:rPr lang="en-US" i="1" dirty="0" smtClean="0">
                <a:solidFill>
                  <a:schemeClr val="tx2"/>
                </a:solidFill>
              </a:rPr>
              <a:t>              by him</a:t>
            </a:r>
          </a:p>
          <a:p>
            <a:pPr>
              <a:defRPr/>
            </a:pPr>
            <a:r>
              <a:rPr lang="en-US" i="1" dirty="0" smtClean="0">
                <a:solidFill>
                  <a:schemeClr val="tx2"/>
                </a:solidFill>
              </a:rPr>
              <a:t>Recouped by supplementary estimate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u="sng" dirty="0" smtClean="0">
                <a:solidFill>
                  <a:schemeClr val="tx1"/>
                </a:solidFill>
                <a:effectLst/>
              </a:rPr>
              <a:t>Public  account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All public moneys received by government</a:t>
            </a:r>
          </a:p>
          <a:p>
            <a:pPr>
              <a:lnSpc>
                <a:spcPct val="90000"/>
              </a:lnSpc>
              <a:defRPr/>
            </a:pPr>
            <a:r>
              <a:rPr 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On behalf of the government</a:t>
            </a:r>
          </a:p>
          <a:p>
            <a:pPr>
              <a:lnSpc>
                <a:spcPct val="90000"/>
              </a:lnSpc>
              <a:defRPr/>
            </a:pPr>
            <a:r>
              <a:rPr 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Not creditable to   consolidated fund</a:t>
            </a:r>
          </a:p>
          <a:p>
            <a:pPr>
              <a:lnSpc>
                <a:spcPct val="90000"/>
              </a:lnSpc>
              <a:defRPr/>
            </a:pPr>
            <a:r>
              <a:rPr 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Not subject to the vote of the legislature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219200" y="2133600"/>
          <a:ext cx="32766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/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 smtClean="0"/>
                        <a:t>Debt heads other than</a:t>
                      </a:r>
                    </a:p>
                    <a:p>
                      <a:pPr marL="342900" indent="-342900"/>
                      <a:r>
                        <a:rPr lang="en-US" sz="2000" dirty="0" smtClean="0"/>
                        <a:t>  those of consolidated </a:t>
                      </a:r>
                    </a:p>
                    <a:p>
                      <a:pPr marL="342900" indent="-342900"/>
                      <a:r>
                        <a:rPr lang="en-US" sz="2000" dirty="0" smtClean="0"/>
                        <a:t>  fund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 smtClean="0"/>
                        <a:t>Govt. acts as a banker</a:t>
                      </a:r>
                    </a:p>
                    <a:p>
                      <a:pPr marL="342900" indent="-342900"/>
                      <a:r>
                        <a:rPr lang="en-US" sz="2000" dirty="0" smtClean="0"/>
                        <a:t>   receiving amounts &amp;</a:t>
                      </a:r>
                    </a:p>
                    <a:p>
                      <a:pPr marL="342900" indent="-342900"/>
                      <a:r>
                        <a:rPr lang="en-US" sz="2000" dirty="0" smtClean="0"/>
                        <a:t>   repaying afterwards </a:t>
                      </a:r>
                    </a:p>
                    <a:p>
                      <a:pPr marL="342900" indent="-342900"/>
                      <a:r>
                        <a:rPr lang="en-US" sz="1800" dirty="0" smtClean="0"/>
                        <a:t>      Ex:-</a:t>
                      </a:r>
                      <a:r>
                        <a:rPr lang="en-US" sz="2000" dirty="0" smtClean="0"/>
                        <a:t> </a:t>
                      </a:r>
                    </a:p>
                    <a:p>
                      <a:pPr marL="1257300" lvl="2" indent="-342900">
                        <a:buFontTx/>
                        <a:buAutoNum type="arabicParenR"/>
                      </a:pPr>
                      <a:r>
                        <a:rPr lang="en-US" sz="1800" dirty="0" smtClean="0"/>
                        <a:t> Provident  Funds</a:t>
                      </a:r>
                    </a:p>
                    <a:p>
                      <a:pPr marL="1257300" lvl="2" indent="-342900">
                        <a:buFontTx/>
                        <a:buAutoNum type="arabicParenR"/>
                      </a:pPr>
                      <a:r>
                        <a:rPr lang="en-US" sz="1800" dirty="0" smtClean="0"/>
                        <a:t>Insurance Funds</a:t>
                      </a:r>
                    </a:p>
                    <a:p>
                      <a:pPr marL="1257300" lvl="2" indent="-342900">
                        <a:buFontTx/>
                        <a:buAutoNum type="arabicParenR"/>
                      </a:pPr>
                      <a:r>
                        <a:rPr lang="en-US" sz="1800" dirty="0" smtClean="0"/>
                        <a:t>Local Funds</a:t>
                      </a:r>
                    </a:p>
                    <a:p>
                      <a:pPr marL="1257300" lvl="2" indent="-342900">
                        <a:buFontTx/>
                        <a:buAutoNum type="arabicParenR"/>
                      </a:pPr>
                      <a:r>
                        <a:rPr lang="en-US" sz="1800" dirty="0" smtClean="0"/>
                        <a:t>Civil Deposits</a:t>
                      </a:r>
                    </a:p>
                    <a:p>
                      <a:pPr marL="1257300" lvl="2" indent="-342900">
                        <a:buFontTx/>
                        <a:buAutoNum type="arabicParenR"/>
                      </a:pPr>
                      <a:r>
                        <a:rPr lang="en-US" sz="1800" dirty="0" err="1" smtClean="0"/>
                        <a:t>Defence</a:t>
                      </a:r>
                      <a:r>
                        <a:rPr lang="en-US" sz="1800" dirty="0" smtClean="0"/>
                        <a:t> Funds  etc.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6334" name="Organization Chart 14"/>
          <p:cNvGraphicFramePr>
            <a:graphicFrameLocks/>
          </p:cNvGraphicFramePr>
          <p:nvPr/>
        </p:nvGraphicFramePr>
        <p:xfrm>
          <a:off x="1219200" y="228600"/>
          <a:ext cx="7620000" cy="1600200"/>
        </p:xfrm>
        <a:graphic>
          <a:graphicData uri="http://schemas.openxmlformats.org/drawingml/2006/compatibility">
            <com:legacyDrawing xmlns:com="http://schemas.openxmlformats.org/drawingml/2006/compatibility" spid="_x0000_s2050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62600" y="2133600"/>
          <a:ext cx="35814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</a:tblGrid>
              <a:tr h="3124200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2400" dirty="0" smtClean="0"/>
                        <a:t>Mere adjustments at </a:t>
                      </a:r>
                    </a:p>
                    <a:p>
                      <a:r>
                        <a:rPr lang="en-US" sz="2400" dirty="0" smtClean="0"/>
                        <a:t>  treasury level &amp; </a:t>
                      </a:r>
                    </a:p>
                    <a:p>
                      <a:r>
                        <a:rPr lang="en-US" sz="2400" dirty="0" smtClean="0"/>
                        <a:t>   A.G. level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en-US" sz="2400" dirty="0" smtClean="0"/>
                        <a:t>Indirect debits &amp;</a:t>
                      </a:r>
                    </a:p>
                    <a:p>
                      <a:r>
                        <a:rPr lang="en-US" sz="2400" dirty="0" smtClean="0"/>
                        <a:t>  credits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>
                                            <p:subSp spid="_x0000_s205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334">
                                            <p:subSp spid="_x0000_s2054"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34">
                                            <p:subSp spid="_x0000_s2054"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334">
                                            <p:subSp spid="_x0000_s205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>
                                            <p:subSp spid="_x0000_s2055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334">
                                            <p:subSp spid="_x0000_s2055"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334">
                                            <p:subSp spid="_x0000_s2055"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6334">
                                            <p:subSp spid="_x0000_s2055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>
                                            <p:subSp spid="_x0000_s205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6334">
                                            <p:subSp spid="_x0000_s2056"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6334">
                                            <p:subSp spid="_x0000_s2056"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6334">
                                            <p:subSp spid="_x0000_s2056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Dgm spid="56334" grpId="0" bld="depthByNod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458200" cy="11430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Structure of Accounts &amp; Estimates</a:t>
            </a:r>
            <a:endParaRPr lang="en-US" sz="4000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19288" cy="5410200"/>
          </a:xfrm>
        </p:spPr>
        <p:txBody>
          <a:bodyPr>
            <a:normAutofit/>
          </a:bodyPr>
          <a:lstStyle/>
          <a:p>
            <a:pPr marL="457200" lvl="1" indent="0" algn="just" fontAlgn="auto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Under Article 50 of the constitution</a:t>
            </a:r>
          </a:p>
          <a:p>
            <a:pPr marL="457200" lvl="1" indent="0" algn="just" fontAlgn="auto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Same as classification in accounts.</a:t>
            </a:r>
          </a:p>
          <a:p>
            <a:pPr marL="457200" lvl="1" indent="0" algn="just" fontAlgn="auto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There was no uniformity in classification, budget &amp; accounts before 1974 among centre &amp; states</a:t>
            </a:r>
          </a:p>
          <a:p>
            <a:pPr marL="457200" lvl="1" indent="0" algn="just" fontAlgn="auto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5 tiers system of classification in govt. a/c from 1974-75 introduced on the recommendations of Administrative Reforms Commission for uniform system of classification throughout the country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28600"/>
            <a:ext cx="7790688" cy="6019800"/>
          </a:xfrm>
        </p:spPr>
        <p:txBody>
          <a:bodyPr>
            <a:normAutofit/>
          </a:bodyPr>
          <a:lstStyle/>
          <a:p>
            <a:pPr marL="342900" indent="-342900">
              <a:buNone/>
              <a:defRPr/>
            </a:pPr>
            <a:r>
              <a:rPr lang="en-US" sz="4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1.Sectors –</a:t>
            </a:r>
          </a:p>
          <a:p>
            <a:pPr marL="342900" indent="-342900">
              <a:buNone/>
              <a:defRPr/>
            </a:pPr>
            <a:r>
              <a:rPr lang="en-US" dirty="0" smtClean="0"/>
              <a:t>To group various services broadly -</a:t>
            </a:r>
          </a:p>
          <a:p>
            <a:pPr marL="342900" indent="-342900">
              <a:buNone/>
              <a:defRPr/>
            </a:pPr>
            <a:endParaRPr lang="en-US" dirty="0" smtClean="0"/>
          </a:p>
          <a:p>
            <a:pPr marL="342900" indent="-342900">
              <a:buNone/>
              <a:defRPr/>
            </a:pPr>
            <a:r>
              <a:rPr lang="en-US" b="1" dirty="0" smtClean="0"/>
              <a:t>		A) General services -              </a:t>
            </a:r>
            <a:r>
              <a:rPr lang="en-US" dirty="0" smtClean="0"/>
              <a:t>			- indispensable to the 					existence of an </a:t>
            </a:r>
            <a:r>
              <a:rPr lang="en-US" dirty="0" err="1" smtClean="0"/>
              <a:t>organised</a:t>
            </a:r>
            <a:r>
              <a:rPr lang="en-US" dirty="0" smtClean="0"/>
              <a:t> 				state.</a:t>
            </a:r>
          </a:p>
          <a:p>
            <a:pPr marL="342900" indent="-342900">
              <a:buNone/>
              <a:defRPr/>
            </a:pPr>
            <a:r>
              <a:rPr lang="en-US" dirty="0" smtClean="0"/>
              <a:t>	 			Ex. 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r>
              <a:rPr lang="en-US" sz="2800" dirty="0" smtClean="0"/>
              <a:t>general administration</a:t>
            </a:r>
          </a:p>
          <a:p>
            <a:pPr marL="342900" indent="-342900">
              <a:buNone/>
              <a:defRPr/>
            </a:pPr>
            <a:r>
              <a:rPr lang="en-US" sz="2800" dirty="0" smtClean="0"/>
              <a:t>           		     ii) police</a:t>
            </a:r>
          </a:p>
          <a:p>
            <a:pPr marL="342900" indent="-342900">
              <a:buNone/>
              <a:defRPr/>
            </a:pPr>
            <a:r>
              <a:rPr lang="en-US" sz="2800" dirty="0" smtClean="0"/>
              <a:t>                                iii) </a:t>
            </a:r>
            <a:r>
              <a:rPr lang="en-US" sz="2800" dirty="0" err="1" smtClean="0"/>
              <a:t>defence</a:t>
            </a:r>
            <a:r>
              <a:rPr lang="en-US" sz="2800" dirty="0" smtClean="0"/>
              <a:t>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000"/>
            <a:ext cx="8095488" cy="5867400"/>
          </a:xfrm>
        </p:spPr>
        <p:txBody>
          <a:bodyPr/>
          <a:lstStyle/>
          <a:p>
            <a:pPr marL="342900" indent="-342900">
              <a:buNone/>
            </a:pPr>
            <a:r>
              <a:rPr lang="en-US" dirty="0" smtClean="0"/>
              <a:t>1.Sectors –</a:t>
            </a:r>
          </a:p>
          <a:p>
            <a:pPr marL="342900" indent="-342900">
              <a:buNone/>
            </a:pPr>
            <a:r>
              <a:rPr lang="en-US" dirty="0" smtClean="0"/>
              <a:t>   To group various services broadly –</a:t>
            </a:r>
          </a:p>
          <a:p>
            <a:pPr marL="342900" indent="-342900"/>
            <a:endParaRPr lang="en-US" sz="1600" dirty="0" smtClean="0"/>
          </a:p>
          <a:p>
            <a:pPr marL="342900" indent="-342900">
              <a:buNone/>
            </a:pPr>
            <a:r>
              <a:rPr lang="en-US" dirty="0" smtClean="0"/>
              <a:t>	</a:t>
            </a:r>
            <a:r>
              <a:rPr lang="en-US" b="1" dirty="0" smtClean="0"/>
              <a:t>B) Social &amp; Community Services-</a:t>
            </a:r>
          </a:p>
          <a:p>
            <a:pPr marL="342900" indent="-342900">
              <a:buNone/>
            </a:pPr>
            <a:r>
              <a:rPr lang="en-US" dirty="0" smtClean="0"/>
              <a:t>			associated with the activities &amp;   	     		social services to the consumers</a:t>
            </a:r>
          </a:p>
          <a:p>
            <a:pPr marL="342900" indent="-342900"/>
            <a:endParaRPr lang="en-US" sz="1600" dirty="0" smtClean="0"/>
          </a:p>
          <a:p>
            <a:pPr marL="342900" indent="-342900">
              <a:buNone/>
            </a:pPr>
            <a:r>
              <a:rPr lang="en-US" dirty="0" smtClean="0"/>
              <a:t>   			 </a:t>
            </a:r>
            <a:r>
              <a:rPr lang="en-US" sz="2400" dirty="0" smtClean="0"/>
              <a:t>Ex. </a:t>
            </a:r>
            <a:r>
              <a:rPr lang="en-US" sz="2400" dirty="0" err="1" smtClean="0"/>
              <a:t>i</a:t>
            </a:r>
            <a:r>
              <a:rPr lang="en-US" sz="2400" dirty="0" smtClean="0"/>
              <a:t>) education</a:t>
            </a:r>
          </a:p>
          <a:p>
            <a:pPr marL="342900" indent="-342900">
              <a:buNone/>
            </a:pPr>
            <a:r>
              <a:rPr lang="en-US" sz="2400" dirty="0" smtClean="0"/>
              <a:t>         		      ii) health</a:t>
            </a:r>
          </a:p>
          <a:p>
            <a:pPr marL="342900" indent="-342900">
              <a:buNone/>
            </a:pPr>
            <a:r>
              <a:rPr lang="en-US" sz="2400" dirty="0" smtClean="0"/>
              <a:t>                           iii) social welfare</a:t>
            </a:r>
          </a:p>
          <a:p>
            <a:pPr marL="342900" indent="-342900">
              <a:buNone/>
            </a:pPr>
            <a:r>
              <a:rPr lang="en-US" sz="2400" dirty="0" smtClean="0"/>
              <a:t>                           iv) water supply  etc.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457200"/>
            <a:ext cx="8171688" cy="5791200"/>
          </a:xfrm>
        </p:spPr>
        <p:txBody>
          <a:bodyPr/>
          <a:lstStyle/>
          <a:p>
            <a:pPr marL="342900" indent="-342900">
              <a:buNone/>
            </a:pPr>
            <a:r>
              <a:rPr lang="en-US" b="1" dirty="0" smtClean="0"/>
              <a:t>1. Sectors –</a:t>
            </a:r>
          </a:p>
          <a:p>
            <a:pPr marL="342900" indent="-342900">
              <a:buNone/>
            </a:pPr>
            <a:r>
              <a:rPr lang="en-US" dirty="0" smtClean="0"/>
              <a:t>    To group various services broadly – </a:t>
            </a:r>
          </a:p>
          <a:p>
            <a:pPr marL="342900" indent="-342900"/>
            <a:endParaRPr lang="en-US" dirty="0" smtClean="0"/>
          </a:p>
          <a:p>
            <a:pPr marL="342900" indent="-342900">
              <a:buNone/>
            </a:pPr>
            <a:r>
              <a:rPr lang="en-US" dirty="0" smtClean="0"/>
              <a:t>    	</a:t>
            </a:r>
            <a:r>
              <a:rPr lang="en-US" b="1" dirty="0" smtClean="0"/>
              <a:t>C)  Economic Services-</a:t>
            </a:r>
          </a:p>
          <a:p>
            <a:pPr marL="342900" indent="-342900">
              <a:buNone/>
            </a:pPr>
            <a:r>
              <a:rPr lang="en-US" dirty="0" smtClean="0"/>
              <a:t>              associated with activities of</a:t>
            </a:r>
          </a:p>
          <a:p>
            <a:pPr marL="342900" indent="-342900">
              <a:buNone/>
            </a:pPr>
            <a:r>
              <a:rPr lang="en-US" dirty="0" smtClean="0"/>
              <a:t>              production &amp; trades</a:t>
            </a:r>
          </a:p>
          <a:p>
            <a:pPr marL="342900" indent="-342900">
              <a:buNone/>
            </a:pPr>
            <a:endParaRPr lang="en-US" dirty="0" smtClean="0"/>
          </a:p>
          <a:p>
            <a:pPr marL="342900" indent="-342900">
              <a:buNone/>
            </a:pPr>
            <a:r>
              <a:rPr lang="en-US" dirty="0" smtClean="0"/>
              <a:t>    		 ex.   </a:t>
            </a:r>
            <a:r>
              <a:rPr lang="en-US" dirty="0" err="1" smtClean="0"/>
              <a:t>i</a:t>
            </a:r>
            <a:r>
              <a:rPr lang="en-US" dirty="0" smtClean="0"/>
              <a:t>) agriculture</a:t>
            </a:r>
          </a:p>
          <a:p>
            <a:pPr marL="342900" indent="-342900">
              <a:buNone/>
            </a:pPr>
            <a:r>
              <a:rPr lang="en-US" dirty="0" smtClean="0"/>
              <a:t>          	   </a:t>
            </a:r>
            <a:r>
              <a:rPr lang="en-US" sz="2800" dirty="0" smtClean="0"/>
              <a:t>    </a:t>
            </a:r>
            <a:r>
              <a:rPr lang="en-US" dirty="0" smtClean="0"/>
              <a:t> ii) industry</a:t>
            </a:r>
          </a:p>
          <a:p>
            <a:pPr marL="342900" indent="-342900">
              <a:buNone/>
            </a:pPr>
            <a:r>
              <a:rPr lang="en-US" dirty="0" smtClean="0"/>
              <a:t>                       iii) power etc.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457200"/>
            <a:ext cx="8019288" cy="5791200"/>
          </a:xfrm>
        </p:spPr>
        <p:txBody>
          <a:bodyPr/>
          <a:lstStyle/>
          <a:p>
            <a:pPr marL="342900" indent="-342900">
              <a:buNone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1. </a:t>
            </a:r>
            <a:r>
              <a:rPr lang="en-US" b="1" dirty="0" smtClean="0"/>
              <a:t>Sectors –</a:t>
            </a:r>
          </a:p>
          <a:p>
            <a:pPr marL="342900" indent="-342900">
              <a:buNone/>
            </a:pPr>
            <a:r>
              <a:rPr lang="en-US" dirty="0" smtClean="0"/>
              <a:t>    To group various services broadly –</a:t>
            </a:r>
          </a:p>
          <a:p>
            <a:pPr marL="342900" indent="-342900">
              <a:buNone/>
            </a:pPr>
            <a:endParaRPr lang="en-US" dirty="0" smtClean="0"/>
          </a:p>
          <a:p>
            <a:pPr marL="1714500" lvl="3" indent="-342900">
              <a:buNone/>
            </a:pPr>
            <a:r>
              <a:rPr lang="en-US" sz="3200" b="1" dirty="0" smtClean="0"/>
              <a:t>D) Grant in aid:</a:t>
            </a:r>
          </a:p>
          <a:p>
            <a:pPr marL="342900" indent="-342900">
              <a:buNone/>
            </a:pPr>
            <a:r>
              <a:rPr lang="en-US" dirty="0" smtClean="0"/>
              <a:t>    	                  comprises</a:t>
            </a:r>
          </a:p>
          <a:p>
            <a:pPr marL="342900" indent="-342900">
              <a:buNone/>
            </a:pPr>
            <a:r>
              <a:rPr lang="en-US" dirty="0" smtClean="0"/>
              <a:t>					  </a:t>
            </a:r>
            <a:r>
              <a:rPr lang="en-US" dirty="0" err="1" smtClean="0"/>
              <a:t>i</a:t>
            </a:r>
            <a:r>
              <a:rPr lang="en-US" dirty="0" smtClean="0"/>
              <a:t>) contributions</a:t>
            </a:r>
          </a:p>
          <a:p>
            <a:pPr marL="342900" indent="-342900">
              <a:buNone/>
            </a:pPr>
            <a:r>
              <a:rPr lang="en-US" dirty="0" smtClean="0"/>
              <a:t>                        </a:t>
            </a:r>
            <a:r>
              <a:rPr lang="en-US" sz="3600" dirty="0" smtClean="0"/>
              <a:t>	</a:t>
            </a:r>
            <a:r>
              <a:rPr lang="en-US" sz="4000" dirty="0" smtClean="0"/>
              <a:t>	</a:t>
            </a:r>
            <a:r>
              <a:rPr lang="en-US" sz="3600" dirty="0" smtClean="0"/>
              <a:t> </a:t>
            </a:r>
            <a:r>
              <a:rPr lang="en-US" dirty="0" smtClean="0"/>
              <a:t>ii) loans</a:t>
            </a:r>
          </a:p>
          <a:p>
            <a:pPr marL="342900" indent="-342900">
              <a:buNone/>
            </a:pPr>
            <a:r>
              <a:rPr lang="en-US" dirty="0" smtClean="0"/>
              <a:t>                   		iii) advances  of govt. 	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533400"/>
            <a:ext cx="8019288" cy="5715000"/>
          </a:xfrm>
        </p:spPr>
        <p:txBody>
          <a:bodyPr/>
          <a:lstStyle/>
          <a:p>
            <a:pPr>
              <a:spcBef>
                <a:spcPct val="50000"/>
              </a:spcBef>
              <a:buNone/>
            </a:pPr>
            <a:r>
              <a:rPr lang="en-US" b="1" dirty="0" smtClean="0"/>
              <a:t>2. Major heads –</a:t>
            </a:r>
          </a:p>
          <a:p>
            <a:pPr>
              <a:spcBef>
                <a:spcPct val="50000"/>
              </a:spcBef>
              <a:buNone/>
            </a:pPr>
            <a:r>
              <a:rPr lang="en-US" dirty="0" smtClean="0"/>
              <a:t>    To represent functions of the</a:t>
            </a:r>
          </a:p>
          <a:p>
            <a:pPr>
              <a:spcBef>
                <a:spcPct val="50000"/>
              </a:spcBef>
              <a:buNone/>
            </a:pPr>
            <a:r>
              <a:rPr lang="en-US" dirty="0" smtClean="0"/>
              <a:t>     government</a:t>
            </a:r>
          </a:p>
          <a:p>
            <a:pPr>
              <a:spcBef>
                <a:spcPct val="50000"/>
              </a:spcBef>
              <a:buNone/>
            </a:pPr>
            <a:endParaRPr lang="en-US" dirty="0" smtClean="0"/>
          </a:p>
          <a:p>
            <a:pPr>
              <a:spcBef>
                <a:spcPct val="50000"/>
              </a:spcBef>
              <a:buNone/>
            </a:pPr>
            <a:r>
              <a:rPr lang="en-US" b="1" dirty="0" smtClean="0"/>
              <a:t>3. Minor heads –</a:t>
            </a:r>
          </a:p>
          <a:p>
            <a:pPr>
              <a:spcBef>
                <a:spcPct val="50000"/>
              </a:spcBef>
              <a:buNone/>
            </a:pPr>
            <a:r>
              <a:rPr lang="en-US" dirty="0" smtClean="0"/>
              <a:t>    To identify </a:t>
            </a:r>
            <a:r>
              <a:rPr lang="en-US" dirty="0" err="1" smtClean="0"/>
              <a:t>programes</a:t>
            </a:r>
            <a:r>
              <a:rPr lang="en-US" dirty="0" smtClean="0"/>
              <a:t>  under </a:t>
            </a:r>
          </a:p>
          <a:p>
            <a:pPr>
              <a:spcBef>
                <a:spcPct val="50000"/>
              </a:spcBef>
              <a:buNone/>
            </a:pPr>
            <a:r>
              <a:rPr lang="en-US" dirty="0" smtClean="0"/>
              <a:t>		each function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304800"/>
            <a:ext cx="7714488" cy="5943600"/>
          </a:xfrm>
        </p:spPr>
        <p:txBody>
          <a:bodyPr/>
          <a:lstStyle/>
          <a:p>
            <a:pPr marL="342900" indent="-342900">
              <a:spcBef>
                <a:spcPct val="50000"/>
              </a:spcBef>
              <a:buNone/>
            </a:pPr>
            <a:r>
              <a:rPr lang="en-US" b="1" dirty="0" smtClean="0"/>
              <a:t>4.Sub heads –</a:t>
            </a:r>
          </a:p>
          <a:p>
            <a:pPr marL="800100" lvl="1" indent="-342900">
              <a:spcBef>
                <a:spcPct val="50000"/>
              </a:spcBef>
              <a:buSzPct val="60000"/>
              <a:buNone/>
            </a:pPr>
            <a:r>
              <a:rPr lang="en-US" sz="3200" dirty="0" smtClean="0"/>
              <a:t>To identify the schemes under each </a:t>
            </a:r>
            <a:r>
              <a:rPr lang="en-US" sz="3200" dirty="0" err="1" smtClean="0"/>
              <a:t>programme</a:t>
            </a:r>
            <a:r>
              <a:rPr lang="en-US" dirty="0" smtClean="0"/>
              <a:t> 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en-US" b="1" dirty="0" smtClean="0"/>
              <a:t>5. Detailed heads –</a:t>
            </a:r>
          </a:p>
          <a:p>
            <a:pPr marL="800100" lvl="1" indent="-342900">
              <a:spcBef>
                <a:spcPct val="50000"/>
              </a:spcBef>
              <a:buSzPct val="60000"/>
              <a:buNone/>
            </a:pPr>
            <a:r>
              <a:rPr lang="en-US" sz="3200" dirty="0" smtClean="0"/>
              <a:t>to indicate the nature &amp; form of expenditure on the schemes in terms of –			</a:t>
            </a:r>
            <a:endParaRPr lang="en-US" sz="2400" dirty="0" smtClean="0"/>
          </a:p>
          <a:p>
            <a:pPr marL="800100" lvl="1" indent="-342900">
              <a:spcBef>
                <a:spcPct val="50000"/>
              </a:spcBef>
              <a:buSzPct val="60000"/>
              <a:buNone/>
            </a:pPr>
            <a:r>
              <a:rPr lang="en-US" sz="3200" dirty="0" smtClean="0"/>
              <a:t>primary unit of appropriation</a:t>
            </a:r>
          </a:p>
          <a:p>
            <a:pPr marL="800100" lvl="1" indent="-342900">
              <a:spcBef>
                <a:spcPct val="50000"/>
              </a:spcBef>
              <a:buSzPct val="60000"/>
              <a:buNone/>
            </a:pPr>
            <a:r>
              <a:rPr lang="en-US" sz="3200" dirty="0" smtClean="0"/>
              <a:t>objects of expenditure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7943088" cy="5867400"/>
          </a:xfrm>
        </p:spPr>
        <p:txBody>
          <a:bodyPr>
            <a:normAutofit fontScale="92500" lnSpcReduction="10000"/>
          </a:bodyPr>
          <a:lstStyle/>
          <a:p>
            <a:pPr>
              <a:buNone/>
              <a:defRPr/>
            </a:pPr>
            <a:r>
              <a:rPr lang="en-US" sz="4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IV. Codification of heads of</a:t>
            </a:r>
          </a:p>
          <a:p>
            <a:pPr>
              <a:buNone/>
              <a:defRPr/>
            </a:pPr>
            <a:r>
              <a:rPr lang="en-US" sz="4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  accounts</a:t>
            </a:r>
          </a:p>
          <a:p>
            <a:pPr>
              <a:buClr>
                <a:schemeClr val="tx2"/>
              </a:buClr>
              <a:buFont typeface="Wingdings" pitchFamily="2" charset="2"/>
              <a:buChar char="ü"/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Receipt heads :- up to 2000</a:t>
            </a:r>
          </a:p>
          <a:p>
            <a:pPr>
              <a:buClr>
                <a:schemeClr val="tx2"/>
              </a:buClr>
              <a:buFont typeface="Wingdings" pitchFamily="2" charset="2"/>
              <a:buChar char="ü"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Revenue </a:t>
            </a:r>
          </a:p>
          <a:p>
            <a:pPr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  expenditure heads:- </a:t>
            </a:r>
          </a:p>
          <a:p>
            <a:pPr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             above 2000</a:t>
            </a:r>
          </a:p>
          <a:p>
            <a:pPr>
              <a:buClr>
                <a:schemeClr val="tx2"/>
              </a:buClr>
              <a:buFont typeface="Wingdings" pitchFamily="2" charset="2"/>
              <a:buChar char="ü"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Capital </a:t>
            </a:r>
          </a:p>
          <a:p>
            <a:pPr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  expenditure heads :-</a:t>
            </a:r>
          </a:p>
          <a:p>
            <a:pPr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             above 4000</a:t>
            </a:r>
          </a:p>
          <a:p>
            <a:pPr>
              <a:buClr>
                <a:schemeClr val="tx2"/>
              </a:buClr>
              <a:buFont typeface="Wingdings" pitchFamily="2" charset="2"/>
              <a:buChar char="ü"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Debt heads:-       above 6000</a:t>
            </a:r>
          </a:p>
          <a:p>
            <a:pPr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There is difference of 2000 at each stage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43000" y="457200"/>
          <a:ext cx="7791450" cy="568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150"/>
                <a:gridCol w="2597150"/>
                <a:gridCol w="2597150"/>
              </a:tblGrid>
              <a:tr h="62048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Arial" charset="0"/>
                        </a:rPr>
                        <a:t>ಉದಾ</a:t>
                      </a:r>
                      <a:r>
                        <a:rPr lang="en-US" sz="3200" b="1" kern="0" dirty="0" smtClean="0">
                          <a:latin typeface="Cambria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32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Arial" charset="0"/>
                        </a:rPr>
                        <a:t>:-2054-00-098-0-01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204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mbria" pitchFamily="18" charset="0"/>
                          <a:cs typeface="Arial" charset="0"/>
                        </a:rPr>
                        <a:t>Major Head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mbria" pitchFamily="18" charset="0"/>
                          <a:cs typeface="Arial" charset="0"/>
                        </a:rPr>
                        <a:t>2054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mbria" pitchFamily="18" charset="0"/>
                          <a:cs typeface="Arial" charset="0"/>
                        </a:rPr>
                        <a:t>Treasury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cs typeface="Arial" charset="0"/>
                        </a:rPr>
                        <a:t> &amp;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mbria" pitchFamily="18" charset="0"/>
                          <a:cs typeface="Arial" charset="0"/>
                        </a:rPr>
                        <a:t>Accounts Administration</a:t>
                      </a:r>
                    </a:p>
                  </a:txBody>
                  <a:tcPr marT="45727" marB="45727" anchor="ctr"/>
                </a:tc>
              </a:tr>
              <a:tr h="6204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Sub Major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00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-</a:t>
                      </a:r>
                      <a:endParaRPr lang="en-IN" sz="2400" dirty="0"/>
                    </a:p>
                  </a:txBody>
                  <a:tcPr marT="45727" marB="45727"/>
                </a:tc>
              </a:tr>
              <a:tr h="6204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Major</a:t>
                      </a:r>
                      <a:r>
                        <a:rPr lang="en-IN" sz="2400" baseline="0" dirty="0" smtClean="0"/>
                        <a:t> Head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098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Local</a:t>
                      </a:r>
                      <a:r>
                        <a:rPr lang="en-IN" sz="2400" baseline="0" dirty="0" smtClean="0"/>
                        <a:t> Fund Audit</a:t>
                      </a:r>
                      <a:endParaRPr lang="en-IN" sz="2400" dirty="0"/>
                    </a:p>
                  </a:txBody>
                  <a:tcPr marT="45727" marB="45727"/>
                </a:tc>
              </a:tr>
              <a:tr h="6204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Sub Head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0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-</a:t>
                      </a:r>
                      <a:endParaRPr lang="en-IN" sz="2400" dirty="0"/>
                    </a:p>
                  </a:txBody>
                  <a:tcPr marT="45727" marB="45727"/>
                </a:tc>
              </a:tr>
              <a:tr h="6204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Detailed Head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01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Controller</a:t>
                      </a:r>
                      <a:r>
                        <a:rPr lang="en-IN" sz="2400" baseline="0" dirty="0" smtClean="0"/>
                        <a:t> State Accounts Department</a:t>
                      </a:r>
                      <a:endParaRPr lang="en-IN" sz="2400" dirty="0"/>
                    </a:p>
                  </a:txBody>
                  <a:tcPr marT="45727" marB="45727"/>
                </a:tc>
              </a:tr>
              <a:tr h="6204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Objects Head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002</a:t>
                      </a:r>
                    </a:p>
                    <a:p>
                      <a:pPr algn="ctr"/>
                      <a:r>
                        <a:rPr lang="en-IN" sz="2400" dirty="0" smtClean="0"/>
                        <a:t>003</a:t>
                      </a:r>
                      <a:endParaRPr lang="en-IN" sz="2400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Pay of</a:t>
                      </a:r>
                      <a:r>
                        <a:rPr lang="en-IN" sz="2400" baseline="0" dirty="0" smtClean="0"/>
                        <a:t> o</a:t>
                      </a:r>
                      <a:r>
                        <a:rPr lang="en-IN" sz="2400" dirty="0" smtClean="0"/>
                        <a:t>fficers </a:t>
                      </a:r>
                    </a:p>
                    <a:p>
                      <a:r>
                        <a:rPr lang="en-IN" sz="2400" dirty="0" smtClean="0"/>
                        <a:t>Pay of Staff</a:t>
                      </a:r>
                      <a:endParaRPr lang="en-IN" sz="2400" dirty="0"/>
                    </a:p>
                  </a:txBody>
                  <a:tcPr marT="45727" marB="45727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81000"/>
            <a:ext cx="7790688" cy="5867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9400" b="1" dirty="0" smtClean="0">
                <a:solidFill>
                  <a:schemeClr val="accent5"/>
                </a:solidFill>
              </a:rPr>
              <a:t>v.</a:t>
            </a:r>
            <a:r>
              <a:rPr lang="en-US" sz="7700" b="1" dirty="0" smtClean="0">
                <a:solidFill>
                  <a:schemeClr val="accent5"/>
                </a:solidFill>
              </a:rPr>
              <a:t> Process</a:t>
            </a:r>
          </a:p>
          <a:p>
            <a:endParaRPr lang="en-US" sz="4400" dirty="0" smtClean="0">
              <a:solidFill>
                <a:schemeClr val="accent1"/>
              </a:solidFill>
            </a:endParaRPr>
          </a:p>
          <a:p>
            <a:pPr lvl="1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hlink"/>
                </a:solidFill>
              </a:rPr>
              <a:t> </a:t>
            </a: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Information will be obtained from    	 </a:t>
            </a:r>
            <a:r>
              <a:rPr lang="en-US" sz="46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taluk</a:t>
            </a: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level</a:t>
            </a:r>
          </a:p>
          <a:p>
            <a:pPr lvl="1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F.D </a:t>
            </a:r>
            <a:r>
              <a:rPr lang="en-US" sz="46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finalises</a:t>
            </a: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after obtaining from 	 	 I.F.A s of </a:t>
            </a:r>
            <a:r>
              <a:rPr lang="en-US" sz="41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concerned departments</a:t>
            </a:r>
          </a:p>
          <a:p>
            <a:pPr lvl="1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In budget it should be shown   	  	 	 separately</a:t>
            </a: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Uncommitted expenditure : all original &amp; </a:t>
            </a: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r>
              <a:rPr lang="en-US" sz="4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                  development works.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8324088" cy="5943600"/>
          </a:xfrm>
        </p:spPr>
        <p:txBody>
          <a:bodyPr>
            <a:normAutofit fontScale="85000" lnSpcReduction="10000"/>
          </a:bodyPr>
          <a:lstStyle/>
          <a:p>
            <a:pPr lvl="1">
              <a:buNone/>
            </a:pPr>
            <a:r>
              <a:rPr lang="en-US" sz="6600" b="1" dirty="0" smtClean="0">
                <a:solidFill>
                  <a:schemeClr val="accent5"/>
                </a:solidFill>
              </a:rPr>
              <a:t>V. Process</a:t>
            </a:r>
            <a:endParaRPr lang="en-US" sz="6600" dirty="0" smtClean="0">
              <a:solidFill>
                <a:schemeClr val="accent5"/>
              </a:solidFill>
            </a:endParaRP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r>
              <a:rPr lang="en-US" sz="4000" dirty="0" smtClean="0">
                <a:solidFill>
                  <a:schemeClr val="hlink"/>
                </a:solidFill>
              </a:rPr>
              <a:t>    </a:t>
            </a:r>
            <a:r>
              <a:rPr lang="en-US" sz="4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Committed expenditure :                       	 all maintenance and repair works</a:t>
            </a: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endParaRPr lang="en-US" sz="4000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Charged expenditure :  not subject to 		 </a:t>
            </a:r>
            <a:r>
              <a:rPr lang="en-US" sz="40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ಪ್ರಭೃತ</a:t>
            </a:r>
            <a:r>
              <a:rPr lang="en-US" sz="4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	 	vote by legislature</a:t>
            </a: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endParaRPr lang="en-US" sz="4000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Voted expenditure  :  subject to vote 		 </a:t>
            </a:r>
            <a:r>
              <a:rPr lang="en-US" sz="40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ಪುರಸ್ಕೃತ</a:t>
            </a:r>
            <a:r>
              <a:rPr lang="en-US" sz="4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 by legislature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"/>
            <a:ext cx="80192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chemeClr val="accent5"/>
                </a:solidFill>
              </a:rPr>
              <a:t>V. Process</a:t>
            </a:r>
            <a:endParaRPr lang="en-US" sz="6600" dirty="0" smtClean="0">
              <a:solidFill>
                <a:schemeClr val="accent5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q"/>
            </a:pPr>
            <a:r>
              <a:rPr lang="en-US" dirty="0" smtClean="0">
                <a:solidFill>
                  <a:schemeClr val="hlink"/>
                </a:solidFill>
              </a:rPr>
              <a:t>   </a:t>
            </a:r>
            <a:r>
              <a:rPr lang="en-US" sz="35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Demands : after general discussion</a:t>
            </a:r>
          </a:p>
          <a:p>
            <a:pPr lvl="2">
              <a:buClr>
                <a:srgbClr val="CC9900"/>
              </a:buClr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estimates in respect of expenditure are</a:t>
            </a:r>
          </a:p>
          <a:p>
            <a:pPr>
              <a:buNone/>
            </a:pPr>
            <a:r>
              <a:rPr lang="en-US" sz="2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placed before legislature in the form </a:t>
            </a:r>
          </a:p>
          <a:p>
            <a:pPr>
              <a:buNone/>
            </a:pPr>
            <a:r>
              <a:rPr lang="en-US" sz="2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of demands for grants</a:t>
            </a:r>
          </a:p>
          <a:p>
            <a:pPr lvl="2">
              <a:buClr>
                <a:srgbClr val="CC9900"/>
              </a:buClr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with A.F.S for discussions &amp; approval</a:t>
            </a:r>
          </a:p>
          <a:p>
            <a:pPr lvl="2">
              <a:buClr>
                <a:srgbClr val="CC9900"/>
              </a:buClr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each demand may contain more than </a:t>
            </a:r>
          </a:p>
          <a:p>
            <a:pPr>
              <a:buNone/>
            </a:pPr>
            <a:r>
              <a:rPr lang="en-US" sz="2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one department</a:t>
            </a:r>
          </a:p>
          <a:p>
            <a:pPr lvl="2">
              <a:buClr>
                <a:srgbClr val="CC9900"/>
              </a:buClr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concerned minister in charge of the </a:t>
            </a:r>
          </a:p>
          <a:p>
            <a:pPr>
              <a:buNone/>
            </a:pPr>
            <a:r>
              <a:rPr lang="en-US" sz="2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department or his deputy will move the </a:t>
            </a:r>
          </a:p>
          <a:p>
            <a:pPr>
              <a:buNone/>
            </a:pPr>
            <a:r>
              <a:rPr lang="en-US" sz="2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demands</a:t>
            </a:r>
          </a:p>
          <a:p>
            <a:pPr lvl="2">
              <a:buClr>
                <a:srgbClr val="CC9900"/>
              </a:buClr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voted out of powers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"/>
            <a:ext cx="8019288" cy="5943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600" b="1" dirty="0" smtClean="0">
                <a:solidFill>
                  <a:schemeClr val="accent5"/>
                </a:solidFill>
              </a:rPr>
              <a:t>V. Process</a:t>
            </a:r>
            <a:r>
              <a:rPr lang="en-US" b="1" dirty="0" smtClean="0">
                <a:solidFill>
                  <a:schemeClr val="accent5"/>
                </a:solidFill>
              </a:rPr>
              <a:t> </a:t>
            </a:r>
          </a:p>
          <a:p>
            <a:endParaRPr lang="en-US" b="1" dirty="0" smtClean="0"/>
          </a:p>
          <a:p>
            <a:pPr lvl="1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Appropriation Bill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n-US" sz="2800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3"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After all demands for grants are voted     	a bill is introduced in the Assembly.</a:t>
            </a:r>
          </a:p>
          <a:p>
            <a:pPr lvl="3"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For appropriation out of Consolidated 	Fund</a:t>
            </a:r>
          </a:p>
          <a:p>
            <a:pPr lvl="3"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This is a money bill-passed by both 	the houses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"/>
            <a:ext cx="8095488" cy="6019800"/>
          </a:xfrm>
        </p:spPr>
        <p:txBody>
          <a:bodyPr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en-US" sz="6600" b="1" dirty="0" smtClean="0">
                <a:solidFill>
                  <a:schemeClr val="accent5"/>
                </a:solidFill>
              </a:rPr>
              <a:t>V. Process</a:t>
            </a:r>
            <a:endParaRPr lang="en-US" sz="6600" dirty="0" smtClean="0">
              <a:solidFill>
                <a:schemeClr val="accent5"/>
              </a:solidFill>
            </a:endParaRPr>
          </a:p>
          <a:p>
            <a:pPr lvl="1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5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Appropriation Act</a:t>
            </a:r>
          </a:p>
          <a:p>
            <a:pPr lvl="3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Appropriation bill passed  by both the            houses will be sent to the governor for assent</a:t>
            </a:r>
          </a:p>
          <a:p>
            <a:pPr lvl="3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Appropriation bill assented by the 	     governor becomes appropriation act</a:t>
            </a:r>
          </a:p>
          <a:p>
            <a:pPr lvl="3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Grants will be released there after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800"/>
            <a:ext cx="8095488" cy="5943600"/>
          </a:xfrm>
        </p:spPr>
        <p:txBody>
          <a:bodyPr/>
          <a:lstStyle/>
          <a:p>
            <a:pPr>
              <a:buNone/>
            </a:pPr>
            <a:r>
              <a:rPr lang="en-US" sz="6600" b="1" dirty="0" smtClean="0">
                <a:solidFill>
                  <a:schemeClr val="accent5"/>
                </a:solidFill>
              </a:rPr>
              <a:t>V. Process</a:t>
            </a:r>
            <a:r>
              <a:rPr lang="en-US" b="1" dirty="0" smtClean="0">
                <a:solidFill>
                  <a:schemeClr val="accent5"/>
                </a:solidFill>
              </a:rPr>
              <a:t> </a:t>
            </a:r>
          </a:p>
          <a:p>
            <a:endParaRPr lang="en-US" b="1" dirty="0" smtClean="0"/>
          </a:p>
          <a:p>
            <a:pPr lvl="1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5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Vote on Account.</a:t>
            </a:r>
          </a:p>
          <a:p>
            <a:pPr lvl="3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	Making grants in advance for a part 	of 	the financial year pending 	approval 	to the  regular budget.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600"/>
            <a:ext cx="8324088" cy="60198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50000"/>
              </a:spcBef>
              <a:buNone/>
            </a:pPr>
            <a:r>
              <a:rPr lang="en-US" sz="6600" u="sng" dirty="0" smtClean="0">
                <a:solidFill>
                  <a:schemeClr val="accent1"/>
                </a:solidFill>
              </a:rPr>
              <a:t>VI.  Z.P. Budget</a:t>
            </a:r>
          </a:p>
          <a:p>
            <a:pPr>
              <a:spcBef>
                <a:spcPct val="50000"/>
              </a:spcBef>
              <a:buNone/>
            </a:pPr>
            <a:r>
              <a:rPr lang="en-US" b="1" dirty="0" smtClean="0">
                <a:solidFill>
                  <a:schemeClr val="tx2"/>
                </a:solidFill>
              </a:rPr>
              <a:t>Link Document 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/>
                </a:solidFill>
              </a:rPr>
              <a:t>(Subsidiary Budget volume)</a:t>
            </a:r>
          </a:p>
          <a:p>
            <a:pPr lvl="1" algn="just">
              <a:spcBef>
                <a:spcPct val="50000"/>
              </a:spcBef>
              <a:buClr>
                <a:srgbClr val="000066"/>
              </a:buClr>
              <a:buSzPct val="125000"/>
              <a:buFontTx/>
              <a:buChar char="•"/>
            </a:pPr>
            <a:r>
              <a:rPr lang="en-US" dirty="0" smtClean="0"/>
              <a:t>   Allocation of grants are made in the state budget    	 	including the amounts transferable  to  			Z Ps / T Ps / GPs.</a:t>
            </a:r>
          </a:p>
          <a:p>
            <a:pPr lvl="1" algn="just">
              <a:spcBef>
                <a:spcPct val="50000"/>
              </a:spcBef>
              <a:buClr>
                <a:srgbClr val="000066"/>
              </a:buClr>
              <a:buSzPct val="125000"/>
              <a:buFontTx/>
              <a:buChar char="•"/>
            </a:pPr>
            <a:r>
              <a:rPr lang="en-US" dirty="0" smtClean="0"/>
              <a:t>	Under the relevant departmental major heads	 	 	grants pertains to Z Ps / T Ps / GPs are provided under minor head 196/197/198 respectively.</a:t>
            </a:r>
          </a:p>
          <a:p>
            <a:pPr lvl="1" algn="just">
              <a:spcBef>
                <a:spcPct val="50000"/>
              </a:spcBef>
              <a:buClr>
                <a:srgbClr val="000066"/>
              </a:buClr>
              <a:buSzPct val="125000"/>
              <a:buFontTx/>
              <a:buChar char="•"/>
            </a:pPr>
            <a:r>
              <a:rPr lang="en-US" dirty="0" smtClean="0"/>
              <a:t>	Scheme wise provisions for each districts under each 		major heads plan and non-plan are made in a 		separate register in detail.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4800" dirty="0" smtClean="0">
                <a:solidFill>
                  <a:schemeClr val="folHlink"/>
                </a:solidFill>
              </a:rPr>
              <a:t>Points to be kept in view while preparing budget  estimates :-</a:t>
            </a:r>
            <a:r>
              <a:rPr lang="en-US" sz="4000" dirty="0" smtClean="0">
                <a:solidFill>
                  <a:schemeClr val="folHlink"/>
                </a:solidFill>
              </a:rPr>
              <a:t> </a:t>
            </a:r>
          </a:p>
          <a:p>
            <a:endParaRPr lang="en-US" sz="4000" dirty="0" smtClean="0">
              <a:solidFill>
                <a:schemeClr val="folHlink"/>
              </a:solidFill>
            </a:endParaRPr>
          </a:p>
          <a:p>
            <a:pPr lvl="1"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Top priority should be given</a:t>
            </a:r>
          </a:p>
          <a:p>
            <a:endParaRPr lang="en-US" dirty="0" smtClean="0">
              <a:solidFill>
                <a:schemeClr val="hlink"/>
              </a:solidFill>
            </a:endParaRPr>
          </a:p>
          <a:p>
            <a:pPr lvl="1"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Timely submission as per budget calendar is a must to avoid rush and mistakes</a:t>
            </a:r>
          </a:p>
          <a:p>
            <a:endParaRPr lang="en-US" dirty="0" smtClean="0">
              <a:solidFill>
                <a:schemeClr val="hlink"/>
              </a:solidFill>
            </a:endParaRPr>
          </a:p>
          <a:p>
            <a:pPr lvl="1"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Estimating officers to send budget to IFA s 	 concerned with a copy to FD Deputy 	 	 Secretary B&amp;R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rmAutofit lnSpcReduction="10000"/>
          </a:bodyPr>
          <a:lstStyle/>
          <a:p>
            <a:pPr>
              <a:spcBef>
                <a:spcPct val="50000"/>
              </a:spcBef>
              <a:buNone/>
            </a:pPr>
            <a:r>
              <a:rPr lang="en-US" sz="4800" dirty="0" smtClean="0">
                <a:solidFill>
                  <a:schemeClr val="folHlink"/>
                </a:solidFill>
              </a:rPr>
              <a:t>Points to be kept in view while preparing budget  estimates :-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Budget proposals should almost be 	 	 realistic.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To be framed with greatest care and 	 	 accuracy.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To be prepared with due regard to 	 	 	sanctions and actual requirements.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Receipts should be as realistic as possible.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4800" dirty="0" smtClean="0">
                <a:solidFill>
                  <a:schemeClr val="folHlink"/>
                </a:solidFill>
              </a:rPr>
              <a:t>Points to be kept in view while preparing budget  estimates :-</a:t>
            </a:r>
          </a:p>
          <a:p>
            <a:endParaRPr lang="en-US" sz="4800" dirty="0" smtClean="0">
              <a:solidFill>
                <a:schemeClr val="folHlink"/>
              </a:solidFill>
            </a:endParaRPr>
          </a:p>
          <a:p>
            <a:pPr lvl="1"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Provisions for expenditure should made 	 for minimum requirement of the 	  	 	 department.</a:t>
            </a:r>
          </a:p>
          <a:p>
            <a:pPr>
              <a:buNone/>
            </a:pPr>
            <a:r>
              <a:rPr lang="en-US" dirty="0" smtClean="0">
                <a:solidFill>
                  <a:schemeClr val="hlink"/>
                </a:solidFill>
              </a:rPr>
              <a:t>	</a:t>
            </a:r>
          </a:p>
          <a:p>
            <a:pPr lvl="1"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Economy measure in force should be 	 	 kept in view.</a:t>
            </a:r>
          </a:p>
          <a:p>
            <a:endParaRPr lang="en-US" dirty="0" smtClean="0">
              <a:solidFill>
                <a:schemeClr val="hlink"/>
              </a:solidFill>
            </a:endParaRPr>
          </a:p>
          <a:p>
            <a:pPr lvl="1"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Figures should be shown invariably by 	 	detailed heads of account.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4400" dirty="0" smtClean="0">
                <a:solidFill>
                  <a:schemeClr val="folHlink"/>
                </a:solidFill>
              </a:rPr>
              <a:t>Points to be kept in view while preparing budget  estimates :-</a:t>
            </a:r>
            <a:r>
              <a:rPr lang="en-US" sz="4400" b="1" dirty="0" smtClean="0"/>
              <a:t> </a:t>
            </a:r>
          </a:p>
          <a:p>
            <a:endParaRPr lang="en-US" sz="4400" b="1" dirty="0" smtClean="0"/>
          </a:p>
          <a:p>
            <a:pPr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Sanctions to establishments and other 	 	 recurring charges communicated before 	 29</a:t>
            </a:r>
            <a:r>
              <a:rPr lang="en-US" baseline="30000" dirty="0" smtClean="0">
                <a:solidFill>
                  <a:schemeClr val="hlink"/>
                </a:solidFill>
              </a:rPr>
              <a:t>th</a:t>
            </a:r>
            <a:r>
              <a:rPr lang="en-US" dirty="0" smtClean="0">
                <a:solidFill>
                  <a:schemeClr val="hlink"/>
                </a:solidFill>
              </a:rPr>
              <a:t>  September only to be considered.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Departmental Officers are only 	 	 	 responsible for accuracy and for any 	 	 defects in the budgets and not FD.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000"/>
            <a:ext cx="8095488" cy="5867400"/>
          </a:xfrm>
        </p:spPr>
        <p:txBody>
          <a:bodyPr/>
          <a:lstStyle/>
          <a:p>
            <a:pPr>
              <a:spcBef>
                <a:spcPct val="50000"/>
              </a:spcBef>
              <a:buNone/>
            </a:pPr>
            <a:r>
              <a:rPr lang="en-US" sz="4800" dirty="0" smtClean="0">
                <a:solidFill>
                  <a:schemeClr val="folHlink"/>
                </a:solidFill>
              </a:rPr>
              <a:t>Points to be kept in view while preparing budget  estimates :-</a:t>
            </a:r>
            <a:endParaRPr lang="en-US" sz="4800" dirty="0" smtClean="0"/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0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 Under estimate of revenue and over 	 	 estimate of expenditure should be 	  	 avoided. 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0000"/>
              <a:buFont typeface="Wingdings" pitchFamily="2" charset="2"/>
              <a:buNone/>
            </a:pPr>
            <a:endParaRPr lang="en-US" dirty="0" smtClean="0">
              <a:solidFill>
                <a:schemeClr val="hlink"/>
              </a:solidFill>
            </a:endParaRP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 Estimates should be prepared on 	 	   	 gross basis and not on net basis.</a:t>
            </a:r>
            <a:endParaRPr lang="en-US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0"/>
            <a:ext cx="8019288" cy="6019800"/>
          </a:xfrm>
        </p:spPr>
        <p:txBody>
          <a:bodyPr>
            <a:normAutofit fontScale="92500"/>
          </a:bodyPr>
          <a:lstStyle/>
          <a:p>
            <a:pPr>
              <a:spcBef>
                <a:spcPct val="50000"/>
              </a:spcBef>
              <a:buNone/>
            </a:pPr>
            <a:r>
              <a:rPr lang="en-US" sz="4800" dirty="0" smtClean="0">
                <a:solidFill>
                  <a:schemeClr val="folHlink"/>
                </a:solidFill>
              </a:rPr>
              <a:t>Points to be kept in view while preparing budget  estimates :-</a:t>
            </a:r>
          </a:p>
          <a:p>
            <a:pPr>
              <a:spcBef>
                <a:spcPct val="50000"/>
              </a:spcBef>
              <a:buNone/>
            </a:pPr>
            <a:r>
              <a:rPr lang="en-US" dirty="0" smtClean="0"/>
              <a:t>	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	 Receipt and expenditure should be 	 classified as per prescribed head of        	 account.				- No new head of account can be      	                       opened without approval of		                       C &amp; AG.</a:t>
            </a:r>
          </a:p>
          <a:p>
            <a:pPr lvl="1">
              <a:spcBef>
                <a:spcPct val="50000"/>
              </a:spcBef>
            </a:pPr>
            <a:r>
              <a:rPr lang="en-US" dirty="0" smtClean="0"/>
              <a:t>	                   </a:t>
            </a:r>
            <a:r>
              <a:rPr lang="en-US" dirty="0" smtClean="0">
                <a:solidFill>
                  <a:schemeClr val="hlink"/>
                </a:solidFill>
              </a:rPr>
              <a:t>- Detailed heads of a/c may be           			    opened by state Government.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"/>
            <a:ext cx="8019288" cy="5943600"/>
          </a:xfrm>
        </p:spPr>
        <p:txBody>
          <a:bodyPr>
            <a:normAutofit fontScale="92500"/>
          </a:bodyPr>
          <a:lstStyle/>
          <a:p>
            <a:pPr>
              <a:spcBef>
                <a:spcPct val="50000"/>
              </a:spcBef>
              <a:buNone/>
            </a:pPr>
            <a:r>
              <a:rPr lang="en-US" sz="4800" dirty="0" smtClean="0">
                <a:solidFill>
                  <a:schemeClr val="folHlink"/>
                </a:solidFill>
              </a:rPr>
              <a:t>Points to be kept in view while preparing budget  estimates :-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sz="4000" dirty="0" smtClean="0">
                <a:solidFill>
                  <a:schemeClr val="hlink"/>
                </a:solidFill>
              </a:rPr>
              <a:t> Any alterations should be supported by clear explanations and documents (posts etc)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sz="4000" dirty="0" smtClean="0">
                <a:solidFill>
                  <a:schemeClr val="hlink"/>
                </a:solidFill>
              </a:rPr>
              <a:t> Past actual should be kept in light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000"/>
            <a:ext cx="8095488" cy="5867400"/>
          </a:xfrm>
        </p:spPr>
        <p:txBody>
          <a:bodyPr/>
          <a:lstStyle/>
          <a:p>
            <a:pPr>
              <a:buNone/>
            </a:pPr>
            <a:r>
              <a:rPr lang="en-US" sz="4000" dirty="0" smtClean="0">
                <a:solidFill>
                  <a:schemeClr val="folHlink"/>
                </a:solidFill>
              </a:rPr>
              <a:t>Points to be kept in view while preparing budget  estimates :-</a:t>
            </a:r>
            <a:endParaRPr lang="en-US" sz="4000" dirty="0" smtClean="0"/>
          </a:p>
          <a:p>
            <a:endParaRPr lang="en-US" dirty="0" smtClean="0"/>
          </a:p>
          <a:p>
            <a:pPr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No lump sum provisions should be made </a:t>
            </a:r>
          </a:p>
          <a:p>
            <a:endParaRPr lang="en-US" dirty="0" smtClean="0">
              <a:solidFill>
                <a:schemeClr val="hlink"/>
              </a:solidFill>
            </a:endParaRPr>
          </a:p>
          <a:p>
            <a:pPr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Sufficient funds should be provided for      	spill over schemes/works and only after 	   	then new works to be proposed.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"/>
            <a:ext cx="8095488" cy="6019800"/>
          </a:xfrm>
        </p:spPr>
        <p:txBody>
          <a:bodyPr>
            <a:normAutofit lnSpcReduction="10000"/>
          </a:bodyPr>
          <a:lstStyle/>
          <a:p>
            <a:pPr>
              <a:spcBef>
                <a:spcPct val="50000"/>
              </a:spcBef>
              <a:buNone/>
            </a:pPr>
            <a:r>
              <a:rPr lang="en-US" sz="4400" dirty="0" smtClean="0">
                <a:solidFill>
                  <a:schemeClr val="folHlink"/>
                </a:solidFill>
              </a:rPr>
              <a:t>Points to be kept in view while preparing budget  estimates :-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   Separate sheets should be used for each 	 	major head, plan and non-plan separately	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125000"/>
              <a:buFont typeface="Wingdings" pitchFamily="2" charset="2"/>
              <a:buChar char="ü"/>
            </a:pPr>
            <a:r>
              <a:rPr lang="en-US" dirty="0" smtClean="0">
                <a:solidFill>
                  <a:schemeClr val="hlink"/>
                </a:solidFill>
              </a:rPr>
              <a:t>   Budgetary control at treasury level  is 	  	introduced and hence all items of 	 	  	expenditure are to be classified properly 	under relevant head of a/c.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"/>
            <a:ext cx="8019288" cy="5943600"/>
          </a:xfrm>
        </p:spPr>
        <p:txBody>
          <a:bodyPr/>
          <a:lstStyle/>
          <a:p>
            <a:pPr marL="457200" indent="-457200">
              <a:spcBef>
                <a:spcPct val="50000"/>
              </a:spcBef>
              <a:buFontTx/>
              <a:buAutoNum type="romanUcPeriod" startAt="6"/>
            </a:pPr>
            <a:r>
              <a:rPr lang="en-US" sz="4400" dirty="0" smtClean="0">
                <a:solidFill>
                  <a:srgbClr val="0000CC"/>
                </a:solidFill>
              </a:rPr>
              <a:t>Budget is to be prepared in 	the following format –</a:t>
            </a:r>
          </a:p>
          <a:p>
            <a:pPr marL="1371600" lvl="2" indent="-457200">
              <a:spcBef>
                <a:spcPct val="50000"/>
              </a:spcBef>
              <a:buClr>
                <a:srgbClr val="0000CC"/>
              </a:buClr>
              <a:buFontTx/>
              <a:buAutoNum type="alphaUcPeriod"/>
            </a:pPr>
            <a:r>
              <a:rPr lang="en-US" sz="5400" dirty="0" smtClean="0">
                <a:solidFill>
                  <a:srgbClr val="66FFFF"/>
                </a:solidFill>
              </a:rPr>
              <a:t>  Regular budget </a:t>
            </a:r>
          </a:p>
          <a:p>
            <a:pPr marL="1371600" lvl="2" indent="-457200">
              <a:spcBef>
                <a:spcPct val="50000"/>
              </a:spcBef>
              <a:buClr>
                <a:srgbClr val="0000CC"/>
              </a:buClr>
              <a:buFontTx/>
              <a:buAutoNum type="alphaUcPeriod"/>
            </a:pPr>
            <a:r>
              <a:rPr lang="en-US" sz="5400" dirty="0" smtClean="0">
                <a:solidFill>
                  <a:srgbClr val="66FFFF"/>
                </a:solidFill>
              </a:rPr>
              <a:t>  Establishment budget      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782762"/>
          </a:xfrm>
        </p:spPr>
        <p:txBody>
          <a:bodyPr>
            <a:normAutofit fontScale="90000"/>
          </a:bodyPr>
          <a:lstStyle/>
          <a:p>
            <a:pPr marL="1257300" lvl="2" indent="-342900">
              <a:spcBef>
                <a:spcPct val="50000"/>
              </a:spcBef>
            </a:pPr>
            <a:r>
              <a:rPr lang="en-US" sz="6600" dirty="0" smtClean="0">
                <a:solidFill>
                  <a:srgbClr val="0000CC"/>
                </a:solidFill>
              </a:rPr>
              <a:t>A. </a:t>
            </a:r>
            <a:r>
              <a:rPr lang="en-US" sz="5300" dirty="0" smtClean="0">
                <a:solidFill>
                  <a:srgbClr val="0000CC"/>
                </a:solidFill>
              </a:rPr>
              <a:t>Regular budget</a:t>
            </a:r>
            <a:r>
              <a:rPr lang="en-US" sz="1300" dirty="0" smtClean="0">
                <a:solidFill>
                  <a:srgbClr val="0000CC"/>
                </a:solidFill>
              </a:rPr>
              <a:t> </a:t>
            </a:r>
            <a:br>
              <a:rPr lang="en-US" sz="1300" dirty="0" smtClean="0">
                <a:solidFill>
                  <a:srgbClr val="0000CC"/>
                </a:solidFill>
              </a:rPr>
            </a:br>
            <a:r>
              <a:rPr lang="en-US" sz="1300" dirty="0" smtClean="0">
                <a:solidFill>
                  <a:srgbClr val="0000CC"/>
                </a:solidFill>
              </a:rPr>
              <a:t>                   </a:t>
            </a:r>
            <a:br>
              <a:rPr lang="en-US" sz="1300" dirty="0" smtClean="0">
                <a:solidFill>
                  <a:srgbClr val="0000CC"/>
                </a:solidFill>
              </a:rPr>
            </a:br>
            <a:r>
              <a:rPr lang="en-US" sz="1300" dirty="0" smtClean="0">
                <a:solidFill>
                  <a:srgbClr val="0000CC"/>
                </a:solidFill>
              </a:rPr>
              <a:t>                     </a:t>
            </a:r>
            <a:r>
              <a:rPr lang="en-US" sz="2200" dirty="0" err="1" smtClean="0">
                <a:solidFill>
                  <a:srgbClr val="0000CC"/>
                </a:solidFill>
              </a:rPr>
              <a:t>Budget</a:t>
            </a:r>
            <a:r>
              <a:rPr lang="en-US" sz="2200" dirty="0" smtClean="0">
                <a:solidFill>
                  <a:srgbClr val="0000CC"/>
                </a:solidFill>
              </a:rPr>
              <a:t> for 2020-21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35100" y="1828800"/>
          <a:ext cx="7499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419"/>
                <a:gridCol w="937419"/>
                <a:gridCol w="937419"/>
                <a:gridCol w="937419"/>
                <a:gridCol w="937419"/>
                <a:gridCol w="937419"/>
                <a:gridCol w="937419"/>
                <a:gridCol w="937419"/>
              </a:tblGrid>
              <a:tr h="685800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CC"/>
                          </a:solidFill>
                        </a:rPr>
                        <a:t>Sl.no</a:t>
                      </a:r>
                      <a:r>
                        <a:rPr lang="en-US" dirty="0" smtClean="0">
                          <a:solidFill>
                            <a:srgbClr val="0000CC"/>
                          </a:solidFill>
                        </a:rPr>
                        <a:t> 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Head of account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Accounts  </a:t>
                      </a:r>
                      <a:r>
                        <a:rPr lang="en-US" sz="1200" dirty="0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Budget</a:t>
                      </a:r>
                    </a:p>
                    <a:p>
                      <a:pPr algn="ctr"/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for</a:t>
                      </a:r>
                    </a:p>
                    <a:p>
                      <a:pPr algn="ctr"/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 2018-19</a:t>
                      </a:r>
                      <a:endParaRPr lang="en-US" sz="16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Accounts  </a:t>
                      </a:r>
                      <a:r>
                        <a:rPr lang="en-US" sz="1200" dirty="0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Budget</a:t>
                      </a:r>
                    </a:p>
                    <a:p>
                      <a:pPr algn="ctr"/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    for</a:t>
                      </a:r>
                    </a:p>
                    <a:p>
                      <a:pPr algn="ctr"/>
                      <a:r>
                        <a:rPr lang="en-US" sz="1600" dirty="0" smtClean="0">
                          <a:solidFill>
                            <a:srgbClr val="0000CC"/>
                          </a:solidFill>
                        </a:rPr>
                        <a:t>2019-20</a:t>
                      </a:r>
                      <a:endParaRPr lang="en-US" sz="16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Revised  budget  for 2019-20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Budget  </a:t>
                      </a:r>
                    </a:p>
                    <a:p>
                      <a:pPr algn="ctr"/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For </a:t>
                      </a:r>
                    </a:p>
                    <a:p>
                      <a:pPr algn="ctr"/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2020-21</a:t>
                      </a:r>
                      <a:endParaRPr lang="en-US" sz="18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rgbClr val="0000CC"/>
                          </a:solidFill>
                        </a:rPr>
                        <a:t>Actuals</a:t>
                      </a:r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 for 6 months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Probable for 6 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00CC"/>
                          </a:solidFill>
                        </a:rPr>
                        <a:t>total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"/>
            <a:ext cx="8019288" cy="5715000"/>
          </a:xfrm>
        </p:spPr>
        <p:txBody>
          <a:bodyPr>
            <a:normAutofit fontScale="77500" lnSpcReduction="20000"/>
          </a:bodyPr>
          <a:lstStyle/>
          <a:p>
            <a:pPr marL="800100" lvl="1" indent="-342900" algn="ctr">
              <a:spcBef>
                <a:spcPct val="50000"/>
              </a:spcBef>
              <a:buClr>
                <a:srgbClr val="FFFF00"/>
              </a:buClr>
            </a:pPr>
            <a:r>
              <a:rPr lang="en-US" sz="6000" dirty="0" smtClean="0">
                <a:solidFill>
                  <a:srgbClr val="0000CC"/>
                </a:solidFill>
              </a:rPr>
              <a:t>B.</a:t>
            </a:r>
            <a:r>
              <a:rPr lang="en-US" sz="6000" dirty="0" smtClean="0"/>
              <a:t> </a:t>
            </a:r>
            <a:r>
              <a:rPr lang="en-US" sz="6000" u="sng" dirty="0" smtClean="0">
                <a:solidFill>
                  <a:srgbClr val="0000CC"/>
                </a:solidFill>
              </a:rPr>
              <a:t>Establishment budget</a:t>
            </a:r>
            <a:r>
              <a:rPr lang="en-US" sz="4400" u="sng" dirty="0" smtClean="0">
                <a:solidFill>
                  <a:srgbClr val="0000CC"/>
                </a:solidFill>
              </a:rPr>
              <a:t> :-</a:t>
            </a:r>
            <a:r>
              <a:rPr lang="en-US" sz="4400" dirty="0" smtClean="0">
                <a:solidFill>
                  <a:srgbClr val="0000CC"/>
                </a:solidFill>
              </a:rPr>
              <a:t>	</a:t>
            </a:r>
            <a:r>
              <a:rPr lang="en-US" dirty="0" smtClean="0">
                <a:solidFill>
                  <a:srgbClr val="0000CC"/>
                </a:solidFill>
              </a:rPr>
              <a:t>								                                                                                                            	 </a:t>
            </a:r>
            <a:r>
              <a:rPr lang="en-US" sz="4400" dirty="0" smtClean="0">
                <a:solidFill>
                  <a:srgbClr val="0000CC"/>
                </a:solidFill>
              </a:rPr>
              <a:t>Appendix  ‘B’ </a:t>
            </a:r>
          </a:p>
          <a:p>
            <a:pPr marL="800100" lvl="1" indent="-342900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4400" dirty="0" smtClean="0">
                <a:solidFill>
                  <a:srgbClr val="0000CC"/>
                </a:solidFill>
              </a:rPr>
              <a:t> details of posts sanctioned, filled      	up and vacant posts should be    	 	furnished .</a:t>
            </a:r>
          </a:p>
          <a:p>
            <a:pPr marL="800100" lvl="1" indent="-342900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4400" dirty="0" smtClean="0">
                <a:solidFill>
                  <a:srgbClr val="0000CC"/>
                </a:solidFill>
              </a:rPr>
              <a:t> no provision should be made for       	posts specifically ordered to be 	   	kept vacant	   </a:t>
            </a:r>
          </a:p>
          <a:p>
            <a:pPr marL="1257300" lvl="2" indent="-342900">
              <a:spcBef>
                <a:spcPct val="50000"/>
              </a:spcBef>
              <a:buClr>
                <a:srgbClr val="CC3300"/>
              </a:buCl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"/>
            <a:ext cx="8019288" cy="5943600"/>
          </a:xfrm>
        </p:spPr>
        <p:txBody>
          <a:bodyPr>
            <a:normAutofit lnSpcReduction="10000"/>
          </a:bodyPr>
          <a:lstStyle/>
          <a:p>
            <a:pPr lvl="1">
              <a:spcBef>
                <a:spcPct val="50000"/>
              </a:spcBef>
              <a:buClr>
                <a:srgbClr val="FFFF00"/>
              </a:buClr>
              <a:buNone/>
            </a:pPr>
            <a:r>
              <a:rPr lang="en-US" sz="5800" dirty="0" smtClean="0">
                <a:solidFill>
                  <a:srgbClr val="0000CC"/>
                </a:solidFill>
              </a:rPr>
              <a:t>B. </a:t>
            </a:r>
            <a:r>
              <a:rPr lang="en-US" sz="5800" u="sng" dirty="0" smtClean="0">
                <a:solidFill>
                  <a:srgbClr val="0000CC"/>
                </a:solidFill>
              </a:rPr>
              <a:t>Establishment budget :</a:t>
            </a:r>
            <a:r>
              <a:rPr lang="en-US" sz="2200" dirty="0" smtClean="0">
                <a:solidFill>
                  <a:srgbClr val="0000CC"/>
                </a:solidFill>
              </a:rPr>
              <a:t>	</a:t>
            </a:r>
            <a:r>
              <a:rPr lang="en-US" dirty="0" smtClean="0">
                <a:solidFill>
                  <a:srgbClr val="0000CC"/>
                </a:solidFill>
              </a:rPr>
              <a:t>							                                                                                                            	    </a:t>
            </a:r>
            <a:r>
              <a:rPr lang="en-US" sz="4400" dirty="0" smtClean="0">
                <a:solidFill>
                  <a:srgbClr val="0000CC"/>
                </a:solidFill>
              </a:rPr>
              <a:t>Appendix  ‘B’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</a:p>
          <a:p>
            <a:pPr lvl="1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sz="3900" dirty="0" smtClean="0">
                <a:solidFill>
                  <a:srgbClr val="0000CC"/>
                </a:solidFill>
              </a:rPr>
              <a:t>permanent posts and temporary   posts   should be shown distinctly</a:t>
            </a:r>
          </a:p>
          <a:p>
            <a:pPr lvl="1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3900" dirty="0" smtClean="0">
                <a:solidFill>
                  <a:srgbClr val="0000CC"/>
                </a:solidFill>
              </a:rPr>
              <a:t> provision should be made for D.A 	increase &amp; increments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"/>
            <a:ext cx="8019288" cy="5943600"/>
          </a:xfrm>
        </p:spPr>
        <p:txBody>
          <a:bodyPr>
            <a:normAutofit lnSpcReduction="10000"/>
          </a:bodyPr>
          <a:lstStyle/>
          <a:p>
            <a:pPr lvl="1">
              <a:spcBef>
                <a:spcPct val="50000"/>
              </a:spcBef>
              <a:buClr>
                <a:srgbClr val="FFFF00"/>
              </a:buClr>
              <a:buNone/>
            </a:pPr>
            <a:r>
              <a:rPr lang="en-US" sz="5200" dirty="0" smtClean="0">
                <a:solidFill>
                  <a:srgbClr val="0000CC"/>
                </a:solidFill>
              </a:rPr>
              <a:t>B. </a:t>
            </a:r>
            <a:r>
              <a:rPr lang="en-US" sz="5200" u="sng" dirty="0" smtClean="0">
                <a:solidFill>
                  <a:srgbClr val="0000CC"/>
                </a:solidFill>
              </a:rPr>
              <a:t>Establishment budget :-</a:t>
            </a:r>
            <a:r>
              <a:rPr lang="en-US" sz="1900" dirty="0" smtClean="0">
                <a:solidFill>
                  <a:srgbClr val="0000CC"/>
                </a:solidFill>
              </a:rPr>
              <a:t>	</a:t>
            </a:r>
            <a:r>
              <a:rPr lang="en-US" dirty="0" smtClean="0">
                <a:solidFill>
                  <a:srgbClr val="0000CC"/>
                </a:solidFill>
              </a:rPr>
              <a:t>							                                                                                                            	    </a:t>
            </a:r>
            <a:r>
              <a:rPr lang="en-US" sz="4400" dirty="0" smtClean="0">
                <a:solidFill>
                  <a:srgbClr val="0000CC"/>
                </a:solidFill>
              </a:rPr>
              <a:t>Appendix  ‘B’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</a:p>
          <a:p>
            <a:pPr lvl="1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 smtClean="0">
                <a:solidFill>
                  <a:srgbClr val="0000CC"/>
                </a:solidFill>
              </a:rPr>
              <a:t>   </a:t>
            </a:r>
            <a:r>
              <a:rPr lang="en-US" sz="2400" dirty="0" smtClean="0">
                <a:solidFill>
                  <a:srgbClr val="0000CC"/>
                </a:solidFill>
              </a:rPr>
              <a:t>posts abolished should not be considered</a:t>
            </a:r>
          </a:p>
          <a:p>
            <a:pPr lvl="1" algn="just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4000" dirty="0" smtClean="0">
                <a:solidFill>
                  <a:srgbClr val="0000CC"/>
                </a:solidFill>
              </a:rPr>
              <a:t> </a:t>
            </a:r>
            <a:r>
              <a:rPr lang="en-US" sz="2400" dirty="0" smtClean="0">
                <a:solidFill>
                  <a:srgbClr val="0000CC"/>
                </a:solidFill>
              </a:rPr>
              <a:t>temporary posts for which continuation is   	 	 required are to be included in the budget                                                                                                                            	 pending sanction of govt. But copy of  proposal to be enclosed &amp; no expenditure should be incurred unless sanction is obtained</a:t>
            </a:r>
            <a:r>
              <a:rPr lang="en-US" sz="2400" dirty="0" smtClean="0"/>
              <a:t> </a:t>
            </a:r>
            <a:r>
              <a:rPr lang="en-US" sz="4000" dirty="0" smtClean="0"/>
              <a:t>  </a:t>
            </a:r>
            <a:endParaRPr lang="en-US" sz="2400" b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0"/>
            <a:ext cx="8019288" cy="6019800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sz="5400" b="1" dirty="0" smtClean="0">
                <a:solidFill>
                  <a:srgbClr val="000066"/>
                </a:solidFill>
              </a:rPr>
              <a:t>B. </a:t>
            </a:r>
            <a:r>
              <a:rPr lang="en-US" sz="5400" dirty="0" smtClean="0">
                <a:solidFill>
                  <a:srgbClr val="000066"/>
                </a:solidFill>
              </a:rPr>
              <a:t>Establishment budget :</a:t>
            </a:r>
          </a:p>
          <a:p>
            <a:pPr>
              <a:spcBef>
                <a:spcPct val="50000"/>
              </a:spcBef>
              <a:buNone/>
            </a:pPr>
            <a:r>
              <a:rPr lang="en-US" sz="4400" dirty="0" smtClean="0">
                <a:solidFill>
                  <a:srgbClr val="000066"/>
                </a:solidFill>
              </a:rPr>
              <a:t>       </a:t>
            </a:r>
            <a:r>
              <a:rPr lang="en-US" dirty="0" smtClean="0">
                <a:solidFill>
                  <a:srgbClr val="000066"/>
                </a:solidFill>
              </a:rPr>
              <a:t>Appendix  ‘B’</a:t>
            </a:r>
          </a:p>
          <a:p>
            <a:pPr lvl="1">
              <a:spcBef>
                <a:spcPct val="50000"/>
              </a:spcBef>
              <a:buClr>
                <a:srgbClr val="000066"/>
              </a:buClr>
              <a:buFont typeface="Wingdings" pitchFamily="2" charset="2"/>
              <a:buChar char="Ø"/>
            </a:pPr>
            <a:r>
              <a:rPr lang="en-US" sz="3600" dirty="0" smtClean="0">
                <a:solidFill>
                  <a:srgbClr val="000066"/>
                </a:solidFill>
              </a:rPr>
              <a:t> no lump sum provision should be  	 made</a:t>
            </a:r>
            <a:r>
              <a:rPr lang="en-US" sz="4400" dirty="0" smtClean="0">
                <a:solidFill>
                  <a:srgbClr val="000066"/>
                </a:solidFill>
              </a:rPr>
              <a:t> </a:t>
            </a:r>
          </a:p>
          <a:p>
            <a:pPr lvl="1">
              <a:spcBef>
                <a:spcPct val="50000"/>
              </a:spcBef>
              <a:buClr>
                <a:srgbClr val="000066"/>
              </a:buClr>
              <a:buFont typeface="Wingdings" pitchFamily="2" charset="2"/>
              <a:buChar char="Ø"/>
            </a:pPr>
            <a:r>
              <a:rPr lang="en-US" sz="3600" dirty="0" smtClean="0">
                <a:solidFill>
                  <a:srgbClr val="000066"/>
                </a:solidFill>
              </a:rPr>
              <a:t> for variations in number of posts   	 authority should be quoted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019288" cy="1143000"/>
          </a:xfrm>
        </p:spPr>
        <p:txBody>
          <a:bodyPr>
            <a:normAutofit fontScale="90000"/>
          </a:bodyPr>
          <a:lstStyle/>
          <a:p>
            <a:r>
              <a:rPr lang="en-US" sz="5400" b="1" dirty="0" smtClean="0">
                <a:solidFill>
                  <a:srgbClr val="000066"/>
                </a:solidFill>
              </a:rPr>
              <a:t>B. </a:t>
            </a:r>
            <a:r>
              <a:rPr lang="en-US" sz="5400" dirty="0" smtClean="0">
                <a:solidFill>
                  <a:srgbClr val="000066"/>
                </a:solidFill>
              </a:rPr>
              <a:t>Establishment budget :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9530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3600" dirty="0" smtClean="0">
                <a:solidFill>
                  <a:srgbClr val="000066"/>
                </a:solidFill>
              </a:rPr>
              <a:t>Appendix  ‘B’</a:t>
            </a:r>
          </a:p>
          <a:p>
            <a:endParaRPr lang="en-US" sz="1800" dirty="0" smtClean="0">
              <a:solidFill>
                <a:srgbClr val="000066"/>
              </a:solidFill>
            </a:endParaRPr>
          </a:p>
          <a:p>
            <a:pPr algn="just">
              <a:buClr>
                <a:srgbClr val="000066"/>
              </a:buClr>
              <a:buFont typeface="Wingdings" pitchFamily="2" charset="2"/>
              <a:buChar char="Ø"/>
            </a:pPr>
            <a:r>
              <a:rPr lang="en-US" dirty="0" smtClean="0">
                <a:solidFill>
                  <a:srgbClr val="000066"/>
                </a:solidFill>
              </a:rPr>
              <a:t> for vacant posts minimum pay  should be shown</a:t>
            </a:r>
          </a:p>
          <a:p>
            <a:pPr algn="just">
              <a:buClr>
                <a:srgbClr val="000066"/>
              </a:buClr>
              <a:buFont typeface="Wingdings" pitchFamily="2" charset="2"/>
              <a:buChar char="Ø"/>
            </a:pPr>
            <a:r>
              <a:rPr lang="en-US" dirty="0" smtClean="0">
                <a:solidFill>
                  <a:srgbClr val="000066"/>
                </a:solidFill>
              </a:rPr>
              <a:t> usually, when a 5 year plan is ended &amp;         a new plan is begin, separate 	guidelines will be issued by the 	planning commission regarding  	shifting of posts from plan to non-plan</a:t>
            </a:r>
            <a:r>
              <a:rPr lang="en-US" dirty="0" smtClean="0"/>
              <a:t> 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2163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 smtClean="0">
                <a:solidFill>
                  <a:srgbClr val="000066"/>
                </a:solidFill>
              </a:rPr>
              <a:t>B. </a:t>
            </a:r>
            <a:r>
              <a:rPr lang="en-US" sz="6000" dirty="0" smtClean="0">
                <a:solidFill>
                  <a:srgbClr val="000066"/>
                </a:solidFill>
              </a:rPr>
              <a:t>Establishment budget :-</a:t>
            </a:r>
            <a:br>
              <a:rPr lang="en-US" sz="6000" dirty="0" smtClean="0">
                <a:solidFill>
                  <a:srgbClr val="000066"/>
                </a:solidFill>
              </a:rPr>
            </a:br>
            <a:r>
              <a:rPr lang="en-US" dirty="0" smtClean="0">
                <a:solidFill>
                  <a:srgbClr val="000066"/>
                </a:solidFill>
              </a:rPr>
              <a:t> </a:t>
            </a:r>
            <a:r>
              <a:rPr lang="en-US" sz="4000" dirty="0" smtClean="0">
                <a:solidFill>
                  <a:srgbClr val="000066"/>
                </a:solidFill>
              </a:rPr>
              <a:t>Appendix  </a:t>
            </a:r>
            <a:r>
              <a:rPr lang="en-US" sz="4000" dirty="0" smtClean="0">
                <a:solidFill>
                  <a:srgbClr val="000066"/>
                </a:solidFill>
              </a:rPr>
              <a:t>‘B’</a:t>
            </a:r>
            <a:br>
              <a:rPr lang="en-US" sz="4000" dirty="0" smtClean="0">
                <a:solidFill>
                  <a:srgbClr val="000066"/>
                </a:solidFill>
              </a:rPr>
            </a:br>
            <a:r>
              <a:rPr lang="en-US" sz="4000" dirty="0" smtClean="0">
                <a:solidFill>
                  <a:srgbClr val="000066"/>
                </a:solidFill>
              </a:rPr>
              <a:t>Generally</a:t>
            </a:r>
            <a:r>
              <a:rPr lang="en-US" sz="4000" dirty="0" smtClean="0">
                <a:solidFill>
                  <a:srgbClr val="000066"/>
                </a:solidFill>
              </a:rPr>
              <a:t>,</a:t>
            </a:r>
            <a:br>
              <a:rPr lang="en-US" sz="4000" dirty="0" smtClean="0">
                <a:solidFill>
                  <a:srgbClr val="000066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743200"/>
            <a:ext cx="7498080" cy="3505200"/>
          </a:xfrm>
        </p:spPr>
        <p:txBody>
          <a:bodyPr/>
          <a:lstStyle/>
          <a:p>
            <a:pPr>
              <a:buClr>
                <a:srgbClr val="000066"/>
              </a:buClr>
              <a:buFont typeface="Wingdings" pitchFamily="2" charset="2"/>
              <a:buChar char="ü"/>
            </a:pPr>
            <a:r>
              <a:rPr lang="en-US" dirty="0" smtClean="0">
                <a:solidFill>
                  <a:srgbClr val="000066"/>
                </a:solidFill>
              </a:rPr>
              <a:t> the posts which remained vacant at the end of five year plan will be deemed to have been lapsed</a:t>
            </a:r>
          </a:p>
          <a:p>
            <a:pPr>
              <a:buClr>
                <a:srgbClr val="000066"/>
              </a:buClr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fresh sanction to be</a:t>
            </a:r>
            <a:r>
              <a:rPr lang="en-US" b="1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obtained in the new plan 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2163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 smtClean="0">
                <a:solidFill>
                  <a:srgbClr val="000066"/>
                </a:solidFill>
              </a:rPr>
              <a:t>B. </a:t>
            </a:r>
            <a:r>
              <a:rPr lang="en-US" sz="6000" dirty="0" smtClean="0">
                <a:solidFill>
                  <a:srgbClr val="000066"/>
                </a:solidFill>
              </a:rPr>
              <a:t>Establishment budget :-</a:t>
            </a:r>
            <a:br>
              <a:rPr lang="en-US" sz="6000" dirty="0" smtClean="0">
                <a:solidFill>
                  <a:srgbClr val="000066"/>
                </a:solidFill>
              </a:rPr>
            </a:br>
            <a:r>
              <a:rPr lang="en-US" sz="4000" dirty="0" smtClean="0">
                <a:solidFill>
                  <a:srgbClr val="000066"/>
                </a:solidFill>
              </a:rPr>
              <a:t>Appendix  </a:t>
            </a:r>
            <a:r>
              <a:rPr lang="en-US" sz="4000" dirty="0" smtClean="0">
                <a:solidFill>
                  <a:srgbClr val="000066"/>
                </a:solidFill>
              </a:rPr>
              <a:t>‘B’</a:t>
            </a:r>
            <a:br>
              <a:rPr lang="en-US" sz="4000" dirty="0" smtClean="0">
                <a:solidFill>
                  <a:srgbClr val="000066"/>
                </a:solidFill>
              </a:rPr>
            </a:br>
            <a:r>
              <a:rPr lang="en-US" sz="4000" dirty="0" smtClean="0">
                <a:solidFill>
                  <a:srgbClr val="000066"/>
                </a:solidFill>
              </a:rPr>
              <a:t>Generally</a:t>
            </a:r>
            <a:r>
              <a:rPr lang="en-US" sz="4000" dirty="0" smtClean="0">
                <a:solidFill>
                  <a:srgbClr val="000066"/>
                </a:solidFill>
              </a:rPr>
              <a:t>,</a:t>
            </a:r>
            <a:br>
              <a:rPr lang="en-US" sz="4000" dirty="0" smtClean="0">
                <a:solidFill>
                  <a:srgbClr val="000066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362200"/>
            <a:ext cx="7790688" cy="3886200"/>
          </a:xfrm>
        </p:spPr>
        <p:txBody>
          <a:bodyPr/>
          <a:lstStyle/>
          <a:p>
            <a:pPr algn="just">
              <a:buClr>
                <a:srgbClr val="000066"/>
              </a:buClr>
              <a:buFont typeface="Wingdings" pitchFamily="2" charset="2"/>
              <a:buChar char="ü"/>
            </a:pPr>
            <a:r>
              <a:rPr lang="en-US" dirty="0" smtClean="0">
                <a:solidFill>
                  <a:srgbClr val="000066"/>
                </a:solidFill>
              </a:rPr>
              <a:t> the posts which remained vacant at the end of five year plan will be deemed to have been lapsed</a:t>
            </a:r>
          </a:p>
          <a:p>
            <a:pPr algn="just">
              <a:buClr>
                <a:srgbClr val="000066"/>
              </a:buClr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fresh sanction to be</a:t>
            </a:r>
            <a:r>
              <a:rPr lang="en-US" b="1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obtained in the new plan 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2087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 smtClean="0">
                <a:solidFill>
                  <a:srgbClr val="0000CC"/>
                </a:solidFill>
              </a:rPr>
              <a:t>B. </a:t>
            </a:r>
            <a:r>
              <a:rPr lang="en-US" sz="6000" dirty="0" smtClean="0">
                <a:solidFill>
                  <a:srgbClr val="0000CC"/>
                </a:solidFill>
              </a:rPr>
              <a:t>Establishment budget :-</a:t>
            </a:r>
            <a:br>
              <a:rPr lang="en-US" sz="6000" dirty="0" smtClean="0">
                <a:solidFill>
                  <a:srgbClr val="0000CC"/>
                </a:solidFill>
              </a:rPr>
            </a:br>
            <a:r>
              <a:rPr lang="en-US" sz="4000" dirty="0" smtClean="0">
                <a:solidFill>
                  <a:srgbClr val="0000CC"/>
                </a:solidFill>
              </a:rPr>
              <a:t>Appendix  </a:t>
            </a:r>
            <a:r>
              <a:rPr lang="en-US" sz="4000" dirty="0" smtClean="0">
                <a:solidFill>
                  <a:srgbClr val="0000CC"/>
                </a:solidFill>
              </a:rPr>
              <a:t>‘B’</a:t>
            </a:r>
            <a:br>
              <a:rPr lang="en-US" sz="4000" dirty="0" smtClean="0">
                <a:solidFill>
                  <a:srgbClr val="0000CC"/>
                </a:solidFill>
              </a:rPr>
            </a:br>
            <a:r>
              <a:rPr lang="en-US" sz="4000" dirty="0" smtClean="0">
                <a:solidFill>
                  <a:srgbClr val="0000CC"/>
                </a:solidFill>
              </a:rPr>
              <a:t>Generally</a:t>
            </a:r>
            <a:r>
              <a:rPr lang="en-US" sz="4000" dirty="0" smtClean="0">
                <a:solidFill>
                  <a:srgbClr val="0000CC"/>
                </a:solidFill>
              </a:rPr>
              <a:t>,</a:t>
            </a:r>
            <a:br>
              <a:rPr lang="en-US" sz="4000" dirty="0" smtClean="0">
                <a:solidFill>
                  <a:srgbClr val="0000CC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362200"/>
            <a:ext cx="7498080" cy="38862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solidFill>
                  <a:srgbClr val="0000CC"/>
                </a:solidFill>
              </a:rPr>
              <a:t> no portion of expenditure under central scheme &amp; expenditure aided schemes will be transferred to non-plan </a:t>
            </a:r>
            <a:r>
              <a:rPr lang="en-US" sz="3600" dirty="0" smtClean="0">
                <a:solidFill>
                  <a:srgbClr val="0000CC"/>
                </a:solidFill>
              </a:rPr>
              <a:t>directly</a:t>
            </a:r>
            <a:endParaRPr lang="en-US" sz="3600" dirty="0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0066"/>
                </a:solidFill>
              </a:rPr>
              <a:t>Appendix ‘B’ </a:t>
            </a:r>
            <a:r>
              <a:rPr lang="en-US" sz="4000" dirty="0" smtClean="0">
                <a:solidFill>
                  <a:srgbClr val="000066"/>
                </a:solidFill>
              </a:rPr>
              <a:t>will be prepared in the following formats </a:t>
            </a:r>
            <a:r>
              <a:rPr lang="en-US" sz="4000" dirty="0" smtClean="0">
                <a:solidFill>
                  <a:srgbClr val="000066"/>
                </a:solidFill>
              </a:rPr>
              <a:t>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828800"/>
            <a:ext cx="7498080" cy="4419600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sz="4000" b="1" dirty="0" smtClean="0">
                <a:solidFill>
                  <a:srgbClr val="000066"/>
                </a:solidFill>
              </a:rPr>
              <a:t> </a:t>
            </a: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1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dirty="0" smtClean="0">
                <a:solidFill>
                  <a:srgbClr val="000066"/>
                </a:solidFill>
              </a:rPr>
              <a:t> </a:t>
            </a:r>
          </a:p>
          <a:p>
            <a:pPr>
              <a:spcBef>
                <a:spcPts val="0"/>
              </a:spcBef>
              <a:buClr>
                <a:srgbClr val="333300"/>
              </a:buClr>
              <a:buNone/>
              <a:defRPr/>
            </a:pPr>
            <a:r>
              <a:rPr lang="en-US" b="1" dirty="0" smtClean="0">
                <a:solidFill>
                  <a:srgbClr val="000066"/>
                </a:solidFill>
              </a:rPr>
              <a:t>- </a:t>
            </a:r>
            <a:r>
              <a:rPr lang="en-US" dirty="0" smtClean="0">
                <a:solidFill>
                  <a:srgbClr val="000066"/>
                </a:solidFill>
              </a:rPr>
              <a:t>Abstracts </a:t>
            </a:r>
            <a:r>
              <a:rPr lang="en-US" dirty="0" smtClean="0">
                <a:solidFill>
                  <a:srgbClr val="000066"/>
                </a:solidFill>
              </a:rPr>
              <a:t>figures-amounts</a:t>
            </a:r>
          </a:p>
          <a:p>
            <a:pPr>
              <a:spcBef>
                <a:spcPts val="0"/>
              </a:spcBef>
              <a:buClr>
                <a:schemeClr val="accent1"/>
              </a:buClr>
              <a:buNone/>
              <a:defRPr/>
            </a:pPr>
            <a:r>
              <a:rPr lang="en-US" sz="4000" b="1" dirty="0" smtClean="0">
                <a:solidFill>
                  <a:srgbClr val="000066"/>
                </a:solidFill>
              </a:rPr>
              <a:t>-</a:t>
            </a:r>
            <a:r>
              <a:rPr lang="en-US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Comparison with </a:t>
            </a:r>
            <a:r>
              <a:rPr lang="en-US" dirty="0" smtClean="0">
                <a:solidFill>
                  <a:srgbClr val="000066"/>
                </a:solidFill>
              </a:rPr>
              <a:t>previous year</a:t>
            </a:r>
            <a:endParaRPr lang="en-US" dirty="0" smtClean="0">
              <a:solidFill>
                <a:srgbClr val="000066"/>
              </a:solidFill>
            </a:endParaRPr>
          </a:p>
          <a:p>
            <a:pPr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4000" b="1" dirty="0" smtClean="0">
                <a:solidFill>
                  <a:srgbClr val="000066"/>
                </a:solidFill>
              </a:rPr>
              <a:t>-</a:t>
            </a:r>
            <a:r>
              <a:rPr lang="en-US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Explanation for difference 	                        with authority 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0066"/>
                </a:solidFill>
              </a:rPr>
              <a:t>Appendix ‘B’ </a:t>
            </a:r>
            <a:r>
              <a:rPr lang="en-US" sz="4000" dirty="0" smtClean="0">
                <a:solidFill>
                  <a:srgbClr val="000066"/>
                </a:solidFill>
              </a:rPr>
              <a:t>will be prepared in the following formats </a:t>
            </a:r>
            <a:r>
              <a:rPr lang="en-US" sz="4000" dirty="0" smtClean="0">
                <a:solidFill>
                  <a:srgbClr val="000066"/>
                </a:solidFill>
              </a:rPr>
              <a:t>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sz="4000" b="1" dirty="0" smtClean="0">
                <a:solidFill>
                  <a:srgbClr val="000066"/>
                </a:solidFill>
              </a:rPr>
              <a:t> </a:t>
            </a: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2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rgbClr val="333300"/>
              </a:buClr>
              <a:buNone/>
              <a:defRPr/>
            </a:pPr>
            <a:r>
              <a:rPr lang="en-US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-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Basic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data of Appendix ‘B’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accent1"/>
              </a:buClr>
              <a:buNone/>
              <a:defRPr/>
            </a:pP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-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Employee wise details of 	</a:t>
            </a:r>
            <a:endParaRPr lang="en-US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accent1"/>
              </a:buClr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provisions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proposed for-  	</a:t>
            </a:r>
            <a:endParaRPr lang="en-US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accent1"/>
              </a:buClr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			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pay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&amp; allowances-amount</a:t>
            </a: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	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all </a:t>
            </a:r>
            <a:r>
              <a:rPr lang="en-US" sz="3600" b="1" dirty="0" err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annexures</a:t>
            </a:r>
            <a:r>
              <a:rPr lang="en-US" sz="3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are based on this 		                annexure) </a:t>
            </a:r>
            <a:endParaRPr lang="en-US" sz="4000" b="1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0066"/>
                </a:solidFill>
              </a:rPr>
              <a:t>Appendix ‘B’ </a:t>
            </a:r>
            <a:r>
              <a:rPr lang="en-US" sz="4000" dirty="0" smtClean="0">
                <a:solidFill>
                  <a:srgbClr val="000066"/>
                </a:solidFill>
              </a:rPr>
              <a:t>will be prepared in the following formats </a:t>
            </a:r>
            <a:r>
              <a:rPr lang="en-US" sz="4000" dirty="0" smtClean="0">
                <a:solidFill>
                  <a:srgbClr val="000066"/>
                </a:solidFill>
              </a:rPr>
              <a:t>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sz="48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3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</a:t>
            </a: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Category wise number of 	                            posts &amp; pay				</a:t>
            </a:r>
            <a:r>
              <a:rPr lang="en-US" sz="4800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</a:t>
            </a:r>
            <a:r>
              <a:rPr lang="en-US" sz="4800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with total amount</a:t>
            </a: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3A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 </a:t>
            </a: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Details of vacant post</a:t>
            </a:r>
            <a:endParaRPr lang="en-US" sz="4000" u="sng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0066"/>
                </a:solidFill>
              </a:rPr>
              <a:t>Appendix ‘B’ </a:t>
            </a:r>
            <a:r>
              <a:rPr lang="en-US" sz="4000" dirty="0" smtClean="0">
                <a:solidFill>
                  <a:srgbClr val="000066"/>
                </a:solidFill>
              </a:rPr>
              <a:t>will be prepared in the following formats </a:t>
            </a:r>
            <a:r>
              <a:rPr lang="en-US" sz="4000" dirty="0" smtClean="0">
                <a:solidFill>
                  <a:srgbClr val="000066"/>
                </a:solidFill>
              </a:rPr>
              <a:t>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b="1" dirty="0" smtClean="0">
                <a:solidFill>
                  <a:srgbClr val="000066"/>
                </a:solidFill>
              </a:rPr>
              <a:t> </a:t>
            </a: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4 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–</a:t>
            </a:r>
          </a:p>
          <a:p>
            <a:pPr>
              <a:spcBef>
                <a:spcPts val="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-</a:t>
            </a:r>
            <a:r>
              <a:rPr lang="en-US" b="1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Scale</a:t>
            </a:r>
            <a:r>
              <a:rPr lang="en-US" sz="4000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wise</a:t>
            </a:r>
            <a:r>
              <a:rPr lang="en-US" sz="4000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total sanctioned			</a:t>
            </a:r>
            <a:r>
              <a:rPr lang="en-US" dirty="0" smtClean="0">
                <a:solidFill>
                  <a:srgbClr val="000066"/>
                </a:solidFill>
              </a:rPr>
              <a:t>   strength </a:t>
            </a:r>
            <a:r>
              <a:rPr lang="en-US" dirty="0" smtClean="0">
                <a:solidFill>
                  <a:srgbClr val="000066"/>
                </a:solidFill>
              </a:rPr>
              <a:t>in previous year			          </a:t>
            </a:r>
            <a:r>
              <a:rPr lang="en-US" dirty="0" smtClean="0">
                <a:solidFill>
                  <a:srgbClr val="000066"/>
                </a:solidFill>
              </a:rPr>
              <a:t> and </a:t>
            </a:r>
            <a:r>
              <a:rPr lang="en-US" dirty="0" smtClean="0">
                <a:solidFill>
                  <a:srgbClr val="000066"/>
                </a:solidFill>
              </a:rPr>
              <a:t>subsequent changes or			</a:t>
            </a:r>
            <a:r>
              <a:rPr lang="en-US" dirty="0" smtClean="0">
                <a:solidFill>
                  <a:srgbClr val="000066"/>
                </a:solidFill>
              </a:rPr>
              <a:t>   variations</a:t>
            </a:r>
            <a:r>
              <a:rPr lang="en-US" dirty="0" smtClean="0">
                <a:solidFill>
                  <a:srgbClr val="000066"/>
                </a:solidFill>
              </a:rPr>
              <a:t>						</a:t>
            </a:r>
            <a:r>
              <a:rPr lang="en-US" dirty="0" smtClean="0">
                <a:solidFill>
                  <a:srgbClr val="000066"/>
                </a:solidFill>
              </a:rPr>
              <a:t>- </a:t>
            </a:r>
            <a:r>
              <a:rPr lang="en-US" dirty="0" smtClean="0">
                <a:solidFill>
                  <a:srgbClr val="000066"/>
                </a:solidFill>
              </a:rPr>
              <a:t>Authority for variations			        </a:t>
            </a:r>
            <a:r>
              <a:rPr lang="en-US" dirty="0" smtClean="0">
                <a:solidFill>
                  <a:srgbClr val="000066"/>
                </a:solidFill>
              </a:rPr>
              <a:t>- </a:t>
            </a:r>
            <a:r>
              <a:rPr lang="en-US" dirty="0" smtClean="0">
                <a:solidFill>
                  <a:srgbClr val="000066"/>
                </a:solidFill>
              </a:rPr>
              <a:t>Only number of posts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 smtClean="0">
                <a:solidFill>
                  <a:srgbClr val="000066"/>
                </a:solidFill>
              </a:rPr>
              <a:t>Appendix</a:t>
            </a:r>
            <a:r>
              <a:rPr lang="en-US" sz="4400" b="1" dirty="0" smtClean="0">
                <a:solidFill>
                  <a:srgbClr val="000066"/>
                </a:solidFill>
              </a:rPr>
              <a:t> ‘B’ </a:t>
            </a:r>
            <a:r>
              <a:rPr lang="en-US" sz="4400" dirty="0" smtClean="0">
                <a:solidFill>
                  <a:srgbClr val="000066"/>
                </a:solidFill>
              </a:rPr>
              <a:t>will be prepared in the following formats </a:t>
            </a:r>
            <a:r>
              <a:rPr lang="en-US" sz="4400" dirty="0" smtClean="0">
                <a:solidFill>
                  <a:srgbClr val="000066"/>
                </a:solidFill>
              </a:rPr>
              <a:t>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828800"/>
            <a:ext cx="7498080" cy="4419600"/>
          </a:xfrm>
        </p:spPr>
        <p:txBody>
          <a:bodyPr/>
          <a:lstStyle/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endParaRPr lang="en-US" sz="4400" b="1" u="sng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sz="44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</a:t>
            </a:r>
            <a:r>
              <a:rPr lang="en-US" sz="44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 </a:t>
            </a:r>
            <a:r>
              <a:rPr lang="en-US" sz="44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–</a:t>
            </a:r>
          </a:p>
          <a:p>
            <a:pPr algn="ctr">
              <a:spcBef>
                <a:spcPct val="5000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sz="44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44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Number of posts both  	                             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</a:p>
          <a:p>
            <a:pPr algn="ctr">
              <a:spcBef>
                <a:spcPct val="5000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under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plan &amp; non-plan, 	                            </a:t>
            </a:r>
            <a:endParaRPr lang="en-US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 pay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scale wise</a:t>
            </a:r>
            <a:endParaRPr lang="en-US" b="1" dirty="0" smtClean="0">
              <a:solidFill>
                <a:srgbClr val="000066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rgbClr val="000066"/>
                </a:solidFill>
              </a:rPr>
              <a:t>Appendix ‘B’ </a:t>
            </a:r>
            <a:r>
              <a:rPr lang="en-US" sz="4400" dirty="0" smtClean="0">
                <a:solidFill>
                  <a:srgbClr val="000066"/>
                </a:solidFill>
              </a:rPr>
              <a:t>will be prepared in the following formats </a:t>
            </a:r>
            <a:r>
              <a:rPr lang="en-US" sz="4400" dirty="0" smtClean="0">
                <a:solidFill>
                  <a:srgbClr val="000066"/>
                </a:solidFill>
              </a:rPr>
              <a:t>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endParaRPr lang="en-US" sz="4000" b="1" u="sng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</a:t>
            </a: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 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– </a:t>
            </a: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	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 Category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wise total 		                          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  numbering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of posts with 				 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comparison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 previous		                 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year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&amp; current year total	                           </a:t>
            </a:r>
            <a:r>
              <a:rPr lang="en-US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  amounts</a:t>
            </a:r>
            <a:endParaRPr lang="en-US" dirty="0" smtClean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0066"/>
                </a:solidFill>
              </a:rPr>
              <a:t>Appendix ‘B’ </a:t>
            </a:r>
            <a:r>
              <a:rPr lang="en-US" sz="4000" dirty="0" smtClean="0">
                <a:solidFill>
                  <a:srgbClr val="000066"/>
                </a:solidFill>
              </a:rPr>
              <a:t>will be prepared in the following formats </a:t>
            </a:r>
            <a:r>
              <a:rPr lang="en-US" sz="4000" dirty="0" smtClean="0">
                <a:solidFill>
                  <a:srgbClr val="000066"/>
                </a:solidFill>
              </a:rPr>
              <a:t>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>
                <a:srgbClr val="333300"/>
              </a:buClr>
              <a:buNone/>
              <a:defRPr/>
            </a:pPr>
            <a:endParaRPr lang="en-US" sz="4000" dirty="0" smtClean="0">
              <a:solidFill>
                <a:srgbClr val="000066"/>
              </a:solidFill>
            </a:endParaRP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Char char="v"/>
              <a:defRPr/>
            </a:pP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Annexure </a:t>
            </a:r>
            <a:r>
              <a:rPr lang="en-US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 </a:t>
            </a:r>
            <a:r>
              <a:rPr lang="en-US" sz="4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–</a:t>
            </a:r>
            <a:r>
              <a:rPr lang="en-US" sz="4000" dirty="0" smtClean="0">
                <a:solidFill>
                  <a:srgbClr val="000066"/>
                </a:solidFill>
              </a:rPr>
              <a:t> </a:t>
            </a:r>
          </a:p>
          <a:p>
            <a:pPr>
              <a:spcBef>
                <a:spcPct val="50000"/>
              </a:spcBef>
              <a:buClr>
                <a:srgbClr val="333300"/>
              </a:buCl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66"/>
                </a:solidFill>
              </a:rPr>
              <a:t>				 - Basic pay range wise, 				  </a:t>
            </a:r>
            <a:r>
              <a:rPr lang="en-US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number of teaching &amp; 	 	                  </a:t>
            </a:r>
            <a:r>
              <a:rPr lang="en-US" dirty="0" smtClean="0">
                <a:solidFill>
                  <a:srgbClr val="000066"/>
                </a:solidFill>
              </a:rPr>
              <a:t> </a:t>
            </a:r>
            <a:r>
              <a:rPr lang="en-US" dirty="0" smtClean="0">
                <a:solidFill>
                  <a:srgbClr val="000066"/>
                </a:solidFill>
              </a:rPr>
              <a:t>non-teaching employees </a:t>
            </a:r>
            <a:endParaRPr lang="en-US" sz="4000" dirty="0" smtClean="0">
              <a:solidFill>
                <a:srgbClr val="000066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7866888" cy="5791200"/>
          </a:xfrm>
        </p:spPr>
        <p:txBody>
          <a:bodyPr>
            <a:normAutofit lnSpcReduction="10000"/>
          </a:bodyPr>
          <a:lstStyle/>
          <a:p>
            <a:pPr algn="ctr">
              <a:spcBef>
                <a:spcPct val="50000"/>
              </a:spcBef>
              <a:buNone/>
            </a:pPr>
            <a:r>
              <a:rPr lang="en-US" sz="4800" dirty="0" smtClean="0">
                <a:solidFill>
                  <a:srgbClr val="006600"/>
                </a:solidFill>
              </a:rPr>
              <a:t>Re appropriation </a:t>
            </a:r>
            <a:r>
              <a:rPr lang="en-US" sz="4800" dirty="0" smtClean="0">
                <a:solidFill>
                  <a:srgbClr val="006600"/>
                </a:solidFill>
              </a:rPr>
              <a:t>: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dirty="0" smtClean="0">
                <a:solidFill>
                  <a:srgbClr val="800080"/>
                </a:solidFill>
              </a:rPr>
              <a:t>Transfer </a:t>
            </a:r>
            <a:r>
              <a:rPr lang="en-US" dirty="0" smtClean="0">
                <a:solidFill>
                  <a:srgbClr val="800080"/>
                </a:solidFill>
              </a:rPr>
              <a:t>of grants from one unit of </a:t>
            </a:r>
            <a:r>
              <a:rPr lang="en-US" dirty="0" smtClean="0">
                <a:solidFill>
                  <a:srgbClr val="800080"/>
                </a:solidFill>
              </a:rPr>
              <a:t>  appropriation </a:t>
            </a:r>
            <a:r>
              <a:rPr lang="en-US" dirty="0" smtClean="0">
                <a:solidFill>
                  <a:srgbClr val="800080"/>
                </a:solidFill>
              </a:rPr>
              <a:t>	where there may be excesses </a:t>
            </a:r>
            <a:r>
              <a:rPr lang="en-US" dirty="0" smtClean="0">
                <a:solidFill>
                  <a:srgbClr val="800080"/>
                </a:solidFill>
              </a:rPr>
              <a:t>is </a:t>
            </a:r>
            <a:r>
              <a:rPr lang="en-US" dirty="0" smtClean="0">
                <a:solidFill>
                  <a:srgbClr val="800080"/>
                </a:solidFill>
              </a:rPr>
              <a:t>known as re-appropriation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dirty="0" smtClean="0">
                <a:solidFill>
                  <a:srgbClr val="800080"/>
                </a:solidFill>
              </a:rPr>
              <a:t>  KFC articles 308 &amp; 314, depicts guidelines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dirty="0" smtClean="0">
                <a:solidFill>
                  <a:srgbClr val="800080"/>
                </a:solidFill>
              </a:rPr>
              <a:t>  KPR act 1993 section 257, 248, 242  </a:t>
            </a:r>
            <a:endParaRPr lang="en-US" sz="4400" dirty="0" smtClean="0">
              <a:solidFill>
                <a:srgbClr val="00660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04800"/>
            <a:ext cx="7943088" cy="5943600"/>
          </a:xfrm>
        </p:spPr>
        <p:txBody>
          <a:bodyPr>
            <a:normAutofit lnSpcReduction="10000"/>
          </a:bodyPr>
          <a:lstStyle/>
          <a:p>
            <a:pPr marL="457200" indent="-457200">
              <a:spcBef>
                <a:spcPct val="50000"/>
              </a:spcBef>
              <a:defRPr/>
            </a:pPr>
            <a:r>
              <a:rPr lang="en-US" sz="4400" b="1" u="sng" dirty="0" smtClean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Powers:</a:t>
            </a:r>
            <a:endParaRPr lang="en-US" sz="4400" dirty="0" smtClean="0">
              <a:solidFill>
                <a:srgbClr val="3366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57200" indent="-457200">
              <a:spcBef>
                <a:spcPct val="50000"/>
              </a:spcBef>
              <a:buFontTx/>
              <a:buAutoNum type="alphaUcParenR"/>
              <a:defRPr/>
            </a:pPr>
            <a:r>
              <a:rPr lang="en-US" b="1" dirty="0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State Sector</a:t>
            </a:r>
            <a:r>
              <a:rPr lang="en-US" sz="2800" dirty="0" smtClean="0"/>
              <a:t> </a:t>
            </a:r>
          </a:p>
          <a:p>
            <a:pPr marL="914400" lvl="1" indent="-457200">
              <a:spcBef>
                <a:spcPct val="50000"/>
              </a:spcBef>
              <a:buClr>
                <a:srgbClr val="0066FF"/>
              </a:buClr>
              <a:buSzPct val="155000"/>
              <a:buFontTx/>
              <a:buAutoNum type="romanUcPeriod"/>
              <a:defRPr/>
            </a:pPr>
            <a:r>
              <a:rPr lang="en-US" sz="3200" dirty="0" smtClean="0">
                <a:solidFill>
                  <a:srgbClr val="FF0066"/>
                </a:solidFill>
              </a:rPr>
              <a:t>Department heads:-</a:t>
            </a:r>
            <a:r>
              <a:rPr lang="en-US" sz="3200" dirty="0" smtClean="0">
                <a:solidFill>
                  <a:srgbClr val="800080"/>
                </a:solidFill>
              </a:rPr>
              <a:t>  up to Rs.1lakh from one unit of appropriation to another within the same subhead</a:t>
            </a:r>
          </a:p>
          <a:p>
            <a:pPr marL="914400" lvl="1" indent="-457200">
              <a:spcBef>
                <a:spcPct val="50000"/>
              </a:spcBef>
              <a:buClr>
                <a:srgbClr val="0066FF"/>
              </a:buClr>
              <a:buSzPct val="155000"/>
              <a:buFontTx/>
              <a:buAutoNum type="romanUcPeriod"/>
              <a:defRPr/>
            </a:pPr>
            <a:r>
              <a:rPr lang="en-US" sz="3200" dirty="0" smtClean="0">
                <a:solidFill>
                  <a:srgbClr val="FF0066"/>
                </a:solidFill>
              </a:rPr>
              <a:t>Administration departments heads in government:-</a:t>
            </a:r>
            <a:r>
              <a:rPr lang="en-US" sz="3200" dirty="0" smtClean="0">
                <a:solidFill>
                  <a:srgbClr val="800080"/>
                </a:solidFill>
              </a:rPr>
              <a:t> up to Rs.50lakhs within the major head</a:t>
            </a:r>
          </a:p>
          <a:p>
            <a:pPr marL="914400" lvl="1" indent="-457200">
              <a:spcBef>
                <a:spcPct val="50000"/>
              </a:spcBef>
              <a:buClr>
                <a:srgbClr val="0066FF"/>
              </a:buClr>
              <a:buSzPct val="155000"/>
              <a:buFontTx/>
              <a:buAutoNum type="romanUcPeriod"/>
              <a:defRPr/>
            </a:pPr>
            <a:r>
              <a:rPr lang="en-US" sz="3200" dirty="0" smtClean="0">
                <a:solidFill>
                  <a:srgbClr val="800080"/>
                </a:solidFill>
              </a:rPr>
              <a:t> </a:t>
            </a:r>
            <a:r>
              <a:rPr lang="en-US" sz="3200" dirty="0" smtClean="0">
                <a:solidFill>
                  <a:srgbClr val="FF0066"/>
                </a:solidFill>
              </a:rPr>
              <a:t>Secretaries to government having IFAs:-</a:t>
            </a:r>
            <a:r>
              <a:rPr lang="en-US" sz="3200" dirty="0" smtClean="0">
                <a:solidFill>
                  <a:srgbClr val="800080"/>
                </a:solidFill>
              </a:rPr>
              <a:t>Rs.10lakhs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81000"/>
            <a:ext cx="8019288" cy="5867400"/>
          </a:xfrm>
        </p:spPr>
        <p:txBody>
          <a:bodyPr/>
          <a:lstStyle/>
          <a:p>
            <a:pPr marL="457200" indent="-457200">
              <a:spcBef>
                <a:spcPct val="50000"/>
              </a:spcBef>
              <a:buNone/>
              <a:defRPr/>
            </a:pPr>
            <a:r>
              <a:rPr lang="en-US" sz="4000" b="1" dirty="0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B) </a:t>
            </a:r>
            <a:r>
              <a:rPr lang="en-US" sz="4000" b="1" dirty="0" err="1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P.R.Sector</a:t>
            </a:r>
            <a:endParaRPr lang="en-US" sz="4000" b="1" dirty="0" smtClean="0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>
              <a:spcBef>
                <a:spcPct val="50000"/>
              </a:spcBef>
              <a:buSzPct val="150000"/>
              <a:buFontTx/>
              <a:buAutoNum type="romanUcPeriod"/>
              <a:defRPr/>
            </a:pPr>
            <a:r>
              <a:rPr lang="en-US" dirty="0" smtClean="0">
                <a:solidFill>
                  <a:srgbClr val="0066FF"/>
                </a:solidFill>
              </a:rPr>
              <a:t> </a:t>
            </a:r>
            <a:r>
              <a:rPr lang="en-US" dirty="0" smtClean="0">
                <a:solidFill>
                  <a:srgbClr val="FF0066"/>
                </a:solidFill>
              </a:rPr>
              <a:t>Z.P :-</a:t>
            </a:r>
            <a:r>
              <a:rPr lang="en-US" dirty="0" smtClean="0">
                <a:solidFill>
                  <a:srgbClr val="0066FF"/>
                </a:solidFill>
              </a:rPr>
              <a:t> </a:t>
            </a:r>
            <a:r>
              <a:rPr lang="en-US" dirty="0" smtClean="0">
                <a:solidFill>
                  <a:srgbClr val="800080"/>
                </a:solidFill>
              </a:rPr>
              <a:t>without the approval of government no reduction of over 10% shall be made in the grants of any major head</a:t>
            </a:r>
          </a:p>
          <a:p>
            <a:pPr marL="914400" lvl="1" indent="-457200">
              <a:spcBef>
                <a:spcPct val="50000"/>
              </a:spcBef>
              <a:buSzPct val="150000"/>
              <a:buFontTx/>
              <a:buAutoNum type="romanUcPeriod"/>
              <a:defRPr/>
            </a:pPr>
            <a:r>
              <a:rPr lang="en-US" dirty="0" smtClean="0">
                <a:solidFill>
                  <a:srgbClr val="0066FF"/>
                </a:solidFill>
              </a:rPr>
              <a:t> </a:t>
            </a:r>
            <a:r>
              <a:rPr lang="en-US" dirty="0" smtClean="0">
                <a:solidFill>
                  <a:srgbClr val="FF0066"/>
                </a:solidFill>
              </a:rPr>
              <a:t>T.P :-</a:t>
            </a:r>
            <a:r>
              <a:rPr lang="en-US" dirty="0" smtClean="0">
                <a:solidFill>
                  <a:srgbClr val="0066FF"/>
                </a:solidFill>
              </a:rPr>
              <a:t> </a:t>
            </a:r>
            <a:r>
              <a:rPr lang="en-US" dirty="0" smtClean="0">
                <a:solidFill>
                  <a:srgbClr val="800080"/>
                </a:solidFill>
              </a:rPr>
              <a:t>without the approval of CEO, no reduction of over 10% shall be made in the grants of any major head</a:t>
            </a:r>
          </a:p>
          <a:p>
            <a:pPr marL="914400" lvl="1" indent="-457200">
              <a:spcBef>
                <a:spcPct val="50000"/>
              </a:spcBef>
              <a:buSzPct val="150000"/>
              <a:buFontTx/>
              <a:buAutoNum type="romanUcPeriod"/>
              <a:defRPr/>
            </a:pPr>
            <a:r>
              <a:rPr lang="en-US" dirty="0" smtClean="0">
                <a:solidFill>
                  <a:srgbClr val="0066FF"/>
                </a:solidFill>
              </a:rPr>
              <a:t> </a:t>
            </a:r>
            <a:r>
              <a:rPr lang="en-US" dirty="0" smtClean="0">
                <a:solidFill>
                  <a:srgbClr val="FF0066"/>
                </a:solidFill>
              </a:rPr>
              <a:t>G.P :-</a:t>
            </a:r>
            <a:r>
              <a:rPr lang="en-US" sz="4000" dirty="0" smtClean="0">
                <a:solidFill>
                  <a:srgbClr val="0066FF"/>
                </a:solidFill>
              </a:rPr>
              <a:t> </a:t>
            </a:r>
            <a:r>
              <a:rPr lang="en-US" dirty="0" smtClean="0">
                <a:solidFill>
                  <a:srgbClr val="800080"/>
                </a:solidFill>
              </a:rPr>
              <a:t>without the approval of CEO ,no reduction of over 10% shall be made in the grants of any major head</a:t>
            </a:r>
            <a:r>
              <a:rPr lang="en-US" sz="4000" dirty="0" smtClean="0">
                <a:solidFill>
                  <a:srgbClr val="0066FF"/>
                </a:solidFill>
              </a:rPr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"/>
            <a:ext cx="8019288" cy="59436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spcBef>
                <a:spcPct val="50000"/>
              </a:spcBef>
              <a:buNone/>
              <a:defRPr/>
            </a:pPr>
            <a:r>
              <a:rPr lang="en-US" sz="3600" b="1" u="sng" dirty="0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Following </a:t>
            </a:r>
            <a:r>
              <a:rPr lang="en-US" sz="3600" b="1" u="sng" dirty="0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points to be kept in </a:t>
            </a:r>
            <a:r>
              <a:rPr lang="en-US" sz="3600" b="1" u="sng" dirty="0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view while </a:t>
            </a:r>
            <a:r>
              <a:rPr lang="en-US" sz="3600" b="1" u="sng" dirty="0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considering for re-appropriation of grants:-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  <a:defRPr/>
            </a:pPr>
            <a:r>
              <a:rPr lang="en-US" dirty="0" smtClean="0">
                <a:solidFill>
                  <a:srgbClr val="800080"/>
                </a:solidFill>
              </a:rPr>
              <a:t> Economy measures in force 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  <a:defRPr/>
            </a:pPr>
            <a:r>
              <a:rPr lang="en-US" dirty="0" smtClean="0">
                <a:solidFill>
                  <a:srgbClr val="800080"/>
                </a:solidFill>
              </a:rPr>
              <a:t>Salary portion should be utilized for salary only &amp; not for non salary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  <a:defRPr/>
            </a:pPr>
            <a:r>
              <a:rPr lang="en-US" dirty="0" smtClean="0">
                <a:solidFill>
                  <a:srgbClr val="800080"/>
                </a:solidFill>
              </a:rPr>
              <a:t>Re-appropriation funds between revenue heads &amp; capital heads &amp;loan head not permissible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  <a:defRPr/>
            </a:pPr>
            <a:r>
              <a:rPr lang="en-US" dirty="0" smtClean="0">
                <a:solidFill>
                  <a:srgbClr val="800080"/>
                </a:solidFill>
              </a:rPr>
              <a:t>No re-appropriation between voted &amp; charged  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7943088" cy="5867400"/>
          </a:xfrm>
        </p:spPr>
        <p:txBody>
          <a:bodyPr>
            <a:normAutofit fontScale="85000" lnSpcReduction="10000"/>
          </a:bodyPr>
          <a:lstStyle/>
          <a:p>
            <a:pPr marL="371475" indent="-371475">
              <a:buNone/>
              <a:defRPr/>
            </a:pPr>
            <a:r>
              <a:rPr lang="en-US" b="1" u="sng" dirty="0" smtClean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Following points to be kept in view while considering for re-appropriation of grants:-</a:t>
            </a:r>
          </a:p>
          <a:p>
            <a:pPr marL="371475" indent="-371475">
              <a:buNone/>
              <a:defRPr/>
            </a:pPr>
            <a:r>
              <a:rPr lang="en-US" sz="3600" dirty="0" smtClean="0">
                <a:solidFill>
                  <a:srgbClr val="800080"/>
                </a:solidFill>
              </a:rPr>
              <a:t>5. </a:t>
            </a:r>
            <a:r>
              <a:rPr lang="en-US" dirty="0" smtClean="0">
                <a:solidFill>
                  <a:srgbClr val="800080"/>
                </a:solidFill>
              </a:rPr>
              <a:t>No re-appropriation for new services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en-US" dirty="0" smtClean="0">
                <a:solidFill>
                  <a:srgbClr val="FF0066"/>
                </a:solidFill>
              </a:rPr>
              <a:t>6.</a:t>
            </a:r>
            <a:r>
              <a:rPr lang="en-US" dirty="0" smtClean="0">
                <a:solidFill>
                  <a:srgbClr val="800080"/>
                </a:solidFill>
              </a:rPr>
              <a:t> Not permissible from one demand to another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en-US" dirty="0" smtClean="0">
                <a:solidFill>
                  <a:srgbClr val="FF0066"/>
                </a:solidFill>
              </a:rPr>
              <a:t>7.</a:t>
            </a:r>
            <a:r>
              <a:rPr lang="en-US" dirty="0" smtClean="0">
                <a:solidFill>
                  <a:srgbClr val="800080"/>
                </a:solidFill>
              </a:rPr>
              <a:t> Excess  expenditure sought should be equal  to savings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en-US" dirty="0" smtClean="0">
                <a:solidFill>
                  <a:srgbClr val="FF0066"/>
                </a:solidFill>
              </a:rPr>
              <a:t>8.</a:t>
            </a:r>
            <a:r>
              <a:rPr lang="en-US" dirty="0" smtClean="0">
                <a:solidFill>
                  <a:srgbClr val="800080"/>
                </a:solidFill>
              </a:rPr>
              <a:t> No re-appropriation is permitted between ZP,  TP &amp; GP </a:t>
            </a:r>
            <a:r>
              <a:rPr lang="en-US" dirty="0" err="1" smtClean="0">
                <a:solidFill>
                  <a:srgbClr val="800080"/>
                </a:solidFill>
              </a:rPr>
              <a:t>programmes</a:t>
            </a:r>
            <a:endParaRPr lang="en-US" dirty="0" smtClean="0">
              <a:solidFill>
                <a:srgbClr val="800080"/>
              </a:solidFill>
            </a:endParaRPr>
          </a:p>
          <a:p>
            <a:pPr>
              <a:spcBef>
                <a:spcPct val="50000"/>
              </a:spcBef>
              <a:buNone/>
              <a:defRPr/>
            </a:pPr>
            <a:r>
              <a:rPr lang="en-US" dirty="0" smtClean="0">
                <a:solidFill>
                  <a:srgbClr val="FF0066"/>
                </a:solidFill>
              </a:rPr>
              <a:t>9.</a:t>
            </a:r>
            <a:r>
              <a:rPr lang="en-US" dirty="0" smtClean="0">
                <a:solidFill>
                  <a:srgbClr val="800080"/>
                </a:solidFill>
              </a:rPr>
              <a:t> Plan to non plan not admissible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en-US" dirty="0" smtClean="0">
                <a:solidFill>
                  <a:srgbClr val="FF0066"/>
                </a:solidFill>
              </a:rPr>
              <a:t>10.</a:t>
            </a:r>
            <a:r>
              <a:rPr lang="en-US" dirty="0" smtClean="0">
                <a:solidFill>
                  <a:srgbClr val="800080"/>
                </a:solidFill>
              </a:rPr>
              <a:t> Central to centrally sponsored schemes 	grants 	should not be diverted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b="1" u="sng" dirty="0" smtClean="0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buNone/>
            </a:pPr>
            <a:endParaRPr lang="en-US" b="1" u="sng" dirty="0" smtClean="0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buNone/>
            </a:pPr>
            <a:endParaRPr lang="en-US" b="1" u="sng" dirty="0" smtClean="0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buNone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Thank You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829</TotalTime>
  <Words>1433</Words>
  <Application>Microsoft Office PowerPoint</Application>
  <PresentationFormat>On-screen Show (4:3)</PresentationFormat>
  <Paragraphs>358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Solstice</vt:lpstr>
      <vt:lpstr>Preparation of Annual Budget, Revision &amp; Budget Control </vt:lpstr>
      <vt:lpstr>BUDGET</vt:lpstr>
      <vt:lpstr>DEFINITION :      Annual financial statement              It is a statement of estimated receipts    and expenditure of each financial year.    It is a mechanism to have a financial     control in the government system. </vt:lpstr>
      <vt:lpstr>Slide 4</vt:lpstr>
      <vt:lpstr>BUDGET CALENDAR</vt:lpstr>
      <vt:lpstr>STRUCTURE OF THE BUDGET</vt:lpstr>
      <vt:lpstr>I.  Consolidated   Fund  :  comprises      1) all revenues received by government      2) all loans raised by government      3) all moneys received by govt. in repayment of loans Divided   into   3   as   shown  :-  </vt:lpstr>
      <vt:lpstr>II.  CONTINGENCY     FUND</vt:lpstr>
      <vt:lpstr>Public  account</vt:lpstr>
      <vt:lpstr>Slide 10</vt:lpstr>
      <vt:lpstr>Structure of Accounts &amp; Estimates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A. Regular budget                                           Budget for 2020-21 </vt:lpstr>
      <vt:lpstr>Slide 38</vt:lpstr>
      <vt:lpstr>Slide 39</vt:lpstr>
      <vt:lpstr>Slide 40</vt:lpstr>
      <vt:lpstr>Slide 41</vt:lpstr>
      <vt:lpstr>B. Establishment budget :</vt:lpstr>
      <vt:lpstr>B. Establishment budget :-  Appendix  ‘B’ Generally, </vt:lpstr>
      <vt:lpstr>B. Establishment budget :- Appendix  ‘B’ Generally, </vt:lpstr>
      <vt:lpstr>B. Establishment budget :- Appendix  ‘B’ Generally, </vt:lpstr>
      <vt:lpstr>Appendix ‘B’ will be prepared in the following formats –</vt:lpstr>
      <vt:lpstr>Appendix ‘B’ will be prepared in the following formats –</vt:lpstr>
      <vt:lpstr>Appendix ‘B’ will be prepared in the following formats –</vt:lpstr>
      <vt:lpstr>Appendix ‘B’ will be prepared in the following formats –</vt:lpstr>
      <vt:lpstr>Appendix ‘B’ will be prepared in the following formats –</vt:lpstr>
      <vt:lpstr>Appendix ‘B’ will be prepared in the following formats –</vt:lpstr>
      <vt:lpstr>Appendix ‘B’ will be prepared in the following formats –</vt:lpstr>
      <vt:lpstr>Slide 53</vt:lpstr>
      <vt:lpstr>Slide 54</vt:lpstr>
      <vt:lpstr>Slide 55</vt:lpstr>
      <vt:lpstr>Slide 56</vt:lpstr>
      <vt:lpstr>Slide 57</vt:lpstr>
      <vt:lpstr>Slide 58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:      Annual financial statement              It is a statement of estimated receipts    and expenditure of each financial year.    It is a mechanism to have a financial     control in the government system. </dc:title>
  <dc:creator>ACER</dc:creator>
  <cp:lastModifiedBy>ACER</cp:lastModifiedBy>
  <cp:revision>33</cp:revision>
  <dcterms:created xsi:type="dcterms:W3CDTF">2006-08-16T00:00:00Z</dcterms:created>
  <dcterms:modified xsi:type="dcterms:W3CDTF">2025-12-12T06:55:44Z</dcterms:modified>
</cp:coreProperties>
</file>