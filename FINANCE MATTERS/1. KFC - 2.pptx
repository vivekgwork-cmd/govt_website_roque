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8"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A5A02D7-B7B2-4BCF-9EAB-C36A9DAAF930}" type="datetimeFigureOut">
              <a:rPr lang="en-US" smtClean="0"/>
              <a:t>8/12/2024</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E05BDCB4-86E3-4394-A9F1-D0F8ED9EB42F}" type="slidenum">
              <a:rPr lang="en-US" smtClean="0"/>
              <a:t>‹#›</a:t>
            </a:fld>
            <a:endParaRPr lang="en-US"/>
          </a:p>
        </p:txBody>
      </p:sp>
    </p:spTree>
    <p:extLst>
      <p:ext uri="{BB962C8B-B14F-4D97-AF65-F5344CB8AC3E}">
        <p14:creationId xmlns:p14="http://schemas.microsoft.com/office/powerpoint/2010/main" val="1605808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A5A02D7-B7B2-4BCF-9EAB-C36A9DAAF930}" type="datetimeFigureOut">
              <a:rPr lang="en-US" smtClean="0"/>
              <a:t>8/12/2024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5BDCB4-86E3-4394-A9F1-D0F8ED9EB42F}" type="slidenum">
              <a:rPr lang="en-US" smtClean="0"/>
              <a:t>‹#›</a:t>
            </a:fld>
            <a:endParaRPr lang="en-US"/>
          </a:p>
        </p:txBody>
      </p:sp>
    </p:spTree>
    <p:extLst>
      <p:ext uri="{BB962C8B-B14F-4D97-AF65-F5344CB8AC3E}">
        <p14:creationId xmlns:p14="http://schemas.microsoft.com/office/powerpoint/2010/main" val="1992497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smtClean="0"/>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BA5A02D7-B7B2-4BCF-9EAB-C36A9DAAF930}" type="datetimeFigureOut">
              <a:rPr lang="en-US" smtClean="0"/>
              <a:t>8/12/2024</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E05BDCB4-86E3-4394-A9F1-D0F8ED9EB42F}" type="slidenum">
              <a:rPr lang="en-US" smtClean="0"/>
              <a:t>‹#›</a:t>
            </a:fld>
            <a:endParaRPr lang="en-US"/>
          </a:p>
        </p:txBody>
      </p:sp>
    </p:spTree>
    <p:extLst>
      <p:ext uri="{BB962C8B-B14F-4D97-AF65-F5344CB8AC3E}">
        <p14:creationId xmlns:p14="http://schemas.microsoft.com/office/powerpoint/2010/main" val="2253173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A5A02D7-B7B2-4BCF-9EAB-C36A9DAAF930}"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5BDCB4-86E3-4394-A9F1-D0F8ED9EB42F}" type="slidenum">
              <a:rPr lang="en-US" smtClean="0"/>
              <a:t>‹#›</a:t>
            </a:fld>
            <a:endParaRPr lang="en-US"/>
          </a:p>
        </p:txBody>
      </p:sp>
    </p:spTree>
    <p:extLst>
      <p:ext uri="{BB962C8B-B14F-4D97-AF65-F5344CB8AC3E}">
        <p14:creationId xmlns:p14="http://schemas.microsoft.com/office/powerpoint/2010/main" val="953451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A5A02D7-B7B2-4BCF-9EAB-C36A9DAAF930}" type="datetimeFigureOut">
              <a:rPr lang="en-US" smtClean="0"/>
              <a:t>8/12/2024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5BDCB4-86E3-4394-A9F1-D0F8ED9EB42F}" type="slidenum">
              <a:rPr lang="en-US" smtClean="0"/>
              <a:t>‹#›</a:t>
            </a:fld>
            <a:endParaRPr lang="en-US"/>
          </a:p>
        </p:txBody>
      </p:sp>
    </p:spTree>
    <p:extLst>
      <p:ext uri="{BB962C8B-B14F-4D97-AF65-F5344CB8AC3E}">
        <p14:creationId xmlns:p14="http://schemas.microsoft.com/office/powerpoint/2010/main" val="2635673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BA5A02D7-B7B2-4BCF-9EAB-C36A9DAAF930}" type="datetimeFigureOut">
              <a:rPr lang="en-US" smtClean="0"/>
              <a:t>8/12/2024</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E05BDCB4-86E3-4394-A9F1-D0F8ED9EB42F}" type="slidenum">
              <a:rPr lang="en-US" smtClean="0"/>
              <a:t>‹#›</a:t>
            </a:fld>
            <a:endParaRPr lang="en-US"/>
          </a:p>
        </p:txBody>
      </p:sp>
    </p:spTree>
    <p:extLst>
      <p:ext uri="{BB962C8B-B14F-4D97-AF65-F5344CB8AC3E}">
        <p14:creationId xmlns:p14="http://schemas.microsoft.com/office/powerpoint/2010/main" val="4201463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5A02D7-B7B2-4BCF-9EAB-C36A9DAAF930}" type="datetimeFigureOut">
              <a:rPr lang="en-US" smtClean="0"/>
              <a:t>8/12/2024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5BDCB4-86E3-4394-A9F1-D0F8ED9EB42F}" type="slidenum">
              <a:rPr lang="en-US" smtClean="0"/>
              <a:t>‹#›</a:t>
            </a:fld>
            <a:endParaRPr lang="en-US"/>
          </a:p>
        </p:txBody>
      </p:sp>
    </p:spTree>
    <p:extLst>
      <p:ext uri="{BB962C8B-B14F-4D97-AF65-F5344CB8AC3E}">
        <p14:creationId xmlns:p14="http://schemas.microsoft.com/office/powerpoint/2010/main" val="1252971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BA5A02D7-B7B2-4BCF-9EAB-C36A9DAAF930}" type="datetimeFigureOut">
              <a:rPr lang="en-US" smtClean="0"/>
              <a:t>8/12/2024</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E05BDCB4-86E3-4394-A9F1-D0F8ED9EB42F}" type="slidenum">
              <a:rPr lang="en-US" smtClean="0"/>
              <a:t>‹#›</a:t>
            </a:fld>
            <a:endParaRPr lang="en-US"/>
          </a:p>
        </p:txBody>
      </p:sp>
    </p:spTree>
    <p:extLst>
      <p:ext uri="{BB962C8B-B14F-4D97-AF65-F5344CB8AC3E}">
        <p14:creationId xmlns:p14="http://schemas.microsoft.com/office/powerpoint/2010/main" val="3753427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BA5A02D7-B7B2-4BCF-9EAB-C36A9DAAF930}" type="datetimeFigureOut">
              <a:rPr lang="en-US" smtClean="0"/>
              <a:t>8/12/2024</a:t>
            </a:fld>
            <a:endParaRPr lang="en-US"/>
          </a:p>
        </p:txBody>
      </p:sp>
      <p:sp>
        <p:nvSpPr>
          <p:cNvPr id="10" name="Slide Number Placeholder 9"/>
          <p:cNvSpPr>
            <a:spLocks noGrp="1"/>
          </p:cNvSpPr>
          <p:nvPr>
            <p:ph type="sldNum" sz="quarter" idx="12"/>
          </p:nvPr>
        </p:nvSpPr>
        <p:spPr/>
        <p:txBody>
          <a:bodyPr/>
          <a:lstStyle/>
          <a:p>
            <a:fld id="{E05BDCB4-86E3-4394-A9F1-D0F8ED9EB42F}" type="slidenum">
              <a:rPr lang="en-US" smtClean="0"/>
              <a:t>‹#›</a:t>
            </a:fld>
            <a:endParaRPr lang="en-US"/>
          </a:p>
        </p:txBody>
      </p:sp>
    </p:spTree>
    <p:extLst>
      <p:ext uri="{BB962C8B-B14F-4D97-AF65-F5344CB8AC3E}">
        <p14:creationId xmlns:p14="http://schemas.microsoft.com/office/powerpoint/2010/main" val="138403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A5A02D7-B7B2-4BCF-9EAB-C36A9DAAF930}" type="datetimeFigureOut">
              <a:rPr lang="en-US" smtClean="0"/>
              <a:t>8/12/2024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5BDCB4-86E3-4394-A9F1-D0F8ED9EB42F}" type="slidenum">
              <a:rPr lang="en-US" smtClean="0"/>
              <a:t>‹#›</a:t>
            </a:fld>
            <a:endParaRPr lang="en-US"/>
          </a:p>
        </p:txBody>
      </p:sp>
    </p:spTree>
    <p:extLst>
      <p:ext uri="{BB962C8B-B14F-4D97-AF65-F5344CB8AC3E}">
        <p14:creationId xmlns:p14="http://schemas.microsoft.com/office/powerpoint/2010/main" val="2929101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A5A02D7-B7B2-4BCF-9EAB-C36A9DAAF930}" type="datetimeFigureOut">
              <a:rPr lang="en-US" smtClean="0"/>
              <a:t>8/12/2024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5BDCB4-86E3-4394-A9F1-D0F8ED9EB42F}" type="slidenum">
              <a:rPr lang="en-US" smtClean="0"/>
              <a:t>‹#›</a:t>
            </a:fld>
            <a:endParaRPr lang="en-US"/>
          </a:p>
        </p:txBody>
      </p:sp>
    </p:spTree>
    <p:extLst>
      <p:ext uri="{BB962C8B-B14F-4D97-AF65-F5344CB8AC3E}">
        <p14:creationId xmlns:p14="http://schemas.microsoft.com/office/powerpoint/2010/main" val="888994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BA5A02D7-B7B2-4BCF-9EAB-C36A9DAAF930}" type="datetimeFigureOut">
              <a:rPr lang="en-US" smtClean="0"/>
              <a:t>8/12/2024</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E05BDCB4-86E3-4394-A9F1-D0F8ED9EB42F}" type="slidenum">
              <a:rPr lang="en-US" smtClean="0"/>
              <a:t>‹#›</a:t>
            </a:fld>
            <a:endParaRPr lang="en-US"/>
          </a:p>
        </p:txBody>
      </p:sp>
    </p:spTree>
    <p:extLst>
      <p:ext uri="{BB962C8B-B14F-4D97-AF65-F5344CB8AC3E}">
        <p14:creationId xmlns:p14="http://schemas.microsoft.com/office/powerpoint/2010/main" val="845209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828801"/>
            <a:ext cx="8001000" cy="2057400"/>
          </a:xfrm>
        </p:spPr>
        <p:txBody>
          <a:bodyPr/>
          <a:lstStyle/>
          <a:p>
            <a:r>
              <a:rPr lang="en-US" sz="4800" dirty="0" smtClean="0">
                <a:solidFill>
                  <a:srgbClr val="002060"/>
                </a:solidFill>
              </a:rPr>
              <a:t>Karnataka Financial Code -1958</a:t>
            </a:r>
            <a:r>
              <a:rPr lang="en-US" dirty="0" smtClean="0"/>
              <a:t/>
            </a:r>
            <a:br>
              <a:rPr lang="en-US" dirty="0" smtClean="0"/>
            </a:br>
            <a:r>
              <a:rPr lang="en-US" dirty="0" smtClean="0"/>
              <a:t/>
            </a:r>
            <a:br>
              <a:rPr lang="en-US" dirty="0" smtClean="0"/>
            </a:br>
            <a:r>
              <a:rPr lang="en-US" sz="5400" b="1" dirty="0" smtClean="0"/>
              <a:t>CASH BOOK</a:t>
            </a:r>
            <a:endParaRPr lang="en-US" sz="5400" b="1" dirty="0"/>
          </a:p>
        </p:txBody>
      </p:sp>
      <p:sp>
        <p:nvSpPr>
          <p:cNvPr id="3" name="Subtitle 2"/>
          <p:cNvSpPr>
            <a:spLocks noGrp="1"/>
          </p:cNvSpPr>
          <p:nvPr>
            <p:ph type="subTitle" idx="1"/>
          </p:nvPr>
        </p:nvSpPr>
        <p:spPr>
          <a:xfrm>
            <a:off x="762000" y="4724400"/>
            <a:ext cx="6553200" cy="1478280"/>
          </a:xfrm>
        </p:spPr>
        <p:txBody>
          <a:bodyPr>
            <a:normAutofit/>
          </a:bodyPr>
          <a:lstStyle/>
          <a:p>
            <a:r>
              <a:rPr lang="en-US" sz="2400" dirty="0" smtClean="0">
                <a:solidFill>
                  <a:srgbClr val="FF0000"/>
                </a:solidFill>
              </a:rPr>
              <a:t>MAINTAINENCE OF CASH BOOK IN      	GOVERNMENT OFFICES </a:t>
            </a:r>
          </a:p>
          <a:p>
            <a:r>
              <a:rPr lang="en-US" sz="2400" dirty="0" smtClean="0">
                <a:solidFill>
                  <a:srgbClr val="002060"/>
                </a:solidFill>
              </a:rPr>
              <a:t>CHAPTER-XX Article 327 to 332 </a:t>
            </a:r>
            <a:endParaRPr lang="en-US" sz="2400" dirty="0">
              <a:solidFill>
                <a:srgbClr val="00206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Maintenance of Cash Book.......</a:t>
            </a:r>
            <a:endParaRPr lang="en-US" u="sng" dirty="0"/>
          </a:p>
        </p:txBody>
      </p:sp>
      <p:sp>
        <p:nvSpPr>
          <p:cNvPr id="3" name="Content Placeholder 2"/>
          <p:cNvSpPr>
            <a:spLocks noGrp="1"/>
          </p:cNvSpPr>
          <p:nvPr>
            <p:ph idx="1"/>
          </p:nvPr>
        </p:nvSpPr>
        <p:spPr/>
        <p:txBody>
          <a:bodyPr/>
          <a:lstStyle/>
          <a:p>
            <a:pPr algn="just"/>
            <a:r>
              <a:rPr lang="en-US" dirty="0" smtClean="0"/>
              <a:t>Every Govt.servant is responsible for the safe custody money received or dispursed in official capacity. The concerned should maintain  proper accounts as prescribed from the govt. from time to time. To check the correctness of  disposal of money,  payment into treasury, disbursement of pay, contingencies, TA etc., the cash book should be maintained. (KFC-328)</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Maintenance of Cash Book.......</a:t>
            </a:r>
            <a:endParaRPr lang="en-US" u="sng" dirty="0"/>
          </a:p>
        </p:txBody>
      </p:sp>
      <p:sp>
        <p:nvSpPr>
          <p:cNvPr id="3" name="Content Placeholder 2"/>
          <p:cNvSpPr>
            <a:spLocks noGrp="1"/>
          </p:cNvSpPr>
          <p:nvPr>
            <p:ph idx="1"/>
          </p:nvPr>
        </p:nvSpPr>
        <p:spPr/>
        <p:txBody>
          <a:bodyPr>
            <a:normAutofit/>
          </a:bodyPr>
          <a:lstStyle/>
          <a:p>
            <a:pPr algn="just"/>
            <a:r>
              <a:rPr lang="en-US" u="sng" dirty="0" smtClean="0"/>
              <a:t>Every officer one who handle cash, should follow these rules and authorised departmental regulations</a:t>
            </a:r>
            <a:r>
              <a:rPr lang="en-US" dirty="0" smtClean="0"/>
              <a:t>.</a:t>
            </a:r>
          </a:p>
          <a:p>
            <a:pPr algn="just"/>
            <a:r>
              <a:rPr lang="en-US" dirty="0" smtClean="0"/>
              <a:t>i) Maintain a cash book </a:t>
            </a:r>
          </a:p>
          <a:p>
            <a:pPr algn="just"/>
            <a:r>
              <a:rPr lang="en-US" dirty="0" smtClean="0"/>
              <a:t>ii) All monetary transactions(Receipts &amp; Payments) should be entered in cash book as soon as they occur and attested by HOO</a:t>
            </a:r>
          </a:p>
          <a:p>
            <a:pPr algn="just"/>
            <a:r>
              <a:rPr lang="en-US" dirty="0" smtClean="0"/>
              <a:t>Iii)The cash book regularly closed at the end of the day and completely checked</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Maintenance of Cash Book.......</a:t>
            </a:r>
            <a:endParaRPr lang="en-US" u="sng" dirty="0"/>
          </a:p>
        </p:txBody>
      </p:sp>
      <p:sp>
        <p:nvSpPr>
          <p:cNvPr id="3" name="Content Placeholder 2"/>
          <p:cNvSpPr>
            <a:spLocks noGrp="1"/>
          </p:cNvSpPr>
          <p:nvPr>
            <p:ph idx="1"/>
          </p:nvPr>
        </p:nvSpPr>
        <p:spPr/>
        <p:txBody>
          <a:bodyPr>
            <a:normAutofit/>
          </a:bodyPr>
          <a:lstStyle/>
          <a:p>
            <a:pPr algn="just"/>
            <a:r>
              <a:rPr lang="en-US" dirty="0"/>
              <a:t>i</a:t>
            </a:r>
            <a:r>
              <a:rPr lang="en-US" dirty="0" smtClean="0"/>
              <a:t>v) At the end of each month, the HOO should verify the cash balance and record a signed and dated certificate in the cash book , along with subsidiary registers. A certificate stating that the book balance of cash book is physically agreed. The balance struck at the end of each day and at the end of the month written both in figure and words  </a:t>
            </a:r>
          </a:p>
          <a:p>
            <a:pPr algn="just"/>
            <a:r>
              <a:rPr lang="en-US" dirty="0" smtClean="0"/>
              <a:t>V) The cash balance in cash book counted at convenient intervals, the balance shown in cash book is physically matched with.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Maintenance of Cash Book.......</a:t>
            </a:r>
            <a:endParaRPr lang="en-US" u="sng" dirty="0"/>
          </a:p>
        </p:txBody>
      </p:sp>
      <p:sp>
        <p:nvSpPr>
          <p:cNvPr id="3" name="Content Placeholder 2"/>
          <p:cNvSpPr>
            <a:spLocks noGrp="1"/>
          </p:cNvSpPr>
          <p:nvPr>
            <p:ph idx="1"/>
          </p:nvPr>
        </p:nvSpPr>
        <p:spPr/>
        <p:txBody>
          <a:bodyPr/>
          <a:lstStyle/>
          <a:p>
            <a:pPr algn="just"/>
            <a:r>
              <a:rPr lang="en-US" dirty="0" smtClean="0"/>
              <a:t>vi) when Govt. moneys are in the custody of a Government Officer are paid into Treasury/Bank the officer should compare with the concerned challan(counterfoil) / remittence register / passbook before signing the cash book for accuracy and for his satisfaction. The treaury schedules are also cross verified by the concerned HOO for amounts credited to treasury/bank</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Maintenance of Cash Book.......</a:t>
            </a:r>
            <a:endParaRPr lang="en-US" u="sng" dirty="0"/>
          </a:p>
        </p:txBody>
      </p:sp>
      <p:sp>
        <p:nvSpPr>
          <p:cNvPr id="3" name="Content Placeholder 2"/>
          <p:cNvSpPr>
            <a:spLocks noGrp="1"/>
          </p:cNvSpPr>
          <p:nvPr>
            <p:ph idx="1"/>
          </p:nvPr>
        </p:nvSpPr>
        <p:spPr/>
        <p:txBody>
          <a:bodyPr>
            <a:normAutofit/>
          </a:bodyPr>
          <a:lstStyle/>
          <a:p>
            <a:pPr algn="just"/>
            <a:r>
              <a:rPr lang="en-US" dirty="0" smtClean="0"/>
              <a:t>vii) An erasure or over writing of an entry once made in cash book is strictly prohibited.</a:t>
            </a:r>
          </a:p>
          <a:p>
            <a:pPr algn="just"/>
            <a:r>
              <a:rPr lang="en-US" dirty="0"/>
              <a:t>v</a:t>
            </a:r>
            <a:r>
              <a:rPr lang="en-US" dirty="0" smtClean="0"/>
              <a:t>iii) The  separate cash book, seperate cash box and  seperate accounts are maintained for Government and Non-Governmental money.</a:t>
            </a:r>
          </a:p>
          <a:p>
            <a:pPr algn="just"/>
            <a:r>
              <a:rPr lang="en-US" dirty="0" smtClean="0"/>
              <a:t>ix) When it is absolutely necessary peons of some length of service and proved trustworthiness should only be selected to fetch or carry money(KFC-329)</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Maintenance of Cash Book.......</a:t>
            </a:r>
            <a:endParaRPr lang="en-US" u="sng" dirty="0"/>
          </a:p>
        </p:txBody>
      </p:sp>
      <p:sp>
        <p:nvSpPr>
          <p:cNvPr id="3" name="Content Placeholder 2"/>
          <p:cNvSpPr>
            <a:spLocks noGrp="1"/>
          </p:cNvSpPr>
          <p:nvPr>
            <p:ph idx="1"/>
          </p:nvPr>
        </p:nvSpPr>
        <p:spPr/>
        <p:txBody>
          <a:bodyPr>
            <a:normAutofit/>
          </a:bodyPr>
          <a:lstStyle/>
          <a:p>
            <a:r>
              <a:rPr lang="en-US" u="sng" dirty="0" smtClean="0"/>
              <a:t>For cash transactions following registers are maintained</a:t>
            </a:r>
          </a:p>
          <a:p>
            <a:r>
              <a:rPr lang="en-US" dirty="0" smtClean="0"/>
              <a:t>1) Cash Book</a:t>
            </a:r>
          </a:p>
          <a:p>
            <a:r>
              <a:rPr lang="en-US" dirty="0" smtClean="0"/>
              <a:t>2) General ledger</a:t>
            </a:r>
          </a:p>
          <a:p>
            <a:r>
              <a:rPr lang="en-US" dirty="0" smtClean="0"/>
              <a:t>3) Remittance Book(KFC-61)</a:t>
            </a:r>
          </a:p>
          <a:p>
            <a:r>
              <a:rPr lang="en-US" dirty="0" smtClean="0"/>
              <a:t>4) Acquittance roll (KFC-9)</a:t>
            </a:r>
          </a:p>
          <a:p>
            <a:r>
              <a:rPr lang="en-US" dirty="0" smtClean="0"/>
              <a:t>5) Order Book (MCE Rule-9)</a:t>
            </a:r>
          </a:p>
          <a:p>
            <a:r>
              <a:rPr lang="en-US" dirty="0" smtClean="0"/>
              <a:t>6) Contingent Register (MCE Form-1)</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Maintenance of Cash Book.......</a:t>
            </a:r>
            <a:endParaRPr lang="en-US" u="sng" dirty="0"/>
          </a:p>
        </p:txBody>
      </p:sp>
      <p:sp>
        <p:nvSpPr>
          <p:cNvPr id="3" name="Content Placeholder 2"/>
          <p:cNvSpPr>
            <a:spLocks noGrp="1"/>
          </p:cNvSpPr>
          <p:nvPr>
            <p:ph idx="1"/>
          </p:nvPr>
        </p:nvSpPr>
        <p:spPr/>
        <p:txBody>
          <a:bodyPr>
            <a:normAutofit/>
          </a:bodyPr>
          <a:lstStyle/>
          <a:p>
            <a:r>
              <a:rPr lang="en-US" dirty="0" smtClean="0"/>
              <a:t>The term cash includes coins, currency notes, cheques, DD, RTR.(KFC-330)</a:t>
            </a:r>
          </a:p>
          <a:p>
            <a:pPr algn="just"/>
            <a:r>
              <a:rPr lang="en-US" dirty="0" smtClean="0"/>
              <a:t>The cash book shall be a substantially bound volume containing a sufficient number of pages to record at least one year’s transactions. It shall be carefully examined with regard to the numbering of pages (the page number being printed) before being brought to use. The book should be in the foollowing Form.</a:t>
            </a:r>
          </a:p>
          <a:p>
            <a:pPr algn="just"/>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Cash Book Form</a:t>
            </a:r>
            <a:endParaRPr lang="en-US" u="sng" dirty="0"/>
          </a:p>
        </p:txBody>
      </p:sp>
      <p:sp>
        <p:nvSpPr>
          <p:cNvPr id="3" name="Content Placeholder 2"/>
          <p:cNvSpPr>
            <a:spLocks noGrp="1"/>
          </p:cNvSpPr>
          <p:nvPr>
            <p:ph idx="1"/>
          </p:nvPr>
        </p:nvSpPr>
        <p:spPr/>
        <p:txBody>
          <a:bodyPr/>
          <a:lstStyle/>
          <a:p>
            <a:r>
              <a:rPr lang="en-US" dirty="0" smtClean="0"/>
              <a:t>                                 </a:t>
            </a:r>
            <a:r>
              <a:rPr lang="en-US" i="1" u="sng" dirty="0" smtClean="0"/>
              <a:t>RECEIPTS</a:t>
            </a:r>
          </a:p>
          <a:p>
            <a:endParaRPr lang="en-US" dirty="0"/>
          </a:p>
        </p:txBody>
      </p:sp>
      <p:graphicFrame>
        <p:nvGraphicFramePr>
          <p:cNvPr id="4" name="Table 3"/>
          <p:cNvGraphicFramePr>
            <a:graphicFrameLocks noGrp="1"/>
          </p:cNvGraphicFramePr>
          <p:nvPr/>
        </p:nvGraphicFramePr>
        <p:xfrm>
          <a:off x="762000" y="2514600"/>
          <a:ext cx="7696200" cy="30480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899160">
                  <a:extLst>
                    <a:ext uri="{9D8B030D-6E8A-4147-A177-3AD203B41FA5}">
                      <a16:colId xmlns:a16="http://schemas.microsoft.com/office/drawing/2014/main" val="20007"/>
                    </a:ext>
                  </a:extLst>
                </a:gridCol>
                <a:gridCol w="769620">
                  <a:extLst>
                    <a:ext uri="{9D8B030D-6E8A-4147-A177-3AD203B41FA5}">
                      <a16:colId xmlns:a16="http://schemas.microsoft.com/office/drawing/2014/main" val="20008"/>
                    </a:ext>
                  </a:extLst>
                </a:gridCol>
                <a:gridCol w="769620">
                  <a:extLst>
                    <a:ext uri="{9D8B030D-6E8A-4147-A177-3AD203B41FA5}">
                      <a16:colId xmlns:a16="http://schemas.microsoft.com/office/drawing/2014/main" val="20009"/>
                    </a:ext>
                  </a:extLst>
                </a:gridCol>
              </a:tblGrid>
              <a:tr h="1524000">
                <a:tc rowSpan="2">
                  <a:txBody>
                    <a:bodyPr/>
                    <a:lstStyle/>
                    <a:p>
                      <a:pPr algn="ctr"/>
                      <a:r>
                        <a:rPr lang="en-US" sz="1000" dirty="0" smtClean="0"/>
                        <a:t>DATE</a:t>
                      </a:r>
                      <a:endParaRPr lang="en-US" sz="1000" dirty="0"/>
                    </a:p>
                  </a:txBody>
                  <a:tcPr/>
                </a:tc>
                <a:tc rowSpan="2">
                  <a:txBody>
                    <a:bodyPr/>
                    <a:lstStyle/>
                    <a:p>
                      <a:pPr algn="ctr"/>
                      <a:r>
                        <a:rPr lang="en-US" sz="1000" dirty="0" smtClean="0"/>
                        <a:t>RECEIPT NO</a:t>
                      </a:r>
                      <a:endParaRPr lang="en-US" sz="1000" dirty="0"/>
                    </a:p>
                  </a:txBody>
                  <a:tcPr/>
                </a:tc>
                <a:tc rowSpan="2">
                  <a:txBody>
                    <a:bodyPr/>
                    <a:lstStyle/>
                    <a:p>
                      <a:pPr algn="ctr"/>
                      <a:r>
                        <a:rPr lang="en-US" sz="1000" dirty="0" smtClean="0"/>
                        <a:t>PARTICULARS </a:t>
                      </a:r>
                    </a:p>
                    <a:p>
                      <a:pPr algn="ctr"/>
                      <a:r>
                        <a:rPr lang="en-US" sz="1000" dirty="0" smtClean="0"/>
                        <a:t>OF </a:t>
                      </a:r>
                    </a:p>
                    <a:p>
                      <a:pPr algn="ctr"/>
                      <a:r>
                        <a:rPr lang="en-US" sz="1000" dirty="0" smtClean="0"/>
                        <a:t>RECEIPTS</a:t>
                      </a:r>
                      <a:endParaRPr lang="en-US" sz="1000" dirty="0"/>
                    </a:p>
                  </a:txBody>
                  <a:tcPr/>
                </a:tc>
                <a:tc gridSpan="2">
                  <a:txBody>
                    <a:bodyPr/>
                    <a:lstStyle/>
                    <a:p>
                      <a:pPr algn="ctr"/>
                      <a:r>
                        <a:rPr lang="en-US" sz="1000" dirty="0" smtClean="0"/>
                        <a:t>SALARY</a:t>
                      </a:r>
                      <a:endParaRPr lang="en-US" sz="1000" dirty="0"/>
                    </a:p>
                  </a:txBody>
                  <a:tcPr/>
                </a:tc>
                <a:tc hMerge="1">
                  <a:txBody>
                    <a:bodyPr/>
                    <a:lstStyle/>
                    <a:p>
                      <a:endParaRPr lang="en-US"/>
                    </a:p>
                  </a:txBody>
                  <a:tcPr/>
                </a:tc>
                <a:tc rowSpan="2">
                  <a:txBody>
                    <a:bodyPr/>
                    <a:lstStyle/>
                    <a:p>
                      <a:pPr algn="ctr"/>
                      <a:r>
                        <a:rPr lang="en-US" sz="1000" dirty="0" smtClean="0"/>
                        <a:t>TA</a:t>
                      </a:r>
                      <a:endParaRPr lang="en-US" sz="1000" dirty="0"/>
                    </a:p>
                  </a:txBody>
                  <a:tcPr/>
                </a:tc>
                <a:tc gridSpan="2">
                  <a:txBody>
                    <a:bodyPr/>
                    <a:lstStyle/>
                    <a:p>
                      <a:pPr algn="ctr"/>
                      <a:r>
                        <a:rPr lang="en-US" sz="1000" dirty="0" smtClean="0"/>
                        <a:t>CONTINGENCIES</a:t>
                      </a:r>
                      <a:endParaRPr lang="en-US" sz="1000" dirty="0"/>
                    </a:p>
                  </a:txBody>
                  <a:tcPr/>
                </a:tc>
                <a:tc hMerge="1">
                  <a:txBody>
                    <a:bodyPr/>
                    <a:lstStyle/>
                    <a:p>
                      <a:pPr algn="ctr"/>
                      <a:endParaRPr lang="en-US" sz="1000" dirty="0"/>
                    </a:p>
                  </a:txBody>
                  <a:tcPr/>
                </a:tc>
                <a:tc rowSpan="2">
                  <a:txBody>
                    <a:bodyPr/>
                    <a:lstStyle/>
                    <a:p>
                      <a:pPr algn="ctr"/>
                      <a:r>
                        <a:rPr lang="en-US" sz="1000" dirty="0" smtClean="0"/>
                        <a:t>TOTAL </a:t>
                      </a:r>
                      <a:endParaRPr lang="en-US" sz="1000" dirty="0"/>
                    </a:p>
                  </a:txBody>
                  <a:tcPr/>
                </a:tc>
                <a:tc rowSpan="2">
                  <a:txBody>
                    <a:bodyPr/>
                    <a:lstStyle/>
                    <a:p>
                      <a:pPr algn="ctr"/>
                      <a:r>
                        <a:rPr lang="en-US" sz="1000" dirty="0" smtClean="0"/>
                        <a:t>HOA &amp; INITIALS</a:t>
                      </a:r>
                      <a:endParaRPr lang="en-US" sz="1000" dirty="0"/>
                    </a:p>
                  </a:txBody>
                  <a:tcPr/>
                </a:tc>
                <a:extLst>
                  <a:ext uri="{0D108BD9-81ED-4DB2-BD59-A6C34878D82A}">
                    <a16:rowId xmlns:a16="http://schemas.microsoft.com/office/drawing/2014/main" val="10000"/>
                  </a:ext>
                </a:extLst>
              </a:tr>
              <a:tr h="76200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pPr algn="ctr"/>
                      <a:r>
                        <a:rPr lang="en-US" sz="1000" dirty="0" smtClean="0"/>
                        <a:t>PAY</a:t>
                      </a:r>
                      <a:endParaRPr lang="en-US" sz="1000" dirty="0"/>
                    </a:p>
                  </a:txBody>
                  <a:tcPr/>
                </a:tc>
                <a:tc>
                  <a:txBody>
                    <a:bodyPr/>
                    <a:lstStyle/>
                    <a:p>
                      <a:pPr algn="ctr"/>
                      <a:r>
                        <a:rPr lang="en-US" sz="1000" dirty="0" smtClean="0"/>
                        <a:t>ALLOWANCE</a:t>
                      </a:r>
                      <a:endParaRPr lang="en-US" sz="1000" dirty="0"/>
                    </a:p>
                  </a:txBody>
                  <a:tcPr/>
                </a:tc>
                <a:tc vMerge="1">
                  <a:txBody>
                    <a:bodyPr/>
                    <a:lstStyle/>
                    <a:p>
                      <a:endParaRPr lang="en-US" dirty="0"/>
                    </a:p>
                  </a:txBody>
                  <a:tcPr/>
                </a:tc>
                <a:tc>
                  <a:txBody>
                    <a:bodyPr/>
                    <a:lstStyle/>
                    <a:p>
                      <a:pPr algn="ctr"/>
                      <a:r>
                        <a:rPr lang="en-US" sz="1000" dirty="0" smtClean="0"/>
                        <a:t>PERMANENT</a:t>
                      </a:r>
                    </a:p>
                    <a:p>
                      <a:pPr algn="ctr"/>
                      <a:r>
                        <a:rPr lang="en-US" sz="1000" dirty="0" smtClean="0"/>
                        <a:t> ADV</a:t>
                      </a:r>
                      <a:endParaRPr lang="en-US" sz="1000" dirty="0"/>
                    </a:p>
                  </a:txBody>
                  <a:tcPr/>
                </a:tc>
                <a:tc>
                  <a:txBody>
                    <a:bodyPr/>
                    <a:lstStyle/>
                    <a:p>
                      <a:pPr algn="ctr"/>
                      <a:r>
                        <a:rPr lang="en-US" sz="1000" dirty="0" smtClean="0"/>
                        <a:t>ADVANCE PAYMENTS</a:t>
                      </a:r>
                      <a:endParaRPr lang="en-US" sz="1000" dirty="0"/>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0001"/>
                  </a:ext>
                </a:extLst>
              </a:tr>
              <a:tr h="762000">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c>
                  <a:txBody>
                    <a:bodyPr/>
                    <a:lstStyle/>
                    <a:p>
                      <a:pPr algn="ctr"/>
                      <a:r>
                        <a:rPr lang="en-US" dirty="0" smtClean="0"/>
                        <a:t>4</a:t>
                      </a:r>
                      <a:endParaRPr lang="en-US" dirty="0"/>
                    </a:p>
                  </a:txBody>
                  <a:tcPr/>
                </a:tc>
                <a:tc>
                  <a:txBody>
                    <a:bodyPr/>
                    <a:lstStyle/>
                    <a:p>
                      <a:pPr algn="ctr"/>
                      <a:r>
                        <a:rPr lang="en-US" dirty="0" smtClean="0"/>
                        <a:t>5</a:t>
                      </a:r>
                      <a:endParaRPr lang="en-US" dirty="0"/>
                    </a:p>
                  </a:txBody>
                  <a:tcPr/>
                </a:tc>
                <a:tc>
                  <a:txBody>
                    <a:bodyPr/>
                    <a:lstStyle/>
                    <a:p>
                      <a:pPr algn="ctr"/>
                      <a:r>
                        <a:rPr lang="en-US" dirty="0" smtClean="0"/>
                        <a:t>6</a:t>
                      </a:r>
                      <a:endParaRPr lang="en-US" dirty="0"/>
                    </a:p>
                  </a:txBody>
                  <a:tcPr/>
                </a:tc>
                <a:tc>
                  <a:txBody>
                    <a:bodyPr/>
                    <a:lstStyle/>
                    <a:p>
                      <a:pPr algn="ctr"/>
                      <a:r>
                        <a:rPr lang="en-US" dirty="0" smtClean="0"/>
                        <a:t>7</a:t>
                      </a:r>
                      <a:endParaRPr lang="en-US" dirty="0"/>
                    </a:p>
                  </a:txBody>
                  <a:tcPr/>
                </a:tc>
                <a:tc>
                  <a:txBody>
                    <a:bodyPr/>
                    <a:lstStyle/>
                    <a:p>
                      <a:pPr algn="ctr"/>
                      <a:r>
                        <a:rPr lang="en-US" dirty="0" smtClean="0"/>
                        <a:t>8</a:t>
                      </a:r>
                      <a:endParaRPr lang="en-US" dirty="0"/>
                    </a:p>
                  </a:txBody>
                  <a:tcPr/>
                </a:tc>
                <a:tc>
                  <a:txBody>
                    <a:bodyPr/>
                    <a:lstStyle/>
                    <a:p>
                      <a:pPr algn="ctr"/>
                      <a:r>
                        <a:rPr lang="en-US" dirty="0" smtClean="0"/>
                        <a:t>9</a:t>
                      </a:r>
                      <a:endParaRPr lang="en-US" dirty="0"/>
                    </a:p>
                  </a:txBody>
                  <a:tcPr/>
                </a:tc>
                <a:tc>
                  <a:txBody>
                    <a:bodyPr/>
                    <a:lstStyle/>
                    <a:p>
                      <a:pPr algn="ctr"/>
                      <a:r>
                        <a:rPr lang="en-US" dirty="0" smtClean="0"/>
                        <a:t>10</a:t>
                      </a:r>
                      <a:endParaRPr lang="en-US" dirty="0"/>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36638"/>
          </a:xfrm>
        </p:spPr>
        <p:txBody>
          <a:bodyPr>
            <a:normAutofit fontScale="90000"/>
          </a:bodyPr>
          <a:lstStyle/>
          <a:p>
            <a:r>
              <a:rPr lang="en-US" dirty="0" smtClean="0"/>
              <a:t/>
            </a:r>
            <a:br>
              <a:rPr lang="en-US" dirty="0" smtClean="0"/>
            </a:br>
            <a:r>
              <a:rPr lang="en-US" dirty="0"/>
              <a:t/>
            </a:r>
            <a:br>
              <a:rPr lang="en-US" dirty="0"/>
            </a:br>
            <a:r>
              <a:rPr lang="en-US" u="sng" dirty="0" smtClean="0"/>
              <a:t>Cash Book Form</a:t>
            </a:r>
            <a:r>
              <a:rPr lang="en-US" dirty="0" smtClean="0"/>
              <a:t/>
            </a:r>
            <a:br>
              <a:rPr lang="en-US" dirty="0" smtClean="0"/>
            </a:b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                            </a:t>
            </a:r>
            <a:r>
              <a:rPr lang="en-US" i="1" u="sng" dirty="0" smtClean="0"/>
              <a:t>PAYMENTS</a:t>
            </a:r>
          </a:p>
          <a:p>
            <a:endParaRPr lang="en-US" dirty="0" smtClean="0"/>
          </a:p>
          <a:p>
            <a:endParaRPr lang="en-US" dirty="0"/>
          </a:p>
          <a:p>
            <a:endParaRPr lang="en-US" dirty="0" smtClean="0"/>
          </a:p>
          <a:p>
            <a:endParaRPr lang="en-US" dirty="0" smtClean="0"/>
          </a:p>
          <a:p>
            <a:endParaRPr lang="en-US" dirty="0" smtClean="0"/>
          </a:p>
          <a:p>
            <a:endParaRPr lang="en-US" dirty="0" smtClean="0"/>
          </a:p>
          <a:p>
            <a:endParaRPr lang="en-US" dirty="0" smtClean="0"/>
          </a:p>
          <a:p>
            <a:endParaRPr lang="en-US" dirty="0"/>
          </a:p>
          <a:p>
            <a:endParaRPr lang="en-US" dirty="0" smtClean="0"/>
          </a:p>
          <a:p>
            <a:endParaRPr lang="en-US" dirty="0" smtClean="0"/>
          </a:p>
          <a:p>
            <a:endParaRPr lang="en-US" dirty="0" smtClean="0"/>
          </a:p>
          <a:p>
            <a:endParaRPr lang="en-US" dirty="0"/>
          </a:p>
          <a:p>
            <a:endParaRPr lang="en-US" dirty="0"/>
          </a:p>
        </p:txBody>
      </p:sp>
      <p:graphicFrame>
        <p:nvGraphicFramePr>
          <p:cNvPr id="4" name="Table 3"/>
          <p:cNvGraphicFramePr>
            <a:graphicFrameLocks noGrp="1"/>
          </p:cNvGraphicFramePr>
          <p:nvPr/>
        </p:nvGraphicFramePr>
        <p:xfrm>
          <a:off x="990600" y="2362200"/>
          <a:ext cx="7391400" cy="359664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922020">
                  <a:extLst>
                    <a:ext uri="{9D8B030D-6E8A-4147-A177-3AD203B41FA5}">
                      <a16:colId xmlns:a16="http://schemas.microsoft.com/office/drawing/2014/main" val="20002"/>
                    </a:ext>
                  </a:extLst>
                </a:gridCol>
                <a:gridCol w="601980">
                  <a:extLst>
                    <a:ext uri="{9D8B030D-6E8A-4147-A177-3AD203B41FA5}">
                      <a16:colId xmlns:a16="http://schemas.microsoft.com/office/drawing/2014/main" val="20003"/>
                    </a:ext>
                  </a:extLst>
                </a:gridCol>
                <a:gridCol w="876300">
                  <a:extLst>
                    <a:ext uri="{9D8B030D-6E8A-4147-A177-3AD203B41FA5}">
                      <a16:colId xmlns:a16="http://schemas.microsoft.com/office/drawing/2014/main" val="20004"/>
                    </a:ext>
                  </a:extLst>
                </a:gridCol>
                <a:gridCol w="4191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gridCol w="556260">
                  <a:extLst>
                    <a:ext uri="{9D8B030D-6E8A-4147-A177-3AD203B41FA5}">
                      <a16:colId xmlns:a16="http://schemas.microsoft.com/office/drawing/2014/main" val="20008"/>
                    </a:ext>
                  </a:extLst>
                </a:gridCol>
                <a:gridCol w="739140">
                  <a:extLst>
                    <a:ext uri="{9D8B030D-6E8A-4147-A177-3AD203B41FA5}">
                      <a16:colId xmlns:a16="http://schemas.microsoft.com/office/drawing/2014/main" val="20009"/>
                    </a:ext>
                  </a:extLst>
                </a:gridCol>
              </a:tblGrid>
              <a:tr h="1524000">
                <a:tc rowSpan="2">
                  <a:txBody>
                    <a:bodyPr/>
                    <a:lstStyle/>
                    <a:p>
                      <a:pPr algn="ctr"/>
                      <a:r>
                        <a:rPr lang="en-US" sz="1000" dirty="0" smtClean="0"/>
                        <a:t>DATE</a:t>
                      </a:r>
                      <a:endParaRPr lang="en-US" sz="1000" dirty="0"/>
                    </a:p>
                  </a:txBody>
                  <a:tcPr/>
                </a:tc>
                <a:tc rowSpan="2">
                  <a:txBody>
                    <a:bodyPr/>
                    <a:lstStyle/>
                    <a:p>
                      <a:pPr algn="ctr"/>
                      <a:r>
                        <a:rPr lang="en-US" sz="1000" dirty="0" smtClean="0"/>
                        <a:t>VOUCHER</a:t>
                      </a:r>
                    </a:p>
                    <a:p>
                      <a:pPr algn="ctr"/>
                      <a:r>
                        <a:rPr lang="en-US" sz="1000" dirty="0" smtClean="0"/>
                        <a:t>NO</a:t>
                      </a:r>
                      <a:endParaRPr lang="en-US" sz="1000" dirty="0"/>
                    </a:p>
                  </a:txBody>
                  <a:tcPr/>
                </a:tc>
                <a:tc rowSpan="2">
                  <a:txBody>
                    <a:bodyPr/>
                    <a:lstStyle/>
                    <a:p>
                      <a:pPr algn="ctr"/>
                      <a:r>
                        <a:rPr lang="en-US" sz="1000" dirty="0" smtClean="0"/>
                        <a:t>PARTICULARS </a:t>
                      </a:r>
                    </a:p>
                    <a:p>
                      <a:pPr algn="ctr"/>
                      <a:r>
                        <a:rPr lang="en-US" sz="1000" dirty="0" smtClean="0"/>
                        <a:t>OF </a:t>
                      </a:r>
                    </a:p>
                    <a:p>
                      <a:pPr algn="ctr"/>
                      <a:r>
                        <a:rPr lang="en-US" sz="1000" dirty="0" smtClean="0"/>
                        <a:t>CHARGES</a:t>
                      </a:r>
                      <a:endParaRPr lang="en-US" sz="1000" dirty="0"/>
                    </a:p>
                  </a:txBody>
                  <a:tcPr/>
                </a:tc>
                <a:tc gridSpan="2">
                  <a:txBody>
                    <a:bodyPr/>
                    <a:lstStyle/>
                    <a:p>
                      <a:pPr algn="ctr"/>
                      <a:r>
                        <a:rPr lang="en-US" sz="1000" dirty="0" smtClean="0"/>
                        <a:t>SALARY</a:t>
                      </a:r>
                      <a:endParaRPr lang="en-US" sz="1000" dirty="0"/>
                    </a:p>
                  </a:txBody>
                  <a:tcPr/>
                </a:tc>
                <a:tc hMerge="1">
                  <a:txBody>
                    <a:bodyPr/>
                    <a:lstStyle/>
                    <a:p>
                      <a:endParaRPr lang="en-US"/>
                    </a:p>
                  </a:txBody>
                  <a:tcPr/>
                </a:tc>
                <a:tc rowSpan="2">
                  <a:txBody>
                    <a:bodyPr/>
                    <a:lstStyle/>
                    <a:p>
                      <a:pPr algn="ctr"/>
                      <a:r>
                        <a:rPr lang="en-US" sz="1000" dirty="0" smtClean="0"/>
                        <a:t>TA</a:t>
                      </a:r>
                      <a:endParaRPr lang="en-US" sz="1000" dirty="0"/>
                    </a:p>
                  </a:txBody>
                  <a:tcPr/>
                </a:tc>
                <a:tc gridSpan="2">
                  <a:txBody>
                    <a:bodyPr/>
                    <a:lstStyle/>
                    <a:p>
                      <a:pPr algn="ctr"/>
                      <a:r>
                        <a:rPr lang="en-US" sz="1000" dirty="0" smtClean="0"/>
                        <a:t>CONTINGENCIES</a:t>
                      </a:r>
                      <a:endParaRPr lang="en-US" sz="1000" dirty="0"/>
                    </a:p>
                  </a:txBody>
                  <a:tcPr/>
                </a:tc>
                <a:tc hMerge="1">
                  <a:txBody>
                    <a:bodyPr/>
                    <a:lstStyle/>
                    <a:p>
                      <a:pPr algn="ctr"/>
                      <a:endParaRPr lang="en-US" sz="1000" dirty="0"/>
                    </a:p>
                  </a:txBody>
                  <a:tcPr/>
                </a:tc>
                <a:tc rowSpan="2">
                  <a:txBody>
                    <a:bodyPr/>
                    <a:lstStyle/>
                    <a:p>
                      <a:pPr algn="ctr"/>
                      <a:r>
                        <a:rPr lang="en-US" sz="1000" dirty="0" smtClean="0"/>
                        <a:t>TOTAL </a:t>
                      </a:r>
                      <a:endParaRPr lang="en-US" sz="1000" dirty="0"/>
                    </a:p>
                  </a:txBody>
                  <a:tcPr/>
                </a:tc>
                <a:tc rowSpan="2">
                  <a:txBody>
                    <a:bodyPr/>
                    <a:lstStyle/>
                    <a:p>
                      <a:pPr algn="ctr"/>
                      <a:r>
                        <a:rPr lang="en-US" sz="1000" dirty="0" smtClean="0"/>
                        <a:t>HOA &amp; INITIALS</a:t>
                      </a:r>
                      <a:endParaRPr lang="en-US" sz="1000" dirty="0"/>
                    </a:p>
                  </a:txBody>
                  <a:tcPr/>
                </a:tc>
                <a:extLst>
                  <a:ext uri="{0D108BD9-81ED-4DB2-BD59-A6C34878D82A}">
                    <a16:rowId xmlns:a16="http://schemas.microsoft.com/office/drawing/2014/main" val="10000"/>
                  </a:ext>
                </a:extLst>
              </a:tr>
              <a:tr h="76200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pPr algn="ctr"/>
                      <a:endParaRPr lang="en-US" sz="1000" dirty="0" smtClean="0"/>
                    </a:p>
                    <a:p>
                      <a:pPr algn="ctr"/>
                      <a:endParaRPr lang="en-US" sz="1000" dirty="0" smtClean="0"/>
                    </a:p>
                    <a:p>
                      <a:pPr algn="ctr"/>
                      <a:r>
                        <a:rPr lang="en-US" sz="1000" dirty="0" smtClean="0"/>
                        <a:t>PAY</a:t>
                      </a:r>
                      <a:endParaRPr lang="en-US" sz="1000" dirty="0"/>
                    </a:p>
                  </a:txBody>
                  <a:tcPr/>
                </a:tc>
                <a:tc>
                  <a:txBody>
                    <a:bodyPr/>
                    <a:lstStyle/>
                    <a:p>
                      <a:pPr algn="ctr"/>
                      <a:endParaRPr lang="en-US" sz="1000" dirty="0" smtClean="0"/>
                    </a:p>
                    <a:p>
                      <a:pPr algn="ctr"/>
                      <a:endParaRPr lang="en-US" sz="1000" dirty="0" smtClean="0"/>
                    </a:p>
                    <a:p>
                      <a:pPr algn="ctr"/>
                      <a:r>
                        <a:rPr lang="en-US" sz="1000" dirty="0" smtClean="0"/>
                        <a:t>ALLOWANCE</a:t>
                      </a:r>
                      <a:endParaRPr lang="en-US" sz="1000" dirty="0"/>
                    </a:p>
                  </a:txBody>
                  <a:tcPr/>
                </a:tc>
                <a:tc vMerge="1">
                  <a:txBody>
                    <a:bodyPr/>
                    <a:lstStyle/>
                    <a:p>
                      <a:endParaRPr lang="en-US" dirty="0"/>
                    </a:p>
                  </a:txBody>
                  <a:tcPr/>
                </a:tc>
                <a:tc>
                  <a:txBody>
                    <a:bodyPr/>
                    <a:lstStyle/>
                    <a:p>
                      <a:pPr algn="ctr"/>
                      <a:endParaRPr lang="en-US" sz="1000" dirty="0" smtClean="0"/>
                    </a:p>
                    <a:p>
                      <a:pPr algn="ctr"/>
                      <a:endParaRPr lang="en-US" sz="1000" dirty="0" smtClean="0"/>
                    </a:p>
                    <a:p>
                      <a:pPr algn="ctr"/>
                      <a:r>
                        <a:rPr lang="en-US" sz="1000" dirty="0" smtClean="0"/>
                        <a:t>OUT OF PERMANENT</a:t>
                      </a:r>
                    </a:p>
                    <a:p>
                      <a:pPr algn="ctr"/>
                      <a:r>
                        <a:rPr lang="en-US" sz="1000" dirty="0" smtClean="0"/>
                        <a:t> ADV</a:t>
                      </a:r>
                      <a:endParaRPr lang="en-US" sz="1000" dirty="0"/>
                    </a:p>
                  </a:txBody>
                  <a:tcPr/>
                </a:tc>
                <a:tc>
                  <a:txBody>
                    <a:bodyPr/>
                    <a:lstStyle/>
                    <a:p>
                      <a:pPr algn="ctr"/>
                      <a:endParaRPr lang="en-US" sz="1000" dirty="0" smtClean="0"/>
                    </a:p>
                    <a:p>
                      <a:pPr algn="ctr"/>
                      <a:endParaRPr lang="en-US" sz="1000" dirty="0" smtClean="0"/>
                    </a:p>
                    <a:p>
                      <a:pPr algn="ctr"/>
                      <a:r>
                        <a:rPr lang="en-US" sz="1000" dirty="0" smtClean="0"/>
                        <a:t>OUT OF MONEY DRAWN IN ANTICIPATION OF PAYMENT</a:t>
                      </a:r>
                      <a:endParaRPr lang="en-US" sz="1000" dirty="0"/>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0001"/>
                  </a:ext>
                </a:extLst>
              </a:tr>
              <a:tr h="762000">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c>
                  <a:txBody>
                    <a:bodyPr/>
                    <a:lstStyle/>
                    <a:p>
                      <a:pPr algn="ctr"/>
                      <a:r>
                        <a:rPr lang="en-US" dirty="0" smtClean="0"/>
                        <a:t>4</a:t>
                      </a:r>
                      <a:endParaRPr lang="en-US" dirty="0"/>
                    </a:p>
                  </a:txBody>
                  <a:tcPr/>
                </a:tc>
                <a:tc>
                  <a:txBody>
                    <a:bodyPr/>
                    <a:lstStyle/>
                    <a:p>
                      <a:pPr algn="ctr"/>
                      <a:r>
                        <a:rPr lang="en-US" dirty="0" smtClean="0"/>
                        <a:t>5</a:t>
                      </a:r>
                      <a:endParaRPr lang="en-US" dirty="0"/>
                    </a:p>
                  </a:txBody>
                  <a:tcPr/>
                </a:tc>
                <a:tc>
                  <a:txBody>
                    <a:bodyPr/>
                    <a:lstStyle/>
                    <a:p>
                      <a:pPr algn="ctr"/>
                      <a:r>
                        <a:rPr lang="en-US" dirty="0" smtClean="0"/>
                        <a:t>6</a:t>
                      </a:r>
                      <a:endParaRPr lang="en-US" dirty="0"/>
                    </a:p>
                  </a:txBody>
                  <a:tcPr/>
                </a:tc>
                <a:tc>
                  <a:txBody>
                    <a:bodyPr/>
                    <a:lstStyle/>
                    <a:p>
                      <a:pPr algn="ctr"/>
                      <a:r>
                        <a:rPr lang="en-US" dirty="0" smtClean="0"/>
                        <a:t>7</a:t>
                      </a:r>
                      <a:endParaRPr lang="en-US" dirty="0"/>
                    </a:p>
                  </a:txBody>
                  <a:tcPr/>
                </a:tc>
                <a:tc>
                  <a:txBody>
                    <a:bodyPr/>
                    <a:lstStyle/>
                    <a:p>
                      <a:pPr algn="ctr"/>
                      <a:r>
                        <a:rPr lang="en-US" dirty="0" smtClean="0"/>
                        <a:t>8</a:t>
                      </a:r>
                      <a:endParaRPr lang="en-US" dirty="0"/>
                    </a:p>
                  </a:txBody>
                  <a:tcPr/>
                </a:tc>
                <a:tc>
                  <a:txBody>
                    <a:bodyPr/>
                    <a:lstStyle/>
                    <a:p>
                      <a:pPr algn="ctr"/>
                      <a:r>
                        <a:rPr lang="en-US" dirty="0" smtClean="0"/>
                        <a:t>9</a:t>
                      </a:r>
                      <a:endParaRPr lang="en-US" dirty="0"/>
                    </a:p>
                  </a:txBody>
                  <a:tcPr/>
                </a:tc>
                <a:tc>
                  <a:txBody>
                    <a:bodyPr/>
                    <a:lstStyle/>
                    <a:p>
                      <a:pPr algn="ctr"/>
                      <a:r>
                        <a:rPr lang="en-US" dirty="0" smtClean="0"/>
                        <a:t>10</a:t>
                      </a:r>
                      <a:endParaRPr lang="en-US" dirty="0"/>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Maintenance of Cash Book.......</a:t>
            </a:r>
            <a:endParaRPr lang="en-US" u="sng" dirty="0"/>
          </a:p>
        </p:txBody>
      </p:sp>
      <p:sp>
        <p:nvSpPr>
          <p:cNvPr id="3" name="Content Placeholder 2"/>
          <p:cNvSpPr>
            <a:spLocks noGrp="1"/>
          </p:cNvSpPr>
          <p:nvPr>
            <p:ph idx="1"/>
          </p:nvPr>
        </p:nvSpPr>
        <p:spPr/>
        <p:txBody>
          <a:bodyPr>
            <a:normAutofit/>
          </a:bodyPr>
          <a:lstStyle/>
          <a:p>
            <a:pPr algn="just"/>
            <a:r>
              <a:rPr lang="en-US" dirty="0" smtClean="0"/>
              <a:t>The cash book has to be written up from day to day, the entry relateing to each item receipt and expenditure being made simaltaneously with the transaction. The balance on hand at the beginning of each day being brought forward on the receipt side, the sums received during the course of the day are entered on the receipt side in the order of their receipt while on the expenditure side money spent is entered.(KFC-331)</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Maintenance of Cash Book.......</a:t>
            </a:r>
            <a:endParaRPr lang="en-US" u="sng" dirty="0"/>
          </a:p>
        </p:txBody>
      </p:sp>
      <p:sp>
        <p:nvSpPr>
          <p:cNvPr id="3" name="Content Placeholder 2"/>
          <p:cNvSpPr>
            <a:spLocks noGrp="1"/>
          </p:cNvSpPr>
          <p:nvPr>
            <p:ph idx="1"/>
          </p:nvPr>
        </p:nvSpPr>
        <p:spPr/>
        <p:txBody>
          <a:bodyPr>
            <a:normAutofit/>
          </a:bodyPr>
          <a:lstStyle/>
          <a:p>
            <a:pPr algn="just"/>
            <a:r>
              <a:rPr lang="en-US" dirty="0" smtClean="0"/>
              <a:t>When the deficiency is found in the cash balance of any day, it should be made good at once by the person responsible for it and closing cash balance of the day should be the full balnce including the amount lost and made good.</a:t>
            </a:r>
          </a:p>
          <a:p>
            <a:pPr algn="just"/>
            <a:r>
              <a:rPr lang="en-US" dirty="0" smtClean="0"/>
              <a:t>When any  excess is found, it should at once be credited to the treasury, pending enquiry and disposal. In either case, a note, should be made in the cash book.(KFC-332)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ave Any Questions And Doubts vector background concept design with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381001"/>
            <a:ext cx="8759825"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4886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4600" y="4876800"/>
            <a:ext cx="5638800" cy="1752600"/>
          </a:xfrm>
        </p:spPr>
        <p:txBody>
          <a:bodyPr>
            <a:normAutofit fontScale="92500" lnSpcReduction="20000"/>
          </a:bodyPr>
          <a:lstStyle/>
          <a:p>
            <a:pPr algn="r">
              <a:buNone/>
            </a:pPr>
            <a:endParaRPr lang="en-US" sz="4400" dirty="0" smtClean="0"/>
          </a:p>
          <a:p>
            <a:pPr algn="r">
              <a:buNone/>
            </a:pPr>
            <a:r>
              <a:rPr lang="en-US" sz="4400" dirty="0" smtClean="0">
                <a:solidFill>
                  <a:srgbClr val="0070C0"/>
                </a:solidFill>
                <a:latin typeface="Century" panose="02040604050505020304" pitchFamily="18" charset="0"/>
              </a:rPr>
              <a:t>G Rajesh, Principal</a:t>
            </a:r>
            <a:endParaRPr lang="en-US" sz="4400" dirty="0" smtClean="0">
              <a:solidFill>
                <a:srgbClr val="0070C0"/>
              </a:solidFill>
              <a:latin typeface="Century" panose="02040604050505020304" pitchFamily="18" charset="0"/>
            </a:endParaRPr>
          </a:p>
          <a:p>
            <a:pPr algn="r">
              <a:buNone/>
            </a:pPr>
            <a:r>
              <a:rPr lang="en-US" sz="4400" dirty="0" smtClean="0">
                <a:solidFill>
                  <a:srgbClr val="0070C0"/>
                </a:solidFill>
                <a:latin typeface="Century" panose="02040604050505020304" pitchFamily="18" charset="0"/>
              </a:rPr>
              <a:t>DTI  </a:t>
            </a:r>
            <a:r>
              <a:rPr lang="en-US" sz="4400" dirty="0">
                <a:solidFill>
                  <a:srgbClr val="0070C0"/>
                </a:solidFill>
                <a:latin typeface="Century" panose="02040604050505020304" pitchFamily="18" charset="0"/>
              </a:rPr>
              <a:t> </a:t>
            </a:r>
            <a:r>
              <a:rPr lang="en-US" sz="4400" dirty="0" err="1" smtClean="0">
                <a:solidFill>
                  <a:srgbClr val="0070C0"/>
                </a:solidFill>
                <a:latin typeface="Century" panose="02040604050505020304" pitchFamily="18" charset="0"/>
              </a:rPr>
              <a:t>Shivamogga</a:t>
            </a:r>
            <a:endParaRPr lang="en-US" sz="4400" dirty="0">
              <a:solidFill>
                <a:srgbClr val="7030A0"/>
              </a:solidFill>
              <a:latin typeface="Century" panose="02040604050505020304" pitchFamily="18" charset="0"/>
            </a:endParaRPr>
          </a:p>
        </p:txBody>
      </p:sp>
      <p:pic>
        <p:nvPicPr>
          <p:cNvPr id="1026" name="Picture 2" descr="30+ mẫu hình nền powerpoint thank you for listening miễn phí và sáng tạ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533400"/>
            <a:ext cx="8153400" cy="39299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170</TotalTime>
  <Words>779</Words>
  <Application>Microsoft Office PowerPoint</Application>
  <PresentationFormat>On-screen Show (4:3)</PresentationFormat>
  <Paragraphs>112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Century</vt:lpstr>
      <vt:lpstr>Rockwell</vt:lpstr>
      <vt:lpstr>Rockwell Condensed</vt:lpstr>
      <vt:lpstr>Wingdings</vt:lpstr>
      <vt:lpstr>Wood Type</vt:lpstr>
      <vt:lpstr>Karnataka Financial Code -1958  CASH BOOK</vt:lpstr>
      <vt:lpstr>Maintenance of Cash Book.......</vt:lpstr>
      <vt:lpstr>Maintenance of Cash Book.......</vt:lpstr>
      <vt:lpstr>Maintenance of Cash Book.......</vt:lpstr>
      <vt:lpstr>Maintenance of Cash Book.......</vt:lpstr>
      <vt:lpstr>Maintenance of Cash Book.......</vt:lpstr>
      <vt:lpstr>Maintenance of Cash Book.......</vt:lpstr>
      <vt:lpstr>Maintenance of Cash Book.......</vt:lpstr>
      <vt:lpstr>Cash Book Form</vt:lpstr>
      <vt:lpstr>  Cash Book Form  </vt:lpstr>
      <vt:lpstr>Maintenance of Cash Book.......</vt:lpstr>
      <vt:lpstr>Maintenance of Cash Book.......</vt:lpstr>
      <vt:lpstr>PowerPoint Presentation</vt:lpstr>
      <vt:lpstr>PowerPoint Presentation</vt:lpstr>
    </vt:vector>
  </TitlesOfParts>
  <Company>emplyoe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Karnataka Financial Code -1958  CASH BOOK</dc:title>
  <dc:creator>mahesh</dc:creator>
  <cp:lastModifiedBy>DELL</cp:lastModifiedBy>
  <cp:revision>40</cp:revision>
  <dcterms:created xsi:type="dcterms:W3CDTF">2005-07-06T18:49:39Z</dcterms:created>
  <dcterms:modified xsi:type="dcterms:W3CDTF">2024-08-12T02:30:20Z</dcterms:modified>
</cp:coreProperties>
</file>