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0" r:id="rId7"/>
    <p:sldId id="261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-102" y="-6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B7DC4-137A-4509-ABCE-639AEA6E0D91}" type="datetimeFigureOut">
              <a:rPr lang="en-IN" smtClean="0"/>
              <a:pPr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141D2-2DAE-4E56-BF49-066CC70C90C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9521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B7DC4-137A-4509-ABCE-639AEA6E0D91}" type="datetimeFigureOut">
              <a:rPr lang="en-IN" smtClean="0"/>
              <a:pPr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141D2-2DAE-4E56-BF49-066CC70C90C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8889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B7DC4-137A-4509-ABCE-639AEA6E0D91}" type="datetimeFigureOut">
              <a:rPr lang="en-IN" smtClean="0"/>
              <a:pPr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141D2-2DAE-4E56-BF49-066CC70C90C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2062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B7DC4-137A-4509-ABCE-639AEA6E0D91}" type="datetimeFigureOut">
              <a:rPr lang="en-IN" smtClean="0"/>
              <a:pPr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141D2-2DAE-4E56-BF49-066CC70C90C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69703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B7DC4-137A-4509-ABCE-639AEA6E0D91}" type="datetimeFigureOut">
              <a:rPr lang="en-IN" smtClean="0"/>
              <a:pPr/>
              <a:t>24-09-2026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141D2-2DAE-4E56-BF49-066CC70C90C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0393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B7DC4-137A-4509-ABCE-639AEA6E0D91}" type="datetimeFigureOut">
              <a:rPr lang="en-IN" smtClean="0"/>
              <a:pPr/>
              <a:t>24-09-2026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141D2-2DAE-4E56-BF49-066CC70C90C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5051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B7DC4-137A-4509-ABCE-639AEA6E0D91}" type="datetimeFigureOut">
              <a:rPr lang="en-IN" smtClean="0"/>
              <a:pPr/>
              <a:t>24-09-2026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141D2-2DAE-4E56-BF49-066CC70C90C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11847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B7DC4-137A-4509-ABCE-639AEA6E0D91}" type="datetimeFigureOut">
              <a:rPr lang="en-IN" smtClean="0"/>
              <a:pPr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141D2-2DAE-4E56-BF49-066CC70C90C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73143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B7DC4-137A-4509-ABCE-639AEA6E0D91}" type="datetimeFigureOut">
              <a:rPr lang="en-IN" smtClean="0"/>
              <a:pPr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141D2-2DAE-4E56-BF49-066CC70C90C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0922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B7DC4-137A-4509-ABCE-639AEA6E0D91}" type="datetimeFigureOut">
              <a:rPr lang="en-IN" smtClean="0"/>
              <a:pPr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141D2-2DAE-4E56-BF49-066CC70C90C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96657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B7DC4-137A-4509-ABCE-639AEA6E0D91}" type="datetimeFigureOut">
              <a:rPr lang="en-IN" smtClean="0"/>
              <a:pPr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141D2-2DAE-4E56-BF49-066CC70C90C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73730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B7DC4-137A-4509-ABCE-639AEA6E0D91}" type="datetimeFigureOut">
              <a:rPr lang="en-IN" smtClean="0"/>
              <a:pPr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141D2-2DAE-4E56-BF49-066CC70C90C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6680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RkebtEk2zU0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5602514" y="5529942"/>
            <a:ext cx="5675086" cy="943429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>
                <a:latin typeface="Century" panose="02040604050505020304" pitchFamily="18" charset="0"/>
              </a:rPr>
              <a:t>Rajesh G </a:t>
            </a:r>
          </a:p>
          <a:p>
            <a:r>
              <a:rPr lang="en-US" sz="2800" dirty="0" smtClean="0">
                <a:latin typeface="Century" panose="02040604050505020304" pitchFamily="18" charset="0"/>
              </a:rPr>
              <a:t>Principal, </a:t>
            </a:r>
            <a:r>
              <a:rPr lang="en-US" sz="2800" dirty="0" err="1" smtClean="0">
                <a:latin typeface="Century" panose="02040604050505020304" pitchFamily="18" charset="0"/>
              </a:rPr>
              <a:t>DTI,Shivamogga</a:t>
            </a:r>
            <a:endParaRPr lang="en-IN" sz="2800" dirty="0">
              <a:latin typeface="Century" panose="02040604050505020304" pitchFamily="18" charset="0"/>
            </a:endParaRPr>
          </a:p>
        </p:txBody>
      </p:sp>
      <p:pic>
        <p:nvPicPr>
          <p:cNvPr id="6" name="Picture 2" descr="Communication Definition, Skills, and Proce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0571" y="537029"/>
            <a:ext cx="11074399" cy="457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592564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kebtEk2zU0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45028" y="333829"/>
            <a:ext cx="10381343" cy="284480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31850" y="3730171"/>
            <a:ext cx="10515600" cy="2359479"/>
          </a:xfrm>
        </p:spPr>
        <p:txBody>
          <a:bodyPr/>
          <a:lstStyle/>
          <a:p>
            <a:r>
              <a:rPr lang="en-US" b="1" dirty="0" smtClean="0">
                <a:latin typeface="Century" panose="02040604050505020304" pitchFamily="18" charset="0"/>
              </a:rPr>
              <a:t>Communication  -Latin word- </a:t>
            </a:r>
            <a:r>
              <a:rPr lang="en-US" b="1" dirty="0" err="1" smtClean="0">
                <a:latin typeface="Century" panose="02040604050505020304" pitchFamily="18" charset="0"/>
              </a:rPr>
              <a:t>communi</a:t>
            </a:r>
            <a:r>
              <a:rPr lang="en-US" b="1" dirty="0" smtClean="0">
                <a:latin typeface="Century" panose="02040604050505020304" pitchFamily="18" charset="0"/>
              </a:rPr>
              <a:t> care</a:t>
            </a:r>
          </a:p>
          <a:p>
            <a:r>
              <a:rPr lang="en-US" b="1" dirty="0" smtClean="0">
                <a:latin typeface="Century" panose="02040604050505020304" pitchFamily="18" charset="0"/>
              </a:rPr>
              <a:t>One on one</a:t>
            </a:r>
          </a:p>
          <a:p>
            <a:r>
              <a:rPr lang="en-US" b="1" dirty="0" smtClean="0">
                <a:latin typeface="Century" panose="02040604050505020304" pitchFamily="18" charset="0"/>
              </a:rPr>
              <a:t>One to many</a:t>
            </a:r>
          </a:p>
          <a:p>
            <a:r>
              <a:rPr lang="en-US" b="1" dirty="0" smtClean="0">
                <a:latin typeface="Century" panose="02040604050505020304" pitchFamily="18" charset="0"/>
              </a:rPr>
              <a:t>Many to one</a:t>
            </a:r>
            <a:endParaRPr lang="en-IN" b="1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300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Century" panose="02040604050505020304" pitchFamily="18" charset="0"/>
              </a:rPr>
              <a:t>Three forms</a:t>
            </a:r>
            <a:br>
              <a:rPr lang="en-US" dirty="0" smtClean="0">
                <a:latin typeface="Century" panose="02040604050505020304" pitchFamily="18" charset="0"/>
              </a:rPr>
            </a:br>
            <a:r>
              <a:rPr lang="en-US" dirty="0">
                <a:latin typeface="Century" panose="02040604050505020304" pitchFamily="18" charset="0"/>
              </a:rPr>
              <a:t>	</a:t>
            </a:r>
            <a:r>
              <a:rPr lang="en-US" dirty="0" smtClean="0">
                <a:latin typeface="Century" panose="02040604050505020304" pitchFamily="18" charset="0"/>
              </a:rPr>
              <a:t/>
            </a:r>
            <a:br>
              <a:rPr lang="en-US" dirty="0" smtClean="0">
                <a:latin typeface="Century" panose="02040604050505020304" pitchFamily="18" charset="0"/>
              </a:rPr>
            </a:br>
            <a:endParaRPr lang="en-IN" dirty="0">
              <a:latin typeface="Century" panose="020406040505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Century" panose="02040604050505020304" pitchFamily="18" charset="0"/>
              </a:rPr>
              <a:t>Speaking</a:t>
            </a:r>
          </a:p>
          <a:p>
            <a:r>
              <a:rPr lang="en-US" sz="3600" dirty="0" smtClean="0">
                <a:latin typeface="Century" panose="02040604050505020304" pitchFamily="18" charset="0"/>
              </a:rPr>
              <a:t>Writing</a:t>
            </a:r>
          </a:p>
          <a:p>
            <a:r>
              <a:rPr lang="en-US" sz="3600" dirty="0" smtClean="0">
                <a:latin typeface="Century" panose="02040604050505020304" pitchFamily="18" charset="0"/>
              </a:rPr>
              <a:t>Gestures</a:t>
            </a:r>
          </a:p>
          <a:p>
            <a:endParaRPr lang="en-US" sz="3600" dirty="0">
              <a:latin typeface="Century" panose="02040604050505020304" pitchFamily="18" charset="0"/>
            </a:endParaRPr>
          </a:p>
          <a:p>
            <a:r>
              <a:rPr lang="en-US" sz="3600" dirty="0" smtClean="0">
                <a:latin typeface="Century" panose="02040604050505020304" pitchFamily="18" charset="0"/>
              </a:rPr>
              <a:t> Telephonic </a:t>
            </a:r>
            <a:r>
              <a:rPr lang="en-US" sz="3600" dirty="0" err="1" smtClean="0">
                <a:latin typeface="Century" panose="02040604050505020304" pitchFamily="18" charset="0"/>
              </a:rPr>
              <a:t>conversation,group</a:t>
            </a:r>
            <a:r>
              <a:rPr lang="en-US" sz="3600" dirty="0" smtClean="0">
                <a:latin typeface="Century" panose="02040604050505020304" pitchFamily="18" charset="0"/>
              </a:rPr>
              <a:t> discussion</a:t>
            </a:r>
          </a:p>
          <a:p>
            <a:r>
              <a:rPr lang="en-US" sz="3600" dirty="0" smtClean="0">
                <a:latin typeface="Century" panose="02040604050505020304" pitchFamily="18" charset="0"/>
              </a:rPr>
              <a:t>e </a:t>
            </a:r>
            <a:r>
              <a:rPr lang="en-US" sz="3600" dirty="0" err="1" smtClean="0">
                <a:latin typeface="Century" panose="02040604050505020304" pitchFamily="18" charset="0"/>
              </a:rPr>
              <a:t>mail,notes,letters</a:t>
            </a:r>
            <a:endParaRPr lang="en-US" sz="3600" dirty="0" smtClean="0">
              <a:latin typeface="Century" panose="02040604050505020304" pitchFamily="18" charset="0"/>
            </a:endParaRPr>
          </a:p>
          <a:p>
            <a:r>
              <a:rPr lang="en-US" sz="3600" dirty="0" err="1" smtClean="0">
                <a:latin typeface="Century" panose="02040604050505020304" pitchFamily="18" charset="0"/>
              </a:rPr>
              <a:t>Anger,smile,hand</a:t>
            </a:r>
            <a:r>
              <a:rPr lang="en-US" sz="3600" dirty="0" smtClean="0">
                <a:latin typeface="Century" panose="02040604050505020304" pitchFamily="18" charset="0"/>
              </a:rPr>
              <a:t> and finger movements</a:t>
            </a:r>
            <a:endParaRPr lang="en-IN" sz="36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8753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5588" y="998807"/>
            <a:ext cx="849688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‘</a:t>
            </a:r>
            <a:r>
              <a:rPr lang="en-US" sz="2400" dirty="0" smtClean="0">
                <a:latin typeface="Century" pitchFamily="18" charset="0"/>
              </a:rPr>
              <a:t>Why’ questions 					</a:t>
            </a:r>
          </a:p>
          <a:p>
            <a:r>
              <a:rPr lang="en-US" sz="2400" dirty="0" smtClean="0">
                <a:latin typeface="Century" pitchFamily="18" charset="0"/>
              </a:rPr>
              <a:t> ◼Why didn’t you take your medication?</a:t>
            </a:r>
          </a:p>
          <a:p>
            <a:r>
              <a:rPr lang="en-US" sz="2400" dirty="0" smtClean="0">
                <a:latin typeface="Century" pitchFamily="18" charset="0"/>
              </a:rPr>
              <a:t> ◼Why did you take an overdose?</a:t>
            </a:r>
          </a:p>
          <a:p>
            <a:r>
              <a:rPr lang="en-US" sz="2400" dirty="0" smtClean="0">
                <a:latin typeface="Century" pitchFamily="18" charset="0"/>
              </a:rPr>
              <a:t> ◼Why did you discharge yourself from hospital?    </a:t>
            </a:r>
          </a:p>
          <a:p>
            <a:endParaRPr lang="en-US" sz="2400" dirty="0" smtClean="0">
              <a:latin typeface="Century" pitchFamily="18" charset="0"/>
            </a:endParaRPr>
          </a:p>
          <a:p>
            <a:endParaRPr lang="en-US" sz="2400" dirty="0" smtClean="0">
              <a:latin typeface="Century" pitchFamily="18" charset="0"/>
            </a:endParaRPr>
          </a:p>
          <a:p>
            <a:r>
              <a:rPr lang="en-US" sz="2400" dirty="0" smtClean="0">
                <a:latin typeface="Century" pitchFamily="18" charset="0"/>
              </a:rPr>
              <a:t> Alternative phrasing </a:t>
            </a:r>
          </a:p>
          <a:p>
            <a:endParaRPr lang="en-US" sz="2400" dirty="0" smtClean="0">
              <a:latin typeface="Century" pitchFamily="18" charset="0"/>
            </a:endParaRPr>
          </a:p>
          <a:p>
            <a:endParaRPr lang="en-US" sz="2400" dirty="0" smtClean="0">
              <a:latin typeface="Century" pitchFamily="18" charset="0"/>
            </a:endParaRPr>
          </a:p>
          <a:p>
            <a:endParaRPr lang="en-US" sz="2400" dirty="0" smtClean="0">
              <a:latin typeface="Century" pitchFamily="18" charset="0"/>
            </a:endParaRPr>
          </a:p>
          <a:p>
            <a:r>
              <a:rPr lang="en-US" sz="2400" dirty="0" smtClean="0">
                <a:latin typeface="Century" pitchFamily="18" charset="0"/>
              </a:rPr>
              <a:t>  ◼What stopped you from taking your medication </a:t>
            </a:r>
          </a:p>
          <a:p>
            <a:r>
              <a:rPr lang="en-US" sz="2400" dirty="0" smtClean="0">
                <a:latin typeface="Century" pitchFamily="18" charset="0"/>
              </a:rPr>
              <a:t> ◼What made you take an overdose? 							</a:t>
            </a:r>
          </a:p>
          <a:p>
            <a:r>
              <a:rPr lang="en-US" sz="2400" dirty="0" smtClean="0">
                <a:latin typeface="Century" pitchFamily="18" charset="0"/>
              </a:rPr>
              <a:t>◼ What happened that led you to discharge yourself? </a:t>
            </a:r>
            <a:endParaRPr lang="en-US" sz="2400" dirty="0">
              <a:latin typeface="Century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4055" y="1209822"/>
            <a:ext cx="884857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◼ </a:t>
            </a:r>
            <a:r>
              <a:rPr lang="en-US" sz="3200" dirty="0" smtClean="0">
                <a:latin typeface="Century" pitchFamily="18" charset="0"/>
              </a:rPr>
              <a:t>E.g., ‘I don’t think you are very happy with your husband?’</a:t>
            </a:r>
          </a:p>
          <a:p>
            <a:endParaRPr lang="en-US" sz="3200" dirty="0" smtClean="0">
              <a:latin typeface="Century" pitchFamily="18" charset="0"/>
            </a:endParaRPr>
          </a:p>
          <a:p>
            <a:r>
              <a:rPr lang="en-US" sz="3200" dirty="0" smtClean="0">
                <a:latin typeface="Century" pitchFamily="18" charset="0"/>
              </a:rPr>
              <a:t> rather than,</a:t>
            </a:r>
          </a:p>
          <a:p>
            <a:endParaRPr lang="en-US" sz="3200" dirty="0" smtClean="0">
              <a:latin typeface="Century" pitchFamily="18" charset="0"/>
            </a:endParaRPr>
          </a:p>
          <a:p>
            <a:r>
              <a:rPr lang="en-US" sz="3200" dirty="0" smtClean="0">
                <a:latin typeface="Century" pitchFamily="18" charset="0"/>
              </a:rPr>
              <a:t> ‘How do you feel towards your husband?’ which encourages person-centered communication rather than counselor-led communication</a:t>
            </a:r>
            <a:endParaRPr lang="en-US" sz="3200" dirty="0">
              <a:latin typeface="Century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58129"/>
          </a:xfrm>
        </p:spPr>
        <p:txBody>
          <a:bodyPr/>
          <a:lstStyle/>
          <a:p>
            <a:r>
              <a:rPr lang="en-US" dirty="0" smtClean="0"/>
              <a:t>“</a:t>
            </a:r>
            <a:r>
              <a:rPr lang="en-US" sz="4000" dirty="0" smtClean="0"/>
              <a:t>Woman, without her… man is worthless”</a:t>
            </a:r>
            <a:endParaRPr lang="en-IN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5754" y="3602038"/>
            <a:ext cx="9472246" cy="1655762"/>
          </a:xfrm>
        </p:spPr>
        <p:txBody>
          <a:bodyPr>
            <a:normAutofit/>
          </a:bodyPr>
          <a:lstStyle/>
          <a:p>
            <a:r>
              <a:rPr lang="en-US" sz="4000" dirty="0"/>
              <a:t>“Woman, without </a:t>
            </a:r>
            <a:r>
              <a:rPr lang="en-US" sz="4000" dirty="0" smtClean="0"/>
              <a:t>her man…… </a:t>
            </a:r>
            <a:r>
              <a:rPr lang="en-US" sz="4000" dirty="0"/>
              <a:t>is worthless”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xmlns="" val="1050513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28468"/>
          </a:xfrm>
        </p:spPr>
        <p:txBody>
          <a:bodyPr/>
          <a:lstStyle/>
          <a:p>
            <a:r>
              <a:rPr lang="en-US" dirty="0" smtClean="0"/>
              <a:t>“He Died”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“He </a:t>
            </a:r>
            <a:r>
              <a:rPr lang="en-US" sz="4800" dirty="0" smtClean="0"/>
              <a:t>Died”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xmlns="" val="238467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Bird – An Anniversary Gift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Activity -      Holding balloon</a:t>
            </a:r>
          </a:p>
          <a:p>
            <a:r>
              <a:rPr lang="en-US" sz="4000" dirty="0" smtClean="0"/>
              <a:t>Passing the information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xmlns="" val="172378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8302" y="1103085"/>
            <a:ext cx="11310424" cy="42473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ದಶರಥ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ಮಹಾರಾಜನ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ಮಗನು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ಪಿತೃ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ಪರಿಪಾಲಕನಾದ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ಶ್ರೀರಾಮಚಂದ್ರಪ್ರಭು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ಸತಿ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ಸೀತಾದೇವಿ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ಸಹೋದರ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ಲಕ್ಷ್ಮಣನೊಂದಿಗೆ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ಹದಿನಾಲ್ಕು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ವರ್ಷಗಳ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ಕಾಲ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ವನವಾಸಕ್ಕೆ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5400" b="1" dirty="0" err="1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ತೆರಳಿದರು</a:t>
            </a:r>
            <a:r>
              <a:rPr lang="en-US" sz="5400" b="1" dirty="0" smtClean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134</Words>
  <Application>Microsoft Office PowerPoint</Application>
  <PresentationFormat>Custom</PresentationFormat>
  <Paragraphs>40</Paragraphs>
  <Slides>9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Three forms   </vt:lpstr>
      <vt:lpstr>Slide 4</vt:lpstr>
      <vt:lpstr>Slide 5</vt:lpstr>
      <vt:lpstr>“Woman, without her… man is worthless”</vt:lpstr>
      <vt:lpstr>“He Died”</vt:lpstr>
      <vt:lpstr>Bird – An Anniversary Gift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ACER</cp:lastModifiedBy>
  <cp:revision>20</cp:revision>
  <dcterms:created xsi:type="dcterms:W3CDTF">2024-11-20T14:21:25Z</dcterms:created>
  <dcterms:modified xsi:type="dcterms:W3CDTF">2026-09-24T10:14:11Z</dcterms:modified>
</cp:coreProperties>
</file>