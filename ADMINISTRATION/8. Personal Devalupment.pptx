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6" r:id="rId3"/>
    <p:sldId id="269" r:id="rId4"/>
    <p:sldId id="268" r:id="rId5"/>
    <p:sldId id="271" r:id="rId6"/>
    <p:sldId id="272" r:id="rId7"/>
    <p:sldId id="274" r:id="rId8"/>
    <p:sldId id="275" r:id="rId9"/>
    <p:sldId id="276" r:id="rId10"/>
    <p:sldId id="277" r:id="rId11"/>
    <p:sldId id="278" r:id="rId12"/>
    <p:sldId id="279" r:id="rId13"/>
    <p:sldId id="280" r:id="rId14"/>
    <p:sldId id="281" r:id="rId15"/>
    <p:sldId id="273"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64" d="100"/>
          <a:sy n="64" d="100"/>
        </p:scale>
        <p:origin x="-876"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319521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2288894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1020629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2169703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320393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1350517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1411847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2773143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2309223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2496657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A1B7DC4-137A-4509-ABCE-639AEA6E0D91}" type="datetimeFigureOut">
              <a:rPr lang="en-IN" smtClean="0"/>
              <a:pPr/>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473730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1B7DC4-137A-4509-ABCE-639AEA6E0D91}" type="datetimeFigureOut">
              <a:rPr lang="en-IN" smtClean="0"/>
              <a:pPr/>
              <a:t>24-09-2026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A141D2-2DAE-4E56-BF49-066CC70C90C6}" type="slidenum">
              <a:rPr lang="en-IN" smtClean="0"/>
              <a:pPr/>
              <a:t>‹#›</a:t>
            </a:fld>
            <a:endParaRPr lang="en-IN"/>
          </a:p>
        </p:txBody>
      </p:sp>
    </p:spTree>
    <p:extLst>
      <p:ext uri="{BB962C8B-B14F-4D97-AF65-F5344CB8AC3E}">
        <p14:creationId xmlns="" xmlns:p14="http://schemas.microsoft.com/office/powerpoint/2010/main" val="2766804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srcRect/>
          <a:stretch>
            <a:fillRect/>
          </a:stretch>
        </p:blipFill>
        <p:spPr bwMode="auto">
          <a:xfrm>
            <a:off x="1617784" y="414436"/>
            <a:ext cx="8693834" cy="5738193"/>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C00000"/>
                </a:solidFill>
              </a:rPr>
              <a:t>Personality Development </a:t>
            </a:r>
            <a:endParaRPr lang="en-US" b="1" dirty="0">
              <a:solidFill>
                <a:srgbClr val="C00000"/>
              </a:solidFill>
            </a:endParaRPr>
          </a:p>
        </p:txBody>
      </p:sp>
      <p:sp>
        <p:nvSpPr>
          <p:cNvPr id="3" name="Content Placeholder 2"/>
          <p:cNvSpPr>
            <a:spLocks noGrp="1"/>
          </p:cNvSpPr>
          <p:nvPr>
            <p:ph idx="1"/>
          </p:nvPr>
        </p:nvSpPr>
        <p:spPr>
          <a:xfrm>
            <a:off x="281354" y="1825625"/>
            <a:ext cx="11605846" cy="4351338"/>
          </a:xfrm>
        </p:spPr>
        <p:txBody>
          <a:bodyPr/>
          <a:lstStyle/>
          <a:p>
            <a:pPr>
              <a:buNone/>
            </a:pPr>
            <a:r>
              <a:rPr lang="en-US" sz="3600" dirty="0" smtClean="0">
                <a:solidFill>
                  <a:schemeClr val="accent2">
                    <a:lumMod val="50000"/>
                  </a:schemeClr>
                </a:solidFill>
              </a:rPr>
              <a:t>Personality – 	Latin Word 		-	Persona 	-	Mask</a:t>
            </a:r>
          </a:p>
          <a:p>
            <a:pPr>
              <a:buNone/>
            </a:pPr>
            <a:endParaRPr lang="en-US" sz="3600" dirty="0" smtClean="0"/>
          </a:p>
          <a:p>
            <a:pPr>
              <a:buNone/>
            </a:pPr>
            <a:endParaRPr lang="en-US" sz="3600" dirty="0" smtClean="0"/>
          </a:p>
          <a:p>
            <a:pPr>
              <a:buNone/>
            </a:pPr>
            <a:r>
              <a:rPr lang="en-US" sz="3600" dirty="0" smtClean="0">
                <a:solidFill>
                  <a:schemeClr val="accent2">
                    <a:lumMod val="75000"/>
                  </a:schemeClr>
                </a:solidFill>
              </a:rPr>
              <a:t>Every Person	-	Wisdom	-	Behavior		-	Skill</a:t>
            </a:r>
          </a:p>
          <a:p>
            <a:pPr>
              <a:buNone/>
            </a:pPr>
            <a:endParaRPr lang="en-US" sz="3600" dirty="0" smtClean="0">
              <a:solidFill>
                <a:schemeClr val="accent2">
                  <a:lumMod val="75000"/>
                </a:schemeClr>
              </a:solidFill>
            </a:endParaRPr>
          </a:p>
          <a:p>
            <a:pPr>
              <a:buNone/>
            </a:pPr>
            <a:r>
              <a:rPr lang="en-US" sz="3600" dirty="0" smtClean="0">
                <a:solidFill>
                  <a:schemeClr val="accent2">
                    <a:lumMod val="75000"/>
                  </a:schemeClr>
                </a:solidFill>
              </a:rPr>
              <a:t>Love			-	Values		=	</a:t>
            </a:r>
            <a:r>
              <a:rPr lang="en-US" sz="3600" b="1" dirty="0" smtClean="0">
                <a:solidFill>
                  <a:srgbClr val="FF0000"/>
                </a:solidFill>
              </a:rPr>
              <a:t>Personality</a:t>
            </a:r>
            <a:r>
              <a:rPr lang="en-US" sz="3600" dirty="0" smtClean="0">
                <a:solidFill>
                  <a:schemeClr val="accent2">
                    <a:lumMod val="75000"/>
                  </a:schemeClr>
                </a:solidFill>
              </a:rPr>
              <a:t> </a:t>
            </a:r>
          </a:p>
          <a:p>
            <a:pPr>
              <a:buNone/>
            </a:pPr>
            <a:endParaRPr lang="en-US" dirty="0" smtClean="0">
              <a:solidFill>
                <a:schemeClr val="accent2">
                  <a:lumMod val="75000"/>
                </a:schemeClr>
              </a:solidFill>
            </a:endParaRPr>
          </a:p>
          <a:p>
            <a:pPr>
              <a:buNone/>
            </a:pPr>
            <a:endParaRPr lang="en-US" dirty="0">
              <a:solidFill>
                <a:schemeClr val="accent2">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lgn="ctr">
              <a:buNone/>
            </a:pPr>
            <a:r>
              <a:rPr lang="en-US" sz="4800" dirty="0" smtClean="0">
                <a:solidFill>
                  <a:schemeClr val="accent2">
                    <a:lumMod val="75000"/>
                  </a:schemeClr>
                </a:solidFill>
              </a:rPr>
              <a:t>Skill		-	Wisdom</a:t>
            </a:r>
          </a:p>
          <a:p>
            <a:pPr algn="ctr">
              <a:buNone/>
            </a:pPr>
            <a:r>
              <a:rPr lang="en-US" sz="4800" dirty="0" smtClean="0">
                <a:solidFill>
                  <a:schemeClr val="accent2">
                    <a:lumMod val="50000"/>
                  </a:schemeClr>
                </a:solidFill>
              </a:rPr>
              <a:t>Optimist	-	Pessimist</a:t>
            </a:r>
          </a:p>
          <a:p>
            <a:pPr>
              <a:buNone/>
            </a:pPr>
            <a:endParaRPr lang="en-US" sz="4400" dirty="0" smtClean="0"/>
          </a:p>
          <a:p>
            <a:pPr>
              <a:buNone/>
            </a:pPr>
            <a:endParaRPr lang="en-US" sz="4400" dirty="0" smtClean="0"/>
          </a:p>
          <a:p>
            <a:pPr>
              <a:buNone/>
            </a:pPr>
            <a:r>
              <a:rPr lang="en-US" sz="4000" dirty="0" smtClean="0">
                <a:solidFill>
                  <a:srgbClr val="FF0000"/>
                </a:solidFill>
              </a:rPr>
              <a:t>Don’t Live ‘For’ Happiness. Live ‘with’ Happiness</a:t>
            </a:r>
            <a:endParaRPr lang="en-US" sz="4000"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803810" y="84408"/>
            <a:ext cx="10633224" cy="6666293"/>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4471" y="826818"/>
            <a:ext cx="10515600" cy="4351338"/>
          </a:xfrm>
        </p:spPr>
        <p:txBody>
          <a:bodyPr>
            <a:normAutofit/>
          </a:bodyPr>
          <a:lstStyle/>
          <a:p>
            <a:pPr algn="ctr">
              <a:buNone/>
            </a:pPr>
            <a:r>
              <a:rPr lang="en-US" sz="4800" dirty="0" smtClean="0">
                <a:solidFill>
                  <a:srgbClr val="FF0000"/>
                </a:solidFill>
              </a:rPr>
              <a:t>Great Personality,</a:t>
            </a:r>
          </a:p>
          <a:p>
            <a:pPr algn="ctr">
              <a:buNone/>
            </a:pPr>
            <a:endParaRPr lang="en-US" sz="4400" dirty="0" smtClean="0">
              <a:solidFill>
                <a:srgbClr val="FF0000"/>
              </a:solidFill>
            </a:endParaRPr>
          </a:p>
          <a:p>
            <a:pPr algn="ctr">
              <a:buNone/>
            </a:pPr>
            <a:r>
              <a:rPr lang="en-US" sz="4000" dirty="0" smtClean="0"/>
              <a:t> </a:t>
            </a:r>
            <a:r>
              <a:rPr lang="en-US" sz="4000" dirty="0" smtClean="0">
                <a:solidFill>
                  <a:schemeClr val="accent2">
                    <a:lumMod val="75000"/>
                  </a:schemeClr>
                </a:solidFill>
              </a:rPr>
              <a:t>Mahatma Gandhi,   </a:t>
            </a:r>
          </a:p>
          <a:p>
            <a:pPr algn="ctr">
              <a:buNone/>
            </a:pPr>
            <a:r>
              <a:rPr lang="en-US" sz="4000" dirty="0" smtClean="0">
                <a:solidFill>
                  <a:schemeClr val="accent2">
                    <a:lumMod val="75000"/>
                  </a:schemeClr>
                </a:solidFill>
              </a:rPr>
              <a:t> Nelson Mandela,</a:t>
            </a:r>
          </a:p>
          <a:p>
            <a:pPr algn="ctr">
              <a:buNone/>
            </a:pPr>
            <a:r>
              <a:rPr lang="en-US" sz="4000" dirty="0" smtClean="0">
                <a:solidFill>
                  <a:schemeClr val="accent2">
                    <a:lumMod val="75000"/>
                  </a:schemeClr>
                </a:solidFill>
              </a:rPr>
              <a:t> Shania Twain , </a:t>
            </a:r>
          </a:p>
          <a:p>
            <a:pPr algn="ctr">
              <a:buNone/>
            </a:pPr>
            <a:r>
              <a:rPr lang="en-US" sz="4000" dirty="0" smtClean="0">
                <a:solidFill>
                  <a:schemeClr val="accent2">
                    <a:lumMod val="75000"/>
                  </a:schemeClr>
                </a:solidFill>
              </a:rPr>
              <a:t>Mother Teresa</a:t>
            </a:r>
            <a:endParaRPr lang="en-US" sz="4000" dirty="0">
              <a:solidFill>
                <a:schemeClr val="accent2">
                  <a:lumMod val="7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0842"/>
            <a:ext cx="10515600" cy="5809957"/>
          </a:xfrm>
        </p:spPr>
        <p:txBody>
          <a:bodyPr>
            <a:normAutofit/>
          </a:bodyPr>
          <a:lstStyle/>
          <a:p>
            <a:pPr>
              <a:buNone/>
            </a:pPr>
            <a:r>
              <a:rPr lang="en-US" sz="3600" dirty="0" smtClean="0">
                <a:solidFill>
                  <a:schemeClr val="accent1">
                    <a:lumMod val="75000"/>
                  </a:schemeClr>
                </a:solidFill>
              </a:rPr>
              <a:t>		B	-	Basic Quality,		</a:t>
            </a:r>
            <a:r>
              <a:rPr lang="en-US" dirty="0" smtClean="0">
                <a:solidFill>
                  <a:schemeClr val="accent2">
                    <a:lumMod val="75000"/>
                  </a:schemeClr>
                </a:solidFill>
              </a:rPr>
              <a:t>(Good, Excellent, Bad)</a:t>
            </a:r>
            <a:endParaRPr lang="en-US" sz="3600" dirty="0" smtClean="0">
              <a:solidFill>
                <a:schemeClr val="accent2">
                  <a:lumMod val="75000"/>
                </a:schemeClr>
              </a:solidFill>
            </a:endParaRPr>
          </a:p>
          <a:p>
            <a:pPr>
              <a:buNone/>
            </a:pPr>
            <a:r>
              <a:rPr lang="en-US" sz="3600" dirty="0" smtClean="0">
                <a:solidFill>
                  <a:schemeClr val="accent1">
                    <a:lumMod val="75000"/>
                  </a:schemeClr>
                </a:solidFill>
              </a:rPr>
              <a:t>		R	-	Reputation,	</a:t>
            </a:r>
          </a:p>
          <a:p>
            <a:pPr>
              <a:buNone/>
            </a:pPr>
            <a:r>
              <a:rPr lang="en-US" sz="3600" dirty="0" smtClean="0">
                <a:solidFill>
                  <a:schemeClr val="accent1">
                    <a:lumMod val="75000"/>
                  </a:schemeClr>
                </a:solidFill>
              </a:rPr>
              <a:t>		A	-	Achievement,</a:t>
            </a:r>
          </a:p>
          <a:p>
            <a:pPr>
              <a:buNone/>
            </a:pPr>
            <a:r>
              <a:rPr lang="en-US" sz="3600" dirty="0" smtClean="0">
                <a:solidFill>
                  <a:schemeClr val="accent1">
                    <a:lumMod val="75000"/>
                  </a:schemeClr>
                </a:solidFill>
              </a:rPr>
              <a:t>		N	-	Network,</a:t>
            </a:r>
          </a:p>
          <a:p>
            <a:pPr>
              <a:buNone/>
            </a:pPr>
            <a:r>
              <a:rPr lang="en-US" sz="3600" dirty="0" smtClean="0">
                <a:solidFill>
                  <a:schemeClr val="accent1">
                    <a:lumMod val="75000"/>
                  </a:schemeClr>
                </a:solidFill>
              </a:rPr>
              <a:t>		D	-	Dignity,</a:t>
            </a:r>
          </a:p>
          <a:p>
            <a:pPr>
              <a:buNone/>
            </a:pPr>
            <a:endParaRPr lang="en-US" dirty="0" smtClean="0"/>
          </a:p>
          <a:p>
            <a:pPr algn="ctr">
              <a:buNone/>
            </a:pPr>
            <a:endParaRPr lang="en-US" sz="4000" b="1" dirty="0" smtClean="0">
              <a:solidFill>
                <a:schemeClr val="accent2">
                  <a:lumMod val="75000"/>
                </a:schemeClr>
              </a:solidFill>
            </a:endParaRPr>
          </a:p>
          <a:p>
            <a:pPr algn="ctr">
              <a:buNone/>
            </a:pPr>
            <a:r>
              <a:rPr lang="en-US" sz="4000" b="1" dirty="0" smtClean="0">
                <a:solidFill>
                  <a:schemeClr val="accent2">
                    <a:lumMod val="75000"/>
                  </a:schemeClr>
                </a:solidFill>
              </a:rPr>
              <a:t>Love</a:t>
            </a:r>
          </a:p>
          <a:p>
            <a:pPr algn="ctr">
              <a:buNone/>
            </a:pPr>
            <a:r>
              <a:rPr lang="en-US" sz="4000" b="1" dirty="0" smtClean="0">
                <a:solidFill>
                  <a:schemeClr val="accent2">
                    <a:lumMod val="75000"/>
                  </a:schemeClr>
                </a:solidFill>
              </a:rPr>
              <a:t>Respect </a:t>
            </a:r>
            <a:endParaRPr lang="en-US" sz="4000" b="1" dirty="0">
              <a:solidFill>
                <a:schemeClr val="accent2">
                  <a:lumMod val="7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9331"/>
            <a:ext cx="10515600" cy="5157632"/>
          </a:xfrm>
        </p:spPr>
        <p:txBody>
          <a:bodyPr/>
          <a:lstStyle/>
          <a:p>
            <a:pPr algn="just"/>
            <a:r>
              <a:rPr lang="en-US" sz="3600" dirty="0" err="1" smtClean="0">
                <a:latin typeface="Arial Unicode MS" pitchFamily="34" charset="-128"/>
                <a:ea typeface="Arial Unicode MS" pitchFamily="34" charset="-128"/>
                <a:cs typeface="Arial Unicode MS" pitchFamily="34" charset="-128"/>
              </a:rPr>
              <a:t>ಯಶಸ್ಸಿನ</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ರಹಸ್ಯವು</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ರಹಸ್ಯವಲ್ಲ</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ನೀವು</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ಯಾವುದೋ</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ಒಂದು</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ದೊಡ್ಡ</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ಉದ್ದೇಶದಿಂದ</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ಪ್ರೇರಿತರಾದಾಗ</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ನಿಮ್ಮ</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ಆಲೋಚನೆಗಳು</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ಅವುಗಳ</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ಬಂಧಗಳನ್ನು</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ಮುರಿಯುತ್ತವೆ</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ನಿಮ್ಮ</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ಮನಸ್ಸು</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ಮೀರುತ್ತದೆ</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ನಿಮ್ಮ</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ಪ್ರಜ್ಞೆಯು</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ಎಲ್ಲಾ</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ದಿಕ್ಕುಗಳಲ್ಲಿಯೂ</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ವಿಸ್ತರಿಸುತ್ತದೆ</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ಮತ್ತು</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ನೀವು</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ಎಂದಾದರೂ</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ಆಗಬೇಕೆಂದು</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ಕನಸು</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ಕಂಡಿದ್ದಕ್ಕಿಂತ</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ಹೆಚ್ಚಿನ</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ವ್ಯಕ್ತಿಯಾಗಿದ್ದೀರಿ</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ಎಂದು</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ನೀವು</a:t>
            </a:r>
            <a:r>
              <a:rPr lang="en-US" sz="3600" dirty="0" smtClean="0">
                <a:latin typeface="Arial Unicode MS" pitchFamily="34" charset="-128"/>
                <a:ea typeface="Arial Unicode MS" pitchFamily="34" charset="-128"/>
                <a:cs typeface="Arial Unicode MS" pitchFamily="34" charset="-128"/>
              </a:rPr>
              <a:t> </a:t>
            </a:r>
            <a:r>
              <a:rPr lang="en-US" sz="3600" dirty="0" err="1" smtClean="0">
                <a:latin typeface="Arial Unicode MS" pitchFamily="34" charset="-128"/>
                <a:ea typeface="Arial Unicode MS" pitchFamily="34" charset="-128"/>
                <a:cs typeface="Arial Unicode MS" pitchFamily="34" charset="-128"/>
              </a:rPr>
              <a:t>ಕಂಡುಕೊಳ್ಳುತ್ತೀರಿ</a:t>
            </a:r>
            <a:r>
              <a:rPr lang="en-US" sz="3600" dirty="0" smtClean="0">
                <a:latin typeface="Arial Unicode MS" pitchFamily="34" charset="-128"/>
                <a:ea typeface="Arial Unicode MS" pitchFamily="34" charset="-128"/>
                <a:cs typeface="Arial Unicode MS" pitchFamily="34" charset="-128"/>
              </a:rPr>
              <a:t>" </a:t>
            </a:r>
          </a:p>
          <a:p>
            <a:pPr algn="r">
              <a:buNone/>
            </a:pPr>
            <a:r>
              <a:rPr lang="en-US" sz="3600" dirty="0" err="1" smtClean="0">
                <a:solidFill>
                  <a:schemeClr val="accent1">
                    <a:lumMod val="50000"/>
                  </a:schemeClr>
                </a:solidFill>
                <a:latin typeface="Arial Unicode MS" pitchFamily="34" charset="-128"/>
                <a:ea typeface="Arial Unicode MS" pitchFamily="34" charset="-128"/>
                <a:cs typeface="Arial Unicode MS" pitchFamily="34" charset="-128"/>
              </a:rPr>
              <a:t>ಪತಂಜಲಿ</a:t>
            </a:r>
            <a:r>
              <a:rPr lang="en-US" sz="3600" dirty="0" smtClean="0">
                <a:solidFill>
                  <a:schemeClr val="accent1">
                    <a:lumMod val="50000"/>
                  </a:schemeClr>
                </a:solidFill>
              </a:rPr>
              <a: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4577"/>
            <a:ext cx="10515600" cy="5532386"/>
          </a:xfrm>
        </p:spPr>
        <p:txBody>
          <a:bodyPr>
            <a:normAutofit/>
          </a:bodyPr>
          <a:lstStyle/>
          <a:p>
            <a:pPr algn="just">
              <a:buNone/>
            </a:pPr>
            <a:r>
              <a:rPr lang="en-US" sz="4000" dirty="0" smtClean="0">
                <a:latin typeface="Arial Unicode MS" pitchFamily="34" charset="-128"/>
                <a:ea typeface="Arial Unicode MS" pitchFamily="34" charset="-128"/>
                <a:cs typeface="Arial Unicode MS" pitchFamily="34" charset="-128"/>
              </a:rPr>
              <a:t>Great people learn by other's experience. Average people learn by their own experiences and stupid never learns.</a:t>
            </a:r>
            <a:br>
              <a:rPr lang="en-US" sz="4000" dirty="0" smtClean="0">
                <a:latin typeface="Arial Unicode MS" pitchFamily="34" charset="-128"/>
                <a:ea typeface="Arial Unicode MS" pitchFamily="34" charset="-128"/>
                <a:cs typeface="Arial Unicode MS" pitchFamily="34" charset="-128"/>
              </a:rPr>
            </a:br>
            <a:r>
              <a:rPr lang="en-US" sz="4000" dirty="0" smtClean="0">
                <a:latin typeface="Arial Unicode MS" pitchFamily="34" charset="-128"/>
                <a:ea typeface="Arial Unicode MS" pitchFamily="34" charset="-128"/>
                <a:cs typeface="Arial Unicode MS" pitchFamily="34" charset="-128"/>
              </a:rPr>
              <a:t>An effective leader radiates positive energy. He is cheerful, </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9528"/>
            <a:ext cx="9849787" cy="5457435"/>
          </a:xfrm>
        </p:spPr>
        <p:txBody>
          <a:bodyPr>
            <a:normAutofit lnSpcReduction="10000"/>
          </a:bodyPr>
          <a:lstStyle/>
          <a:p>
            <a:pPr algn="just"/>
            <a:r>
              <a:rPr lang="en-US" sz="4000" dirty="0" smtClean="0">
                <a:latin typeface="Arial Unicode MS" pitchFamily="34" charset="-128"/>
                <a:ea typeface="Arial Unicode MS" pitchFamily="34" charset="-128"/>
                <a:cs typeface="Arial Unicode MS" pitchFamily="34" charset="-128"/>
              </a:rPr>
              <a:t>Correct expression is an art. See this expression: "We have gone through your application which was sent by you two weeks back in which you requested for a job and we, as we do not have any vacancies in our organization, are sorry to inform you that we are unable to provide any job to you at present, but you may approach us after six months, as your qualification and experience suits us."</a:t>
            </a:r>
            <a:r>
              <a:rPr lang="en-US" sz="3200" dirty="0" smtClean="0">
                <a:latin typeface="Arial Unicode MS" pitchFamily="34" charset="-128"/>
                <a:ea typeface="Arial Unicode MS" pitchFamily="34" charset="-128"/>
                <a:cs typeface="Arial Unicode MS" pitchFamily="34" charset="-128"/>
              </a:rPr>
              <a:t/>
            </a:r>
            <a:br>
              <a:rPr lang="en-US" sz="3200" dirty="0" smtClean="0">
                <a:latin typeface="Arial Unicode MS" pitchFamily="34" charset="-128"/>
                <a:ea typeface="Arial Unicode MS" pitchFamily="34" charset="-128"/>
                <a:cs typeface="Arial Unicode MS" pitchFamily="34" charset="-128"/>
              </a:rPr>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4498"/>
            <a:ext cx="10515600" cy="5412465"/>
          </a:xfrm>
        </p:spPr>
        <p:txBody>
          <a:bodyPr>
            <a:normAutofit/>
          </a:bodyPr>
          <a:lstStyle/>
          <a:p>
            <a:pPr algn="just">
              <a:buNone/>
            </a:pPr>
            <a:r>
              <a:rPr lang="en-US" sz="4000" dirty="0" smtClean="0">
                <a:latin typeface="Arial Unicode MS" pitchFamily="34" charset="-128"/>
                <a:ea typeface="Arial Unicode MS" pitchFamily="34" charset="-128"/>
                <a:cs typeface="Arial Unicode MS" pitchFamily="34" charset="-128"/>
              </a:rPr>
              <a:t>The same can be expressed in this way: "We are happy to receive an application for a job from you. We regret to inform you that at present we do not have any vacancies. But we are impressed with your qualification and experience. We request you to approach us after 6 months".</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99410"/>
            <a:ext cx="10515600" cy="5277553"/>
          </a:xfrm>
        </p:spPr>
        <p:txBody>
          <a:bodyPr/>
          <a:lstStyle/>
          <a:p>
            <a:pPr algn="ctr">
              <a:buNone/>
            </a:pPr>
            <a:r>
              <a:rPr lang="en-US" sz="3600" b="1" dirty="0" smtClean="0">
                <a:solidFill>
                  <a:schemeClr val="accent1">
                    <a:lumMod val="75000"/>
                  </a:schemeClr>
                </a:solidFill>
                <a:latin typeface="Arial Unicode MS" pitchFamily="34" charset="-128"/>
                <a:ea typeface="Arial Unicode MS" pitchFamily="34" charset="-128"/>
                <a:cs typeface="Arial Unicode MS" pitchFamily="34" charset="-128"/>
              </a:rPr>
              <a:t>LEARNING PROCESS</a:t>
            </a:r>
          </a:p>
          <a:p>
            <a:pPr algn="just">
              <a:buNone/>
            </a:pPr>
            <a:r>
              <a:rPr lang="en-US" sz="3600" dirty="0" smtClean="0">
                <a:latin typeface="Arial Unicode MS" pitchFamily="34" charset="-128"/>
                <a:ea typeface="Arial Unicode MS" pitchFamily="34" charset="-128"/>
                <a:cs typeface="Arial Unicode MS" pitchFamily="34" charset="-128"/>
              </a:rPr>
              <a:t>Newton observed an apple, falling down from a tree. He questioned himself, 'why should it fall on earth?" He thought and experienced the answer and discovered the force of gravitation. He became 'Sir' Isaac Newton. This is wisdom. A person derives his wisdom through six sources.</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9685"/>
            <a:ext cx="10515600" cy="5697278"/>
          </a:xfrm>
        </p:spPr>
        <p:txBody>
          <a:bodyPr>
            <a:normAutofit/>
          </a:bodyPr>
          <a:lstStyle/>
          <a:p>
            <a:pPr>
              <a:lnSpc>
                <a:spcPct val="150000"/>
              </a:lnSpc>
              <a:buNone/>
            </a:pPr>
            <a:r>
              <a:rPr lang="en-US" sz="3600" dirty="0" smtClean="0">
                <a:latin typeface="Arial Unicode MS" pitchFamily="34" charset="-128"/>
                <a:ea typeface="Arial Unicode MS" pitchFamily="34" charset="-128"/>
                <a:cs typeface="Arial Unicode MS" pitchFamily="34" charset="-128"/>
              </a:rPr>
              <a:t>1. </a:t>
            </a:r>
            <a:r>
              <a:rPr lang="en-US" sz="3600" dirty="0" err="1" smtClean="0">
                <a:latin typeface="Arial Unicode MS" pitchFamily="34" charset="-128"/>
                <a:ea typeface="Arial Unicode MS" pitchFamily="34" charset="-128"/>
                <a:cs typeface="Arial Unicode MS" pitchFamily="34" charset="-128"/>
              </a:rPr>
              <a:t>Shabda</a:t>
            </a:r>
            <a:r>
              <a:rPr lang="en-US" sz="3600" dirty="0" smtClean="0">
                <a:latin typeface="Arial Unicode MS" pitchFamily="34" charset="-128"/>
                <a:ea typeface="Arial Unicode MS" pitchFamily="34" charset="-128"/>
                <a:cs typeface="Arial Unicode MS" pitchFamily="34" charset="-128"/>
              </a:rPr>
              <a:t> (Listening)</a:t>
            </a:r>
          </a:p>
          <a:p>
            <a:pPr>
              <a:lnSpc>
                <a:spcPct val="150000"/>
              </a:lnSpc>
              <a:buNone/>
            </a:pPr>
            <a:r>
              <a:rPr lang="en-US" sz="3600" dirty="0" smtClean="0">
                <a:latin typeface="Arial Unicode MS" pitchFamily="34" charset="-128"/>
                <a:ea typeface="Arial Unicode MS" pitchFamily="34" charset="-128"/>
                <a:cs typeface="Arial Unicode MS" pitchFamily="34" charset="-128"/>
              </a:rPr>
              <a:t>2. </a:t>
            </a:r>
            <a:r>
              <a:rPr lang="en-US" sz="3600" dirty="0" err="1" smtClean="0">
                <a:latin typeface="Arial Unicode MS" pitchFamily="34" charset="-128"/>
                <a:ea typeface="Arial Unicode MS" pitchFamily="34" charset="-128"/>
                <a:cs typeface="Arial Unicode MS" pitchFamily="34" charset="-128"/>
              </a:rPr>
              <a:t>Drishya</a:t>
            </a:r>
            <a:r>
              <a:rPr lang="en-US" sz="3600" dirty="0" smtClean="0">
                <a:latin typeface="Arial Unicode MS" pitchFamily="34" charset="-128"/>
                <a:ea typeface="Arial Unicode MS" pitchFamily="34" charset="-128"/>
                <a:cs typeface="Arial Unicode MS" pitchFamily="34" charset="-128"/>
              </a:rPr>
              <a:t> (Seeing)</a:t>
            </a:r>
          </a:p>
          <a:p>
            <a:pPr>
              <a:lnSpc>
                <a:spcPct val="150000"/>
              </a:lnSpc>
              <a:buNone/>
            </a:pPr>
            <a:r>
              <a:rPr lang="en-US" sz="3600" dirty="0" smtClean="0">
                <a:latin typeface="Arial Unicode MS" pitchFamily="34" charset="-128"/>
                <a:ea typeface="Arial Unicode MS" pitchFamily="34" charset="-128"/>
                <a:cs typeface="Arial Unicode MS" pitchFamily="34" charset="-128"/>
              </a:rPr>
              <a:t>3. </a:t>
            </a:r>
            <a:r>
              <a:rPr lang="en-US" sz="3600" dirty="0" err="1" smtClean="0">
                <a:latin typeface="Arial Unicode MS" pitchFamily="34" charset="-128"/>
                <a:ea typeface="Arial Unicode MS" pitchFamily="34" charset="-128"/>
                <a:cs typeface="Arial Unicode MS" pitchFamily="34" charset="-128"/>
              </a:rPr>
              <a:t>Parisheelana</a:t>
            </a:r>
            <a:r>
              <a:rPr lang="en-US" sz="3600" dirty="0" smtClean="0">
                <a:latin typeface="Arial Unicode MS" pitchFamily="34" charset="-128"/>
                <a:ea typeface="Arial Unicode MS" pitchFamily="34" charset="-128"/>
                <a:cs typeface="Arial Unicode MS" pitchFamily="34" charset="-128"/>
              </a:rPr>
              <a:t> (Observing)</a:t>
            </a:r>
          </a:p>
          <a:p>
            <a:pPr>
              <a:lnSpc>
                <a:spcPct val="150000"/>
              </a:lnSpc>
              <a:buNone/>
            </a:pPr>
            <a:r>
              <a:rPr lang="en-US" sz="3600" dirty="0" smtClean="0">
                <a:latin typeface="Arial Unicode MS" pitchFamily="34" charset="-128"/>
                <a:ea typeface="Arial Unicode MS" pitchFamily="34" charset="-128"/>
                <a:cs typeface="Arial Unicode MS" pitchFamily="34" charset="-128"/>
              </a:rPr>
              <a:t>4. </a:t>
            </a:r>
            <a:r>
              <a:rPr lang="en-US" sz="3600" dirty="0" err="1" smtClean="0">
                <a:latin typeface="Arial Unicode MS" pitchFamily="34" charset="-128"/>
                <a:ea typeface="Arial Unicode MS" pitchFamily="34" charset="-128"/>
                <a:cs typeface="Arial Unicode MS" pitchFamily="34" charset="-128"/>
              </a:rPr>
              <a:t>Anumana</a:t>
            </a:r>
            <a:r>
              <a:rPr lang="en-US" sz="3600" dirty="0" smtClean="0">
                <a:latin typeface="Arial Unicode MS" pitchFamily="34" charset="-128"/>
                <a:ea typeface="Arial Unicode MS" pitchFamily="34" charset="-128"/>
                <a:cs typeface="Arial Unicode MS" pitchFamily="34" charset="-128"/>
              </a:rPr>
              <a:t> (Questioning)</a:t>
            </a:r>
          </a:p>
          <a:p>
            <a:pPr>
              <a:lnSpc>
                <a:spcPct val="150000"/>
              </a:lnSpc>
              <a:buNone/>
            </a:pPr>
            <a:r>
              <a:rPr lang="en-US" sz="3600" dirty="0" smtClean="0">
                <a:latin typeface="Arial Unicode MS" pitchFamily="34" charset="-128"/>
                <a:ea typeface="Arial Unicode MS" pitchFamily="34" charset="-128"/>
                <a:cs typeface="Arial Unicode MS" pitchFamily="34" charset="-128"/>
              </a:rPr>
              <a:t>5. </a:t>
            </a:r>
            <a:r>
              <a:rPr lang="en-US" sz="3600" dirty="0" err="1" smtClean="0">
                <a:latin typeface="Arial Unicode MS" pitchFamily="34" charset="-128"/>
                <a:ea typeface="Arial Unicode MS" pitchFamily="34" charset="-128"/>
                <a:cs typeface="Arial Unicode MS" pitchFamily="34" charset="-128"/>
              </a:rPr>
              <a:t>Anubhava</a:t>
            </a:r>
            <a:r>
              <a:rPr lang="en-US" sz="3600" dirty="0" smtClean="0">
                <a:latin typeface="Arial Unicode MS" pitchFamily="34" charset="-128"/>
                <a:ea typeface="Arial Unicode MS" pitchFamily="34" charset="-128"/>
                <a:cs typeface="Arial Unicode MS" pitchFamily="34" charset="-128"/>
              </a:rPr>
              <a:t> (Experiencing)</a:t>
            </a:r>
          </a:p>
          <a:p>
            <a:pPr>
              <a:lnSpc>
                <a:spcPct val="150000"/>
              </a:lnSpc>
              <a:buNone/>
            </a:pPr>
            <a:r>
              <a:rPr lang="en-US" sz="3600" dirty="0" smtClean="0">
                <a:latin typeface="Arial Unicode MS" pitchFamily="34" charset="-128"/>
                <a:ea typeface="Arial Unicode MS" pitchFamily="34" charset="-128"/>
                <a:cs typeface="Arial Unicode MS" pitchFamily="34" charset="-128"/>
              </a:rPr>
              <a:t>6. </a:t>
            </a:r>
            <a:r>
              <a:rPr lang="en-US" sz="3600" dirty="0" err="1" smtClean="0">
                <a:latin typeface="Arial Unicode MS" pitchFamily="34" charset="-128"/>
                <a:ea typeface="Arial Unicode MS" pitchFamily="34" charset="-128"/>
                <a:cs typeface="Arial Unicode MS" pitchFamily="34" charset="-128"/>
              </a:rPr>
              <a:t>Yochana</a:t>
            </a:r>
            <a:r>
              <a:rPr lang="en-US" sz="3600" dirty="0" smtClean="0">
                <a:latin typeface="Arial Unicode MS" pitchFamily="34" charset="-128"/>
                <a:ea typeface="Arial Unicode MS" pitchFamily="34" charset="-128"/>
                <a:cs typeface="Arial Unicode MS" pitchFamily="34" charset="-128"/>
              </a:rPr>
              <a:t> (Thinking). </a:t>
            </a: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9390"/>
            <a:ext cx="9939728" cy="5247573"/>
          </a:xfrm>
        </p:spPr>
        <p:txBody>
          <a:bodyPr/>
          <a:lstStyle/>
          <a:p>
            <a:pPr algn="just">
              <a:buNone/>
            </a:pPr>
            <a:r>
              <a:rPr lang="en-US" sz="4000" dirty="0" smtClean="0">
                <a:latin typeface="Arial Unicode MS" pitchFamily="34" charset="-128"/>
                <a:ea typeface="Arial Unicode MS" pitchFamily="34" charset="-128"/>
                <a:cs typeface="Arial Unicode MS" pitchFamily="34" charset="-128"/>
              </a:rPr>
              <a:t>Skill is different from wisdom. Fighting with a lion may be a skill. Not fighting unnecessarily is "wisdom". Skill, added with experience, emotion with balance of mind, intelligence coupled with knowledge... in total is called wisdom (</a:t>
            </a:r>
            <a:r>
              <a:rPr lang="en-US" sz="4000" dirty="0" err="1" smtClean="0">
                <a:latin typeface="Arial Unicode MS" pitchFamily="34" charset="-128"/>
                <a:ea typeface="Arial Unicode MS" pitchFamily="34" charset="-128"/>
                <a:cs typeface="Arial Unicode MS" pitchFamily="34" charset="-128"/>
              </a:rPr>
              <a:t>Jnana</a:t>
            </a:r>
            <a:r>
              <a:rPr lang="en-US" sz="4000" dirty="0" smtClean="0">
                <a:latin typeface="Arial Unicode MS" pitchFamily="34" charset="-128"/>
                <a:ea typeface="Arial Unicode MS" pitchFamily="34" charset="-128"/>
                <a:cs typeface="Arial Unicode MS" pitchFamily="34" charset="-128"/>
              </a:rPr>
              <a:t>).</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19923" y="0"/>
            <a:ext cx="1195972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2064064" y="844063"/>
            <a:ext cx="7825524" cy="51514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srcRect/>
          <a:stretch>
            <a:fillRect/>
          </a:stretch>
        </p:blipFill>
        <p:spPr bwMode="auto">
          <a:xfrm>
            <a:off x="3404382" y="1991262"/>
            <a:ext cx="5255138" cy="2759893"/>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361</Words>
  <Application>Microsoft Office PowerPoint</Application>
  <PresentationFormat>Custom</PresentationFormat>
  <Paragraphs>41</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Personality Development </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ACER</cp:lastModifiedBy>
  <cp:revision>20</cp:revision>
  <dcterms:created xsi:type="dcterms:W3CDTF">2024-11-20T14:21:25Z</dcterms:created>
  <dcterms:modified xsi:type="dcterms:W3CDTF">2026-09-24T07:18:54Z</dcterms:modified>
</cp:coreProperties>
</file>