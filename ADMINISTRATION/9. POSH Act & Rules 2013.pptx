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334000"/>
            <a:ext cx="7848600" cy="1371600"/>
          </a:xfrm>
        </p:spPr>
        <p:txBody>
          <a:bodyPr>
            <a:normAutofit/>
          </a:bodyPr>
          <a:lstStyle/>
          <a:p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ಅಧಿಸೂಚನೆ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ಎಫ್.ನಂ.19-5/2013,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 9ನೇ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ಡಿಸೆಂಬರ್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2013</a:t>
            </a:r>
          </a:p>
          <a:p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ಭಾರತದ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ಪತ್ರ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ಪತ್ರಿಕೆ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 9ನೇ </a:t>
            </a:r>
            <a:r>
              <a:rPr lang="en-US" sz="2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ಡಿಸೆಂಬರ್</a:t>
            </a:r>
            <a:r>
              <a:rPr lang="en-US" sz="2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2013</a:t>
            </a:r>
            <a:endParaRPr lang="en-US" sz="2200" dirty="0">
              <a:solidFill>
                <a:schemeClr val="tx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1371600"/>
          </a:xfrm>
        </p:spPr>
        <p:txBody>
          <a:bodyPr>
            <a:noAutofit/>
          </a:bodyPr>
          <a:lstStyle/>
          <a:p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ಕಾರ್ಯಸ್ಥಾನದಲ್ಲಿ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ಮಹಿಳೆಯರ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ಮೇಲಾಗುವ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ನಿರೋಧ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ನಿರ್ಬಂಧನೆ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ನಿವಾರಣೆ</a:t>
            </a:r>
            <a:r>
              <a:rPr lang="en-US" sz="32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ಕಾಯ್ದೆ-2013</a:t>
            </a:r>
            <a:endParaRPr lang="en-US" sz="3200" b="1" dirty="0">
              <a:solidFill>
                <a:srgbClr val="C000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4282" y="1752600"/>
            <a:ext cx="704291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ವಿಷಯಗಳು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5105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ಸಂಕ್ಷಿಪ್ತ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ಶೀರ್ಷಿಕೆ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ಪ್ರಾರಂಭ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ಪರಿಭಾಷೆಗಳು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ಎ)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ಕಾಯ್ದೆ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ಇ)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ಎಫ್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ಶಿಕ್ಷಕ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ಇನ್ನುಳಿದ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ಶಬ್ದಗಳು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ಆಂತರಿಕ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ಸಮಿತಿಗಳ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ಸದಸ್ಯರುಗಳಿಗೆ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ಫೀ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ಭತ್ಯೆಗಳು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sz="23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4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ದೌರ್ಜನ್ಯದಂತಹ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ವಿಷಯಗಳ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ಪ್ರಕರಣಗಳಲ್ಲಿ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ಅನುಭವಸ್ಥ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5.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ಸ್ಥಾನಿಕ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ಪೀಠಾಸೀನ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ಅಧಿಕಾರಿಗಳ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ಫೀ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sz="17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6.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800600"/>
          </a:xfrm>
        </p:spPr>
        <p:txBody>
          <a:bodyPr>
            <a:normAutofit fontScale="70000" lnSpcReduction="20000"/>
          </a:bodyPr>
          <a:lstStyle/>
          <a:p>
            <a:pPr marL="123825" indent="-476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ದೂರಿನನ್ವಯ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ನಡೆಯುವ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ತನಿಖಾ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ಪದ್ದತಿ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47625">
              <a:buNone/>
            </a:pPr>
            <a:endParaRPr lang="en-US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476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8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ಬಾಕಿ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ಇರುವಾಗ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ದೂರುದಾರನಿಗೆ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476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ಸಿಗುವ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ಇತರೆ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ಪರಿಹಾರಗಳು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47625">
              <a:buNone/>
            </a:pPr>
            <a:endParaRPr lang="en-US" sz="13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476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9.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ಪ್ರಕರಣದಲ್ಲಿ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476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ಕೈಗೊಳ್ಳಬೇಕಾದ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ಕ್ರಮಗಳ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ವಿಧಿ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123825" indent="-47625">
              <a:buNone/>
            </a:pPr>
            <a:endParaRPr lang="en-US" sz="11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10.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ತಪ್ಪು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ದುರುದ್ದೇಶ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ವಿರುದ್ಧ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ಸುಳ್ಳು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ಸಾಕ್ಷಿಯ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ವಿರುದ್ಧ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ತೆಗೆದುಕೊಳ್ಳಬೇಕಾದ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ಕ್ರಮ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123825" indent="-123825">
              <a:buNone/>
            </a:pPr>
            <a:endParaRPr lang="en-US" sz="23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11.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ಮೇಲ್ಮನವಿ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123825" indent="-123825">
              <a:buNone/>
            </a:pPr>
            <a:endParaRPr lang="en-US" sz="23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12.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16ರ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ವ್ಯತಿರಿಕ್ತ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ವ್ಯವಹಾರಕ್ಕೆ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ಜುಲ್ಮಾನೆ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13.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ಕಾರ್ಯಾಗಾರದ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ವ್ಯವಸ್ಥೆ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ಇತರ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ಕಾರ್ಯಕಲಾಪದ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ವಿಧಿ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123825" indent="-123825">
              <a:buNone/>
            </a:pP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14.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ವಾರ್ಷಿಕ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ವರದಿ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ತಯಾರಿಕೆ</a:t>
            </a:r>
            <a:endParaRPr lang="en-US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371600"/>
            <a:ext cx="8503920" cy="4727448"/>
          </a:xfrm>
        </p:spPr>
        <p:txBody>
          <a:bodyPr/>
          <a:lstStyle/>
          <a:p>
            <a:pPr algn="just">
              <a:buNone/>
            </a:pP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1. </a:t>
            </a: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ಸಂಕ್ಷಿಪ್ತ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ಶೀರ್ಷಿಕೆ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ಪ್ರಾರಂಭ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.-</a:t>
            </a: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ನಿಯಮ.1,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(1)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ಇವುಗಳನ್ನು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ಕಾರ್ಯಸ್ಥಾನದಲ್ಲಿ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ಮಹಿಳೆಯರ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ಮೇಲಾಗುವ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ನಿರೋಧ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ನಿರ್ಬಂಧನೆ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ನಿವಾರಣೆ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2013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ಸಂಭೋದಿಸಬಹುದು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 </a:t>
            </a:r>
          </a:p>
          <a:p>
            <a:pPr algn="just">
              <a:buNone/>
            </a:pP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ನಿಯಮ.1,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(2)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ಇವುಗಳನ್ನು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ಅಧಿಕೃತ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ರಾಜ್ಯಪತ್ರದಲ್ಲಿ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ಮುದ್ರಿಸಿದ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ದಿನದಿಂದ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ಇವು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ಜಾರಿಗೆ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ಬಂದಂತೆ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ಪರಿಗಣಿಸಬೇಕು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842248" cy="4572000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2.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ಪರಿಭಾಷೆಗಳು.-ಒಂದು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ಸಂದರ್ಭ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ಸನ್ನಿವೇಶದ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	  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ಅವಶ್ಯಕತೆಗಳು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ವ್ಯತಿರಿಕ್ತವಾಗಿಲ್ಲದೇ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ಹೋದರೆ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ಈ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ನಿಯಮಗಳಲ್ಲಿ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    	  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ಶಬ್ದಗಳ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ವಿಚಾರಗಳ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ಅರ್ಥ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ಕೆಳಗಿನಂತಿದೆ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ಎ) 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ಕಾಯ್ದೆ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ಅಂದರೆ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ಕಾರ್ಯಸ್ಥಾನದಲ್ಲಿ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ಮಹಿಳೆಯರ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ಮೇಲಾಗುವ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ನಿರೋಧ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ನಿರ್ಬಂಧನೆ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ನಿವಾರಣೆ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6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ಕಾಯ್ದೆ</a:t>
            </a:r>
            <a:r>
              <a:rPr lang="en-US" sz="26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2013;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"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9ರ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"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ಇದೊಂದು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ಆಂತರಿಕ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ಸ್ಥಳೀಯ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"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ಕಾಯ್ದೆಯ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2ರ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ಖಂಡ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ಚರ್ಚಿಸಿದ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(ಇ) "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ಕಾಯ್ದೆಯ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ಎಫ್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"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ಶಿಕ್ಷಕ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ಕೆಲವು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ಚೇತನ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ಮಕ್ಕಳೊಡನೆ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ಅವರವರ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 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ಅವಶ್ಯಕತೆಗನುಸಾರವಾಗಿ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ವಿಭಿನ್ನ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ರೀತಿಯಿಂದ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ಅವರೊಡನೆ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ಸಂಪರ್ಕ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 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ಸಾಧಿಸುವ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ಕಲೆಯಲ್ಲಿ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ತರಬೇತು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ಪಡೆದವನು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ಇನ್ನುಳಿದ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ಶಬ್ದಗಳನ್ನು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ವ್ಯಾಖಿಸದೇ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ಹೋಗಿ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ಕಾಯ್ದೆಯಲ್ಲಿ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ವ್ಯಾಖಿಸಲಾಗಿದ್ದರೇ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ಅವುಗಳಿಗೆ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ಅರ್ಥ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ಅನ್ವಯಿಸುತ್ತದೆ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-3. 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ಆಂತರಿಕ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ಸಮಿತಿಗಳ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ಸದಸ್ಯರುಗಳಿಗೆ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ಫೀ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ಭತ್ಯೆಗಳು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0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3,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(1)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ಸದಸ್ಯರುಗಳು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ಸರ್ಕಾರೇತರ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ಸಂಸ್ಥೆಗಳಿಂದ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ಆರಿಸಲ್ಪಟ್ಟವರಾಗಿದ್ದರೇ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ಅಂಥವರಿಗೆ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ಪ್ರತಿದಿನದ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ವಿಚಾರಣೆಗಾಗಿ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200/-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ಪ್ರಯಾಣ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ಭತ್ಯಯಾಗಿ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ಹವಾನಿಯಂತ್ರಿತ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3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ಟಯರ್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ಟ್ರೈನ್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ಹವಾನಿಯಂತ್ರಿತ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ಬಸ್ಸಿನ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ಆಟೋರಿಕ್ಷಾ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ಟ್ಯಾಕ್ಸಿ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ಪ್ರಯಾಣಕ್ಕಾಗಿ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ಖರ್ಚು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ನೈಜ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ಮೊತ್ತ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ಕನಿಷ್ಠವೋ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ಮರುಪಾವತಿಸಲಾಗುವುದು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3,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(2)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ಉಪ-ನಿಯಮ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(1)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ಹೇಳಿದ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ಉದ್ಯೋಗದಾತ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ಸಂದಾಯ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533400"/>
            <a:ext cx="8613648" cy="56388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endParaRPr lang="en-US" sz="22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ನಿಯಮ-4</a:t>
            </a: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2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ದೌರ್ಜನ್ಯದಂತಹ</a:t>
            </a: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ವಿಷಯಗಳ</a:t>
            </a: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ಪ್ರಕರಣಗಳಲ್ಲಿ</a:t>
            </a: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ಅನುಭವಸ್ಥ</a:t>
            </a: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sz="2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.-</a:t>
            </a: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ಉಪ-ಕಲಂ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(1)ರ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ಖಂಡ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ವಿವರಿಸಿದ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ದೌರ್ಜನ್ಯಕ್ಕೆ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ಸಂಬಂಧಿತ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ವಿಷಯಗಳನ್ನು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ನಿರ್ವಹಿಸುವಲ್ಲಿ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ಪರಿಣಿತಿ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ಹೊಂದಿದವನಾಗಿದ್ದು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ಈ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ಕೆಳಗಿನವುಗಳಲ್ಲಿ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ವೃತ್ತಿಯಲ್ಲಿರಬಹುದು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sz="24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ಎ)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ಅವರು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ಸಮಾಜ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ಸೇವನಾಗಿದ್ದು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ಅವರ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ಸಮಾಜದಲ್ಲಿ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ಸ್ತ್ರೀ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ಸಬಲೀಕರಣ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ವಿಷಯವಾಗಿದ್ದು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ವಿಶೇಷವಾಗಿ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ಕಾರ್ಯಸ್ಥಾನದಲ್ಲಿ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ಮಹಿಳೆಯರಿಗಾಗುವ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ದೌರ್ಜನ್ಯಗಳಂತಹ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ಪಿಡುಗು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ಮುಕ್ತ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ಸಮಾಜದ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ನಿರ್ಮಾಣದ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ಪ್ರಯತ್ನದ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ರೂಪದಲ್ಲಿರಬೇಕು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sz="24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ಅಂತಹ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ಸಿವಿಲ್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ಅಪರಾಧಿಕ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ಕಾರ್ಮಿಕ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ಕಾನೂನುಗಳ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ಜ್ಞಾನ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ಹೊಂದಿರಬೇಕು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24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381000"/>
            <a:ext cx="8503920" cy="5718048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ನಿಯಮ-5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ಸ್ಥಾನಿಕ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ಪೀಠಾಸೀನ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ಅಧಿಕಾರಿಗಳ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ಫೀ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ಉ.ನಿ:1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ಸ್ಥಳೀಯ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ಕಾರ್ಯಕಲಾಪನಗಳನ್ನು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ನಿರ್ವಹಿಸಲು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ಪೀಠಾಸೀನ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ಅಧಿಕಾರಿಗಳಿಗೆ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ಪ್ರತೀ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250/-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ರೂಪಾಯಿಗಳ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ನೀಡಲಾಗುವುದು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ಉ.ನಿ:2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7 ರ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 ರ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ಖಂಡ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ಅಂತರ್ಗತ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 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ನಾಮ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ನಿರ್ದೇಶಿತ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ಸದಸ್ಯೆರನ್ನು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ಹೊರತುಪಡಿಸಿ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ಉಳಿದ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ಪ್ರತೀ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ಕಾರ್ಯಕಲಾಪದಲ್ಲಿ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ಭಾಗವಹಿಸಲು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ತಲಾ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200/-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ರೂಪಾಯಿ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  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ನೀಡಲಾಗುವುದು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ಅದಲ್ಲದೇ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ಹವಾನಿಯಂತ್ರಣ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3-ಟೈಯರ್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ಟ್ರೈನ್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ಹವಾನಿಯಂತ್ರಣ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ಬಸ್ಸು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ಆಟೋರಿಕ್ಷಾ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ಟ್ಯಾಕ್ಸಿ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ನೈಜ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ಪ್ರಯಾಣ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ಖರ್ಚಿನಲ್ಲಿ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ಕನಿಷ್ಠವೋ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ಪ್ರಯಾಣ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ರೂಪದಲ್ಲಿ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ಸಂದಾಯ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ಮಾಡಲಾಗುವುದು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ಉ.ನಿ:3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(1)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(2)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ರಲ್ಲಿಯ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ಭತ್ಯೆಗಳನ್ನು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ಜಿಲ್ಲಾ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ಮಟ್ಟದ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	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ಸಂದಾಯ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381000"/>
            <a:ext cx="8842248" cy="5718048"/>
          </a:xfrm>
        </p:spPr>
        <p:txBody>
          <a:bodyPr/>
          <a:lstStyle/>
          <a:p>
            <a:pPr>
              <a:buNone/>
            </a:pP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6,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9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ರಡಿಯ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(2) ರ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ಅನ್ವಯದ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ದೂರುಗಳನ್ನು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ಕೆಳಗಿನ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ರೀತಿಯಲ್ಲಿ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ನೀಡಬಹುದು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ತನ್ನ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ದೈಹಿಕ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ಅಸಮರ್ಥತೆಯಿಂದ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ನೀಡುವಲ್ಲಿ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ಅಸಾಧ್ಯವಾದಲ್ಲಿ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ಕೆಳಗಿನವರು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(ಎ)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ಸಂಬಂಧಿಕರು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ಮಿತ್ರರು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ಸಹೋದ್ಯೋಗಿಗಳು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ರಾಷ್ಟ್ರೀಯ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ಆಯೋಗದ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2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endParaRPr lang="en-US" sz="2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ಮಹಿಳೆಯಿಂದ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ಲಿಖಿತ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ಅನುಮತಿ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		     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ಘಟನೆಯ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ವಿವರ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ತಿಳಿಸಿದ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915400" cy="6400800"/>
          </a:xfrm>
        </p:spPr>
        <p:txBody>
          <a:bodyPr>
            <a:normAutofit fontScale="85000" lnSpcReduction="20000"/>
          </a:bodyPr>
          <a:lstStyle/>
          <a:p>
            <a:pPr marL="273050" indent="-47625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(ii)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ಮಾನಸಿಕವಾಗಿ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ಅಸ್ವಸ್ಥಳಾಗಿದ್ದರೆ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ಅಂತಹ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ಕೆಳಗಿನವರು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pPr marL="633413" indent="-273050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(ಎ)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ಮಿತ್ರ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633413" indent="-273050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ಒಬ್ಬ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ಶಿಕ್ಷಕ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633413" indent="-273050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ಒಬ್ಬ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ಅರ್ಹ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ಮನೋವೈದ್ಯ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ಮನೋವೈಜ್ಞಾನಿಕ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633413" indent="-273050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1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ಪೋಷಕ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ಮೇಲ್ವಿಚಾರಣೆಯ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ಅಂತರ್ಗತ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ಚಿಕಿತ್ಸೆ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ಪಡೆಯುತ್ತಿದ್ದಾಳೋ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633413" indent="-273050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(ಇ)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ಇದಲ್ಲದೆ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ತಿಳಿದವನು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ಜೊತೆಗೆ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ಶಿಕ್ಷಕ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ಮಿತ್ರ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ಅರ್ಹ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ಮನೋಚಿಕಿತ್ಸಕ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ಮನೋವೈಜ್ಞಾನಿಕ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ಸುಪರ್ದಿಯಲ್ಲಿ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ಇದ್ದು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ಚಿಕಿತ್ಸೆ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ಪಡೆಯುತ್ತಿದ್ದಾಳೆಯೋ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ಅಂಥವರು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ಕೂಡಿ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  <a:r>
              <a:rPr lang="en-US" dirty="0" smtClean="0"/>
              <a:t> </a:t>
            </a:r>
          </a:p>
          <a:p>
            <a:pPr marL="633413" indent="-273050" algn="just">
              <a:buNone/>
            </a:pPr>
            <a:endParaRPr lang="en-US" dirty="0" smtClean="0"/>
          </a:p>
          <a:p>
            <a:pPr marL="284163" indent="0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(iii) 	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ರೀತಿ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ಮತ್ತಾವುದೋ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ಕಾರಣದಿಂದ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ಅಸಮರ್ಥಳಾಗಿದ್ದರೇ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ಅವಳಿಂದ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ಲಿಖಿತ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ಅನುಮತಿ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ಆ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ತಿಳಿದುಕೊಂಡ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marL="284163" indent="0"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284163" indent="0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(iv)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ಅಸುನೀಗಿದ್ದರೇ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ಆ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ಬಲ್ಲ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ಆ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ಕಾನೂನಿನ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ವಾರಸುದಾರರಿಂದ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ಲಿಖಿತ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ಒಪ್ಪಿಗೆ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228600"/>
            <a:ext cx="8503920" cy="6172200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endParaRPr lang="en-US" sz="33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 7.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ದೂರಿನನ್ವಯ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ನಡೆಯುವ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ತನಿಖಾ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3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ಪದ್ದತಿ</a:t>
            </a:r>
            <a:r>
              <a:rPr lang="en-US" sz="33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.-</a:t>
            </a:r>
          </a:p>
          <a:p>
            <a:pPr algn="just">
              <a:buNone/>
            </a:pPr>
            <a:endParaRPr lang="en-US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465138" indent="-465138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(1)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ಸಲ್ಲಿಸುವ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ಜೊತೆಗೆ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ದಾಖಲಿಸುವವನ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ಸಾಕ್ಷಿದಾರರ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ಹೆಸರು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ವಿಳಾಸಗಳನ್ನು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ಹೊಂದಿರುವಂತಹ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6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ಪ್ರತಿಗಳನ್ನು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ದಸ್ತಾವೇಜುಗಳೊಂದಿಗೆ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ಸಲ್ಲಿಸಬೇಕು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465138" indent="-465138"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465138" indent="-465138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(2)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ಹೀಗೆ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ದಾಖಲಿಸಲ್ಪಟ್ಟ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ಪ್ರತಿಯನ್ನು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ಉಪ-ನಿಯಮ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(1)ರ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ಸ್ವೀಕರಿಸಿದ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ಮುಂದಿನ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ಏಳು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ಕರ್ತವ್ಯದ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ದಿನಗಳೊಳಗಾಗಿ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ಎದುರುದಾರನಿಗೆ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465138" indent="-465138"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465138" indent="-465138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(3)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ಉಪ-ನಿಯಮ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(1)ರ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ಅಂತರ್ಗತ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ಮುಟ್ಟಿದ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ಹತ್ತು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ಕರ್ತವ್ಯದ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ದಿನದೊಳಗಾಗಿ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ಎದುರುದಾರ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ಅದಕ್ಕೆ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ತನ್ನ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ಉತ್ತರದ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ಜೊತೆಗೆ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ದಸ್ತಾವೇಜುಗಳನ್ನು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ಸಾಕ್ಷ್ಯಗಳ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ಹೆಸರು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ವಿಳಾಸಗಳನ್ನು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ಸಲ್ಲಿಸಬೇಕು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465138" indent="-465138"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465138" indent="-465138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(4)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ಸ್ವಾಭಾವಿಕ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ನ್ಯಾಯದ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ತತ್ವಗಳಿಗನುಸಾರವಾಗಿ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381000"/>
            <a:ext cx="8503920" cy="5718048"/>
          </a:xfrm>
        </p:spPr>
        <p:txBody>
          <a:bodyPr>
            <a:normAutofit lnSpcReduction="10000"/>
          </a:bodyPr>
          <a:lstStyle/>
          <a:p>
            <a:pPr marL="273050" indent="11113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(5)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ಪೀಠಾಸೀನ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ಅಧ್ಯಕ್ಷರು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ಕೊಟ್ಟ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ನಿರಂತರ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ವಿಚಾರಣೆಗಳಿಗೆ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ದೂರುದಾರ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ಎದುರುದಾರ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ಸೂಕ್ತ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ಕಾರಣವಿಲ್ಲದೇ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ಗೈರು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ಹಾಜರುಳಿದರೆ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ಇಡೀ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ವಿಚಾರಣೆಯನ್ನೇ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ರದ್ದು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ಮಾಡುವೆ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ಏಕಪಕ್ಷೀಯವಾಗಿ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ನಿರ್ಣಯ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ಅಧಿಕಾರವಿದೆ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pPr marL="273050" indent="11113"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273050" indent="11113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(6)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ಪ್ರಕ್ರಿಯೆಯ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ಹಂತದಲ್ಲಿ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ಪಕ್ಷಗಾರರು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ವಕೀಲರು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ತಮ್ಮನ್ನು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ಪ್ರತಿನಿಧಿಸುವಂತೆ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ಕೋರಿ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ಕರೆತರುವಂತಿಲ್ಲ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marL="273050" indent="11113"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273050" indent="11113"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(7)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ಅಧ್ಯಕ್ಷ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ಸೀನ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ಒಳಗೊಂಡು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ಕನಿಷ್ಠ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ಪೀಠಾಸೀನ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ಉಪಸ್ಥಿತರಿರಲೇಬೇಕು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3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ಜನರು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503920" cy="5867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8.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ವಿಚಾರಣೆ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ಬಾಕಿ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ಇರುವಾಗ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ದೂರುದಾರನಿಗೆ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ಸಿಗುವ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ಇತರೆ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      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ಪರಿಹಾರಗಳು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.-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ದೂರುದಾರಳ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ಲಿಖಿತ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ವಿನಂತಿಯ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ಮೇರೆಗೆ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	    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ಕೆಳಗಿನ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ವಿಷಯಗಳನ್ನು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ಶಿಫಾರಸು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	  	     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(ಎ)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ಎದುರುದಾರನು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ದೂರುದಾರಳ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ಕಾರ್ಯಕ್ಷಮತೆಯ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ವರದಿ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ಸಲ್ಲಿಸದಂತೆ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ಗೌಪ್ಯ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ವರದಿಯನ್ನು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ತಯಾರಿಸಿ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ಮೇಲಾಧಿಕಾರಿಗಳಿಗೆ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ನೀಡದಂತೆ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ತಡೆಯಲಾಗುವುದು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ಶೈಕ್ಷಣಿಕ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ಸಂಸ್ಥೆಗೆ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ಸಂಬಂಧಿಸಿದ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ಘಟನೆಯಾಗಿದ್ದರೇ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ಎದುರುದಾರ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ನೊಂದವಳ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ಶೈಕ್ಷಣಿಕ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ಚಟುವಟಿಕೆಗಳ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ಮೇಲ್ವಿಚಾರಣೆ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ಮಾಡದಂತೆ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ತಡೆಯುತ್ತದೆ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304800"/>
            <a:ext cx="8503920" cy="579424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9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ಪ್ರಕರಣದಲ್ಲಿ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ಕೈಗೊಳ್ಳಬೇಕಾದ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 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ಕ್ರಮಗಳ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ವಿಧಿ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 </a:t>
            </a: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ಜಾರಿಯಲ್ಲಿದ್ದ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ಪ್ರಕರಣಗಳನ್ನು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ಹೊರತುಪಡಿಸಿ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ಬೇರೆ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ಆರೋಪಿಯ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ಮೇಲಿರುವ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ಆರೋಪ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ಎದುರು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ಜಿಲ್ಲಾಮಟ್ಟದ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ಮುಂದೆ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ಸಾಬೀತಾದರೆ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endParaRPr lang="en-US" sz="24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</a:p>
          <a:p>
            <a:pPr algn="just"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ಉದ್ಯೋಗದಾತನಿಗೆ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ಅಂತಹ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ವ್ಯಕ್ತಿಯಿಂದ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ಲಿಖಿತ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ಕ್ಷಮೆಯಾಚಿಸಲು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ಎಚ್ಚರಿಕೆ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ನೀಡಲು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ವಾಗ್ದಂಡನೆ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ನೀಡಲು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	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ಮುಂಬಡ್ತಿಯನ್ನುತಡೆಹಿಡಿಯಲು,ವೇತನದಲ್ಲಿಯ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ಹೆಚ್ಚಳವನ್ನು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ತಡೆಯಲು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ಎದುರುದಾರನನ್ನು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ಬರಕಾಸ್ತುಗೊಳಿಸಲು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ಪರಾಮರ್ಶೆಯ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ವರ್ಗಗಳಿಗೆ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ಸೇರಿಸಲು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ಸಾರ್ವಜನಿಕ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ಸಾಮಾಜಿಕ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ಕೆಲಸ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ಕೈಗೊಳ್ಳುವ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ಶಿಕ್ಷೆಗೆ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ಗುರಿಪಡಿಸುವಂತೆ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ಶಿಫಾರಸು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ಮಾಡಬಹುದು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381000"/>
            <a:ext cx="8503920" cy="5718048"/>
          </a:xfrm>
        </p:spPr>
        <p:txBody>
          <a:bodyPr/>
          <a:lstStyle/>
          <a:p>
            <a:pPr algn="just">
              <a:buNone/>
            </a:pP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10. 	</a:t>
            </a:r>
            <a:r>
              <a:rPr lang="en-US" sz="2800" b="1" dirty="0" smtClean="0"/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ತಪ್ಪು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ದುರುದ್ದೇಶ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ದೂರಿನ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ವಿರುದ್ಧ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ಸುಳ್ಳು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ಸಾಕ್ಷಿಯ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ವಿರುದ್ಧ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ತೆಗೆದುಕೊಳ್ಳಬೇಕಾದ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ಕ್ರಮ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</a:t>
            </a:r>
          </a:p>
          <a:p>
            <a:pPr algn="just">
              <a:buNone/>
            </a:pPr>
            <a:endParaRPr lang="en-US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ಸೇವಾ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ಜಾರಿಯಲ್ಲಿದ್ದ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ಹೊರತುಪಡಿಸಿ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ದಾಖಲಾದ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ಸುಳ್ಳು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ದುರುದ್ದೇಶ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ಪೂರಿತವಾಗಿದೆ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ದೂರುದಾತಳು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ಸುಳ್ಳು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ತೊಟ್ಟಿ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ದಾಖಲೆಗಳನ್ನು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ಸೃಷ್ಟಿಮಾಡಿದ್ದಾಳೆ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ಖಚಿತವಾದರೆ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ಉದ್ಯೋಗದಾತನಿಗೆ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ಜಿಲ್ಲಾಮಟ್ಟದ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9ರ 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ಪ್ರಾವಧಾನಗಳಿಗೆ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ಅನ್ವಯಿಸಿದಂಥಹ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ದೂರುದಾರಳ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ವಿರುದ್ಧ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ಕ್ರಮ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ಕೈಗೊಳ್ಳಲು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ಶಿಫಾರಸು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ಮಾಡಬಹುದು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457200"/>
            <a:ext cx="8503920" cy="564184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:11.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ಮೇಲ್ಮನವಿ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,-</a:t>
            </a:r>
          </a:p>
          <a:p>
            <a:pPr algn="just">
              <a:buNone/>
            </a:pPr>
            <a:endParaRPr lang="en-US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18ರ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ಉಪಬಂಧಗಳಿಗೆ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ಒಳಪಟ್ಟು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ವೇಳೆ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13ರ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ಉಪ-ಕಲಂ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(2)ರ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13 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ಉಪ-ಕಲಂ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(3)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ರಡಿಯ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ಖಂಡ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ಖಂಡ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(ii)ರ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17ರ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14ರ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(1)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ಉಪ-ಕಲಂ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(2)ರ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ಮಾಡಿದಂತಹ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ಶಿಫಾರಸುಗಳನ್ನು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ಜಾರಿಗೊಳಿಸದೆ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ಇದ್ದುದಕ್ಕಾಗಿ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ಶಿಫಾರಸ್ಸುಗಳಿಂದ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ನೊಂದ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ವ್ಯಕ್ತಿಯು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2ರ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ಖಂಡ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(ಎ)ಯ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ಔದ್ಯೋಗಿಕ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ಶಾಶ್ವತ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ಅಧಿನಿಯಮ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1946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1946ರ 20)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ರನ್ವಯ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ಯೋಗ್ಯ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ಮೇಲ್ಮನವಿ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ಪ್ರಾಧಿಕಾರದಲ್ಲಿ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ಮೇಲ್ಮನವಿ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ಸಲ್ಲಿಸಬಹುದು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685800"/>
            <a:ext cx="8503920" cy="5413248"/>
          </a:xfrm>
        </p:spPr>
        <p:txBody>
          <a:bodyPr/>
          <a:lstStyle/>
          <a:p>
            <a:pPr algn="just">
              <a:buNone/>
            </a:pP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12.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16ರ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ವ್ಯತಿರಿಕ್ತ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ವ್ಯವಹಾರಕ್ಕೆ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ಜುಲ್ಮಾನೆ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.- </a:t>
            </a:r>
          </a:p>
          <a:p>
            <a:pPr algn="just">
              <a:buNone/>
            </a:pPr>
            <a:endParaRPr lang="en-US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17ರ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ಅಂತರ್ಗತ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16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ರನ್ವಯದ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ಪ್ರಾವಧಾನಗಳ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ವ್ಯತಿರಿಕ್ತ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ಉದ್ಯೋಗದಾತ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ಅಂತಹ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ವ್ಯಕ್ತಿಯಿಂದ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5,000/-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ರೂಪಾಯಿಯ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ಜುಲ್ಮಾನೆಯನ್ನು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ವಸೂಲಿ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ಮಾಡಬೇಕು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686800" cy="66294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:13.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ಕಾರ್ಯಾಗಾರದ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ವ್ಯವಸ್ಥೆ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ಇತರ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ಕಾರ್ಯಕಲಾಪದ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ವಿಧಿ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 ಕಲಂ19ರ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ಪ್ರಾವಧಾನಗಳ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ಪ್ರತಿಯೊಬ್ಬ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ಉದ್ಯೋಗದಾತ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ಈಕೆಳಗಿನ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ಅಂಶಗಳನ್ನು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ಜಾರಿಗೊಳಿಸಬೇಕು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sz="11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(ಎ)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ಸುಸಜ್ಜಿತ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ಸುಯೋಚಿತ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ಆಂತರಿಕ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ಯೋಜನೆಯಿಂದ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ಘೋಷಣೆಯಿಂದ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ನಿಯಮಾವಳಿಗಳಿಂದ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ಮೇಲಾಗುವ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ನಿರೋಧ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ನಿರ್ಬಂಧನೆ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ನಿವಾರಣೆಯ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ಅಚ್ಚುಕಟ್ಟಾದ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ವ್ಯವಸ್ಥೆ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ರೂಪಿಸಿ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ಸಂಸ್ಥೆಯಲ್ಲಿ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ಇಂಥಹ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ಎಲ್ಲಾ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ಕುಕೃತ್ಯ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ಮುಕ್ತ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ವಾತಾವರಣವನ್ನು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ಮಹಿಳೆಯರಿಗೆ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ಕಲ್ಪಿಸುವುದು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sz="14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ಆಂತರಿಕ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ಸದಸ್ಯರಿಗಾಗಿ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ಕಾರ್ಯಾಗಾರ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ಅಭಿಕ್ಷಣ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ಕಾರ್ಯಕ್ರಮಗಳನ್ನು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ರೂಪಿಸುವುದು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sz="14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ಸಿಬ್ಬಂದಿ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ಜಾಗೃತಿ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ಕಾರ್ಯಕ್ರಮಗಳನ್ನು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ಹಮ್ಮಿಕೊಳ್ಳುವುದು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ಸಾಮಾನ್ಯ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ಸ್ಥರದ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ಸಂಸ್ಥೆಗಳಾದ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ಪಂಚಾಯತ್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ಸಂಸ್ಥೆಗಳು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ಗ್ರಾಮಸಭಾ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ಮಹಿಳಾ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ಮಂಡಳಿಗಳು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ತಾಯಂದಿರ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ಯುವಕ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ಯುವತಿಯರ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ಗುಂಪುಗಳು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ಶಹರಿ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ಸ್ಥಾನಿಕ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ಸಂಸ್ಥೆಗಳು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ಇನ್ನಾವುದೇ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ಅವಶ್ಯಕ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ಸಂಸ್ಥೆಗಳಲ್ಲಿ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ಮುಕ್ತ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ಸಂವಾದ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ಸಂಭಾಷಣೆಗಳನ್ನು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ಏರ್ಪಡಿಸುವುದು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447800"/>
            <a:ext cx="8503920" cy="5029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ಆಂತರಿಕ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ಸದಸ್ಯರುಗಳ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ಕೌಶಲ್ಯ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ವೃದ್ಧಿಗಾಗಿ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ಕ್ಷಮತಾ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ಅಭಿವೃದ್ಧಿಗಾಗಿ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ವಿವಿಧ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ಕಾರ್ಯಕ್ರಮಗಳನ್ನು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ಹಮ್ಮಿಕೊಳ್ಳುವುದು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sz="16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(ಇ)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ಆಂತರಿಕ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ಸದಸ್ಯರುಗಳ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ಹೆಸರು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ಸಂಪರ್ಕದ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ವಿವರಗಳ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ಪ್ರಕಟಣೆ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pPr algn="just">
              <a:buNone/>
            </a:pPr>
            <a:endParaRPr lang="en-US" sz="16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ಎಫ್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ಕಾಯ್ದೆಯ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ಪ್ರಾವಧಾನಗಳ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ಸಿಬ್ಬಂದಿ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ಮೂಡಿಸಲು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ಮನಸ್ಸನ್ನು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ಸೂಕ್ಷ್ಮವಾಗಿ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ಕದಡಲು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ಬ್ಬಂದಿ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ವರ್ಗದವರಲ್ಲಿ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ಪ್ರಜ್ಞೆ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ಮಾದರಿ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ಜಾಗೃತಿ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ಕಾರ್ಯಕ್ರಮಗಳನ್ನು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ಕಾರ್ಯಗಾರಗಳನ್ನು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228600"/>
            <a:ext cx="8689848" cy="64008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 14.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ವಾರ್ಷಿಕ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ವರದಿ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ತಯಾರಿಕೆ.-ಕಲಂ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21ರ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ಅಡಿಯಲ್ಲಿ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ದೂರು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ಸಮಿತಿ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ತಯಾರಿಸುವ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ವಾರ್ಷಿಕ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ವರದಿಯಲ್ಲಿ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ಕೆಳಗಿನ 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	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ಅಂಶಗಳು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ಅಡಕವಾಗಿರಬೇಕು</a:t>
            </a: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.-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(ಎ) 	ಆ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ವರ್ಷ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ದಾಖಲಾದ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ಸಂಖ್ಯೆ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	ಆ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ವರ್ಷದಲ್ಲಿ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ವಿಲೇ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ಮಾಡಲಾದ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ಸಂಖ್ಯೆ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	90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ದಿನಗಳಿಗಿಂತಲೂ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ಸಮಯದಿಂದ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ಲಂಬಿತ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ಪ್ರಕರಣಗಳ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ಸಂಖ್ಯೆ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ಲೈಂಗಿಕ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ದೌರ್ಜನ್ಯದ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ವಿರುದ್ಧ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ಜಾಗೃತಿ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ಮೂಡಿಸುವ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ಉದ್ದೇಶದಿಂದ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ಹಮ್ಮಿಕೊಂಡ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ಕಾರ್ಯಾಗಾರ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ಕಾರ್ಯಕ್ರಮಗಳ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ಒಟ್ಟು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ಸಂಖ್ಯೆ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(ಇ)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ಉದ್ಯೋಗದಾತನಿಂದ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ಜಿಲ್ಲಾಮಟ್ಟದ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ತೆಗೆದು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ಕೊಳ್ಳಲ್ಪಟ್ಟ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 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ಕ್ರಮಗಳ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ಪ್ರಕಾರಗಳು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ರೀತಿಗಳು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ಅಧಿಕಾರಿಯಿಂದ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ತೆಗೆದು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	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ಕೊಳ್ಳಲ್ಪಟ್ಟ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ಕ್ರಮಗಳ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ಪ್ರಕಾರಗಳು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ಹಾಗೂ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ರೀತಿಗಳು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05353" y="1905000"/>
            <a:ext cx="8433847" cy="276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113</TotalTime>
  <Words>371</Words>
  <Application>Microsoft Office PowerPoint</Application>
  <PresentationFormat>On-screen Show (4:3)</PresentationFormat>
  <Paragraphs>149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Civic</vt:lpstr>
      <vt:lpstr>ಕಾರ್ಯಸ್ಥಾನದಲ್ಲಿ ಮಹಿಳೆಯರ ಮೇಲಾಗುವ ಲೈಂಗಿಕ ದೌರ್ಜನ್ಯ (ನಿರೋಧ, ನಿರ್ಬಂಧನೆ ಹಾಗೂ ನಿವಾರಣೆ) ಕಾಯ್ದೆ-2013</vt:lpstr>
      <vt:lpstr>ವಿಷಯಗಳು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ಕಾರ್ಯಸ್ಥಾನದಲ್ಲಿ ಮಹಿಳೆಯರ ಮೇಲಾಗುವ ಲೈಂಗಿಕ ದೌರ್ಜನ್ಯ (ನಿರೋಧ, ನಿರ್ಬಂಧನೆ ಹಾಗೂ ನಿವಾರಣೆ) ಕಾಯ್ದೆ-2013</dc:title>
  <dc:creator>ACER</dc:creator>
  <cp:lastModifiedBy>ACER</cp:lastModifiedBy>
  <cp:revision>34</cp:revision>
  <dcterms:created xsi:type="dcterms:W3CDTF">2006-08-16T00:00:00Z</dcterms:created>
  <dcterms:modified xsi:type="dcterms:W3CDTF">2026-08-21T05:55:54Z</dcterms:modified>
</cp:coreProperties>
</file>