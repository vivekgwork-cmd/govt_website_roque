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lice" panose="020B0604020202020204" charset="0"/>
      <p:regular r:id="rId22"/>
    </p:embeddedFont>
    <p:embeddedFont>
      <p:font typeface="Alice Bold" panose="020B0604020202020204" charset="0"/>
      <p:regular r:id="rId23"/>
    </p:embeddedFont>
    <p:embeddedFont>
      <p:font typeface="Amaranth" panose="020B0604020202020204" charset="0"/>
      <p:regular r:id="rId24"/>
    </p:embeddedFont>
    <p:embeddedFont>
      <p:font typeface="Amaranth Bold" panose="020B0604020202020204" charset="0"/>
      <p:regular r:id="rId25"/>
    </p:embeddedFont>
    <p:embeddedFont>
      <p:font typeface="Archivo Black" panose="020B0604020202020204" charset="0"/>
      <p:regular r:id="rId26"/>
    </p:embeddedFont>
    <p:embeddedFont>
      <p:font typeface="Arimo" panose="020B0604020202020204" charset="0"/>
      <p:regular r:id="rId27"/>
    </p:embeddedFont>
    <p:embeddedFont>
      <p:font typeface="Arimo Bold" panose="020B0604020202020204" charset="0"/>
      <p:regular r:id="rId28"/>
    </p:embeddedFont>
    <p:embeddedFont>
      <p:font typeface="Arimo Bold Italics" panose="020B0604020202020204" charset="0"/>
      <p:regular r:id="rId29"/>
    </p:embeddedFont>
    <p:embeddedFont>
      <p:font typeface="Bantayog" panose="020B0604020202020204" charset="0"/>
      <p:regular r:id="rId30"/>
    </p:embeddedFont>
    <p:embeddedFont>
      <p:font typeface="Barabara" panose="020B0604020202020204" charset="0"/>
      <p:regular r:id="rId31"/>
    </p:embeddedFont>
    <p:embeddedFont>
      <p:font typeface="Batangas" panose="020B0604020202020204" charset="0"/>
      <p:regular r:id="rId32"/>
    </p:embeddedFont>
    <p:embeddedFont>
      <p:font typeface="Cardo" panose="020B0604020202020204" charset="-79"/>
      <p:regular r:id="rId33"/>
    </p:embeddedFont>
    <p:embeddedFont>
      <p:font typeface="Cardo Bold" panose="020B0604020202020204" charset="-79"/>
      <p:regular r:id="rId34"/>
    </p:embeddedFont>
    <p:embeddedFont>
      <p:font typeface="Comic Sans" panose="020B0604020202020204" charset="0"/>
      <p:regular r:id="rId35"/>
    </p:embeddedFont>
    <p:embeddedFont>
      <p:font typeface="Comic Sans Bold" panose="020B0604020202020204" charset="0"/>
      <p:regular r:id="rId36"/>
    </p:embeddedFont>
    <p:embeddedFont>
      <p:font typeface="Futura" panose="020B0604020202020204" charset="0"/>
      <p:regular r:id="rId37"/>
    </p:embeddedFont>
    <p:embeddedFont>
      <p:font typeface="Futura Bold" panose="020B0604020202020204" charset="0"/>
      <p:regular r:id="rId38"/>
    </p:embeddedFont>
    <p:embeddedFont>
      <p:font typeface="Glacial Indifference" panose="020B0604020202020204" charset="0"/>
      <p:regular r:id="rId39"/>
    </p:embeddedFont>
    <p:embeddedFont>
      <p:font typeface="Glacial Indifference Bold" panose="020B0604020202020204" charset="0"/>
      <p:regular r:id="rId40"/>
    </p:embeddedFont>
    <p:embeddedFont>
      <p:font typeface="Gotham Bold" panose="020B0604020202020204" charset="0"/>
      <p:regular r:id="rId41"/>
    </p:embeddedFont>
    <p:embeddedFont>
      <p:font typeface="Gotham Bold Italics" panose="020B0604020202020204" charset="0"/>
      <p:regular r:id="rId42"/>
    </p:embeddedFont>
    <p:embeddedFont>
      <p:font typeface="Lato" panose="020F0502020204030203" pitchFamily="34" charset="0"/>
      <p:regular r:id="rId43"/>
    </p:embeddedFont>
    <p:embeddedFont>
      <p:font typeface="Lato Bold" panose="020B0604020202020204" charset="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slide" Target="slides/slide20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font" Target="fonts/font2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font" Target="fonts/font22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2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parrow-ias.eoffice.gov.in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par.karnataka.gov.in/?utm_source=chatgpt.com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eg.karnataka.gov.in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07246" y="0"/>
            <a:ext cx="9680754" cy="10287000"/>
            <a:chOff x="0" y="0"/>
            <a:chExt cx="12907672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07645" cy="13716000"/>
            </a:xfrm>
            <a:custGeom>
              <a:avLst/>
              <a:gdLst/>
              <a:ahLst/>
              <a:cxnLst/>
              <a:rect l="l" t="t" r="r" b="b"/>
              <a:pathLst>
                <a:path w="12907645" h="13716000">
                  <a:moveTo>
                    <a:pt x="0" y="0"/>
                  </a:moveTo>
                  <a:lnTo>
                    <a:pt x="12907645" y="0"/>
                  </a:lnTo>
                  <a:lnTo>
                    <a:pt x="12907645" y="13716000"/>
                  </a:lnTo>
                  <a:lnTo>
                    <a:pt x="795528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950303">
                    <a:alpha val="76000"/>
                  </a:srgbClr>
                </a:gs>
                <a:gs pos="100000">
                  <a:srgbClr val="D61B1B">
                    <a:alpha val="76000"/>
                  </a:srgbClr>
                </a:gs>
              </a:gsLst>
              <a:lin ang="0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5781925" y="0"/>
            <a:ext cx="10782255" cy="4524309"/>
            <a:chOff x="0" y="0"/>
            <a:chExt cx="14376340" cy="60324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376400" cy="6032373"/>
            </a:xfrm>
            <a:custGeom>
              <a:avLst/>
              <a:gdLst/>
              <a:ahLst/>
              <a:cxnLst/>
              <a:rect l="l" t="t" r="r" b="b"/>
              <a:pathLst>
                <a:path w="14376400" h="6032373">
                  <a:moveTo>
                    <a:pt x="0" y="0"/>
                  </a:moveTo>
                  <a:lnTo>
                    <a:pt x="14376400" y="0"/>
                  </a:lnTo>
                  <a:lnTo>
                    <a:pt x="10877550" y="6032373"/>
                  </a:lnTo>
                  <a:lnTo>
                    <a:pt x="3498850" y="6032373"/>
                  </a:lnTo>
                  <a:close/>
                </a:path>
              </a:pathLst>
            </a:custGeom>
            <a:blipFill>
              <a:blip r:embed="rId2"/>
              <a:stretch>
                <a:fillRect t="-20304" b="-2030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795528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68000"/>
                  </a:srgbClr>
                </a:gs>
                <a:gs pos="100000">
                  <a:srgbClr val="950303">
                    <a:alpha val="68000"/>
                  </a:srgbClr>
                </a:gs>
              </a:gsLst>
              <a:lin ang="0"/>
            </a:gradFill>
          </p:spPr>
        </p:sp>
      </p:grpSp>
      <p:grpSp>
        <p:nvGrpSpPr>
          <p:cNvPr id="8" name="Group 8"/>
          <p:cNvGrpSpPr/>
          <p:nvPr/>
        </p:nvGrpSpPr>
        <p:grpSpPr>
          <a:xfrm>
            <a:off x="8607246" y="5863194"/>
            <a:ext cx="5131614" cy="4423806"/>
            <a:chOff x="0" y="0"/>
            <a:chExt cx="6842152" cy="58984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42125" cy="5898388"/>
            </a:xfrm>
            <a:custGeom>
              <a:avLst/>
              <a:gdLst/>
              <a:ahLst/>
              <a:cxnLst/>
              <a:rect l="l" t="t" r="r" b="b"/>
              <a:pathLst>
                <a:path w="6842125" h="5898388">
                  <a:moveTo>
                    <a:pt x="0" y="5898388"/>
                  </a:moveTo>
                  <a:lnTo>
                    <a:pt x="3421126" y="0"/>
                  </a:lnTo>
                  <a:lnTo>
                    <a:pt x="6842125" y="5898388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id="10" name="Freeform 10"/>
          <p:cNvSpPr/>
          <p:nvPr/>
        </p:nvSpPr>
        <p:spPr>
          <a:xfrm>
            <a:off x="2914034" y="515984"/>
            <a:ext cx="2770598" cy="1711630"/>
          </a:xfrm>
          <a:custGeom>
            <a:avLst/>
            <a:gdLst/>
            <a:ahLst/>
            <a:cxnLst/>
            <a:rect l="l" t="t" r="r" b="b"/>
            <a:pathLst>
              <a:path w="2770598" h="1711630">
                <a:moveTo>
                  <a:pt x="0" y="0"/>
                </a:moveTo>
                <a:lnTo>
                  <a:pt x="2770598" y="0"/>
                </a:lnTo>
                <a:lnTo>
                  <a:pt x="2770598" y="1711630"/>
                </a:lnTo>
                <a:lnTo>
                  <a:pt x="0" y="1711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0934" b="-30934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78605" y="375547"/>
            <a:ext cx="1992504" cy="1992504"/>
          </a:xfrm>
          <a:custGeom>
            <a:avLst/>
            <a:gdLst/>
            <a:ahLst/>
            <a:cxnLst/>
            <a:rect l="l" t="t" r="r" b="b"/>
            <a:pathLst>
              <a:path w="1992504" h="1992504">
                <a:moveTo>
                  <a:pt x="0" y="0"/>
                </a:moveTo>
                <a:lnTo>
                  <a:pt x="1992504" y="0"/>
                </a:lnTo>
                <a:lnTo>
                  <a:pt x="1992504" y="1992504"/>
                </a:lnTo>
                <a:lnTo>
                  <a:pt x="0" y="1992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93940" y="4752909"/>
            <a:ext cx="10381384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 i="1">
                <a:solidFill>
                  <a:srgbClr val="D61B1B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e‑PAR (Electronic Performance Appraisal Report)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5113" y="9338474"/>
            <a:ext cx="591777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4AAD"/>
                </a:solidFill>
                <a:latin typeface="Arimo Bold"/>
                <a:ea typeface="Arimo Bold"/>
                <a:cs typeface="Arimo Bold"/>
                <a:sym typeface="Arimo Bold"/>
              </a:rPr>
              <a:t>https://ceg.karnataka.gov.in/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8605" y="2568500"/>
            <a:ext cx="6617151" cy="474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 spc="-5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eGov [DPAR] – Government of Karnataka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5113" y="7042606"/>
            <a:ext cx="8663318" cy="147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Smart Performance Appraisal Report Recording Online Window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879736"/>
            <a:ext cx="9689062" cy="6407264"/>
            <a:chOff x="0" y="0"/>
            <a:chExt cx="10370666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70693" cy="6858000"/>
            </a:xfrm>
            <a:custGeom>
              <a:avLst/>
              <a:gdLst/>
              <a:ahLst/>
              <a:cxnLst/>
              <a:rect l="l" t="t" r="r" b="b"/>
              <a:pathLst>
                <a:path w="10370693" h="6858000">
                  <a:moveTo>
                    <a:pt x="0" y="0"/>
                  </a:moveTo>
                  <a:lnTo>
                    <a:pt x="6393053" y="0"/>
                  </a:lnTo>
                  <a:lnTo>
                    <a:pt x="10370693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/>
              <a:stretch>
                <a:fillRect t="-375" b="-37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942889" y="7057539"/>
            <a:ext cx="3746173" cy="3229461"/>
            <a:chOff x="0" y="0"/>
            <a:chExt cx="4009708" cy="34566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09771" cy="3456686"/>
            </a:xfrm>
            <a:custGeom>
              <a:avLst/>
              <a:gdLst/>
              <a:ahLst/>
              <a:cxnLst/>
              <a:rect l="l" t="t" r="r" b="b"/>
              <a:pathLst>
                <a:path w="4009771" h="3456686">
                  <a:moveTo>
                    <a:pt x="0" y="3456686"/>
                  </a:moveTo>
                  <a:lnTo>
                    <a:pt x="2004822" y="0"/>
                  </a:lnTo>
                  <a:lnTo>
                    <a:pt x="4009771" y="3456686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5234940" cy="9025761"/>
            <a:chOff x="0" y="0"/>
            <a:chExt cx="6979920" cy="120343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79920" cy="12034393"/>
            </a:xfrm>
            <a:custGeom>
              <a:avLst/>
              <a:gdLst/>
              <a:ahLst/>
              <a:cxnLst/>
              <a:rect l="l" t="t" r="r" b="b"/>
              <a:pathLst>
                <a:path w="6979920" h="12034393">
                  <a:moveTo>
                    <a:pt x="0" y="0"/>
                  </a:moveTo>
                  <a:lnTo>
                    <a:pt x="6979920" y="0"/>
                  </a:lnTo>
                  <a:lnTo>
                    <a:pt x="0" y="12034393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80000"/>
                  </a:srgbClr>
                </a:gs>
                <a:gs pos="100000">
                  <a:srgbClr val="950303">
                    <a:alpha val="80000"/>
                  </a:srgbClr>
                </a:gs>
              </a:gsLst>
              <a:lin ang="0"/>
            </a:gradFill>
          </p:spPr>
        </p:sp>
      </p:grpSp>
      <p:sp>
        <p:nvSpPr>
          <p:cNvPr id="8" name="TextBox 8"/>
          <p:cNvSpPr txBox="1"/>
          <p:nvPr/>
        </p:nvSpPr>
        <p:spPr>
          <a:xfrm>
            <a:off x="5942889" y="439317"/>
            <a:ext cx="9590290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About e-PAR – Government of Karnataka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07500" y="1381334"/>
            <a:ext cx="10684728" cy="3382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926" lvl="1" indent="-260463" algn="l">
              <a:lnSpc>
                <a:spcPts val="3860"/>
              </a:lnSpc>
              <a:buFont typeface="Arial"/>
              <a:buChar char="•"/>
            </a:pPr>
            <a:r>
              <a:rPr lang="en-US" sz="24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e-PAR is an online Performance Appraisal System implemented by the Government of Karnataka for evaluating government officials (mainly Group-A &amp; select Group-B &amp; C officers)</a:t>
            </a:r>
          </a:p>
          <a:p>
            <a:pPr marL="520926" lvl="1" indent="-260463" algn="l">
              <a:lnSpc>
                <a:spcPts val="3860"/>
              </a:lnSpc>
              <a:buFont typeface="Arial"/>
              <a:buChar char="•"/>
            </a:pPr>
            <a:r>
              <a:rPr lang="en-US" sz="24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It replaces the older Annual Confidential Report (ACR / PAR) paper-based system</a:t>
            </a:r>
          </a:p>
          <a:p>
            <a:pPr marL="520926" lvl="1" indent="-260463" algn="l">
              <a:lnSpc>
                <a:spcPts val="3860"/>
              </a:lnSpc>
              <a:buFont typeface="Arial"/>
              <a:buChar char="•"/>
            </a:pPr>
            <a:r>
              <a:rPr lang="en-US" sz="24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It is an Administrative procedural system, not a separate Act.</a:t>
            </a:r>
          </a:p>
          <a:p>
            <a:pPr marL="520926" lvl="1" indent="-260463" algn="l">
              <a:lnSpc>
                <a:spcPts val="3860"/>
              </a:lnSpc>
              <a:buFont typeface="Arial"/>
              <a:buChar char="•"/>
            </a:pPr>
            <a:r>
              <a:rPr lang="en-US" sz="24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Accessible to authorized officers only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75712" y="5942208"/>
            <a:ext cx="8716516" cy="2148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403" b="1" dirty="0">
                <a:solidFill>
                  <a:srgbClr val="E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"/>
                <a:ea typeface="Comic Sans"/>
                <a:cs typeface="Comic Sans"/>
                <a:sym typeface="Comic Sans"/>
              </a:rPr>
              <a:t>e-PAR follows:</a:t>
            </a:r>
          </a:p>
          <a:p>
            <a:pPr marL="518991" lvl="1" indent="-259495" algn="l">
              <a:lnSpc>
                <a:spcPts val="3365"/>
              </a:lnSpc>
              <a:buFont typeface="Arial"/>
              <a:buChar char="•"/>
            </a:pPr>
            <a:r>
              <a:rPr lang="en-US" sz="2403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Karnataka State Civil Services norms &amp; instructions</a:t>
            </a:r>
          </a:p>
          <a:p>
            <a:pPr marL="518991" lvl="1" indent="-259495" algn="l">
              <a:lnSpc>
                <a:spcPts val="3365"/>
              </a:lnSpc>
              <a:buFont typeface="Arial"/>
              <a:buChar char="•"/>
            </a:pPr>
            <a:r>
              <a:rPr lang="en-US" sz="2403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DPAR (Department of Personnel &amp; Administrative Reforms) guidelines</a:t>
            </a:r>
          </a:p>
          <a:p>
            <a:pPr marL="518991" lvl="1" indent="-259495" algn="l">
              <a:lnSpc>
                <a:spcPts val="3365"/>
              </a:lnSpc>
              <a:buFont typeface="Arial"/>
              <a:buChar char="•"/>
            </a:pPr>
            <a:r>
              <a:rPr lang="en-US" sz="2403" dirty="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Annual PAR completion timelines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3475" y="9556618"/>
            <a:ext cx="7186612" cy="98930"/>
            <a:chOff x="0" y="0"/>
            <a:chExt cx="9582150" cy="1319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82150" cy="131953"/>
            </a:xfrm>
            <a:custGeom>
              <a:avLst/>
              <a:gdLst/>
              <a:ahLst/>
              <a:cxnLst/>
              <a:rect l="l" t="t" r="r" b="b"/>
              <a:pathLst>
                <a:path w="9582150" h="131953">
                  <a:moveTo>
                    <a:pt x="0" y="0"/>
                  </a:moveTo>
                  <a:lnTo>
                    <a:pt x="9582150" y="0"/>
                  </a:lnTo>
                  <a:lnTo>
                    <a:pt x="9582150" y="131953"/>
                  </a:lnTo>
                  <a:lnTo>
                    <a:pt x="0" y="131953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10068842" y="9556618"/>
            <a:ext cx="7186612" cy="98930"/>
            <a:chOff x="0" y="0"/>
            <a:chExt cx="9582150" cy="1319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82150" cy="131953"/>
            </a:xfrm>
            <a:custGeom>
              <a:avLst/>
              <a:gdLst/>
              <a:ahLst/>
              <a:cxnLst/>
              <a:rect l="l" t="t" r="r" b="b"/>
              <a:pathLst>
                <a:path w="9582150" h="131953">
                  <a:moveTo>
                    <a:pt x="0" y="0"/>
                  </a:moveTo>
                  <a:lnTo>
                    <a:pt x="9582150" y="0"/>
                  </a:lnTo>
                  <a:lnTo>
                    <a:pt x="9582150" y="131953"/>
                  </a:lnTo>
                  <a:lnTo>
                    <a:pt x="0" y="131953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7971001"/>
            <a:ext cx="1954074" cy="1684546"/>
            <a:chOff x="0" y="0"/>
            <a:chExt cx="2605432" cy="22460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05405" cy="2246122"/>
            </a:xfrm>
            <a:custGeom>
              <a:avLst/>
              <a:gdLst/>
              <a:ahLst/>
              <a:cxnLst/>
              <a:rect l="l" t="t" r="r" b="b"/>
              <a:pathLst>
                <a:path w="2605405" h="2246122">
                  <a:moveTo>
                    <a:pt x="0" y="2246122"/>
                  </a:moveTo>
                  <a:lnTo>
                    <a:pt x="1302766" y="0"/>
                  </a:lnTo>
                  <a:lnTo>
                    <a:pt x="2605405" y="2246122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8" name="Group 8"/>
          <p:cNvGrpSpPr/>
          <p:nvPr/>
        </p:nvGrpSpPr>
        <p:grpSpPr>
          <a:xfrm>
            <a:off x="9863103" y="7971001"/>
            <a:ext cx="1954074" cy="1684546"/>
            <a:chOff x="0" y="0"/>
            <a:chExt cx="2605432" cy="22460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05405" cy="2246122"/>
            </a:xfrm>
            <a:custGeom>
              <a:avLst/>
              <a:gdLst/>
              <a:ahLst/>
              <a:cxnLst/>
              <a:rect l="l" t="t" r="r" b="b"/>
              <a:pathLst>
                <a:path w="2605405" h="2246122">
                  <a:moveTo>
                    <a:pt x="0" y="2246122"/>
                  </a:moveTo>
                  <a:lnTo>
                    <a:pt x="1302766" y="0"/>
                  </a:lnTo>
                  <a:lnTo>
                    <a:pt x="2605405" y="2246122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id="10" name="Freeform 10"/>
          <p:cNvSpPr/>
          <p:nvPr/>
        </p:nvSpPr>
        <p:spPr>
          <a:xfrm>
            <a:off x="5445727" y="3629718"/>
            <a:ext cx="7252648" cy="4188404"/>
          </a:xfrm>
          <a:custGeom>
            <a:avLst/>
            <a:gdLst/>
            <a:ahLst/>
            <a:cxnLst/>
            <a:rect l="l" t="t" r="r" b="b"/>
            <a:pathLst>
              <a:path w="7252648" h="4188404">
                <a:moveTo>
                  <a:pt x="0" y="0"/>
                </a:moveTo>
                <a:lnTo>
                  <a:pt x="7252648" y="0"/>
                </a:lnTo>
                <a:lnTo>
                  <a:pt x="7252648" y="4188405"/>
                </a:lnTo>
                <a:lnTo>
                  <a:pt x="0" y="4188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04246" y="1388315"/>
            <a:ext cx="5196306" cy="477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Personal details</a:t>
            </a:r>
          </a:p>
          <a:p>
            <a:pPr marL="647695" lvl="1" indent="-323848" algn="l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Work performance</a:t>
            </a:r>
          </a:p>
          <a:p>
            <a:pPr marL="647695" lvl="1" indent="-323848" algn="l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Achievements</a:t>
            </a:r>
          </a:p>
          <a:p>
            <a:pPr marL="647695" lvl="1" indent="-323848" algn="l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Targets vs. Work done</a:t>
            </a:r>
          </a:p>
          <a:p>
            <a:pPr marL="647695" lvl="1" indent="-323848" algn="l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Integrity &amp; behavior</a:t>
            </a:r>
          </a:p>
          <a:p>
            <a:pPr marL="647695" lvl="1" indent="-323848" algn="l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Training requirements</a:t>
            </a:r>
          </a:p>
          <a:p>
            <a:pPr marL="647695" lvl="1" indent="-323848" algn="l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Overall grading</a:t>
            </a:r>
          </a:p>
          <a:p>
            <a:pPr algn="l">
              <a:lnSpc>
                <a:spcPts val="4799"/>
              </a:lnSpc>
            </a:pPr>
            <a:endParaRPr lang="en-US" sz="29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04246" y="699254"/>
            <a:ext cx="6847943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Information included in e-PAR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41197" y="971278"/>
            <a:ext cx="5453484" cy="4043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6" lvl="1" indent="-313053" algn="l">
              <a:lnSpc>
                <a:spcPts val="463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Self-Appraisal (Officer)</a:t>
            </a:r>
          </a:p>
          <a:p>
            <a:pPr marL="626106" lvl="1" indent="-313053" algn="l">
              <a:lnSpc>
                <a:spcPts val="463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Reporting Authority Review</a:t>
            </a:r>
          </a:p>
          <a:p>
            <a:pPr marL="626106" lvl="1" indent="-313053" algn="l">
              <a:lnSpc>
                <a:spcPts val="463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Reviewing Authority Review</a:t>
            </a:r>
          </a:p>
          <a:p>
            <a:pPr marL="626106" lvl="1" indent="-313053" algn="l">
              <a:lnSpc>
                <a:spcPts val="463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Accepting Authority Approval</a:t>
            </a:r>
          </a:p>
          <a:p>
            <a:pPr marL="626106" lvl="1" indent="-313053" algn="l">
              <a:lnSpc>
                <a:spcPts val="463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Final record stored electronically</a:t>
            </a:r>
          </a:p>
          <a:p>
            <a:pPr algn="l">
              <a:lnSpc>
                <a:spcPts val="4639"/>
              </a:lnSpc>
            </a:pPr>
            <a:endParaRPr lang="en-US" sz="28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698375" y="274531"/>
            <a:ext cx="5196306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43500"/>
            <a:ext cx="4056874" cy="5143500"/>
            <a:chOff x="0" y="0"/>
            <a:chExt cx="5409166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09184" cy="6858000"/>
            </a:xfrm>
            <a:custGeom>
              <a:avLst/>
              <a:gdLst/>
              <a:ahLst/>
              <a:cxnLst/>
              <a:rect l="l" t="t" r="r" b="b"/>
              <a:pathLst>
                <a:path w="5409184" h="6858000">
                  <a:moveTo>
                    <a:pt x="0" y="0"/>
                  </a:moveTo>
                  <a:lnTo>
                    <a:pt x="1431544" y="0"/>
                  </a:lnTo>
                  <a:lnTo>
                    <a:pt x="3994150" y="4418457"/>
                  </a:lnTo>
                  <a:lnTo>
                    <a:pt x="5409184" y="6858000"/>
                  </a:lnTo>
                  <a:lnTo>
                    <a:pt x="0" y="685800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4" name="Group 4"/>
          <p:cNvGrpSpPr/>
          <p:nvPr/>
        </p:nvGrpSpPr>
        <p:grpSpPr>
          <a:xfrm rot="-10800000">
            <a:off x="14231126" y="0"/>
            <a:ext cx="4056875" cy="5143500"/>
            <a:chOff x="0" y="0"/>
            <a:chExt cx="5409166" cy="685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09184" cy="6858000"/>
            </a:xfrm>
            <a:custGeom>
              <a:avLst/>
              <a:gdLst/>
              <a:ahLst/>
              <a:cxnLst/>
              <a:rect l="l" t="t" r="r" b="b"/>
              <a:pathLst>
                <a:path w="5409184" h="6858000">
                  <a:moveTo>
                    <a:pt x="0" y="0"/>
                  </a:moveTo>
                  <a:lnTo>
                    <a:pt x="1431544" y="0"/>
                  </a:lnTo>
                  <a:lnTo>
                    <a:pt x="3994150" y="4418457"/>
                  </a:lnTo>
                  <a:lnTo>
                    <a:pt x="5409184" y="6858000"/>
                  </a:lnTo>
                  <a:lnTo>
                    <a:pt x="0" y="685800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543091"/>
            <a:ext cx="9274225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Key system-features from the user-manual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45629" y="1584008"/>
            <a:ext cx="12085496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B5953C"/>
                </a:solidFill>
                <a:latin typeface="Alice"/>
                <a:ea typeface="Alice"/>
                <a:cs typeface="Alice"/>
                <a:sym typeface="Alice"/>
              </a:rPr>
              <a:t>Login:</a:t>
            </a:r>
            <a:r>
              <a:rPr lang="en-US" sz="36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The User-ID is the primary part of your official mail id (for example, if mail is </a:t>
            </a:r>
            <a:r>
              <a:rPr lang="en-US" sz="3600">
                <a:solidFill>
                  <a:srgbClr val="5170FF"/>
                </a:solidFill>
                <a:latin typeface="Alice Bold"/>
                <a:ea typeface="Alice Bold"/>
                <a:cs typeface="Alice Bold"/>
                <a:sym typeface="Alice Bold"/>
              </a:rPr>
              <a:t>madhukesh.g@ka.gov.in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B5953C"/>
                </a:solidFill>
                <a:latin typeface="Alice"/>
                <a:ea typeface="Alice"/>
                <a:cs typeface="Alice"/>
                <a:sym typeface="Alice"/>
              </a:rPr>
              <a:t>Password:</a:t>
            </a:r>
            <a:r>
              <a:rPr lang="en-US" sz="36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Same as official mail password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29038" y="4085635"/>
            <a:ext cx="12798355" cy="5680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6"/>
              </a:lnSpc>
              <a:spcBef>
                <a:spcPct val="0"/>
              </a:spcBef>
            </a:pPr>
            <a:r>
              <a:rPr lang="en-US" sz="248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Part-I (Personal Data):</a:t>
            </a:r>
            <a:r>
              <a:rPr lang="en-US" sz="248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Officers must check and update their personal/basic information; if any data missing, there is </a:t>
            </a:r>
            <a:r>
              <a:rPr lang="en-US" sz="248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“Submit Data Error Report”</a:t>
            </a:r>
            <a:r>
              <a:rPr lang="en-US" sz="248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option. </a:t>
            </a:r>
          </a:p>
          <a:p>
            <a:pPr algn="l">
              <a:lnSpc>
                <a:spcPts val="3476"/>
              </a:lnSpc>
              <a:spcBef>
                <a:spcPct val="0"/>
              </a:spcBef>
            </a:pPr>
            <a:endParaRPr lang="en-US" sz="2483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476"/>
              </a:lnSpc>
              <a:spcBef>
                <a:spcPct val="0"/>
              </a:spcBef>
            </a:pPr>
            <a:r>
              <a:rPr lang="en-US" sz="248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Part-II (Self Assessment):</a:t>
            </a:r>
            <a:r>
              <a:rPr lang="en-US" sz="248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Officer fills in duties, targets achieved, qualitative comments, training needs, etc. Then </a:t>
            </a:r>
            <a:r>
              <a:rPr lang="en-US" sz="248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“Save Draft” </a:t>
            </a:r>
            <a:r>
              <a:rPr lang="en-US" sz="248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and </a:t>
            </a:r>
            <a:r>
              <a:rPr lang="en-US" sz="248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“Submit to Reporting Authority”.</a:t>
            </a:r>
            <a:r>
              <a:rPr lang="en-US" sz="248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l">
              <a:lnSpc>
                <a:spcPts val="3476"/>
              </a:lnSpc>
              <a:spcBef>
                <a:spcPct val="0"/>
              </a:spcBef>
            </a:pPr>
            <a:endParaRPr lang="en-US" sz="2483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536117" lvl="1" indent="-268059" algn="l">
              <a:lnSpc>
                <a:spcPts val="3476"/>
              </a:lnSpc>
              <a:spcBef>
                <a:spcPct val="0"/>
              </a:spcBef>
              <a:buFont typeface="Arial"/>
              <a:buChar char="•"/>
            </a:pPr>
            <a:r>
              <a:rPr lang="en-US" sz="248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Reporting Authority:</a:t>
            </a:r>
            <a:r>
              <a:rPr lang="en-US" sz="248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After submission by officer, Reporting Authority reviews, comments, and forwards it.</a:t>
            </a:r>
          </a:p>
          <a:p>
            <a:pPr marL="536117" lvl="1" indent="-268059" algn="l">
              <a:lnSpc>
                <a:spcPts val="3476"/>
              </a:lnSpc>
              <a:spcBef>
                <a:spcPct val="0"/>
              </a:spcBef>
              <a:buFont typeface="Arial"/>
              <a:buChar char="•"/>
            </a:pPr>
            <a:r>
              <a:rPr lang="en-US" sz="248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Reviewing Authority</a:t>
            </a:r>
            <a:r>
              <a:rPr lang="en-US" sz="248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 Subsequent levels review and finalise the appraisal.</a:t>
            </a:r>
          </a:p>
          <a:p>
            <a:pPr marL="536117" lvl="1" indent="-268059" algn="l">
              <a:lnSpc>
                <a:spcPts val="3476"/>
              </a:lnSpc>
              <a:spcBef>
                <a:spcPct val="0"/>
              </a:spcBef>
              <a:buFont typeface="Arial"/>
              <a:buChar char="•"/>
            </a:pPr>
            <a:r>
              <a:rPr lang="en-US" sz="248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Accepting Authority:</a:t>
            </a:r>
            <a:r>
              <a:rPr lang="en-US" sz="248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Subsequent levels review to accept and finalise the appraisal.</a:t>
            </a:r>
          </a:p>
          <a:p>
            <a:pPr marL="536117" lvl="1" indent="-268059" algn="l">
              <a:lnSpc>
                <a:spcPts val="3476"/>
              </a:lnSpc>
              <a:spcBef>
                <a:spcPct val="0"/>
              </a:spcBef>
              <a:buFont typeface="Arial"/>
              <a:buChar char="•"/>
            </a:pPr>
            <a:r>
              <a:rPr lang="en-US" sz="2483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Browser/technical notes:</a:t>
            </a:r>
            <a:r>
              <a:rPr lang="en-US" sz="2483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The system may recommend certain browsers (e.g., Mozilla Firefox, Chrome, Internet Explorer) for correct functioning. </a:t>
            </a:r>
          </a:p>
          <a:p>
            <a:pPr algn="l">
              <a:lnSpc>
                <a:spcPts val="3476"/>
              </a:lnSpc>
              <a:spcBef>
                <a:spcPct val="0"/>
              </a:spcBef>
            </a:pPr>
            <a:endParaRPr lang="en-US" sz="2483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43500"/>
            <a:ext cx="4056874" cy="5143500"/>
            <a:chOff x="0" y="0"/>
            <a:chExt cx="5409166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09184" cy="6858000"/>
            </a:xfrm>
            <a:custGeom>
              <a:avLst/>
              <a:gdLst/>
              <a:ahLst/>
              <a:cxnLst/>
              <a:rect l="l" t="t" r="r" b="b"/>
              <a:pathLst>
                <a:path w="5409184" h="6858000">
                  <a:moveTo>
                    <a:pt x="0" y="0"/>
                  </a:moveTo>
                  <a:lnTo>
                    <a:pt x="1431544" y="0"/>
                  </a:lnTo>
                  <a:lnTo>
                    <a:pt x="3994150" y="4418457"/>
                  </a:lnTo>
                  <a:lnTo>
                    <a:pt x="5409184" y="6858000"/>
                  </a:lnTo>
                  <a:lnTo>
                    <a:pt x="0" y="685800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4" name="Group 4"/>
          <p:cNvGrpSpPr/>
          <p:nvPr/>
        </p:nvGrpSpPr>
        <p:grpSpPr>
          <a:xfrm rot="-10800000">
            <a:off x="14231126" y="0"/>
            <a:ext cx="4056875" cy="5143500"/>
            <a:chOff x="0" y="0"/>
            <a:chExt cx="5409166" cy="685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09184" cy="6858000"/>
            </a:xfrm>
            <a:custGeom>
              <a:avLst/>
              <a:gdLst/>
              <a:ahLst/>
              <a:cxnLst/>
              <a:rect l="l" t="t" r="r" b="b"/>
              <a:pathLst>
                <a:path w="5409184" h="6858000">
                  <a:moveTo>
                    <a:pt x="0" y="0"/>
                  </a:moveTo>
                  <a:lnTo>
                    <a:pt x="1431544" y="0"/>
                  </a:lnTo>
                  <a:lnTo>
                    <a:pt x="3994150" y="4418457"/>
                  </a:lnTo>
                  <a:lnTo>
                    <a:pt x="5409184" y="6858000"/>
                  </a:lnTo>
                  <a:lnTo>
                    <a:pt x="0" y="685800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2380370" y="1237694"/>
            <a:ext cx="12727604" cy="6770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3414" lvl="1" indent="-301707" algn="l">
              <a:lnSpc>
                <a:spcPts val="4471"/>
              </a:lnSpc>
              <a:buFont typeface="Arial"/>
              <a:buChar char="•"/>
            </a:pPr>
            <a:r>
              <a:rPr lang="en-US" sz="27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As an appraisee you must update your self-appraisal section carefully: objectives, work done, achievements, challenges faced. A clear mapping to your job description helps.</a:t>
            </a:r>
          </a:p>
          <a:p>
            <a:pPr marL="603414" lvl="1" indent="-301707" algn="l">
              <a:lnSpc>
                <a:spcPts val="4471"/>
              </a:lnSpc>
              <a:buFont typeface="Arial"/>
              <a:buChar char="•"/>
            </a:pPr>
            <a:r>
              <a:rPr lang="en-US" sz="27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Ensure your details section (name, designation, department, unit, date of joining, etc) is correct — mistakes here delay further stages.</a:t>
            </a:r>
          </a:p>
          <a:p>
            <a:pPr marL="603414" lvl="1" indent="-301707" algn="l">
              <a:lnSpc>
                <a:spcPts val="4471"/>
              </a:lnSpc>
              <a:buFont typeface="Arial"/>
              <a:buChar char="•"/>
            </a:pPr>
            <a:r>
              <a:rPr lang="en-US" sz="27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After you submit self-appraisal, monitor status in the portal to check if it’s been forwarded/shared to Reporting Officer.</a:t>
            </a:r>
          </a:p>
          <a:p>
            <a:pPr marL="603414" lvl="1" indent="-301707" algn="l">
              <a:lnSpc>
                <a:spcPts val="4471"/>
              </a:lnSpc>
              <a:buFont typeface="Arial"/>
              <a:buChar char="•"/>
            </a:pPr>
            <a:r>
              <a:rPr lang="en-US" sz="27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Reporting Officer should review, add remarks, possibly ask for clarifications. Reviewing Officer then reviews and Accepting Authority gives final sign-off.</a:t>
            </a:r>
          </a:p>
          <a:p>
            <a:pPr marL="603414" lvl="1" indent="-301707" algn="l">
              <a:lnSpc>
                <a:spcPts val="4471"/>
              </a:lnSpc>
              <a:buFont typeface="Arial"/>
              <a:buChar char="•"/>
            </a:pPr>
            <a:r>
              <a:rPr lang="en-US" sz="27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Save / download a copy of your submitted appraisal for your records (print or PDF).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3282" y="447841"/>
            <a:ext cx="8817918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🎯 Key Process Components &amp; Tips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89693" y="8315832"/>
            <a:ext cx="12479661" cy="1490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gradFill>
                  <a:gsLst>
                    <a:gs pos="0">
                      <a:srgbClr val="D61B1B">
                        <a:alpha val="100000"/>
                      </a:srgbClr>
                    </a:gs>
                    <a:gs pos="100000">
                      <a:srgbClr val="950303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Be mindful of deadlines:</a:t>
            </a:r>
            <a:r>
              <a:rPr lang="en-US" sz="2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e-PAR often has a window in which it must be submitted. Missing the window may have implications on the next appraisal cycle or promotion eligibility.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8" y="9739385"/>
            <a:ext cx="16202025" cy="547615"/>
            <a:chOff x="0" y="0"/>
            <a:chExt cx="21602700" cy="730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02700" cy="730146"/>
            </a:xfrm>
            <a:custGeom>
              <a:avLst/>
              <a:gdLst/>
              <a:ahLst/>
              <a:cxnLst/>
              <a:rect l="l" t="t" r="r" b="b"/>
              <a:pathLst>
                <a:path w="21602700" h="730146">
                  <a:moveTo>
                    <a:pt x="3745357" y="0"/>
                  </a:moveTo>
                  <a:lnTo>
                    <a:pt x="17857343" y="0"/>
                  </a:lnTo>
                  <a:lnTo>
                    <a:pt x="20270343" y="470418"/>
                  </a:lnTo>
                  <a:lnTo>
                    <a:pt x="21602700" y="730146"/>
                  </a:lnTo>
                  <a:lnTo>
                    <a:pt x="0" y="730146"/>
                  </a:lnTo>
                  <a:lnTo>
                    <a:pt x="1332357" y="470418"/>
                  </a:lnTo>
                  <a:lnTo>
                    <a:pt x="3745357" y="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7269480" y="3569354"/>
            <a:ext cx="3749040" cy="3749040"/>
            <a:chOff x="0" y="0"/>
            <a:chExt cx="4998720" cy="4998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98720" cy="4998720"/>
            </a:xfrm>
            <a:custGeom>
              <a:avLst/>
              <a:gdLst/>
              <a:ahLst/>
              <a:cxnLst/>
              <a:rect l="l" t="t" r="r" b="b"/>
              <a:pathLst>
                <a:path w="4998720" h="4998720">
                  <a:moveTo>
                    <a:pt x="0" y="2499360"/>
                  </a:moveTo>
                  <a:cubicBezTo>
                    <a:pt x="0" y="1118997"/>
                    <a:pt x="1118997" y="0"/>
                    <a:pt x="2499360" y="0"/>
                  </a:cubicBezTo>
                  <a:cubicBezTo>
                    <a:pt x="3879723" y="0"/>
                    <a:pt x="4998720" y="1118997"/>
                    <a:pt x="4998720" y="2499360"/>
                  </a:cubicBezTo>
                  <a:cubicBezTo>
                    <a:pt x="4998720" y="3879723"/>
                    <a:pt x="3879723" y="4998720"/>
                    <a:pt x="2499360" y="4998720"/>
                  </a:cubicBezTo>
                  <a:cubicBezTo>
                    <a:pt x="1118997" y="4998720"/>
                    <a:pt x="0" y="3879723"/>
                    <a:pt x="0" y="2499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355654" y="5572481"/>
            <a:ext cx="3252507" cy="3252507"/>
            <a:chOff x="0" y="0"/>
            <a:chExt cx="4336676" cy="43366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36669" cy="4336669"/>
            </a:xfrm>
            <a:custGeom>
              <a:avLst/>
              <a:gdLst/>
              <a:ahLst/>
              <a:cxnLst/>
              <a:rect l="l" t="t" r="r" b="b"/>
              <a:pathLst>
                <a:path w="4336669" h="4336669">
                  <a:moveTo>
                    <a:pt x="0" y="2168398"/>
                  </a:moveTo>
                  <a:cubicBezTo>
                    <a:pt x="0" y="970788"/>
                    <a:pt x="970788" y="0"/>
                    <a:pt x="2168398" y="0"/>
                  </a:cubicBezTo>
                  <a:cubicBezTo>
                    <a:pt x="3366008" y="0"/>
                    <a:pt x="4336669" y="970788"/>
                    <a:pt x="4336669" y="2168398"/>
                  </a:cubicBezTo>
                  <a:cubicBezTo>
                    <a:pt x="4336669" y="3366008"/>
                    <a:pt x="3365881" y="4336669"/>
                    <a:pt x="2168398" y="4336669"/>
                  </a:cubicBezTo>
                  <a:cubicBezTo>
                    <a:pt x="970915" y="4336669"/>
                    <a:pt x="0" y="3365881"/>
                    <a:pt x="0" y="2168398"/>
                  </a:cubicBezTo>
                  <a:close/>
                </a:path>
              </a:pathLst>
            </a:custGeom>
            <a:blipFill>
              <a:blip r:embed="rId2"/>
              <a:stretch>
                <a:fillRect t="-25046" b="-25046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287432" y="464478"/>
            <a:ext cx="6731088" cy="66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✅ Benefits &amp; Impact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773294"/>
            <a:ext cx="13326954" cy="6260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355" lvl="1" indent="-337678" algn="l">
              <a:lnSpc>
                <a:spcPts val="5004"/>
              </a:lnSpc>
              <a:buFont typeface="Arial"/>
              <a:buChar char="•"/>
            </a:pPr>
            <a:r>
              <a:rPr lang="en-US" sz="312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Faster processing:</a:t>
            </a:r>
            <a:r>
              <a:rPr lang="en-US" sz="312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no longer rely entirely on physical files moving from one desk to another.</a:t>
            </a:r>
          </a:p>
          <a:p>
            <a:pPr marL="675355" lvl="1" indent="-337678" algn="l">
              <a:lnSpc>
                <a:spcPts val="5004"/>
              </a:lnSpc>
              <a:buFont typeface="Arial"/>
              <a:buChar char="•"/>
            </a:pPr>
            <a:r>
              <a:rPr lang="en-US" sz="312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Transparency:</a:t>
            </a:r>
            <a:r>
              <a:rPr lang="en-US" sz="312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you can track where the form is (with which officer) and what remarks/additions are pending.</a:t>
            </a:r>
          </a:p>
          <a:p>
            <a:pPr marL="675355" lvl="1" indent="-337678" algn="l">
              <a:lnSpc>
                <a:spcPts val="5004"/>
              </a:lnSpc>
              <a:buFont typeface="Arial"/>
              <a:buChar char="•"/>
            </a:pPr>
            <a:r>
              <a:rPr lang="en-US" sz="312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Digital records:</a:t>
            </a:r>
            <a:r>
              <a:rPr lang="en-US" sz="312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your past PARs are stored in the system — easier retrieval for reference, promotion, etc.</a:t>
            </a:r>
          </a:p>
          <a:p>
            <a:pPr marL="675355" lvl="1" indent="-337678" algn="l">
              <a:lnSpc>
                <a:spcPts val="5004"/>
              </a:lnSpc>
              <a:buFont typeface="Arial"/>
              <a:buChar char="•"/>
            </a:pPr>
            <a:r>
              <a:rPr lang="en-US" sz="312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Better feedback:</a:t>
            </a:r>
            <a:r>
              <a:rPr lang="en-US" sz="312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since workflow is clearer, you might get timely remarks and even criticism/opportunities to improve ahead of next cycle.</a:t>
            </a:r>
          </a:p>
          <a:p>
            <a:pPr marL="675355" lvl="1" indent="-337678" algn="l">
              <a:lnSpc>
                <a:spcPts val="5004"/>
              </a:lnSpc>
              <a:buFont typeface="Arial"/>
              <a:buChar char="•"/>
            </a:pPr>
            <a:r>
              <a:rPr lang="en-US" sz="312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Accountability:</a:t>
            </a:r>
            <a:r>
              <a:rPr lang="en-US" sz="312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Since roles are defined (appraisee, reporting, reviewing, accepting), it’s easier to hold each stage responsible.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4142120"/>
            <a:ext cx="9144000" cy="6324244"/>
            <a:chOff x="0" y="0"/>
            <a:chExt cx="14136282" cy="9777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136244" cy="9777095"/>
            </a:xfrm>
            <a:custGeom>
              <a:avLst/>
              <a:gdLst/>
              <a:ahLst/>
              <a:cxnLst/>
              <a:rect l="l" t="t" r="r" b="b"/>
              <a:pathLst>
                <a:path w="14136244" h="9777095">
                  <a:moveTo>
                    <a:pt x="5670677" y="0"/>
                  </a:moveTo>
                  <a:lnTo>
                    <a:pt x="14136244" y="0"/>
                  </a:lnTo>
                  <a:lnTo>
                    <a:pt x="14136244" y="9777095"/>
                  </a:lnTo>
                  <a:lnTo>
                    <a:pt x="0" y="9777095"/>
                  </a:lnTo>
                  <a:close/>
                </a:path>
              </a:pathLst>
            </a:custGeom>
            <a:blipFill>
              <a:blip r:embed="rId2"/>
              <a:stretch>
                <a:fillRect r="-380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769156" y="0"/>
            <a:ext cx="6518844" cy="7332785"/>
            <a:chOff x="0" y="0"/>
            <a:chExt cx="8691792" cy="97770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91753" cy="9777095"/>
            </a:xfrm>
            <a:custGeom>
              <a:avLst/>
              <a:gdLst/>
              <a:ahLst/>
              <a:cxnLst/>
              <a:rect l="l" t="t" r="r" b="b"/>
              <a:pathLst>
                <a:path w="8691753" h="9777095">
                  <a:moveTo>
                    <a:pt x="0" y="0"/>
                  </a:moveTo>
                  <a:lnTo>
                    <a:pt x="8691753" y="0"/>
                  </a:lnTo>
                  <a:lnTo>
                    <a:pt x="8691753" y="9777095"/>
                  </a:lnTo>
                  <a:lnTo>
                    <a:pt x="5670677" y="9777095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80000"/>
                  </a:srgbClr>
                </a:gs>
                <a:gs pos="100000">
                  <a:srgbClr val="950303">
                    <a:alpha val="8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6" name="Group 6"/>
          <p:cNvGrpSpPr/>
          <p:nvPr/>
        </p:nvGrpSpPr>
        <p:grpSpPr>
          <a:xfrm>
            <a:off x="472927" y="353685"/>
            <a:ext cx="722213" cy="782725"/>
            <a:chOff x="0" y="0"/>
            <a:chExt cx="1716713" cy="18605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16711" cy="1860550"/>
            </a:xfrm>
            <a:custGeom>
              <a:avLst/>
              <a:gdLst/>
              <a:ahLst/>
              <a:cxnLst/>
              <a:rect l="l" t="t" r="r" b="b"/>
              <a:pathLst>
                <a:path w="1716711" h="1860550">
                  <a:moveTo>
                    <a:pt x="0" y="0"/>
                  </a:moveTo>
                  <a:lnTo>
                    <a:pt x="1716711" y="0"/>
                  </a:lnTo>
                  <a:lnTo>
                    <a:pt x="1716711" y="1860550"/>
                  </a:lnTo>
                  <a:lnTo>
                    <a:pt x="0" y="186055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8" name="Freeform 8"/>
          <p:cNvSpPr/>
          <p:nvPr/>
        </p:nvSpPr>
        <p:spPr>
          <a:xfrm>
            <a:off x="610725" y="453858"/>
            <a:ext cx="489995" cy="536847"/>
          </a:xfrm>
          <a:custGeom>
            <a:avLst/>
            <a:gdLst/>
            <a:ahLst/>
            <a:cxnLst/>
            <a:rect l="l" t="t" r="r" b="b"/>
            <a:pathLst>
              <a:path w="489995" h="536847">
                <a:moveTo>
                  <a:pt x="0" y="0"/>
                </a:moveTo>
                <a:lnTo>
                  <a:pt x="489995" y="0"/>
                </a:lnTo>
                <a:lnTo>
                  <a:pt x="489995" y="536846"/>
                </a:lnTo>
                <a:lnTo>
                  <a:pt x="0" y="536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96943" y="237683"/>
            <a:ext cx="7026920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✅ Requirements for e-PAR – Karnataka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1470" y="993535"/>
            <a:ext cx="10214811" cy="892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u="sng">
                <a:solidFill>
                  <a:srgbClr val="1800AD"/>
                </a:solidFill>
                <a:latin typeface="Cardo Bold"/>
                <a:ea typeface="Cardo Bold"/>
                <a:cs typeface="Cardo Bold"/>
                <a:sym typeface="Cardo Bold"/>
              </a:rPr>
              <a:t>Internet: </a:t>
            </a:r>
          </a:p>
          <a:p>
            <a:pPr marL="496577" lvl="1" indent="-248289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Active internet connection is required for logging in and completing the e-PAR workflow.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u="sng">
                <a:solidFill>
                  <a:srgbClr val="1800AD"/>
                </a:solidFill>
                <a:latin typeface="Cardo Bold"/>
                <a:ea typeface="Cardo Bold"/>
                <a:cs typeface="Cardo Bold"/>
                <a:sym typeface="Cardo Bold"/>
              </a:rPr>
              <a:t>NIC e-mail / Govt. e-mail ID:</a:t>
            </a:r>
          </a:p>
          <a:p>
            <a:pPr marL="496577" lvl="1" indent="-248289" algn="l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Every officer must have a valid NIC (…@gov.in / …@ka.gov.in/ …@kaeauth.nic.in) e-mail ID to access e-PAR.</a:t>
            </a:r>
          </a:p>
          <a:p>
            <a:pPr marL="496577" lvl="1" indent="-248289" algn="l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User-ID for e-PAR is usually the same as the official NIC e-mail credentials.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u="sng">
                <a:solidFill>
                  <a:srgbClr val="1800AD"/>
                </a:solidFill>
                <a:latin typeface="Cardo Bold"/>
                <a:ea typeface="Cardo Bold"/>
                <a:cs typeface="Cardo Bold"/>
                <a:sym typeface="Cardo Bold"/>
              </a:rPr>
              <a:t>Officers’ Details:</a:t>
            </a:r>
          </a:p>
          <a:p>
            <a:pPr marL="496577" lvl="1" indent="-248289" algn="l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Personal details should be available/updated:</a:t>
            </a:r>
          </a:p>
          <a:p>
            <a:pPr marL="993154" lvl="2" indent="-331051" algn="l">
              <a:lnSpc>
                <a:spcPts val="3220"/>
              </a:lnSpc>
              <a:spcBef>
                <a:spcPct val="0"/>
              </a:spcBef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Name</a:t>
            </a:r>
          </a:p>
          <a:p>
            <a:pPr marL="993154" lvl="2" indent="-331051" algn="l">
              <a:lnSpc>
                <a:spcPts val="3220"/>
              </a:lnSpc>
              <a:spcBef>
                <a:spcPct val="0"/>
              </a:spcBef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Designation</a:t>
            </a:r>
          </a:p>
          <a:p>
            <a:pPr marL="993154" lvl="2" indent="-331051" algn="l">
              <a:lnSpc>
                <a:spcPts val="3220"/>
              </a:lnSpc>
              <a:spcBef>
                <a:spcPct val="0"/>
              </a:spcBef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Office address</a:t>
            </a:r>
          </a:p>
          <a:p>
            <a:pPr marL="993154" lvl="2" indent="-331051" algn="l">
              <a:lnSpc>
                <a:spcPts val="3220"/>
              </a:lnSpc>
              <a:spcBef>
                <a:spcPct val="0"/>
              </a:spcBef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Posting details</a:t>
            </a:r>
          </a:p>
          <a:p>
            <a:pPr marL="993154" lvl="2" indent="-331051" algn="l">
              <a:lnSpc>
                <a:spcPts val="3220"/>
              </a:lnSpc>
              <a:spcBef>
                <a:spcPct val="0"/>
              </a:spcBef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Contact details</a:t>
            </a:r>
          </a:p>
          <a:p>
            <a:pPr marL="993154" lvl="2" indent="-331051" algn="l">
              <a:lnSpc>
                <a:spcPts val="3220"/>
              </a:lnSpc>
              <a:spcBef>
                <a:spcPct val="0"/>
              </a:spcBef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Reporting / Reviewing / Accepting authority mapping</a:t>
            </a:r>
          </a:p>
          <a:p>
            <a:pPr marL="496577" lvl="1" indent="-248289" algn="l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If incorrect, it should be corrected through the department admin.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 u="sng">
                <a:solidFill>
                  <a:srgbClr val="1800AD"/>
                </a:solidFill>
                <a:latin typeface="Cardo Bold"/>
                <a:ea typeface="Cardo Bold"/>
                <a:cs typeface="Cardo Bold"/>
                <a:sym typeface="Cardo Bold"/>
              </a:rPr>
              <a:t>e-Sign / DSC (Digital Signature Certificate):</a:t>
            </a:r>
          </a:p>
          <a:p>
            <a:pPr marL="496577" lvl="1" indent="-248289" algn="l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For online authentication and submission</a:t>
            </a:r>
          </a:p>
          <a:p>
            <a:pPr marL="496577" lvl="1" indent="-248289" algn="l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e-Sign facility (Aadhaar-based electronic signature), or</a:t>
            </a:r>
          </a:p>
          <a:p>
            <a:pPr marL="496577" lvl="1" indent="-248289" algn="l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DSC token (Digital Signature Dongle)</a:t>
            </a:r>
          </a:p>
          <a:p>
            <a:pPr marL="496577" lvl="1" indent="-248289" algn="l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Used by Reporting/ Reviewing/ Accepting authorities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 for approval workflow.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8" y="9739385"/>
            <a:ext cx="16202025" cy="547615"/>
            <a:chOff x="0" y="0"/>
            <a:chExt cx="21602700" cy="730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02700" cy="730146"/>
            </a:xfrm>
            <a:custGeom>
              <a:avLst/>
              <a:gdLst/>
              <a:ahLst/>
              <a:cxnLst/>
              <a:rect l="l" t="t" r="r" b="b"/>
              <a:pathLst>
                <a:path w="21602700" h="730146">
                  <a:moveTo>
                    <a:pt x="3745357" y="0"/>
                  </a:moveTo>
                  <a:lnTo>
                    <a:pt x="17857343" y="0"/>
                  </a:lnTo>
                  <a:lnTo>
                    <a:pt x="20270343" y="470418"/>
                  </a:lnTo>
                  <a:lnTo>
                    <a:pt x="21602700" y="730146"/>
                  </a:lnTo>
                  <a:lnTo>
                    <a:pt x="0" y="730146"/>
                  </a:lnTo>
                  <a:lnTo>
                    <a:pt x="1332357" y="470418"/>
                  </a:lnTo>
                  <a:lnTo>
                    <a:pt x="3745357" y="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7269480" y="3569354"/>
            <a:ext cx="3749040" cy="3749040"/>
            <a:chOff x="0" y="0"/>
            <a:chExt cx="4998720" cy="4998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98720" cy="4998720"/>
            </a:xfrm>
            <a:custGeom>
              <a:avLst/>
              <a:gdLst/>
              <a:ahLst/>
              <a:cxnLst/>
              <a:rect l="l" t="t" r="r" b="b"/>
              <a:pathLst>
                <a:path w="4998720" h="4998720">
                  <a:moveTo>
                    <a:pt x="0" y="2499360"/>
                  </a:moveTo>
                  <a:cubicBezTo>
                    <a:pt x="0" y="1118997"/>
                    <a:pt x="1118997" y="0"/>
                    <a:pt x="2499360" y="0"/>
                  </a:cubicBezTo>
                  <a:cubicBezTo>
                    <a:pt x="3879723" y="0"/>
                    <a:pt x="4998720" y="1118997"/>
                    <a:pt x="4998720" y="2499360"/>
                  </a:cubicBezTo>
                  <a:cubicBezTo>
                    <a:pt x="4998720" y="3879723"/>
                    <a:pt x="3879723" y="4998720"/>
                    <a:pt x="2499360" y="4998720"/>
                  </a:cubicBezTo>
                  <a:cubicBezTo>
                    <a:pt x="1118997" y="4998720"/>
                    <a:pt x="0" y="3879723"/>
                    <a:pt x="0" y="2499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939244" y="2051631"/>
            <a:ext cx="13326954" cy="6586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528" b="1">
                <a:gradFill>
                  <a:gsLst>
                    <a:gs pos="0">
                      <a:srgbClr val="950303">
                        <a:alpha val="100000"/>
                      </a:srgbClr>
                    </a:gs>
                    <a:gs pos="100000">
                      <a:srgbClr val="D61B1B">
                        <a:alpha val="100000"/>
                      </a:srgbClr>
                    </a:gs>
                  </a:gsLst>
                  <a:lin ang="0"/>
                </a:gradFill>
                <a:latin typeface="Futura Bold"/>
                <a:ea typeface="Futura Bold"/>
                <a:cs typeface="Futura Bold"/>
                <a:sym typeface="Futura Bold"/>
              </a:rPr>
              <a:t>Collecting Officers’ Data: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Gather complete details of each officer in the department.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Details include Name, Designation, Office, Cadre, Work Location, Reporting / Reviewing / Accepting Authorities.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Ensure correctness before data entry.</a:t>
            </a:r>
          </a:p>
          <a:p>
            <a:pPr algn="l">
              <a:lnSpc>
                <a:spcPts val="4044"/>
              </a:lnSpc>
            </a:pPr>
            <a:r>
              <a:rPr lang="en-US" sz="2528" b="1">
                <a:gradFill>
                  <a:gsLst>
                    <a:gs pos="0">
                      <a:srgbClr val="950303">
                        <a:alpha val="100000"/>
                      </a:srgbClr>
                    </a:gs>
                    <a:gs pos="100000">
                      <a:srgbClr val="D61B1B">
                        <a:alpha val="100000"/>
                      </a:srgbClr>
                    </a:gs>
                  </a:gsLst>
                  <a:lin ang="0"/>
                </a:gradFill>
                <a:latin typeface="Futura Bold"/>
                <a:ea typeface="Futura Bold"/>
                <a:cs typeface="Futura Bold"/>
                <a:sym typeface="Futura Bold"/>
              </a:rPr>
              <a:t>Entering Data into Online Application: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Feed the gathered officer information into the e-PAR system.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Ensure officer hierarchy mapping is correct.</a:t>
            </a:r>
          </a:p>
          <a:p>
            <a:pPr algn="l">
              <a:lnSpc>
                <a:spcPts val="4044"/>
              </a:lnSpc>
            </a:pPr>
            <a:r>
              <a:rPr lang="en-US" sz="2528" b="1">
                <a:gradFill>
                  <a:gsLst>
                    <a:gs pos="0">
                      <a:srgbClr val="950303">
                        <a:alpha val="100000"/>
                      </a:srgbClr>
                    </a:gs>
                    <a:gs pos="100000">
                      <a:srgbClr val="D61B1B">
                        <a:alpha val="100000"/>
                      </a:srgbClr>
                    </a:gs>
                  </a:gsLst>
                  <a:lin ang="0"/>
                </a:gradFill>
                <a:latin typeface="Futura Bold"/>
                <a:ea typeface="Futura Bold"/>
                <a:cs typeface="Futura Bold"/>
                <a:sym typeface="Futura Bold"/>
              </a:rPr>
              <a:t>Responsible for Creating Workflow: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Configure workflow: Officer → Reporting Officer → Reviewing Officer → Accepting Authority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Ensure every officer has proper workflow mapping.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Modify workflow if officers are transferred or promoted. [if any]</a:t>
            </a:r>
          </a:p>
        </p:txBody>
      </p:sp>
      <p:sp>
        <p:nvSpPr>
          <p:cNvPr id="7" name="Freeform 7"/>
          <p:cNvSpPr/>
          <p:nvPr/>
        </p:nvSpPr>
        <p:spPr>
          <a:xfrm>
            <a:off x="14888600" y="5875639"/>
            <a:ext cx="2370700" cy="2370700"/>
          </a:xfrm>
          <a:custGeom>
            <a:avLst/>
            <a:gdLst/>
            <a:ahLst/>
            <a:cxnLst/>
            <a:rect l="l" t="t" r="r" b="b"/>
            <a:pathLst>
              <a:path w="2370700" h="2370700">
                <a:moveTo>
                  <a:pt x="0" y="0"/>
                </a:moveTo>
                <a:lnTo>
                  <a:pt x="2370700" y="0"/>
                </a:lnTo>
                <a:lnTo>
                  <a:pt x="2370700" y="2370700"/>
                </a:lnTo>
                <a:lnTo>
                  <a:pt x="0" y="237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88730" y="559169"/>
            <a:ext cx="12676437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Duties &amp; Responsibilities - </a:t>
            </a:r>
            <a:r>
              <a:rPr lang="en-US" sz="3899" b="1" i="1" u="sng">
                <a:solidFill>
                  <a:srgbClr val="1800AD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PAR / EMD Manager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49901" y="1372460"/>
            <a:ext cx="14095661" cy="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B5953C"/>
                </a:solidFill>
                <a:latin typeface="Amaranth Bold"/>
                <a:ea typeface="Amaranth Bold"/>
                <a:cs typeface="Amaranth Bold"/>
                <a:sym typeface="Amaranth Bold"/>
              </a:rPr>
              <a:t>The PAR/EMD Manager is the key administrator responsible for creating the groundwork to start e-PAR for officials.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7145" y="9191625"/>
            <a:ext cx="14621173" cy="408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📌 Key note: If the workflow is wrong, officers cannot submit PAR properly; this is a major responsibility.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8" y="9739385"/>
            <a:ext cx="16202025" cy="547615"/>
            <a:chOff x="0" y="0"/>
            <a:chExt cx="21602700" cy="730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02700" cy="730146"/>
            </a:xfrm>
            <a:custGeom>
              <a:avLst/>
              <a:gdLst/>
              <a:ahLst/>
              <a:cxnLst/>
              <a:rect l="l" t="t" r="r" b="b"/>
              <a:pathLst>
                <a:path w="21602700" h="730146">
                  <a:moveTo>
                    <a:pt x="3745357" y="0"/>
                  </a:moveTo>
                  <a:lnTo>
                    <a:pt x="17857343" y="0"/>
                  </a:lnTo>
                  <a:lnTo>
                    <a:pt x="20270343" y="470418"/>
                  </a:lnTo>
                  <a:lnTo>
                    <a:pt x="21602700" y="730146"/>
                  </a:lnTo>
                  <a:lnTo>
                    <a:pt x="0" y="730146"/>
                  </a:lnTo>
                  <a:lnTo>
                    <a:pt x="1332357" y="470418"/>
                  </a:lnTo>
                  <a:lnTo>
                    <a:pt x="3745357" y="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7269480" y="3569354"/>
            <a:ext cx="3749040" cy="3749040"/>
            <a:chOff x="0" y="0"/>
            <a:chExt cx="4998720" cy="4998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98720" cy="4998720"/>
            </a:xfrm>
            <a:custGeom>
              <a:avLst/>
              <a:gdLst/>
              <a:ahLst/>
              <a:cxnLst/>
              <a:rect l="l" t="t" r="r" b="b"/>
              <a:pathLst>
                <a:path w="4998720" h="4998720">
                  <a:moveTo>
                    <a:pt x="0" y="2499360"/>
                  </a:moveTo>
                  <a:cubicBezTo>
                    <a:pt x="0" y="1118997"/>
                    <a:pt x="1118997" y="0"/>
                    <a:pt x="2499360" y="0"/>
                  </a:cubicBezTo>
                  <a:cubicBezTo>
                    <a:pt x="3879723" y="0"/>
                    <a:pt x="4998720" y="1118997"/>
                    <a:pt x="4998720" y="2499360"/>
                  </a:cubicBezTo>
                  <a:cubicBezTo>
                    <a:pt x="4998720" y="3879723"/>
                    <a:pt x="3879723" y="4998720"/>
                    <a:pt x="2499360" y="4998720"/>
                  </a:cubicBezTo>
                  <a:cubicBezTo>
                    <a:pt x="1118997" y="4998720"/>
                    <a:pt x="0" y="3879723"/>
                    <a:pt x="0" y="2499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939244" y="1887355"/>
            <a:ext cx="13326954" cy="7091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528" b="1">
                <a:gradFill>
                  <a:gsLst>
                    <a:gs pos="0">
                      <a:srgbClr val="D61B1B">
                        <a:alpha val="100000"/>
                      </a:srgbClr>
                    </a:gs>
                    <a:gs pos="100000">
                      <a:srgbClr val="950303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Futura Bold"/>
                <a:ea typeface="Futura Bold"/>
                <a:cs typeface="Futura Bold"/>
                <a:sym typeface="Futura Bold"/>
              </a:rPr>
              <a:t>Generate and Forward PAR: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Create the PAR for the concerned officer.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Forward it to the Reporting Officer for further action.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Ensure timely movement.</a:t>
            </a:r>
          </a:p>
          <a:p>
            <a:pPr algn="l">
              <a:lnSpc>
                <a:spcPts val="4044"/>
              </a:lnSpc>
            </a:pPr>
            <a:r>
              <a:rPr lang="en-US" sz="2528" b="1">
                <a:gradFill>
                  <a:gsLst>
                    <a:gs pos="0">
                      <a:srgbClr val="D61B1B">
                        <a:alpha val="100000"/>
                      </a:srgbClr>
                    </a:gs>
                    <a:gs pos="100000">
                      <a:srgbClr val="950303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Futura Bold"/>
                <a:ea typeface="Futura Bold"/>
                <a:cs typeface="Futura Bold"/>
                <a:sym typeface="Futura Bold"/>
              </a:rPr>
              <a:t>Receive Email Notifications: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Custodian receives email alerts for every stage/movement of PAR.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Tracks progress of PAR (submitted → reviewed → accepted).</a:t>
            </a:r>
          </a:p>
          <a:p>
            <a:pPr algn="l">
              <a:lnSpc>
                <a:spcPts val="4044"/>
              </a:lnSpc>
            </a:pPr>
            <a:r>
              <a:rPr lang="en-US" sz="2528" b="1">
                <a:gradFill>
                  <a:gsLst>
                    <a:gs pos="0">
                      <a:srgbClr val="D61B1B">
                        <a:alpha val="100000"/>
                      </a:srgbClr>
                    </a:gs>
                    <a:gs pos="100000">
                      <a:srgbClr val="950303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Futura Bold"/>
                <a:ea typeface="Futura Bold"/>
                <a:cs typeface="Futura Bold"/>
                <a:sym typeface="Futura Bold"/>
              </a:rPr>
              <a:t>Close Accepted PAR: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After final acceptance (Accepting Authority), Custodian closes the PAR for that cycle.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Ensures final archival and system update.</a:t>
            </a:r>
          </a:p>
          <a:p>
            <a:pPr algn="l">
              <a:lnSpc>
                <a:spcPts val="4044"/>
              </a:lnSpc>
            </a:pPr>
            <a:r>
              <a:rPr lang="en-US" sz="2528" b="1">
                <a:gradFill>
                  <a:gsLst>
                    <a:gs pos="0">
                      <a:srgbClr val="D61B1B">
                        <a:alpha val="100000"/>
                      </a:srgbClr>
                    </a:gs>
                    <a:gs pos="100000">
                      <a:srgbClr val="950303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Futura Bold"/>
                <a:ea typeface="Futura Bold"/>
                <a:cs typeface="Futura Bold"/>
                <a:sym typeface="Futura Bold"/>
              </a:rPr>
              <a:t>Update Submitted Error Reports: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Officers may raise “Submitted Error Reports” if details like designation or workflow are wrong.</a:t>
            </a:r>
          </a:p>
          <a:p>
            <a:pPr marL="545818" lvl="1" indent="-272909" algn="l">
              <a:lnSpc>
                <a:spcPts val="4044"/>
              </a:lnSpc>
              <a:buFont typeface="Arial"/>
              <a:buChar char="•"/>
            </a:pPr>
            <a:r>
              <a:rPr lang="en-US" sz="25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Custodian must verify and update corrections in the system.</a:t>
            </a:r>
          </a:p>
        </p:txBody>
      </p:sp>
      <p:sp>
        <p:nvSpPr>
          <p:cNvPr id="7" name="Freeform 7"/>
          <p:cNvSpPr/>
          <p:nvPr/>
        </p:nvSpPr>
        <p:spPr>
          <a:xfrm>
            <a:off x="15173010" y="794036"/>
            <a:ext cx="2604685" cy="2491438"/>
          </a:xfrm>
          <a:custGeom>
            <a:avLst/>
            <a:gdLst/>
            <a:ahLst/>
            <a:cxnLst/>
            <a:rect l="l" t="t" r="r" b="b"/>
            <a:pathLst>
              <a:path w="2604685" h="2491438">
                <a:moveTo>
                  <a:pt x="0" y="0"/>
                </a:moveTo>
                <a:lnTo>
                  <a:pt x="2604685" y="0"/>
                </a:lnTo>
                <a:lnTo>
                  <a:pt x="2604685" y="2491438"/>
                </a:lnTo>
                <a:lnTo>
                  <a:pt x="0" y="249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88730" y="559169"/>
            <a:ext cx="12676437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Duties &amp; Responsibilities - </a:t>
            </a:r>
            <a:r>
              <a:rPr lang="en-US" sz="3899" b="1" i="1" u="sng">
                <a:solidFill>
                  <a:srgbClr val="1800AD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CUSTODIAN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8730" y="1387588"/>
            <a:ext cx="10533608" cy="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B5953C"/>
                </a:solidFill>
                <a:latin typeface="Amaranth Bold"/>
                <a:ea typeface="Amaranth Bold"/>
                <a:cs typeface="Amaranth Bold"/>
                <a:sym typeface="Amaranth Bold"/>
              </a:rPr>
              <a:t>The Custodian manages the entire lifecycle of a PAR record, from generation to closure.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7145" y="9210675"/>
            <a:ext cx="16380470" cy="408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📌 Key note: The custodian acts as the primary operator ensuring the PAR progresses smoothly through every stage.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8" y="9739385"/>
            <a:ext cx="16202025" cy="547615"/>
            <a:chOff x="0" y="0"/>
            <a:chExt cx="21602700" cy="730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02700" cy="730146"/>
            </a:xfrm>
            <a:custGeom>
              <a:avLst/>
              <a:gdLst/>
              <a:ahLst/>
              <a:cxnLst/>
              <a:rect l="l" t="t" r="r" b="b"/>
              <a:pathLst>
                <a:path w="21602700" h="730146">
                  <a:moveTo>
                    <a:pt x="3745357" y="0"/>
                  </a:moveTo>
                  <a:lnTo>
                    <a:pt x="17857343" y="0"/>
                  </a:lnTo>
                  <a:lnTo>
                    <a:pt x="20270343" y="470418"/>
                  </a:lnTo>
                  <a:lnTo>
                    <a:pt x="21602700" y="730146"/>
                  </a:lnTo>
                  <a:lnTo>
                    <a:pt x="0" y="730146"/>
                  </a:lnTo>
                  <a:lnTo>
                    <a:pt x="1332357" y="470418"/>
                  </a:lnTo>
                  <a:lnTo>
                    <a:pt x="3745357" y="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7269480" y="3569354"/>
            <a:ext cx="3749040" cy="3749040"/>
            <a:chOff x="0" y="0"/>
            <a:chExt cx="4998720" cy="4998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98720" cy="4998720"/>
            </a:xfrm>
            <a:custGeom>
              <a:avLst/>
              <a:gdLst/>
              <a:ahLst/>
              <a:cxnLst/>
              <a:rect l="l" t="t" r="r" b="b"/>
              <a:pathLst>
                <a:path w="4998720" h="4998720">
                  <a:moveTo>
                    <a:pt x="0" y="2499360"/>
                  </a:moveTo>
                  <a:cubicBezTo>
                    <a:pt x="0" y="1118997"/>
                    <a:pt x="1118997" y="0"/>
                    <a:pt x="2499360" y="0"/>
                  </a:cubicBezTo>
                  <a:cubicBezTo>
                    <a:pt x="3879723" y="0"/>
                    <a:pt x="4998720" y="1118997"/>
                    <a:pt x="4998720" y="2499360"/>
                  </a:cubicBezTo>
                  <a:cubicBezTo>
                    <a:pt x="4998720" y="3879723"/>
                    <a:pt x="3879723" y="4998720"/>
                    <a:pt x="2499360" y="4998720"/>
                  </a:cubicBezTo>
                  <a:cubicBezTo>
                    <a:pt x="1118997" y="4998720"/>
                    <a:pt x="0" y="3879723"/>
                    <a:pt x="0" y="2499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939244" y="2921670"/>
            <a:ext cx="13326954" cy="414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4"/>
              </a:lnSpc>
            </a:pPr>
            <a:r>
              <a:rPr lang="en-US" sz="2928" b="1">
                <a:gradFill>
                  <a:gsLst>
                    <a:gs pos="0">
                      <a:srgbClr val="D61B1B">
                        <a:alpha val="100000"/>
                      </a:srgbClr>
                    </a:gs>
                    <a:gs pos="100000">
                      <a:srgbClr val="950303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Futura Bold"/>
                <a:ea typeface="Futura Bold"/>
                <a:cs typeface="Futura Bold"/>
                <a:sym typeface="Futura Bold"/>
              </a:rPr>
              <a:t>Filling Part-1 (Basic Information):</a:t>
            </a:r>
          </a:p>
          <a:p>
            <a:pPr marL="632176" lvl="1" indent="-316088" algn="l">
              <a:lnSpc>
                <a:spcPts val="4684"/>
              </a:lnSpc>
              <a:buFont typeface="Arial"/>
              <a:buChar char="•"/>
            </a:pPr>
            <a:r>
              <a:rPr lang="en-US" sz="29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Helps in filling basic information of officers when required.</a:t>
            </a:r>
          </a:p>
          <a:p>
            <a:pPr marL="632176" lvl="1" indent="-316088" algn="l">
              <a:lnSpc>
                <a:spcPts val="4684"/>
              </a:lnSpc>
              <a:buFont typeface="Arial"/>
              <a:buChar char="•"/>
            </a:pPr>
            <a:r>
              <a:rPr lang="en-US" sz="29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Ensures accurate personal &amp; service details.</a:t>
            </a:r>
          </a:p>
          <a:p>
            <a:pPr algn="l">
              <a:lnSpc>
                <a:spcPts val="4684"/>
              </a:lnSpc>
            </a:pPr>
            <a:endParaRPr lang="en-US" sz="2928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l">
              <a:lnSpc>
                <a:spcPts val="4684"/>
              </a:lnSpc>
            </a:pPr>
            <a:r>
              <a:rPr lang="en-US" sz="2928" b="1">
                <a:gradFill>
                  <a:gsLst>
                    <a:gs pos="0">
                      <a:srgbClr val="D61B1B">
                        <a:alpha val="100000"/>
                      </a:srgbClr>
                    </a:gs>
                    <a:gs pos="100000">
                      <a:srgbClr val="950303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Futura Bold"/>
                <a:ea typeface="Futura Bold"/>
                <a:cs typeface="Futura Bold"/>
                <a:sym typeface="Futura Bold"/>
              </a:rPr>
              <a:t>Various Functions Prescribed by Custodian:</a:t>
            </a:r>
          </a:p>
          <a:p>
            <a:pPr marL="632176" lvl="1" indent="-316088" algn="l">
              <a:lnSpc>
                <a:spcPts val="4684"/>
              </a:lnSpc>
              <a:buFont typeface="Arial"/>
              <a:buChar char="•"/>
            </a:pPr>
            <a:r>
              <a:rPr lang="en-US" sz="29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Performs supportive tasks assigned by custodian.</a:t>
            </a:r>
          </a:p>
          <a:p>
            <a:pPr marL="632176" lvl="1" indent="-316088" algn="l">
              <a:lnSpc>
                <a:spcPts val="4684"/>
              </a:lnSpc>
              <a:buFont typeface="Arial"/>
              <a:buChar char="•"/>
            </a:pPr>
            <a:r>
              <a:rPr lang="en-US" sz="29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May temporarily handle custodian duties when needed (leave/absence).</a:t>
            </a:r>
          </a:p>
        </p:txBody>
      </p:sp>
      <p:sp>
        <p:nvSpPr>
          <p:cNvPr id="7" name="Freeform 7"/>
          <p:cNvSpPr/>
          <p:nvPr/>
        </p:nvSpPr>
        <p:spPr>
          <a:xfrm>
            <a:off x="14929475" y="2652062"/>
            <a:ext cx="2604685" cy="2491438"/>
          </a:xfrm>
          <a:custGeom>
            <a:avLst/>
            <a:gdLst/>
            <a:ahLst/>
            <a:cxnLst/>
            <a:rect l="l" t="t" r="r" b="b"/>
            <a:pathLst>
              <a:path w="2604685" h="2491438">
                <a:moveTo>
                  <a:pt x="0" y="0"/>
                </a:moveTo>
                <a:lnTo>
                  <a:pt x="2604685" y="0"/>
                </a:lnTo>
                <a:lnTo>
                  <a:pt x="2604685" y="2491438"/>
                </a:lnTo>
                <a:lnTo>
                  <a:pt x="0" y="249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88730" y="952500"/>
            <a:ext cx="13777468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Duties &amp; Responsibilities - </a:t>
            </a:r>
            <a:r>
              <a:rPr lang="en-US" sz="3899" b="1" i="1" u="sng">
                <a:solidFill>
                  <a:srgbClr val="1800AD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ALTERNATIVE CUSTODIAN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39244" y="1992130"/>
            <a:ext cx="11688366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B5953C"/>
                </a:solidFill>
                <a:latin typeface="Amaranth Bold"/>
                <a:ea typeface="Amaranth Bold"/>
                <a:cs typeface="Amaranth Bold"/>
                <a:sym typeface="Amaranth Bold"/>
              </a:rPr>
              <a:t>The Alternative Custodian manages the entire lifecycle &amp; also Backup / Supporting Role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81556" y="9020810"/>
            <a:ext cx="13642330" cy="408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📌 Key note: Alternative Custodian provides redundancy to ensure continuity of the PAR process.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8" y="9739385"/>
            <a:ext cx="16202025" cy="547615"/>
            <a:chOff x="0" y="0"/>
            <a:chExt cx="21602700" cy="730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02700" cy="730146"/>
            </a:xfrm>
            <a:custGeom>
              <a:avLst/>
              <a:gdLst/>
              <a:ahLst/>
              <a:cxnLst/>
              <a:rect l="l" t="t" r="r" b="b"/>
              <a:pathLst>
                <a:path w="21602700" h="730146">
                  <a:moveTo>
                    <a:pt x="3745357" y="0"/>
                  </a:moveTo>
                  <a:lnTo>
                    <a:pt x="17857343" y="0"/>
                  </a:lnTo>
                  <a:lnTo>
                    <a:pt x="20270343" y="470418"/>
                  </a:lnTo>
                  <a:lnTo>
                    <a:pt x="21602700" y="730146"/>
                  </a:lnTo>
                  <a:lnTo>
                    <a:pt x="0" y="730146"/>
                  </a:lnTo>
                  <a:lnTo>
                    <a:pt x="1332357" y="470418"/>
                  </a:lnTo>
                  <a:lnTo>
                    <a:pt x="3745357" y="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7269480" y="3805713"/>
            <a:ext cx="3749040" cy="3749040"/>
            <a:chOff x="0" y="0"/>
            <a:chExt cx="4998720" cy="4998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98720" cy="4998720"/>
            </a:xfrm>
            <a:custGeom>
              <a:avLst/>
              <a:gdLst/>
              <a:ahLst/>
              <a:cxnLst/>
              <a:rect l="l" t="t" r="r" b="b"/>
              <a:pathLst>
                <a:path w="4998720" h="4998720">
                  <a:moveTo>
                    <a:pt x="0" y="2499360"/>
                  </a:moveTo>
                  <a:cubicBezTo>
                    <a:pt x="0" y="1118997"/>
                    <a:pt x="1118997" y="0"/>
                    <a:pt x="2499360" y="0"/>
                  </a:cubicBezTo>
                  <a:cubicBezTo>
                    <a:pt x="3879723" y="0"/>
                    <a:pt x="4998720" y="1118997"/>
                    <a:pt x="4998720" y="2499360"/>
                  </a:cubicBezTo>
                  <a:cubicBezTo>
                    <a:pt x="4998720" y="3879723"/>
                    <a:pt x="3879723" y="4998720"/>
                    <a:pt x="2499360" y="4998720"/>
                  </a:cubicBezTo>
                  <a:cubicBezTo>
                    <a:pt x="1118997" y="4998720"/>
                    <a:pt x="0" y="3879723"/>
                    <a:pt x="0" y="2499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13987" y="4414043"/>
            <a:ext cx="13326954" cy="5149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328" b="1" dirty="0">
                <a:gradFill>
                  <a:gsLst>
                    <a:gs pos="0">
                      <a:srgbClr val="D61B1B">
                        <a:alpha val="100000"/>
                      </a:srgbClr>
                    </a:gs>
                    <a:gs pos="100000">
                      <a:srgbClr val="950303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Futura Bold"/>
                <a:ea typeface="Futura Bold"/>
                <a:cs typeface="Futura Bold"/>
                <a:sym typeface="Futura Bold"/>
              </a:rPr>
              <a:t>Reporting Authority:</a:t>
            </a:r>
          </a:p>
          <a:p>
            <a:pPr marL="502639" lvl="1" indent="-251320" algn="l">
              <a:lnSpc>
                <a:spcPts val="3724"/>
              </a:lnSpc>
              <a:buFont typeface="Arial"/>
              <a:buChar char="•"/>
            </a:pPr>
            <a:r>
              <a:rPr lang="en-US" sz="232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Reporting Authority is the immediate supervisor of the officer.</a:t>
            </a:r>
          </a:p>
          <a:p>
            <a:pPr marL="502639" lvl="1" indent="-251320" algn="l">
              <a:lnSpc>
                <a:spcPts val="3724"/>
              </a:lnSpc>
              <a:buFont typeface="Arial"/>
              <a:buChar char="•"/>
            </a:pPr>
            <a:r>
              <a:rPr lang="en-US" sz="232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Examine the self-appraisal submitted by the officer</a:t>
            </a:r>
          </a:p>
          <a:p>
            <a:pPr marL="502639" lvl="1" indent="-251320" algn="l">
              <a:lnSpc>
                <a:spcPts val="3724"/>
              </a:lnSpc>
              <a:buFont typeface="Arial"/>
              <a:buChar char="•"/>
            </a:pPr>
            <a:r>
              <a:rPr lang="en-US" sz="232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Evaluate performance based on goals, achievements, work quality, discipline, attendance, etc.</a:t>
            </a:r>
          </a:p>
          <a:p>
            <a:pPr marL="502639" lvl="1" indent="-251320" algn="l">
              <a:lnSpc>
                <a:spcPts val="3724"/>
              </a:lnSpc>
              <a:buFont typeface="Arial"/>
              <a:buChar char="•"/>
            </a:pPr>
            <a:r>
              <a:rPr lang="en-US" sz="232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Assign initial grading (performance marks)</a:t>
            </a:r>
          </a:p>
          <a:p>
            <a:pPr marL="502639" lvl="1" indent="-251320" algn="l">
              <a:lnSpc>
                <a:spcPts val="3724"/>
              </a:lnSpc>
              <a:buFont typeface="Arial"/>
              <a:buChar char="•"/>
            </a:pPr>
            <a:r>
              <a:rPr lang="en-US" sz="232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Move the PAR to the next level (Reviewing Authority)</a:t>
            </a:r>
          </a:p>
          <a:p>
            <a:pPr algn="l">
              <a:lnSpc>
                <a:spcPts val="3724"/>
              </a:lnSpc>
            </a:pPr>
            <a:r>
              <a:rPr lang="en-US" sz="2328" b="1" dirty="0">
                <a:gradFill>
                  <a:gsLst>
                    <a:gs pos="0">
                      <a:srgbClr val="D61B1B">
                        <a:alpha val="100000"/>
                      </a:srgbClr>
                    </a:gs>
                    <a:gs pos="100000">
                      <a:srgbClr val="950303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Futura Bold"/>
                <a:ea typeface="Futura Bold"/>
                <a:cs typeface="Futura Bold"/>
                <a:sym typeface="Futura Bold"/>
              </a:rPr>
              <a:t>Reviewing Authority:</a:t>
            </a:r>
          </a:p>
          <a:p>
            <a:pPr marL="502639" lvl="1" indent="-251320" algn="l">
              <a:lnSpc>
                <a:spcPts val="3724"/>
              </a:lnSpc>
              <a:buFont typeface="Arial"/>
              <a:buChar char="•"/>
            </a:pPr>
            <a:r>
              <a:rPr lang="en-US" sz="232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Reviewing Authority validates the evaluation made by the Reporting Authority.</a:t>
            </a:r>
          </a:p>
          <a:p>
            <a:pPr marL="502639" lvl="1" indent="-251320" algn="l">
              <a:lnSpc>
                <a:spcPts val="3724"/>
              </a:lnSpc>
              <a:buFont typeface="Arial"/>
              <a:buChar char="•"/>
            </a:pPr>
            <a:r>
              <a:rPr lang="en-US" sz="232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Cross-check the given grading</a:t>
            </a:r>
          </a:p>
          <a:p>
            <a:pPr marL="502639" lvl="1" indent="-251320" algn="l">
              <a:lnSpc>
                <a:spcPts val="3724"/>
              </a:lnSpc>
              <a:buFont typeface="Arial"/>
              <a:buChar char="•"/>
            </a:pPr>
            <a:r>
              <a:rPr lang="en-US" sz="232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Modify / approve performance marks</a:t>
            </a:r>
          </a:p>
          <a:p>
            <a:pPr marL="502639" lvl="1" indent="-251320" algn="l">
              <a:lnSpc>
                <a:spcPts val="3724"/>
              </a:lnSpc>
              <a:buFont typeface="Arial"/>
              <a:buChar char="•"/>
            </a:pPr>
            <a:r>
              <a:rPr lang="en-US" sz="232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Pass the PAR to the next level (Accepting Authority)</a:t>
            </a:r>
          </a:p>
        </p:txBody>
      </p:sp>
      <p:sp>
        <p:nvSpPr>
          <p:cNvPr id="7" name="Freeform 7"/>
          <p:cNvSpPr/>
          <p:nvPr/>
        </p:nvSpPr>
        <p:spPr>
          <a:xfrm>
            <a:off x="15803071" y="889446"/>
            <a:ext cx="1960250" cy="1636219"/>
          </a:xfrm>
          <a:custGeom>
            <a:avLst/>
            <a:gdLst/>
            <a:ahLst/>
            <a:cxnLst/>
            <a:rect l="l" t="t" r="r" b="b"/>
            <a:pathLst>
              <a:path w="1960250" h="1636219">
                <a:moveTo>
                  <a:pt x="0" y="0"/>
                </a:moveTo>
                <a:lnTo>
                  <a:pt x="1960250" y="0"/>
                </a:lnTo>
                <a:lnTo>
                  <a:pt x="1960250" y="1636220"/>
                </a:lnTo>
                <a:lnTo>
                  <a:pt x="0" y="1636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88730" y="952500"/>
            <a:ext cx="13777468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Duties &amp; Responsibilities - </a:t>
            </a:r>
            <a:r>
              <a:rPr lang="en-US" sz="3899" u="sng">
                <a:solidFill>
                  <a:srgbClr val="1800AD"/>
                </a:solidFill>
                <a:latin typeface="Archivo Black"/>
                <a:ea typeface="Archivo Black"/>
                <a:cs typeface="Archivo Black"/>
                <a:sym typeface="Archivo Black"/>
              </a:rPr>
              <a:t>3 LEVEL AUTHORITIES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3988" y="1973725"/>
            <a:ext cx="13449812" cy="388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13"/>
              </a:lnSpc>
              <a:spcBef>
                <a:spcPct val="0"/>
              </a:spcBef>
            </a:pPr>
            <a:r>
              <a:rPr lang="en-US" sz="2366" b="1" dirty="0">
                <a:solidFill>
                  <a:srgbClr val="B5953C"/>
                </a:solidFill>
                <a:latin typeface="Amaranth Bold"/>
                <a:ea typeface="Amaranth Bold"/>
                <a:cs typeface="Amaranth Bold"/>
                <a:sym typeface="Amaranth Bold"/>
              </a:rPr>
              <a:t>The </a:t>
            </a:r>
            <a:r>
              <a:rPr lang="en-US" sz="2366" b="1" dirty="0">
                <a:solidFill>
                  <a:srgbClr val="D61B1B"/>
                </a:solidFill>
                <a:latin typeface="Amaranth Bold"/>
                <a:ea typeface="Amaranth Bold"/>
                <a:cs typeface="Amaranth Bold"/>
                <a:sym typeface="Amaranth Bold"/>
              </a:rPr>
              <a:t>e-PAR (Electronic Performance Appraisal Report)</a:t>
            </a:r>
            <a:r>
              <a:rPr lang="en-US" sz="2366" b="1" dirty="0">
                <a:solidFill>
                  <a:srgbClr val="B5953C"/>
                </a:solidFill>
                <a:latin typeface="Amaranth Bold"/>
                <a:ea typeface="Amaranth Bold"/>
                <a:cs typeface="Amaranth Bold"/>
                <a:sym typeface="Amaranth Bold"/>
              </a:rPr>
              <a:t> process involves three levels of authorities: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6264" y="2909571"/>
            <a:ext cx="15055155" cy="481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Reporting Authority / Reviewing Authority / Accepting Authority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95600" y="3630717"/>
            <a:ext cx="11582400" cy="389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Amaranth"/>
                <a:ea typeface="Amaranth"/>
                <a:cs typeface="Amaranth"/>
                <a:sym typeface="Amaranth"/>
              </a:rPr>
              <a:t>Each stage has a defined role for completing and approving the PAR of an officer.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8" y="9739385"/>
            <a:ext cx="16202025" cy="547615"/>
            <a:chOff x="0" y="0"/>
            <a:chExt cx="21602700" cy="730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02700" cy="730146"/>
            </a:xfrm>
            <a:custGeom>
              <a:avLst/>
              <a:gdLst/>
              <a:ahLst/>
              <a:cxnLst/>
              <a:rect l="l" t="t" r="r" b="b"/>
              <a:pathLst>
                <a:path w="21602700" h="730146">
                  <a:moveTo>
                    <a:pt x="3745357" y="0"/>
                  </a:moveTo>
                  <a:lnTo>
                    <a:pt x="17857343" y="0"/>
                  </a:lnTo>
                  <a:lnTo>
                    <a:pt x="20270343" y="470418"/>
                  </a:lnTo>
                  <a:lnTo>
                    <a:pt x="21602700" y="730146"/>
                  </a:lnTo>
                  <a:lnTo>
                    <a:pt x="0" y="730146"/>
                  </a:lnTo>
                  <a:lnTo>
                    <a:pt x="1332357" y="470418"/>
                  </a:lnTo>
                  <a:lnTo>
                    <a:pt x="3745357" y="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TextBox 4"/>
          <p:cNvSpPr txBox="1"/>
          <p:nvPr/>
        </p:nvSpPr>
        <p:spPr>
          <a:xfrm>
            <a:off x="1495580" y="4870314"/>
            <a:ext cx="13326954" cy="269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4"/>
              </a:lnSpc>
            </a:pPr>
            <a:r>
              <a:rPr lang="en-US" sz="2628" b="1">
                <a:gradFill>
                  <a:gsLst>
                    <a:gs pos="0">
                      <a:srgbClr val="D61B1B">
                        <a:alpha val="100000"/>
                      </a:srgbClr>
                    </a:gs>
                    <a:gs pos="100000">
                      <a:srgbClr val="950303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Futura Bold"/>
                <a:ea typeface="Futura Bold"/>
                <a:cs typeface="Futura Bold"/>
                <a:sym typeface="Futura Bold"/>
              </a:rPr>
              <a:t>Accepting Authority:</a:t>
            </a:r>
          </a:p>
          <a:p>
            <a:pPr marL="567408" lvl="1" indent="-283704" algn="l">
              <a:lnSpc>
                <a:spcPts val="4204"/>
              </a:lnSpc>
              <a:buFont typeface="Arial"/>
              <a:buChar char="•"/>
            </a:pPr>
            <a:r>
              <a:rPr lang="en-US" sz="26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Accepting Authority is the final decision-making authority in the PAR cycle</a:t>
            </a:r>
          </a:p>
          <a:p>
            <a:pPr marL="567408" lvl="1" indent="-283704" algn="l">
              <a:lnSpc>
                <a:spcPts val="4204"/>
              </a:lnSpc>
              <a:buFont typeface="Arial"/>
              <a:buChar char="•"/>
            </a:pPr>
            <a:r>
              <a:rPr lang="en-US" sz="26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Confirm the final rating &amp; Finalizes the grading.</a:t>
            </a:r>
          </a:p>
          <a:p>
            <a:pPr marL="567408" lvl="1" indent="-283704" algn="l">
              <a:lnSpc>
                <a:spcPts val="4204"/>
              </a:lnSpc>
              <a:buFont typeface="Arial"/>
              <a:buChar char="•"/>
            </a:pPr>
            <a:r>
              <a:rPr lang="en-US" sz="26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Ensure fair and unbiased appraisal</a:t>
            </a:r>
          </a:p>
          <a:p>
            <a:pPr marL="567408" lvl="1" indent="-283704" algn="l">
              <a:lnSpc>
                <a:spcPts val="4204"/>
              </a:lnSpc>
              <a:buFont typeface="Arial"/>
              <a:buChar char="•"/>
            </a:pPr>
            <a:r>
              <a:rPr lang="en-US" sz="26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Approve and send it to Record Custodian Office</a:t>
            </a:r>
          </a:p>
        </p:txBody>
      </p:sp>
      <p:sp>
        <p:nvSpPr>
          <p:cNvPr id="5" name="Freeform 5"/>
          <p:cNvSpPr/>
          <p:nvPr/>
        </p:nvSpPr>
        <p:spPr>
          <a:xfrm>
            <a:off x="15950765" y="1028700"/>
            <a:ext cx="1565713" cy="1565713"/>
          </a:xfrm>
          <a:custGeom>
            <a:avLst/>
            <a:gdLst/>
            <a:ahLst/>
            <a:cxnLst/>
            <a:rect l="l" t="t" r="r" b="b"/>
            <a:pathLst>
              <a:path w="1565713" h="1565713">
                <a:moveTo>
                  <a:pt x="0" y="0"/>
                </a:moveTo>
                <a:lnTo>
                  <a:pt x="1565713" y="0"/>
                </a:lnTo>
                <a:lnTo>
                  <a:pt x="1565713" y="1565713"/>
                </a:lnTo>
                <a:lnTo>
                  <a:pt x="0" y="15657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943932" y="5581651"/>
            <a:ext cx="3315368" cy="2610099"/>
          </a:xfrm>
          <a:custGeom>
            <a:avLst/>
            <a:gdLst/>
            <a:ahLst/>
            <a:cxnLst/>
            <a:rect l="l" t="t" r="r" b="b"/>
            <a:pathLst>
              <a:path w="3315368" h="2610099">
                <a:moveTo>
                  <a:pt x="0" y="0"/>
                </a:moveTo>
                <a:lnTo>
                  <a:pt x="3315368" y="0"/>
                </a:lnTo>
                <a:lnTo>
                  <a:pt x="3315368" y="2610099"/>
                </a:lnTo>
                <a:lnTo>
                  <a:pt x="0" y="26100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88730" y="952500"/>
            <a:ext cx="13777468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Duties &amp; Responsibilities - </a:t>
            </a:r>
            <a:r>
              <a:rPr lang="en-US" sz="3899" u="sng">
                <a:solidFill>
                  <a:srgbClr val="1800AD"/>
                </a:solidFill>
                <a:latin typeface="Archivo Black"/>
                <a:ea typeface="Archivo Black"/>
                <a:cs typeface="Archivo Black"/>
                <a:sym typeface="Archivo Black"/>
              </a:rPr>
              <a:t>3 LEVEL AUTHORITIES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95436" y="2000593"/>
            <a:ext cx="818361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B5953C"/>
                </a:solidFill>
                <a:latin typeface="Bantayog"/>
                <a:ea typeface="Bantayog"/>
                <a:cs typeface="Bantayog"/>
                <a:sym typeface="Bantayog"/>
              </a:rPr>
              <a:t>The </a:t>
            </a:r>
            <a:r>
              <a:rPr lang="en-US" sz="2499">
                <a:solidFill>
                  <a:srgbClr val="D61B1B"/>
                </a:solidFill>
                <a:latin typeface="Bantayog"/>
                <a:ea typeface="Bantayog"/>
                <a:cs typeface="Bantayog"/>
                <a:sym typeface="Bantayog"/>
              </a:rPr>
              <a:t>e-PAR </a:t>
            </a:r>
            <a:r>
              <a:rPr lang="en-US" sz="2499">
                <a:solidFill>
                  <a:srgbClr val="B5953C"/>
                </a:solidFill>
                <a:latin typeface="Bantayog"/>
                <a:ea typeface="Bantayog"/>
                <a:cs typeface="Bantayog"/>
                <a:sym typeface="Bantayog"/>
              </a:rPr>
              <a:t>process involves three levels of authorities: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1479" y="2729097"/>
            <a:ext cx="15055155" cy="481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Reporting Authority / Reviewing Authority / Accepting Authority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52770" y="3578217"/>
            <a:ext cx="1226894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Bantayog"/>
                <a:ea typeface="Bantayog"/>
                <a:cs typeface="Bantayog"/>
                <a:sym typeface="Bantayog"/>
              </a:rPr>
              <a:t>Each stage has a defined role for completing and approving the PAR of an officer.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8" y="9739385"/>
            <a:ext cx="16202025" cy="547615"/>
            <a:chOff x="0" y="0"/>
            <a:chExt cx="21602700" cy="730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02700" cy="730146"/>
            </a:xfrm>
            <a:custGeom>
              <a:avLst/>
              <a:gdLst/>
              <a:ahLst/>
              <a:cxnLst/>
              <a:rect l="l" t="t" r="r" b="b"/>
              <a:pathLst>
                <a:path w="21602700" h="730146">
                  <a:moveTo>
                    <a:pt x="3745357" y="0"/>
                  </a:moveTo>
                  <a:lnTo>
                    <a:pt x="17857343" y="0"/>
                  </a:lnTo>
                  <a:lnTo>
                    <a:pt x="20270343" y="470418"/>
                  </a:lnTo>
                  <a:lnTo>
                    <a:pt x="21602700" y="730146"/>
                  </a:lnTo>
                  <a:lnTo>
                    <a:pt x="0" y="730146"/>
                  </a:lnTo>
                  <a:lnTo>
                    <a:pt x="1332357" y="470418"/>
                  </a:lnTo>
                  <a:lnTo>
                    <a:pt x="3745357" y="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TextBox 4"/>
          <p:cNvSpPr txBox="1"/>
          <p:nvPr/>
        </p:nvSpPr>
        <p:spPr>
          <a:xfrm>
            <a:off x="1615617" y="4561447"/>
            <a:ext cx="13326954" cy="3762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4"/>
              </a:lnSpc>
            </a:pPr>
            <a:r>
              <a:rPr lang="en-US" sz="2628" b="1">
                <a:solidFill>
                  <a:srgbClr val="D61B1B"/>
                </a:solidFill>
                <a:latin typeface="Futura Bold"/>
                <a:ea typeface="Futura Bold"/>
                <a:cs typeface="Futura Bold"/>
                <a:sym typeface="Futura Bold"/>
              </a:rPr>
              <a:t>1] When the Officer is Under Suspension for the Entire Year:</a:t>
            </a:r>
          </a:p>
          <a:p>
            <a:pPr marL="567408" lvl="1" indent="-283704" algn="l">
              <a:lnSpc>
                <a:spcPts val="4204"/>
              </a:lnSpc>
              <a:buFont typeface="Arial"/>
              <a:buChar char="•"/>
            </a:pPr>
            <a:r>
              <a:rPr lang="en-US" sz="26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If an officer is placed under suspension for the full performance year;</a:t>
            </a:r>
          </a:p>
          <a:p>
            <a:pPr marL="567408" lvl="1" indent="-283704" algn="l">
              <a:lnSpc>
                <a:spcPts val="4204"/>
              </a:lnSpc>
              <a:buFont typeface="Arial"/>
              <a:buChar char="•"/>
            </a:pPr>
            <a:r>
              <a:rPr lang="en-US" sz="26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No e-PAR shall be generated for such period.</a:t>
            </a:r>
          </a:p>
          <a:p>
            <a:pPr marL="567408" lvl="1" indent="-283704" algn="l">
              <a:lnSpc>
                <a:spcPts val="4204"/>
              </a:lnSpc>
              <a:buFont typeface="Arial"/>
              <a:buChar char="•"/>
            </a:pPr>
            <a:r>
              <a:rPr lang="en-US" sz="26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Since the officer is disengaged from regular official duties, assessment of performance is not applicable.</a:t>
            </a:r>
          </a:p>
          <a:p>
            <a:pPr algn="l">
              <a:lnSpc>
                <a:spcPts val="4204"/>
              </a:lnSpc>
            </a:pPr>
            <a:endParaRPr lang="en-US" sz="2628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l">
              <a:lnSpc>
                <a:spcPts val="4204"/>
              </a:lnSpc>
            </a:pPr>
            <a:r>
              <a:rPr lang="en-US" sz="2628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Outcome: No PAR for the assessment year.</a:t>
            </a:r>
          </a:p>
        </p:txBody>
      </p:sp>
      <p:sp>
        <p:nvSpPr>
          <p:cNvPr id="5" name="Freeform 5"/>
          <p:cNvSpPr/>
          <p:nvPr/>
        </p:nvSpPr>
        <p:spPr>
          <a:xfrm>
            <a:off x="16593710" y="556519"/>
            <a:ext cx="1058921" cy="1058921"/>
          </a:xfrm>
          <a:custGeom>
            <a:avLst/>
            <a:gdLst/>
            <a:ahLst/>
            <a:cxnLst/>
            <a:rect l="l" t="t" r="r" b="b"/>
            <a:pathLst>
              <a:path w="1058921" h="1058921">
                <a:moveTo>
                  <a:pt x="0" y="0"/>
                </a:moveTo>
                <a:lnTo>
                  <a:pt x="1058921" y="0"/>
                </a:lnTo>
                <a:lnTo>
                  <a:pt x="1058921" y="1058921"/>
                </a:lnTo>
                <a:lnTo>
                  <a:pt x="0" y="10589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26729" y="716410"/>
            <a:ext cx="13777468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Conditions Under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Which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e-P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AR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is NO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Generated!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30581" y="2010701"/>
            <a:ext cx="12969764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B5953C"/>
                </a:solidFill>
                <a:latin typeface="Bantayog"/>
                <a:ea typeface="Bantayog"/>
                <a:cs typeface="Bantayog"/>
                <a:sym typeface="Bantayog"/>
              </a:rPr>
              <a:t>The e-PAR is issued only when an officer has rendered the minimum qualifying period of service under a designated Reporting Authority.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9407" y="3502477"/>
            <a:ext cx="151443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Bantayog"/>
                <a:ea typeface="Bantayog"/>
                <a:cs typeface="Bantayog"/>
                <a:sym typeface="Bantayog"/>
              </a:rPr>
              <a:t>In the following circumstances, the e-PAR shall not be initiated or recorded for the assessment year: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8" y="9739385"/>
            <a:ext cx="16202025" cy="547615"/>
            <a:chOff x="0" y="0"/>
            <a:chExt cx="21602700" cy="730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02700" cy="730146"/>
            </a:xfrm>
            <a:custGeom>
              <a:avLst/>
              <a:gdLst/>
              <a:ahLst/>
              <a:cxnLst/>
              <a:rect l="l" t="t" r="r" b="b"/>
              <a:pathLst>
                <a:path w="21602700" h="730146">
                  <a:moveTo>
                    <a:pt x="3745357" y="0"/>
                  </a:moveTo>
                  <a:lnTo>
                    <a:pt x="17857343" y="0"/>
                  </a:lnTo>
                  <a:lnTo>
                    <a:pt x="20270343" y="470418"/>
                  </a:lnTo>
                  <a:lnTo>
                    <a:pt x="21602700" y="730146"/>
                  </a:lnTo>
                  <a:lnTo>
                    <a:pt x="0" y="730146"/>
                  </a:lnTo>
                  <a:lnTo>
                    <a:pt x="1332357" y="470418"/>
                  </a:lnTo>
                  <a:lnTo>
                    <a:pt x="3745357" y="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TextBox 4"/>
          <p:cNvSpPr txBox="1"/>
          <p:nvPr/>
        </p:nvSpPr>
        <p:spPr>
          <a:xfrm>
            <a:off x="1615617" y="4561447"/>
            <a:ext cx="13326954" cy="3228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4"/>
              </a:lnSpc>
            </a:pPr>
            <a:r>
              <a:rPr lang="en-US" sz="2628" b="1">
                <a:solidFill>
                  <a:srgbClr val="D61B1B"/>
                </a:solidFill>
                <a:latin typeface="Futura Bold"/>
                <a:ea typeface="Futura Bold"/>
                <a:cs typeface="Futura Bold"/>
                <a:sym typeface="Futura Bold"/>
              </a:rPr>
              <a:t>2] When the Officer is on Leave for the Entire Year:</a:t>
            </a:r>
          </a:p>
          <a:p>
            <a:pPr marL="567408" lvl="1" indent="-283704" algn="l">
              <a:lnSpc>
                <a:spcPts val="4204"/>
              </a:lnSpc>
              <a:buFont typeface="Arial"/>
              <a:buChar char="•"/>
            </a:pPr>
            <a:r>
              <a:rPr lang="en-US" sz="26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If an officer avails long-duration leave (e.g., medical leave, extraordinary leave, study leave, etc.) throughout the relevant period:</a:t>
            </a:r>
          </a:p>
          <a:p>
            <a:pPr marL="567408" lvl="1" indent="-283704" algn="l">
              <a:lnSpc>
                <a:spcPts val="4204"/>
              </a:lnSpc>
              <a:buFont typeface="Arial"/>
              <a:buChar char="•"/>
            </a:pPr>
            <a:r>
              <a:rPr lang="en-US" sz="26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e-PAR shall not be generated, as the officer has not performed duties related to the post.</a:t>
            </a:r>
          </a:p>
          <a:p>
            <a:pPr algn="l">
              <a:lnSpc>
                <a:spcPts val="4204"/>
              </a:lnSpc>
            </a:pPr>
            <a:endParaRPr lang="en-US" sz="2628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l">
              <a:lnSpc>
                <a:spcPts val="4204"/>
              </a:lnSpc>
            </a:pPr>
            <a:r>
              <a:rPr lang="en-US" sz="2628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Outcome: No PAR for the assessment year.</a:t>
            </a:r>
          </a:p>
        </p:txBody>
      </p:sp>
      <p:sp>
        <p:nvSpPr>
          <p:cNvPr id="5" name="Freeform 5"/>
          <p:cNvSpPr/>
          <p:nvPr/>
        </p:nvSpPr>
        <p:spPr>
          <a:xfrm>
            <a:off x="16593710" y="556519"/>
            <a:ext cx="1058921" cy="1058921"/>
          </a:xfrm>
          <a:custGeom>
            <a:avLst/>
            <a:gdLst/>
            <a:ahLst/>
            <a:cxnLst/>
            <a:rect l="l" t="t" r="r" b="b"/>
            <a:pathLst>
              <a:path w="1058921" h="1058921">
                <a:moveTo>
                  <a:pt x="0" y="0"/>
                </a:moveTo>
                <a:lnTo>
                  <a:pt x="1058921" y="0"/>
                </a:lnTo>
                <a:lnTo>
                  <a:pt x="1058921" y="1058921"/>
                </a:lnTo>
                <a:lnTo>
                  <a:pt x="0" y="10589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26729" y="716410"/>
            <a:ext cx="13777468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Conditions Under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Which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e-P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AR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is NO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Generated!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30581" y="2010701"/>
            <a:ext cx="12969764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B5953C"/>
                </a:solidFill>
                <a:latin typeface="Bantayog"/>
                <a:ea typeface="Bantayog"/>
                <a:cs typeface="Bantayog"/>
                <a:sym typeface="Bantayog"/>
              </a:rPr>
              <a:t>The e-PAR is issued only when an officer has rendered the minimum qualifying period of service under a designated Reporting Authority.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9407" y="3502477"/>
            <a:ext cx="151443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Bantayog"/>
                <a:ea typeface="Bantayog"/>
                <a:cs typeface="Bantayog"/>
                <a:sym typeface="Bantayog"/>
              </a:rPr>
              <a:t>In the following circumstances, the e-PAR shall not be initiated or recorded for the assessment year: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8" y="9739385"/>
            <a:ext cx="16202025" cy="547615"/>
            <a:chOff x="0" y="0"/>
            <a:chExt cx="21602700" cy="730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02700" cy="730146"/>
            </a:xfrm>
            <a:custGeom>
              <a:avLst/>
              <a:gdLst/>
              <a:ahLst/>
              <a:cxnLst/>
              <a:rect l="l" t="t" r="r" b="b"/>
              <a:pathLst>
                <a:path w="21602700" h="730146">
                  <a:moveTo>
                    <a:pt x="3745357" y="0"/>
                  </a:moveTo>
                  <a:lnTo>
                    <a:pt x="17857343" y="0"/>
                  </a:lnTo>
                  <a:lnTo>
                    <a:pt x="20270343" y="470418"/>
                  </a:lnTo>
                  <a:lnTo>
                    <a:pt x="21602700" y="730146"/>
                  </a:lnTo>
                  <a:lnTo>
                    <a:pt x="0" y="730146"/>
                  </a:lnTo>
                  <a:lnTo>
                    <a:pt x="1332357" y="470418"/>
                  </a:lnTo>
                  <a:lnTo>
                    <a:pt x="3745357" y="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TextBox 4"/>
          <p:cNvSpPr txBox="1"/>
          <p:nvPr/>
        </p:nvSpPr>
        <p:spPr>
          <a:xfrm>
            <a:off x="1615617" y="4007776"/>
            <a:ext cx="13326954" cy="536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4"/>
              </a:lnSpc>
            </a:pPr>
            <a:r>
              <a:rPr lang="en-US" sz="2628" b="1">
                <a:solidFill>
                  <a:srgbClr val="D61B1B"/>
                </a:solidFill>
                <a:latin typeface="Futura Bold"/>
                <a:ea typeface="Futura Bold"/>
                <a:cs typeface="Futura Bold"/>
                <a:sym typeface="Futura Bold"/>
              </a:rPr>
              <a:t>3] When the Officer Has Served Less Than 3 Months Under a Reporting Authority → NRC:</a:t>
            </a:r>
          </a:p>
          <a:p>
            <a:pPr marL="567408" lvl="1" indent="-283704" algn="l">
              <a:lnSpc>
                <a:spcPts val="4204"/>
              </a:lnSpc>
              <a:buFont typeface="Arial"/>
              <a:buChar char="•"/>
            </a:pPr>
            <a:r>
              <a:rPr lang="en-US" sz="26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If the officer has worked less than three (3) months under the Reporting Authority during the assessment year:</a:t>
            </a:r>
          </a:p>
          <a:p>
            <a:pPr marL="567408" lvl="1" indent="-283704" algn="l">
              <a:lnSpc>
                <a:spcPts val="4204"/>
              </a:lnSpc>
              <a:buFont typeface="Arial"/>
              <a:buChar char="•"/>
            </a:pPr>
            <a:r>
              <a:rPr lang="en-US" sz="26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performance period is considered insufficient for meaningful evaluation.</a:t>
            </a:r>
          </a:p>
          <a:p>
            <a:pPr marL="567408" lvl="1" indent="-283704" algn="l">
              <a:lnSpc>
                <a:spcPts val="4204"/>
              </a:lnSpc>
              <a:buFont typeface="Arial"/>
              <a:buChar char="•"/>
            </a:pPr>
            <a:r>
              <a:rPr lang="en-US" sz="26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 such cases, the Reporting Authority shall issue a Non-Reporting Certificate (NRC) instead of a PAR.</a:t>
            </a:r>
          </a:p>
          <a:p>
            <a:pPr marL="567408" lvl="1" indent="-283704" algn="l">
              <a:lnSpc>
                <a:spcPts val="4204"/>
              </a:lnSpc>
              <a:buFont typeface="Arial"/>
              <a:buChar char="•"/>
            </a:pPr>
            <a:r>
              <a:rPr lang="en-US" sz="26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Custodian shall record the NRC and mark the case appropriately as No PAR Due.</a:t>
            </a:r>
          </a:p>
          <a:p>
            <a:pPr marL="567408" lvl="1" indent="-283704" algn="l">
              <a:lnSpc>
                <a:spcPts val="4204"/>
              </a:lnSpc>
              <a:buFont typeface="Arial"/>
              <a:buChar char="•"/>
            </a:pPr>
            <a:r>
              <a:rPr lang="en-US" sz="262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Outcome: NRC issued; no e-PAR is generated.</a:t>
            </a:r>
          </a:p>
          <a:p>
            <a:pPr algn="l">
              <a:lnSpc>
                <a:spcPts val="4204"/>
              </a:lnSpc>
            </a:pPr>
            <a:endParaRPr lang="en-US" sz="2628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l">
              <a:lnSpc>
                <a:spcPts val="4204"/>
              </a:lnSpc>
            </a:pPr>
            <a:r>
              <a:rPr lang="en-US" sz="2628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Outcome: nrc issued; No PAR is generated. </a:t>
            </a:r>
          </a:p>
        </p:txBody>
      </p:sp>
      <p:sp>
        <p:nvSpPr>
          <p:cNvPr id="5" name="Freeform 5"/>
          <p:cNvSpPr/>
          <p:nvPr/>
        </p:nvSpPr>
        <p:spPr>
          <a:xfrm>
            <a:off x="16593710" y="556519"/>
            <a:ext cx="1058921" cy="1058921"/>
          </a:xfrm>
          <a:custGeom>
            <a:avLst/>
            <a:gdLst/>
            <a:ahLst/>
            <a:cxnLst/>
            <a:rect l="l" t="t" r="r" b="b"/>
            <a:pathLst>
              <a:path w="1058921" h="1058921">
                <a:moveTo>
                  <a:pt x="0" y="0"/>
                </a:moveTo>
                <a:lnTo>
                  <a:pt x="1058921" y="0"/>
                </a:lnTo>
                <a:lnTo>
                  <a:pt x="1058921" y="1058921"/>
                </a:lnTo>
                <a:lnTo>
                  <a:pt x="0" y="10589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26729" y="716410"/>
            <a:ext cx="13777468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Conditions Under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Which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e-P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AR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is NO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Generated!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30581" y="2010701"/>
            <a:ext cx="12969764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B5953C"/>
                </a:solidFill>
                <a:latin typeface="Bantayog"/>
                <a:ea typeface="Bantayog"/>
                <a:cs typeface="Bantayog"/>
                <a:sym typeface="Bantayog"/>
              </a:rPr>
              <a:t>The e-PAR is issued only when an officer has rendered the minimum qualifying period of service under a designated Reporting Authority.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9407" y="3252126"/>
            <a:ext cx="151443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Bantayog"/>
                <a:ea typeface="Bantayog"/>
                <a:cs typeface="Bantayog"/>
                <a:sym typeface="Bantayog"/>
              </a:rPr>
              <a:t>In the following circumstances, the e-PAR shall not be initiated or recorded for the assessment year: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8" y="10057076"/>
            <a:ext cx="16202025" cy="229924"/>
            <a:chOff x="0" y="0"/>
            <a:chExt cx="21602700" cy="306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02700" cy="306563"/>
            </a:xfrm>
            <a:custGeom>
              <a:avLst/>
              <a:gdLst/>
              <a:ahLst/>
              <a:cxnLst/>
              <a:rect l="l" t="t" r="r" b="b"/>
              <a:pathLst>
                <a:path w="21602700" h="306563">
                  <a:moveTo>
                    <a:pt x="3745357" y="0"/>
                  </a:moveTo>
                  <a:lnTo>
                    <a:pt x="17857343" y="0"/>
                  </a:lnTo>
                  <a:lnTo>
                    <a:pt x="20270343" y="197512"/>
                  </a:lnTo>
                  <a:lnTo>
                    <a:pt x="21602700" y="306563"/>
                  </a:lnTo>
                  <a:lnTo>
                    <a:pt x="0" y="306563"/>
                  </a:lnTo>
                  <a:lnTo>
                    <a:pt x="1332357" y="197512"/>
                  </a:lnTo>
                  <a:lnTo>
                    <a:pt x="3745357" y="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15977367" y="212580"/>
            <a:ext cx="2181832" cy="1674060"/>
          </a:xfrm>
          <a:custGeom>
            <a:avLst/>
            <a:gdLst/>
            <a:ahLst/>
            <a:cxnLst/>
            <a:rect l="l" t="t" r="r" b="b"/>
            <a:pathLst>
              <a:path w="2181832" h="1674060">
                <a:moveTo>
                  <a:pt x="0" y="0"/>
                </a:moveTo>
                <a:lnTo>
                  <a:pt x="2181831" y="0"/>
                </a:lnTo>
                <a:lnTo>
                  <a:pt x="2181831" y="1674060"/>
                </a:lnTo>
                <a:lnTo>
                  <a:pt x="0" y="16740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49407" y="3320372"/>
            <a:ext cx="15953558" cy="632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4"/>
              </a:lnSpc>
            </a:pPr>
            <a:r>
              <a:rPr lang="en-US" sz="2728" b="1" dirty="0">
                <a:solidFill>
                  <a:srgbClr val="D61B1B"/>
                </a:solidFill>
                <a:latin typeface="Futura Bold"/>
                <a:ea typeface="Futura Bold"/>
                <a:cs typeface="Futura Bold"/>
                <a:sym typeface="Futura Bold"/>
              </a:rPr>
              <a:t>1] Officer Worked for 9 Months &amp; Was on Leave for 3 Months:</a:t>
            </a:r>
          </a:p>
          <a:p>
            <a:pPr marL="588997" lvl="1" indent="-294499" algn="l">
              <a:lnSpc>
                <a:spcPts val="4364"/>
              </a:lnSpc>
              <a:buFont typeface="Arial"/>
              <a:buChar char="•"/>
            </a:pPr>
            <a:r>
              <a:rPr lang="en-US" sz="272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9 months of active service, and 3 months of leave (any type)</a:t>
            </a:r>
          </a:p>
          <a:p>
            <a:pPr algn="l">
              <a:lnSpc>
                <a:spcPts val="4364"/>
              </a:lnSpc>
            </a:pPr>
            <a:r>
              <a:rPr lang="en-US" sz="272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➡️ e-PAR shall be generated, as the minimum qualifying service is fulfilled.</a:t>
            </a:r>
          </a:p>
          <a:p>
            <a:pPr algn="l">
              <a:lnSpc>
                <a:spcPts val="3519"/>
              </a:lnSpc>
            </a:pPr>
            <a:r>
              <a:rPr lang="en-US" sz="2199" dirty="0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Outcome: PAR must be initiated and completed</a:t>
            </a:r>
          </a:p>
          <a:p>
            <a:pPr algn="l">
              <a:lnSpc>
                <a:spcPts val="3519"/>
              </a:lnSpc>
            </a:pPr>
            <a:endParaRPr lang="en-US" sz="2199" dirty="0">
              <a:solidFill>
                <a:srgbClr val="000000"/>
              </a:solidFill>
              <a:latin typeface="Barabara"/>
              <a:ea typeface="Barabara"/>
              <a:cs typeface="Barabara"/>
              <a:sym typeface="Barabara"/>
            </a:endParaRPr>
          </a:p>
          <a:p>
            <a:pPr algn="l">
              <a:lnSpc>
                <a:spcPts val="4364"/>
              </a:lnSpc>
            </a:pPr>
            <a:r>
              <a:rPr lang="en-US" sz="2728" b="1" dirty="0">
                <a:solidFill>
                  <a:srgbClr val="C01B21"/>
                </a:solidFill>
                <a:latin typeface="Futura Bold"/>
                <a:ea typeface="Futura Bold"/>
                <a:cs typeface="Futura Bold"/>
                <a:sym typeface="Futura Bold"/>
              </a:rPr>
              <a:t>2] Officer Served in More Than One Department:</a:t>
            </a:r>
          </a:p>
          <a:p>
            <a:pPr algn="l">
              <a:lnSpc>
                <a:spcPts val="4364"/>
              </a:lnSpc>
            </a:pPr>
            <a:r>
              <a:rPr lang="en-US" sz="272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If the officer is transferred and has worked in multiple departments during the assessment year:</a:t>
            </a:r>
          </a:p>
          <a:p>
            <a:pPr marL="588997" lvl="1" indent="-294499" algn="l">
              <a:lnSpc>
                <a:spcPts val="4364"/>
              </a:lnSpc>
              <a:buFont typeface="Arial"/>
              <a:buChar char="•"/>
            </a:pPr>
            <a:r>
              <a:rPr lang="en-US" sz="272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 workflow can be created by the mother (primary) department.</a:t>
            </a:r>
          </a:p>
          <a:p>
            <a:pPr marL="588997" lvl="1" indent="-294499" algn="l">
              <a:lnSpc>
                <a:spcPts val="4364"/>
              </a:lnSpc>
              <a:buFont typeface="Arial"/>
              <a:buChar char="•"/>
            </a:pPr>
            <a:r>
              <a:rPr lang="en-US" sz="272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The mother department will coordinate creation of workflow and forwarding to Reporting Authority/Authorities.</a:t>
            </a:r>
          </a:p>
          <a:p>
            <a:pPr algn="l">
              <a:lnSpc>
                <a:spcPts val="4364"/>
              </a:lnSpc>
            </a:pPr>
            <a:r>
              <a:rPr lang="en-US" sz="272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➡️ e-PAR shall be generated, as the minimum qualifying service is fulfilled.</a:t>
            </a:r>
          </a:p>
          <a:p>
            <a:pPr algn="l">
              <a:lnSpc>
                <a:spcPts val="3519"/>
              </a:lnSpc>
            </a:pPr>
            <a:r>
              <a:rPr lang="en-US" sz="2199" dirty="0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Outcome: e-PAR shall be generated; workflow from mother department is mandatory.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26729" y="478285"/>
            <a:ext cx="13777468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When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e-P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AR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is Generated — Conditions!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9407" y="1329690"/>
            <a:ext cx="14527960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B5953C"/>
                </a:solidFill>
                <a:latin typeface="Bantayog"/>
                <a:ea typeface="Bantayog"/>
                <a:cs typeface="Bantayog"/>
                <a:sym typeface="Bantayog"/>
              </a:rPr>
              <a:t>The Performance Appraisal Report (e-PAR) shall be initiated when the officer has performed duty under a Reporting Authority for the minimum qualifying period, and other applicable service conditions are satisfied.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9407" y="2850472"/>
            <a:ext cx="151443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Bantayog"/>
                <a:ea typeface="Bantayog"/>
                <a:cs typeface="Bantayog"/>
                <a:sym typeface="Bantayog"/>
              </a:rPr>
              <a:t>In the following circumstances, the e-PAR shall not be initiated or recorded for the assessment year: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8" y="10057076"/>
            <a:ext cx="16202025" cy="229924"/>
            <a:chOff x="0" y="0"/>
            <a:chExt cx="21602700" cy="306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02700" cy="306563"/>
            </a:xfrm>
            <a:custGeom>
              <a:avLst/>
              <a:gdLst/>
              <a:ahLst/>
              <a:cxnLst/>
              <a:rect l="l" t="t" r="r" b="b"/>
              <a:pathLst>
                <a:path w="21602700" h="306563">
                  <a:moveTo>
                    <a:pt x="3745357" y="0"/>
                  </a:moveTo>
                  <a:lnTo>
                    <a:pt x="17857343" y="0"/>
                  </a:lnTo>
                  <a:lnTo>
                    <a:pt x="20270343" y="197512"/>
                  </a:lnTo>
                  <a:lnTo>
                    <a:pt x="21602700" y="306563"/>
                  </a:lnTo>
                  <a:lnTo>
                    <a:pt x="0" y="306563"/>
                  </a:lnTo>
                  <a:lnTo>
                    <a:pt x="1332357" y="197512"/>
                  </a:lnTo>
                  <a:lnTo>
                    <a:pt x="3745357" y="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15977367" y="212580"/>
            <a:ext cx="2181832" cy="1674060"/>
          </a:xfrm>
          <a:custGeom>
            <a:avLst/>
            <a:gdLst/>
            <a:ahLst/>
            <a:cxnLst/>
            <a:rect l="l" t="t" r="r" b="b"/>
            <a:pathLst>
              <a:path w="2181832" h="1674060">
                <a:moveTo>
                  <a:pt x="0" y="0"/>
                </a:moveTo>
                <a:lnTo>
                  <a:pt x="2181831" y="0"/>
                </a:lnTo>
                <a:lnTo>
                  <a:pt x="2181831" y="1674060"/>
                </a:lnTo>
                <a:lnTo>
                  <a:pt x="0" y="16740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49407" y="3587072"/>
            <a:ext cx="13726377" cy="597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347" b="1">
                <a:solidFill>
                  <a:srgbClr val="D61B1B"/>
                </a:solidFill>
                <a:latin typeface="Futura Bold"/>
                <a:ea typeface="Futura Bold"/>
                <a:cs typeface="Futura Bold"/>
                <a:sym typeface="Futura Bold"/>
              </a:rPr>
              <a:t>3] Officer Suspended for 6 Months &amp; Active Duty for 6 Months:</a:t>
            </a:r>
          </a:p>
          <a:p>
            <a:pPr marL="506771" lvl="1" indent="-253386" algn="l">
              <a:lnSpc>
                <a:spcPts val="3755"/>
              </a:lnSpc>
              <a:buFont typeface="Arial"/>
              <a:buChar char="•"/>
            </a:pPr>
            <a:r>
              <a:rPr lang="en-US" sz="234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6 months of suspension, and 6 months of active duty</a:t>
            </a:r>
          </a:p>
          <a:p>
            <a:pPr algn="l">
              <a:lnSpc>
                <a:spcPts val="3755"/>
              </a:lnSpc>
            </a:pPr>
            <a:r>
              <a:rPr lang="en-US" sz="234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➡️ e-PAR can be generated, as long as the officer has completed the minimum qualifying period under a Reporting Authority.</a:t>
            </a:r>
          </a:p>
          <a:p>
            <a:pPr algn="l">
              <a:lnSpc>
                <a:spcPts val="3028"/>
              </a:lnSpc>
            </a:pPr>
            <a:r>
              <a:rPr lang="en-US" sz="1892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Outcome: PAR must be initiated and completed</a:t>
            </a:r>
          </a:p>
          <a:p>
            <a:pPr algn="l">
              <a:lnSpc>
                <a:spcPts val="3028"/>
              </a:lnSpc>
            </a:pPr>
            <a:endParaRPr lang="en-US" sz="1892">
              <a:solidFill>
                <a:srgbClr val="000000"/>
              </a:solidFill>
              <a:latin typeface="Barabara"/>
              <a:ea typeface="Barabara"/>
              <a:cs typeface="Barabara"/>
              <a:sym typeface="Barabara"/>
            </a:endParaRPr>
          </a:p>
          <a:p>
            <a:pPr algn="l">
              <a:lnSpc>
                <a:spcPts val="3755"/>
              </a:lnSpc>
            </a:pPr>
            <a:r>
              <a:rPr lang="en-US" sz="2347" b="1">
                <a:solidFill>
                  <a:srgbClr val="C01B21"/>
                </a:solidFill>
                <a:latin typeface="Futura Bold"/>
                <a:ea typeface="Futura Bold"/>
                <a:cs typeface="Futura Bold"/>
                <a:sym typeface="Futura Bold"/>
              </a:rPr>
              <a:t>4] Minimum Qualifying Service — 90 Days:</a:t>
            </a:r>
          </a:p>
          <a:p>
            <a:pPr marL="506771" lvl="1" indent="-253386" algn="l">
              <a:lnSpc>
                <a:spcPts val="3755"/>
              </a:lnSpc>
              <a:buFont typeface="Arial"/>
              <a:buChar char="•"/>
            </a:pPr>
            <a:r>
              <a:rPr lang="en-US" sz="234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 minimum of 90 days (3 months) of service under a Reporting Authority is essential for initiating one PAR workflow.</a:t>
            </a:r>
          </a:p>
          <a:p>
            <a:pPr marL="506771" lvl="1" indent="-253386" algn="l">
              <a:lnSpc>
                <a:spcPts val="3755"/>
              </a:lnSpc>
              <a:buFont typeface="Arial"/>
              <a:buChar char="•"/>
            </a:pPr>
            <a:r>
              <a:rPr lang="en-US" sz="234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Less than 90 days → NRC (Non-Reporting Certificate)</a:t>
            </a:r>
          </a:p>
          <a:p>
            <a:pPr algn="l">
              <a:lnSpc>
                <a:spcPts val="3755"/>
              </a:lnSpc>
            </a:pPr>
            <a:r>
              <a:rPr lang="en-US" sz="2347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Outcome:</a:t>
            </a:r>
          </a:p>
          <a:p>
            <a:pPr marL="506771" lvl="1" indent="-253386" algn="l">
              <a:lnSpc>
                <a:spcPts val="3755"/>
              </a:lnSpc>
              <a:buFont typeface="Arial"/>
              <a:buChar char="•"/>
            </a:pPr>
            <a:r>
              <a:rPr lang="en-US" sz="234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</a:t>
            </a:r>
            <a:r>
              <a:rPr lang="en-US" sz="2347">
                <a:solidFill>
                  <a:srgbClr val="00BF63"/>
                </a:solidFill>
                <a:latin typeface="Futura"/>
                <a:ea typeface="Futura"/>
                <a:cs typeface="Futura"/>
                <a:sym typeface="Futura"/>
              </a:rPr>
              <a:t>✔</a:t>
            </a:r>
            <a:r>
              <a:rPr lang="en-US" sz="234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≥ 90 Days → e-PAR</a:t>
            </a:r>
          </a:p>
          <a:p>
            <a:pPr marL="506771" lvl="1" indent="-253386" algn="l">
              <a:lnSpc>
                <a:spcPts val="3755"/>
              </a:lnSpc>
              <a:buFont typeface="Arial"/>
              <a:buChar char="•"/>
            </a:pPr>
            <a:r>
              <a:rPr lang="en-US" sz="234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❌ &lt; 90 Days → NRC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26729" y="478285"/>
            <a:ext cx="13777468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When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e-P</a:t>
            </a:r>
            <a:r>
              <a:rPr lang="en-US" sz="389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AR</a:t>
            </a:r>
            <a:r>
              <a:rPr lang="en-US" sz="3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is Generated — Conditions!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9407" y="1329690"/>
            <a:ext cx="14527960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B5953C"/>
                </a:solidFill>
                <a:latin typeface="Bantayog"/>
                <a:ea typeface="Bantayog"/>
                <a:cs typeface="Bantayog"/>
                <a:sym typeface="Bantayog"/>
              </a:rPr>
              <a:t>The Performance Appraisal Report (e-PAR) shall be initiated when the officer has performed duty under a Reporting Authority for the minimum qualifying period, and other applicable service conditions are satisfied.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9407" y="2850472"/>
            <a:ext cx="1514430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Bantayog"/>
                <a:ea typeface="Bantayog"/>
                <a:cs typeface="Bantayog"/>
                <a:sym typeface="Bantayog"/>
              </a:rPr>
              <a:t>In the following circumstances, the e-PAR shall not be initiated or recorded for the assessment year: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659911" cy="10287000"/>
            <a:chOff x="0" y="0"/>
            <a:chExt cx="1154654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46586" cy="13716000"/>
            </a:xfrm>
            <a:custGeom>
              <a:avLst/>
              <a:gdLst/>
              <a:ahLst/>
              <a:cxnLst/>
              <a:rect l="l" t="t" r="r" b="b"/>
              <a:pathLst>
                <a:path w="11546586" h="13716000">
                  <a:moveTo>
                    <a:pt x="0" y="0"/>
                  </a:moveTo>
                  <a:lnTo>
                    <a:pt x="8312150" y="0"/>
                  </a:lnTo>
                  <a:lnTo>
                    <a:pt x="11546586" y="5576570"/>
                  </a:lnTo>
                  <a:lnTo>
                    <a:pt x="6825615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39146" r="-3914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110115" y="7694516"/>
            <a:ext cx="3007281" cy="2592484"/>
            <a:chOff x="0" y="0"/>
            <a:chExt cx="4009708" cy="34566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09771" cy="3456686"/>
            </a:xfrm>
            <a:custGeom>
              <a:avLst/>
              <a:gdLst/>
              <a:ahLst/>
              <a:cxnLst/>
              <a:rect l="l" t="t" r="r" b="b"/>
              <a:pathLst>
                <a:path w="4009771" h="3456686">
                  <a:moveTo>
                    <a:pt x="0" y="3456686"/>
                  </a:moveTo>
                  <a:lnTo>
                    <a:pt x="2004822" y="0"/>
                  </a:lnTo>
                  <a:lnTo>
                    <a:pt x="4009771" y="3456686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2439654" cy="4206302"/>
            <a:chOff x="0" y="0"/>
            <a:chExt cx="3252872" cy="56084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52851" cy="5608447"/>
            </a:xfrm>
            <a:custGeom>
              <a:avLst/>
              <a:gdLst/>
              <a:ahLst/>
              <a:cxnLst/>
              <a:rect l="l" t="t" r="r" b="b"/>
              <a:pathLst>
                <a:path w="3252851" h="5608447">
                  <a:moveTo>
                    <a:pt x="0" y="0"/>
                  </a:moveTo>
                  <a:lnTo>
                    <a:pt x="3252851" y="0"/>
                  </a:lnTo>
                  <a:lnTo>
                    <a:pt x="0" y="5608447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80000"/>
                  </a:srgbClr>
                </a:gs>
                <a:gs pos="100000">
                  <a:srgbClr val="950303">
                    <a:alpha val="8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8" name="TextBox 8"/>
          <p:cNvSpPr txBox="1"/>
          <p:nvPr/>
        </p:nvSpPr>
        <p:spPr>
          <a:xfrm>
            <a:off x="7461197" y="339542"/>
            <a:ext cx="8872240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004AAD"/>
                </a:solidFill>
                <a:latin typeface="Batangas"/>
                <a:ea typeface="Batangas"/>
                <a:cs typeface="Batangas"/>
                <a:sym typeface="Batangas"/>
              </a:rPr>
              <a:t>Different Types of Login URLs — e-PAR / SPARROW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61197" y="971550"/>
            <a:ext cx="8872240" cy="954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The Government of India and Government of Karnataka provide separate online platforms for filing and processing the Electronic Performance Appraisal Report (e-PAR / SPARROW) depending on the officer’s service cadre.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17396" y="2125222"/>
            <a:ext cx="6338659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IAS Officers - Login URL: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51159" y="2805307"/>
            <a:ext cx="8279641" cy="627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76"/>
              </a:lnSpc>
            </a:pPr>
            <a:r>
              <a:rPr lang="en-US" sz="3983" u="sng" dirty="0">
                <a:solidFill>
                  <a:srgbClr val="5170FF"/>
                </a:solidFill>
                <a:latin typeface="Futura"/>
                <a:ea typeface="Futura"/>
                <a:cs typeface="Futura"/>
                <a:sym typeface="Futura"/>
                <a:hlinkClick r:id="rId3" tooltip="https://sparrow-ias.eoffice.gov.in"/>
              </a:rPr>
              <a:t>https://sparrow-ias.eoffice.gov.in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98346" y="3523276"/>
            <a:ext cx="6338659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IPS Officers - Login URL: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46409" y="4203361"/>
            <a:ext cx="7803391" cy="627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76"/>
              </a:lnSpc>
            </a:pPr>
            <a:r>
              <a:rPr lang="en-US" sz="3983" u="sng" dirty="0">
                <a:solidFill>
                  <a:srgbClr val="5170FF"/>
                </a:solidFill>
                <a:latin typeface="Futura"/>
                <a:ea typeface="Futura"/>
                <a:cs typeface="Futura"/>
                <a:sym typeface="Futura"/>
                <a:hlinkClick r:id="rId3" tooltip="https://sparrow-ias.eoffice.gov.in"/>
              </a:rPr>
              <a:t>https://sparrow-ips.eoffice.gov.in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66087" y="5019675"/>
            <a:ext cx="6338659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IFS [Forest] Officers - Login URL: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51158" y="5699760"/>
            <a:ext cx="7803391" cy="627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76"/>
              </a:lnSpc>
            </a:pPr>
            <a:r>
              <a:rPr lang="en-US" sz="3983" u="sng" dirty="0">
                <a:solidFill>
                  <a:srgbClr val="5170FF"/>
                </a:solidFill>
                <a:latin typeface="Futura"/>
                <a:ea typeface="Futura"/>
                <a:cs typeface="Futura"/>
                <a:sym typeface="Futura"/>
                <a:hlinkClick r:id="rId3" tooltip="https://sparrow-ias.eoffice.gov.in"/>
              </a:rPr>
              <a:t>https://sparrow-ifs.eoffice.gov.in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17396" y="6541555"/>
            <a:ext cx="6338659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KAS Officers - Login URL: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51159" y="7221640"/>
            <a:ext cx="7365240" cy="627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76"/>
              </a:lnSpc>
            </a:pPr>
            <a:r>
              <a:rPr lang="en-US" sz="3983" u="sng" dirty="0">
                <a:solidFill>
                  <a:srgbClr val="5170FF"/>
                </a:solidFill>
                <a:latin typeface="Futura"/>
                <a:ea typeface="Futura"/>
                <a:cs typeface="Futura"/>
                <a:sym typeface="Futura"/>
                <a:hlinkClick r:id="rId4" tooltip="https://epar.karnataka.gov.in/?utm_source=chatgpt.com"/>
              </a:rPr>
              <a:t>https://epar.karnataka.gov.in/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26921" y="8063434"/>
            <a:ext cx="9848382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Other GoK Officers &amp; Employees (Group A / B / C) Officers - Login URL: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69872" y="9163889"/>
            <a:ext cx="7346527" cy="627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76"/>
              </a:lnSpc>
            </a:pPr>
            <a:r>
              <a:rPr lang="en-US" sz="3983" u="sng" dirty="0">
                <a:solidFill>
                  <a:srgbClr val="5170FF"/>
                </a:solidFill>
                <a:latin typeface="Futura"/>
                <a:ea typeface="Futura"/>
                <a:cs typeface="Futura"/>
                <a:sym typeface="Futura"/>
                <a:hlinkClick r:id="rId4" tooltip="https://epar.karnataka.gov.in/?utm_source=chatgpt.com"/>
              </a:rPr>
              <a:t>https://epar.karnataka.gov.in/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7976187" y="1817376"/>
            <a:ext cx="2335623" cy="2013462"/>
            <a:chOff x="0" y="0"/>
            <a:chExt cx="3114164" cy="2684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14167" cy="2684653"/>
            </a:xfrm>
            <a:custGeom>
              <a:avLst/>
              <a:gdLst/>
              <a:ahLst/>
              <a:cxnLst/>
              <a:rect l="l" t="t" r="r" b="b"/>
              <a:pathLst>
                <a:path w="3114167" h="2684653">
                  <a:moveTo>
                    <a:pt x="0" y="0"/>
                  </a:moveTo>
                  <a:lnTo>
                    <a:pt x="1557020" y="2684653"/>
                  </a:lnTo>
                  <a:lnTo>
                    <a:pt x="3114167" y="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5817872" y="3975693"/>
            <a:ext cx="2013474" cy="2335620"/>
            <a:chOff x="0" y="0"/>
            <a:chExt cx="2684632" cy="31141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84653" cy="3114167"/>
            </a:xfrm>
            <a:custGeom>
              <a:avLst/>
              <a:gdLst/>
              <a:ahLst/>
              <a:cxnLst/>
              <a:rect l="l" t="t" r="r" b="b"/>
              <a:pathLst>
                <a:path w="2684653" h="3114167">
                  <a:moveTo>
                    <a:pt x="2684653" y="0"/>
                  </a:moveTo>
                  <a:lnTo>
                    <a:pt x="2684653" y="3114167"/>
                  </a:lnTo>
                  <a:lnTo>
                    <a:pt x="0" y="155702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6" name="Group 6"/>
          <p:cNvGrpSpPr/>
          <p:nvPr/>
        </p:nvGrpSpPr>
        <p:grpSpPr>
          <a:xfrm>
            <a:off x="7976187" y="6456153"/>
            <a:ext cx="2335623" cy="2013471"/>
            <a:chOff x="0" y="0"/>
            <a:chExt cx="3114164" cy="26846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14167" cy="2684653"/>
            </a:xfrm>
            <a:custGeom>
              <a:avLst/>
              <a:gdLst/>
              <a:ahLst/>
              <a:cxnLst/>
              <a:rect l="l" t="t" r="r" b="b"/>
              <a:pathLst>
                <a:path w="3114167" h="2684653">
                  <a:moveTo>
                    <a:pt x="0" y="0"/>
                  </a:moveTo>
                  <a:lnTo>
                    <a:pt x="3114167" y="0"/>
                  </a:lnTo>
                  <a:lnTo>
                    <a:pt x="1557020" y="2684653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8" name="Group 8"/>
          <p:cNvGrpSpPr/>
          <p:nvPr/>
        </p:nvGrpSpPr>
        <p:grpSpPr>
          <a:xfrm>
            <a:off x="10456664" y="3975692"/>
            <a:ext cx="2013465" cy="2335620"/>
            <a:chOff x="0" y="0"/>
            <a:chExt cx="2684620" cy="31141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84653" cy="3114167"/>
            </a:xfrm>
            <a:custGeom>
              <a:avLst/>
              <a:gdLst/>
              <a:ahLst/>
              <a:cxnLst/>
              <a:rect l="l" t="t" r="r" b="b"/>
              <a:pathLst>
                <a:path w="2684653" h="3114167">
                  <a:moveTo>
                    <a:pt x="0" y="0"/>
                  </a:moveTo>
                  <a:lnTo>
                    <a:pt x="2684653" y="1557020"/>
                  </a:lnTo>
                  <a:lnTo>
                    <a:pt x="0" y="3114167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1769751"/>
            <a:ext cx="5046891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 dirty="0">
                <a:solidFill>
                  <a:srgbClr val="004A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mo Bold"/>
                <a:ea typeface="Arimo Bold"/>
                <a:cs typeface="Arimo Bold"/>
                <a:sym typeface="Arimo Bold"/>
              </a:rPr>
              <a:t>1) Self Appraisal — 31st May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474657"/>
            <a:ext cx="6287396" cy="191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Amaranth"/>
                <a:ea typeface="Amaranth"/>
                <a:cs typeface="Amaranth"/>
                <a:sym typeface="Amaranth"/>
              </a:rPr>
              <a:t>Officer must complete Part-1 (Self Appraisal) &amp; submit online</a:t>
            </a:r>
          </a:p>
          <a:p>
            <a:pPr marL="518158" lvl="1" indent="-259079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Amaranth"/>
                <a:ea typeface="Amaranth"/>
                <a:cs typeface="Amaranth"/>
                <a:sym typeface="Amaranth"/>
              </a:rPr>
              <a:t>Includes achievements, duties, targets, training details, etc.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63751" y="539115"/>
            <a:ext cx="12560498" cy="58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mo Bold"/>
                <a:ea typeface="Arimo Bold"/>
                <a:cs typeface="Arimo Bold"/>
                <a:sym typeface="Arimo Bold"/>
              </a:rPr>
              <a:t>✅ e-PAR Appraisal Timeline — Government of Karnataka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47800" y="9517625"/>
            <a:ext cx="1447449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mo Bold"/>
                <a:ea typeface="Arimo Bold"/>
                <a:cs typeface="Arimo Bold"/>
                <a:sym typeface="Arimo Bold"/>
              </a:rPr>
              <a:t>The following deadlines apply for completing the e-PAR workflow for every assessment year: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9985" y="6587901"/>
            <a:ext cx="7497646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 dirty="0">
                <a:solidFill>
                  <a:srgbClr val="004A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mo Bold"/>
                <a:ea typeface="Arimo Bold"/>
                <a:cs typeface="Arimo Bold"/>
                <a:sym typeface="Arimo Bold"/>
              </a:rPr>
              <a:t>3) Reviewing Authority — 30th September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7292806"/>
            <a:ext cx="6287396" cy="191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Amaranth"/>
                <a:ea typeface="Amaranth"/>
                <a:cs typeface="Amaranth"/>
                <a:sym typeface="Amaranth"/>
              </a:rPr>
              <a:t>Reviewing Officer reviews the remarks of Reporting Authority</a:t>
            </a:r>
          </a:p>
          <a:p>
            <a:pPr marL="518158" lvl="1" indent="-259079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Amaranth"/>
                <a:ea typeface="Amaranth"/>
                <a:cs typeface="Amaranth"/>
                <a:sym typeface="Amaranth"/>
              </a:rPr>
              <a:t>May agree / disagree with the grading &amp; comments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47193" y="1741176"/>
            <a:ext cx="5912107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>
                <a:solidFill>
                  <a:srgbClr val="004A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mo Bold"/>
                <a:ea typeface="Arimo Bold"/>
                <a:cs typeface="Arimo Bold"/>
                <a:sym typeface="Arimo Bold"/>
              </a:rPr>
              <a:t>2) Reporting Authority — 31st July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47193" y="2446082"/>
            <a:ext cx="6287396" cy="143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Amaranth"/>
                <a:ea typeface="Amaranth"/>
                <a:cs typeface="Amaranth"/>
                <a:sym typeface="Amaranth"/>
              </a:rPr>
              <a:t>Reporting Officer evaluates the officer’s performance</a:t>
            </a:r>
          </a:p>
          <a:p>
            <a:pPr marL="518158" lvl="1" indent="-259079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Amaranth"/>
                <a:ea typeface="Amaranth"/>
                <a:cs typeface="Amaranth"/>
                <a:sym typeface="Amaranth"/>
              </a:rPr>
              <a:t>Records grading &amp; comments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72325" y="6559326"/>
            <a:ext cx="7013546" cy="45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 dirty="0">
                <a:solidFill>
                  <a:srgbClr val="004A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mo Bold"/>
                <a:ea typeface="Arimo Bold"/>
                <a:cs typeface="Arimo Bold"/>
                <a:sym typeface="Arimo Bold"/>
              </a:rPr>
              <a:t>4) Accepting Authority — 31st December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47193" y="7264231"/>
            <a:ext cx="6287396" cy="143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Amaranth"/>
                <a:ea typeface="Amaranth"/>
                <a:cs typeface="Amaranth"/>
                <a:sym typeface="Amaranth"/>
              </a:rPr>
              <a:t>Final authority to record acceptance/modification</a:t>
            </a:r>
          </a:p>
          <a:p>
            <a:pPr marL="518158" lvl="1" indent="-259079" algn="l">
              <a:lnSpc>
                <a:spcPts val="383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Amaranth"/>
                <a:ea typeface="Amaranth"/>
                <a:cs typeface="Amaranth"/>
                <a:sym typeface="Amaranth"/>
              </a:rPr>
              <a:t>Completes the e-PAR workflow for the year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07246" y="0"/>
            <a:ext cx="9680754" cy="10287000"/>
            <a:chOff x="0" y="0"/>
            <a:chExt cx="12907672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07645" cy="13716000"/>
            </a:xfrm>
            <a:custGeom>
              <a:avLst/>
              <a:gdLst/>
              <a:ahLst/>
              <a:cxnLst/>
              <a:rect l="l" t="t" r="r" b="b"/>
              <a:pathLst>
                <a:path w="12907645" h="13716000">
                  <a:moveTo>
                    <a:pt x="0" y="0"/>
                  </a:moveTo>
                  <a:lnTo>
                    <a:pt x="12907645" y="0"/>
                  </a:lnTo>
                  <a:lnTo>
                    <a:pt x="12907645" y="13716000"/>
                  </a:lnTo>
                  <a:lnTo>
                    <a:pt x="795528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950303">
                    <a:alpha val="76000"/>
                  </a:srgbClr>
                </a:gs>
                <a:gs pos="100000">
                  <a:srgbClr val="D61B1B">
                    <a:alpha val="76000"/>
                  </a:srgbClr>
                </a:gs>
              </a:gsLst>
              <a:lin ang="0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5781925" y="0"/>
            <a:ext cx="10782255" cy="4524309"/>
            <a:chOff x="0" y="0"/>
            <a:chExt cx="14376340" cy="60324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376400" cy="6032373"/>
            </a:xfrm>
            <a:custGeom>
              <a:avLst/>
              <a:gdLst/>
              <a:ahLst/>
              <a:cxnLst/>
              <a:rect l="l" t="t" r="r" b="b"/>
              <a:pathLst>
                <a:path w="14376400" h="6032373">
                  <a:moveTo>
                    <a:pt x="0" y="0"/>
                  </a:moveTo>
                  <a:lnTo>
                    <a:pt x="14376400" y="0"/>
                  </a:lnTo>
                  <a:lnTo>
                    <a:pt x="10877550" y="6032373"/>
                  </a:lnTo>
                  <a:lnTo>
                    <a:pt x="3498850" y="6032373"/>
                  </a:lnTo>
                  <a:close/>
                </a:path>
              </a:pathLst>
            </a:custGeom>
            <a:blipFill>
              <a:blip r:embed="rId2"/>
              <a:stretch>
                <a:fillRect t="-29390" b="-2939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795528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68000"/>
                  </a:srgbClr>
                </a:gs>
                <a:gs pos="100000">
                  <a:srgbClr val="950303">
                    <a:alpha val="68000"/>
                  </a:srgbClr>
                </a:gs>
              </a:gsLst>
              <a:lin ang="0"/>
            </a:gradFill>
          </p:spPr>
        </p:sp>
      </p:grpSp>
      <p:grpSp>
        <p:nvGrpSpPr>
          <p:cNvPr id="8" name="Group 8"/>
          <p:cNvGrpSpPr/>
          <p:nvPr/>
        </p:nvGrpSpPr>
        <p:grpSpPr>
          <a:xfrm>
            <a:off x="8607246" y="5863194"/>
            <a:ext cx="5131614" cy="4423806"/>
            <a:chOff x="0" y="0"/>
            <a:chExt cx="6842152" cy="58984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42125" cy="5898388"/>
            </a:xfrm>
            <a:custGeom>
              <a:avLst/>
              <a:gdLst/>
              <a:ahLst/>
              <a:cxnLst/>
              <a:rect l="l" t="t" r="r" b="b"/>
              <a:pathLst>
                <a:path w="6842125" h="5898388">
                  <a:moveTo>
                    <a:pt x="0" y="5898388"/>
                  </a:moveTo>
                  <a:lnTo>
                    <a:pt x="3421126" y="0"/>
                  </a:lnTo>
                  <a:lnTo>
                    <a:pt x="6842125" y="5898388"/>
                  </a:lnTo>
                  <a:close/>
                </a:path>
              </a:pathLst>
            </a:custGeom>
            <a:gradFill rotWithShape="1">
              <a:gsLst>
                <a:gs pos="0">
                  <a:srgbClr val="D61B1B">
                    <a:alpha val="100000"/>
                  </a:srgbClr>
                </a:gs>
                <a:gs pos="100000">
                  <a:srgbClr val="950303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id="10" name="TextBox 10"/>
          <p:cNvSpPr txBox="1"/>
          <p:nvPr/>
        </p:nvSpPr>
        <p:spPr>
          <a:xfrm>
            <a:off x="1191881" y="7902941"/>
            <a:ext cx="7597811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1">
                <a:solidFill>
                  <a:srgbClr val="D61B1B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1294" y="933450"/>
            <a:ext cx="6745306" cy="538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✅ State e-PAR Helpdesk (</a:t>
            </a:r>
            <a:r>
              <a:rPr lang="en-US" sz="33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GoK</a:t>
            </a:r>
            <a:r>
              <a:rPr lang="en-US" sz="33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2418" y="1789080"/>
            <a:ext cx="6138714" cy="87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📞 Helpline: 080-22484848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⏰ Support on e-PAR Portal &amp; Workflow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389" y="3643358"/>
            <a:ext cx="8610302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✅ District-level Support (Chamarajanagar)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1294" y="4457634"/>
            <a:ext cx="8986266" cy="303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2"/>
              </a:lnSpc>
              <a:spcBef>
                <a:spcPct val="0"/>
              </a:spcBef>
            </a:pPr>
            <a:r>
              <a:rPr lang="en-US" sz="2866">
                <a:solidFill>
                  <a:srgbClr val="004AAD"/>
                </a:solidFill>
                <a:latin typeface="Batangas"/>
                <a:ea typeface="Batangas"/>
                <a:cs typeface="Batangas"/>
                <a:sym typeface="Batangas"/>
              </a:rPr>
              <a:t>Madhukesh G</a:t>
            </a:r>
          </a:p>
          <a:p>
            <a:pPr algn="ctr">
              <a:lnSpc>
                <a:spcPts val="4012"/>
              </a:lnSpc>
              <a:spcBef>
                <a:spcPct val="0"/>
              </a:spcBef>
            </a:pPr>
            <a:r>
              <a:rPr lang="en-US" sz="2866">
                <a:solidFill>
                  <a:srgbClr val="000000"/>
                </a:solidFill>
                <a:latin typeface="Batangas"/>
                <a:ea typeface="Batangas"/>
                <a:cs typeface="Batangas"/>
                <a:sym typeface="Batangas"/>
              </a:rPr>
              <a:t> District e-Governance Consultant</a:t>
            </a:r>
          </a:p>
          <a:p>
            <a:pPr algn="ctr">
              <a:lnSpc>
                <a:spcPts val="4012"/>
              </a:lnSpc>
              <a:spcBef>
                <a:spcPct val="0"/>
              </a:spcBef>
            </a:pPr>
            <a:r>
              <a:rPr lang="en-US" sz="2866">
                <a:solidFill>
                  <a:srgbClr val="000000"/>
                </a:solidFill>
                <a:latin typeface="Batangas"/>
                <a:ea typeface="Batangas"/>
                <a:cs typeface="Batangas"/>
                <a:sym typeface="Batangas"/>
              </a:rPr>
              <a:t> Office of the Deputy Commissioner, Chamarajanagar</a:t>
            </a:r>
          </a:p>
          <a:p>
            <a:pPr algn="ctr">
              <a:lnSpc>
                <a:spcPts val="4012"/>
              </a:lnSpc>
              <a:spcBef>
                <a:spcPct val="0"/>
              </a:spcBef>
            </a:pPr>
            <a:r>
              <a:rPr lang="en-US" sz="2866">
                <a:solidFill>
                  <a:srgbClr val="C01B21"/>
                </a:solidFill>
                <a:latin typeface="Batangas"/>
                <a:ea typeface="Batangas"/>
                <a:cs typeface="Batangas"/>
                <a:sym typeface="Batangas"/>
              </a:rPr>
              <a:t>📱  +91-95136-14491 |  +91-91412-00250</a:t>
            </a:r>
          </a:p>
          <a:p>
            <a:pPr algn="ctr">
              <a:lnSpc>
                <a:spcPts val="4012"/>
              </a:lnSpc>
              <a:spcBef>
                <a:spcPct val="0"/>
              </a:spcBef>
            </a:pPr>
            <a:r>
              <a:rPr lang="en-US" sz="2866">
                <a:solidFill>
                  <a:srgbClr val="000000"/>
                </a:solidFill>
                <a:latin typeface="Batangas"/>
                <a:ea typeface="Batangas"/>
                <a:cs typeface="Batangas"/>
                <a:sym typeface="Batangas"/>
              </a:rPr>
              <a:t>✉ Email: </a:t>
            </a:r>
            <a:r>
              <a:rPr lang="en-US" sz="2866">
                <a:solidFill>
                  <a:srgbClr val="5170FF"/>
                </a:solidFill>
                <a:latin typeface="Batangas"/>
                <a:ea typeface="Batangas"/>
                <a:cs typeface="Batangas"/>
                <a:sym typeface="Batangas"/>
              </a:rPr>
              <a:t>eoffice.cham@karnataka.gov.in</a:t>
            </a:r>
            <a:r>
              <a:rPr lang="en-US" sz="2866">
                <a:solidFill>
                  <a:srgbClr val="000000"/>
                </a:solidFill>
                <a:latin typeface="Batangas"/>
                <a:ea typeface="Batangas"/>
                <a:cs typeface="Batangas"/>
                <a:sym typeface="Batangas"/>
              </a:rPr>
              <a:t> | </a:t>
            </a:r>
            <a:r>
              <a:rPr lang="en-US" sz="2866">
                <a:solidFill>
                  <a:srgbClr val="5170FF"/>
                </a:solidFill>
                <a:latin typeface="Batangas"/>
                <a:ea typeface="Batangas"/>
                <a:cs typeface="Batangas"/>
                <a:sym typeface="Batangas"/>
              </a:rPr>
              <a:t>eofficecegchnagar@gmail.com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5233" y="9488584"/>
            <a:ext cx="5344418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u="sng">
                <a:solidFill>
                  <a:srgbClr val="5170FF"/>
                </a:solidFill>
                <a:latin typeface="Comic Sans Bold"/>
                <a:ea typeface="Comic Sans Bold"/>
                <a:cs typeface="Comic Sans Bold"/>
                <a:sym typeface="Comic Sans Bold"/>
                <a:hlinkClick r:id="rId3" tooltip="https://ceg.karnataka.gov.in"/>
              </a:rPr>
              <a:t>https://ceg.karnataka.gov.in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2432</Words>
  <Application>Microsoft Office PowerPoint</Application>
  <PresentationFormat>Custom</PresentationFormat>
  <Paragraphs>229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46" baseType="lpstr">
      <vt:lpstr>Lato Bold</vt:lpstr>
      <vt:lpstr>Arimo Bold Italics</vt:lpstr>
      <vt:lpstr>Cardo</vt:lpstr>
      <vt:lpstr>Arial</vt:lpstr>
      <vt:lpstr>Cardo Bold</vt:lpstr>
      <vt:lpstr>Gotham Bold</vt:lpstr>
      <vt:lpstr>Futura Bold</vt:lpstr>
      <vt:lpstr>Comic Sans</vt:lpstr>
      <vt:lpstr>Arimo</vt:lpstr>
      <vt:lpstr>Amaranth</vt:lpstr>
      <vt:lpstr>Batangas</vt:lpstr>
      <vt:lpstr>Lato</vt:lpstr>
      <vt:lpstr>Arimo Bold</vt:lpstr>
      <vt:lpstr>Futura</vt:lpstr>
      <vt:lpstr>Comic Sans Bold</vt:lpstr>
      <vt:lpstr>Calibri</vt:lpstr>
      <vt:lpstr>Archivo Black</vt:lpstr>
      <vt:lpstr>Bantayog</vt:lpstr>
      <vt:lpstr>Glacial Indifference</vt:lpstr>
      <vt:lpstr>Amaranth Bold</vt:lpstr>
      <vt:lpstr>Glacial Indifference Bold</vt:lpstr>
      <vt:lpstr>Alice</vt:lpstr>
      <vt:lpstr>Alice Bold</vt:lpstr>
      <vt:lpstr>Gotham Bold Italics</vt:lpstr>
      <vt:lpstr>Barabara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and White Modern Work Performance Report Presentation</dc:title>
  <dc:creator>DC Chamarajanagar</dc:creator>
  <cp:lastModifiedBy>dcchnagar@outlook.com</cp:lastModifiedBy>
  <cp:revision>6</cp:revision>
  <dcterms:created xsi:type="dcterms:W3CDTF">2006-08-16T00:00:00Z</dcterms:created>
  <dcterms:modified xsi:type="dcterms:W3CDTF">2026-05-13T11:31:14Z</dcterms:modified>
  <dc:identifier>DAG3zUq5SWk</dc:identifier>
</cp:coreProperties>
</file>