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1"/>
    <p:sldMasterId id="2147483674" r:id="rId2"/>
  </p:sldMasterIdLst>
  <p:notesMasterIdLst>
    <p:notesMasterId r:id="rId34"/>
  </p:notesMasterIdLst>
  <p:handoutMasterIdLst>
    <p:handoutMasterId r:id="rId35"/>
  </p:handoutMasterIdLst>
  <p:sldIdLst>
    <p:sldId id="269" r:id="rId3"/>
    <p:sldId id="290" r:id="rId4"/>
    <p:sldId id="273" r:id="rId5"/>
    <p:sldId id="351" r:id="rId6"/>
    <p:sldId id="350" r:id="rId7"/>
    <p:sldId id="358" r:id="rId8"/>
    <p:sldId id="357" r:id="rId9"/>
    <p:sldId id="299" r:id="rId10"/>
    <p:sldId id="359" r:id="rId11"/>
    <p:sldId id="360" r:id="rId12"/>
    <p:sldId id="340" r:id="rId13"/>
    <p:sldId id="346" r:id="rId14"/>
    <p:sldId id="361" r:id="rId15"/>
    <p:sldId id="362" r:id="rId16"/>
    <p:sldId id="363" r:id="rId17"/>
    <p:sldId id="367" r:id="rId18"/>
    <p:sldId id="352" r:id="rId19"/>
    <p:sldId id="302" r:id="rId20"/>
    <p:sldId id="364" r:id="rId21"/>
    <p:sldId id="365" r:id="rId22"/>
    <p:sldId id="366" r:id="rId23"/>
    <p:sldId id="354" r:id="rId24"/>
    <p:sldId id="342" r:id="rId25"/>
    <p:sldId id="260" r:id="rId26"/>
    <p:sldId id="310" r:id="rId27"/>
    <p:sldId id="349" r:id="rId28"/>
    <p:sldId id="356" r:id="rId29"/>
    <p:sldId id="355" r:id="rId30"/>
    <p:sldId id="274" r:id="rId31"/>
    <p:sldId id="347" r:id="rId32"/>
    <p:sldId id="337" r:id="rId33"/>
  </p:sldIdLst>
  <p:sldSz cx="9144000" cy="6858000" type="screen4x3"/>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orient="horz" pos="436" userDrawn="1">
          <p15:clr>
            <a:srgbClr val="A4A3A4"/>
          </p15:clr>
        </p15:guide>
        <p15:guide id="3" orient="horz" pos="4179" userDrawn="1">
          <p15:clr>
            <a:srgbClr val="A4A3A4"/>
          </p15:clr>
        </p15:guide>
        <p15:guide id="4" orient="horz" pos="3888" userDrawn="1">
          <p15:clr>
            <a:srgbClr val="A4A3A4"/>
          </p15:clr>
        </p15:guide>
        <p15:guide id="5" orient="horz" pos="3984" userDrawn="1">
          <p15:clr>
            <a:srgbClr val="A4A3A4"/>
          </p15:clr>
        </p15:guide>
        <p15:guide id="6" orient="horz" pos="1104" userDrawn="1">
          <p15:clr>
            <a:srgbClr val="A4A3A4"/>
          </p15:clr>
        </p15:guide>
        <p15:guide id="7" orient="horz" pos="1008" userDrawn="1">
          <p15:clr>
            <a:srgbClr val="A4A3A4"/>
          </p15:clr>
        </p15:guide>
        <p15:guide id="8" orient="horz" pos="2448" userDrawn="1">
          <p15:clr>
            <a:srgbClr val="A4A3A4"/>
          </p15:clr>
        </p15:guide>
        <p15:guide id="9" orient="horz" pos="2544" userDrawn="1">
          <p15:clr>
            <a:srgbClr val="A4A3A4"/>
          </p15:clr>
        </p15:guide>
        <p15:guide id="10" orient="horz" pos="336" userDrawn="1">
          <p15:clr>
            <a:srgbClr val="A4A3A4"/>
          </p15:clr>
        </p15:guide>
        <p15:guide id="11" pos="2832" userDrawn="1">
          <p15:clr>
            <a:srgbClr val="A4A3A4"/>
          </p15:clr>
        </p15:guide>
        <p15:guide id="12" pos="336" userDrawn="1">
          <p15:clr>
            <a:srgbClr val="A4A3A4"/>
          </p15:clr>
        </p15:guide>
        <p15:guide id="13" pos="5424" userDrawn="1">
          <p15:clr>
            <a:srgbClr val="A4A3A4"/>
          </p15:clr>
        </p15:guide>
        <p15:guide id="14" pos="2928" userDrawn="1">
          <p15:clr>
            <a:srgbClr val="A4A3A4"/>
          </p15:clr>
        </p15:guide>
        <p15:guide id="15" pos="1968" userDrawn="1">
          <p15:clr>
            <a:srgbClr val="A4A3A4"/>
          </p15:clr>
        </p15:guide>
        <p15:guide id="16" pos="2070" userDrawn="1">
          <p15:clr>
            <a:srgbClr val="A4A3A4"/>
          </p15:clr>
        </p15:guide>
        <p15:guide id="17" pos="3792" userDrawn="1">
          <p15:clr>
            <a:srgbClr val="A4A3A4"/>
          </p15:clr>
        </p15:guide>
        <p15:guide id="18" pos="1104" userDrawn="1">
          <p15:clr>
            <a:srgbClr val="A4A3A4"/>
          </p15:clr>
        </p15:guide>
        <p15:guide id="19" pos="4656" userDrawn="1">
          <p15:clr>
            <a:srgbClr val="A4A3A4"/>
          </p15:clr>
        </p15:guide>
        <p15:guide id="20" pos="4560" userDrawn="1">
          <p15:clr>
            <a:srgbClr val="A4A3A4"/>
          </p15:clr>
        </p15:guide>
        <p15:guide id="21" pos="3696" userDrawn="1">
          <p15:clr>
            <a:srgbClr val="A4A3A4"/>
          </p15:clr>
        </p15:guide>
        <p15:guide id="22" pos="12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000FF"/>
    <a:srgbClr val="7A18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D073F8-1565-44D7-B386-08B59EADF2EE}">
  <a:tblStyle styleId="{69D073F8-1565-44D7-B386-08B59EADF2EE}" styleName="PwC Table">
    <a:wholeTbl>
      <a:tcTxStyle>
        <a:fontRef idx="major">
          <a:prstClr val="black"/>
        </a:fontRef>
        <a:schemeClr val="dk1"/>
      </a:tcTxStyle>
      <a:tcStyle>
        <a:tcBdr>
          <a:left>
            <a:ln>
              <a:noFill/>
            </a:ln>
          </a:left>
          <a:right>
            <a:ln>
              <a:noFill/>
            </a:ln>
          </a:right>
          <a:top>
            <a:ln>
              <a:noFill/>
            </a:ln>
          </a:top>
          <a:bottom>
            <a:ln>
              <a:noFill/>
            </a:ln>
          </a:bottom>
          <a:insideH>
            <a:ln>
              <a:noFill/>
            </a:ln>
          </a:insideH>
          <a:insideV>
            <a:ln>
              <a:noFill/>
            </a:ln>
          </a:insideV>
        </a:tcBdr>
        <a:fill>
          <a:noFill/>
        </a:fill>
      </a:tcStyle>
    </a:wholeTbl>
    <a:band1H>
      <a:tcStyle>
        <a:tcBdr>
          <a:bottom>
            <a:ln w="38100" cmpd="sng">
              <a:noFill/>
            </a:ln>
          </a:bottom>
        </a:tcBdr>
      </a:tcStyle>
    </a:band1H>
    <a:band2H>
      <a:tcStyle>
        <a:tcBdr>
          <a:bottom>
            <a:ln w="38100" cmpd="sng">
              <a:noFill/>
            </a:ln>
          </a:bottom>
        </a:tcBdr>
      </a:tcStyle>
    </a:band2H>
    <a:firstCol>
      <a:tcTxStyle i="on">
        <a:fontRef idx="major">
          <a:prstClr val="black"/>
        </a:fontRef>
        <a:schemeClr val="dk1"/>
      </a:tcTxStyle>
      <a:tcStyle>
        <a:tcBdr/>
        <a:fill>
          <a:noFill/>
        </a:fill>
      </a:tcStyle>
    </a:firstCol>
    <a:firstRow>
      <a:tcTxStyle b="on">
        <a:fontRef idx="major">
          <a:prstClr val="black"/>
        </a:fontRef>
        <a:schemeClr val="dk2"/>
      </a:tcTxStyle>
      <a:tcStyle>
        <a:tcBdr>
          <a:bottom>
            <a:ln w="38100" cmpd="sng">
              <a:no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06" autoAdjust="0"/>
    <p:restoredTop sz="94249" autoAdjust="0"/>
  </p:normalViewPr>
  <p:slideViewPr>
    <p:cSldViewPr>
      <p:cViewPr varScale="1">
        <p:scale>
          <a:sx n="87" d="100"/>
          <a:sy n="87" d="100"/>
        </p:scale>
        <p:origin x="1548" y="96"/>
      </p:cViewPr>
      <p:guideLst>
        <p:guide orient="horz" pos="144"/>
        <p:guide orient="horz" pos="436"/>
        <p:guide orient="horz" pos="4179"/>
        <p:guide orient="horz" pos="3888"/>
        <p:guide orient="horz" pos="3984"/>
        <p:guide orient="horz" pos="1104"/>
        <p:guide orient="horz" pos="1008"/>
        <p:guide orient="horz" pos="2448"/>
        <p:guide orient="horz" pos="2544"/>
        <p:guide orient="horz" pos="336"/>
        <p:guide pos="2832"/>
        <p:guide pos="336"/>
        <p:guide pos="5424"/>
        <p:guide pos="2928"/>
        <p:guide pos="1968"/>
        <p:guide pos="2070"/>
        <p:guide pos="3792"/>
        <p:guide pos="1104"/>
        <p:guide pos="4656"/>
        <p:guide pos="4560"/>
        <p:guide pos="3696"/>
        <p:guide pos="120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84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nayak012\Documents\2020_Sevasindhu\PPT\Transaction_count_till_Jun%20202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7681180603209017E-2"/>
          <c:y val="5.8793893612626297E-2"/>
          <c:w val="0.85754596667965799"/>
          <c:h val="0.70187624784081482"/>
        </c:manualLayout>
      </c:layout>
      <c:lineChart>
        <c:grouping val="standard"/>
        <c:varyColors val="0"/>
        <c:ser>
          <c:idx val="0"/>
          <c:order val="0"/>
          <c:tx>
            <c:strRef>
              <c:f>'Seva Sindhu'!$F$1</c:f>
              <c:strCache>
                <c:ptCount val="1"/>
                <c:pt idx="0">
                  <c:v>Transactions</c:v>
                </c:pt>
              </c:strCache>
            </c:strRef>
          </c:tx>
          <c:spPr>
            <a:ln w="28575" cap="rnd">
              <a:solidFill>
                <a:schemeClr val="accent1"/>
              </a:solidFill>
              <a:round/>
            </a:ln>
            <a:effectLst/>
          </c:spPr>
          <c:marker>
            <c:symbol val="none"/>
          </c:marker>
          <c:dLbls>
            <c:dLbl>
              <c:idx val="10"/>
              <c:layout>
                <c:manualLayout>
                  <c:x val="2.5464570930191107E-2"/>
                  <c:y val="0.1634748667587022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91-40F5-9EDB-0A4FFA98039E}"/>
                </c:ext>
              </c:extLst>
            </c:dLbl>
            <c:dLbl>
              <c:idx val="11"/>
              <c:layout>
                <c:manualLayout>
                  <c:x val="1.8135654697134587E-2"/>
                  <c:y val="5.698005698005696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A91-40F5-9EDB-0A4FFA98039E}"/>
                </c:ext>
              </c:extLst>
            </c:dLbl>
            <c:dLbl>
              <c:idx val="12"/>
              <c:layout>
                <c:manualLayout>
                  <c:x val="-2.1762785636561477E-2"/>
                  <c:y val="6.410256410256413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A91-40F5-9EDB-0A4FFA98039E}"/>
                </c:ext>
              </c:extLst>
            </c:dLbl>
            <c:dLbl>
              <c:idx val="13"/>
              <c:layout>
                <c:manualLayout>
                  <c:x val="1.5396217166673347E-2"/>
                  <c:y val="0.1836383128165319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A91-40F5-9EDB-0A4FFA98039E}"/>
                </c:ext>
              </c:extLst>
            </c:dLbl>
            <c:dLbl>
              <c:idx val="14"/>
              <c:layout>
                <c:manualLayout>
                  <c:x val="2.707000933256529E-2"/>
                  <c:y val="0.1654435619054175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A91-40F5-9EDB-0A4FFA98039E}"/>
                </c:ext>
              </c:extLst>
            </c:dLbl>
            <c:dLbl>
              <c:idx val="15"/>
              <c:layout>
                <c:manualLayout>
                  <c:x val="1.3941080859832228E-2"/>
                  <c:y val="8.684464466225366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A91-40F5-9EDB-0A4FFA98039E}"/>
                </c:ext>
              </c:extLst>
            </c:dLbl>
            <c:dLbl>
              <c:idx val="16"/>
              <c:layout>
                <c:manualLayout>
                  <c:x val="9.1277303682823722E-3"/>
                  <c:y val="4.9844801454213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A91-40F5-9EDB-0A4FFA98039E}"/>
                </c:ext>
              </c:extLst>
            </c:dLbl>
            <c:dLbl>
              <c:idx val="18"/>
              <c:layout>
                <c:manualLayout>
                  <c:x val="0"/>
                  <c:y val="-2.59025416869030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A91-40F5-9EDB-0A4FFA98039E}"/>
                </c:ext>
              </c:extLst>
            </c:dLbl>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'Seva Sindhu'!$E$2:$E$20</c:f>
              <c:numCache>
                <c:formatCode>mmm\/yy</c:formatCode>
                <c:ptCount val="19"/>
                <c:pt idx="0">
                  <c:v>43160</c:v>
                </c:pt>
                <c:pt idx="1">
                  <c:v>43252</c:v>
                </c:pt>
                <c:pt idx="2">
                  <c:v>43344</c:v>
                </c:pt>
                <c:pt idx="3">
                  <c:v>43435</c:v>
                </c:pt>
                <c:pt idx="4">
                  <c:v>43525</c:v>
                </c:pt>
                <c:pt idx="5">
                  <c:v>43617</c:v>
                </c:pt>
                <c:pt idx="6">
                  <c:v>43709</c:v>
                </c:pt>
                <c:pt idx="7">
                  <c:v>43800</c:v>
                </c:pt>
                <c:pt idx="8">
                  <c:v>43891</c:v>
                </c:pt>
                <c:pt idx="9">
                  <c:v>43983</c:v>
                </c:pt>
                <c:pt idx="10">
                  <c:v>44075</c:v>
                </c:pt>
                <c:pt idx="11">
                  <c:v>44166</c:v>
                </c:pt>
                <c:pt idx="12">
                  <c:v>44256</c:v>
                </c:pt>
                <c:pt idx="13">
                  <c:v>44348</c:v>
                </c:pt>
                <c:pt idx="14">
                  <c:v>44440</c:v>
                </c:pt>
                <c:pt idx="15">
                  <c:v>44531</c:v>
                </c:pt>
                <c:pt idx="16">
                  <c:v>44621</c:v>
                </c:pt>
                <c:pt idx="17">
                  <c:v>44713</c:v>
                </c:pt>
                <c:pt idx="18">
                  <c:v>44805</c:v>
                </c:pt>
              </c:numCache>
            </c:numRef>
          </c:cat>
          <c:val>
            <c:numRef>
              <c:f>'Seva Sindhu'!$F$2:$F$20</c:f>
              <c:numCache>
                <c:formatCode>General</c:formatCode>
                <c:ptCount val="19"/>
                <c:pt idx="0">
                  <c:v>0</c:v>
                </c:pt>
                <c:pt idx="1">
                  <c:v>0</c:v>
                </c:pt>
                <c:pt idx="2">
                  <c:v>48</c:v>
                </c:pt>
                <c:pt idx="3" formatCode="_ * #,##0_ ;_ * \-#,##0_ ;_ * &quot;-&quot;??_ ;_ @_ ">
                  <c:v>2089</c:v>
                </c:pt>
                <c:pt idx="4" formatCode="_ * #,##0_ ;_ * \-#,##0_ ;_ * &quot;-&quot;??_ ;_ @_ ">
                  <c:v>77797</c:v>
                </c:pt>
                <c:pt idx="5" formatCode="_ * #,##0_ ;_ * \-#,##0_ ;_ * &quot;-&quot;??_ ;_ @_ ">
                  <c:v>741993</c:v>
                </c:pt>
                <c:pt idx="6" formatCode="_ * #,##0_ ;_ * \-#,##0_ ;_ * &quot;-&quot;??_ ;_ @_ ">
                  <c:v>1825415</c:v>
                </c:pt>
                <c:pt idx="7" formatCode="_ * #,##0_ ;_ * \-#,##0_ ;_ * &quot;-&quot;??_ ;_ @_ ">
                  <c:v>3027882</c:v>
                </c:pt>
                <c:pt idx="8" formatCode="_ * #,##0_ ;_ * \-#,##0_ ;_ * &quot;-&quot;??_ ;_ @_ ">
                  <c:v>4448098</c:v>
                </c:pt>
                <c:pt idx="9" formatCode="_ * #,##0_ ;_ * \-#,##0_ ;_ * &quot;-&quot;??_ ;_ @_ ">
                  <c:v>7240315</c:v>
                </c:pt>
                <c:pt idx="10" formatCode="_ * #,##0_ ;_ * \-#,##0_ ;_ * &quot;-&quot;??_ ;_ @_ ">
                  <c:v>10617566</c:v>
                </c:pt>
                <c:pt idx="11" formatCode="_ * #,##0_ ;_ * \-#,##0_ ;_ * &quot;-&quot;??_ ;_ @_ ">
                  <c:v>10935569</c:v>
                </c:pt>
                <c:pt idx="12" formatCode="_ * #,##0_ ;_ * \-#,##0_ ;_ * &quot;-&quot;??_ ;_ @_ ">
                  <c:v>12857968</c:v>
                </c:pt>
                <c:pt idx="13" formatCode="_ * #,##0_ ;_ * \-#,##0_ ;_ * &quot;-&quot;??_ ;_ @_ ">
                  <c:v>13748275</c:v>
                </c:pt>
                <c:pt idx="14" formatCode="_ * #,##0_ ;_ * \-#,##0_ ;_ * &quot;-&quot;??_ ;_ @_ ">
                  <c:v>17481946</c:v>
                </c:pt>
                <c:pt idx="15" formatCode="_ * #,##0_ ;_ * \-#,##0_ ;_ * &quot;-&quot;??_ ;_ @_ ">
                  <c:v>19681205</c:v>
                </c:pt>
                <c:pt idx="16" formatCode="_ * #,##0_ ;_ * \-#,##0_ ;_ * &quot;-&quot;??_ ;_ @_ ">
                  <c:v>21251284</c:v>
                </c:pt>
                <c:pt idx="17" formatCode="_ * #,##0_ ;_ * \-#,##0_ ;_ * &quot;-&quot;??_ ;_ @_ ">
                  <c:v>22874157</c:v>
                </c:pt>
                <c:pt idx="18" formatCode="_ * #,##0_ ;_ * \-#,##0_ ;_ * &quot;-&quot;??_ ;_ @_ ">
                  <c:v>26277636</c:v>
                </c:pt>
              </c:numCache>
            </c:numRef>
          </c:val>
          <c:smooth val="0"/>
          <c:extLst>
            <c:ext xmlns:c16="http://schemas.microsoft.com/office/drawing/2014/chart" uri="{C3380CC4-5D6E-409C-BE32-E72D297353CC}">
              <c16:uniqueId val="{00000008-1A91-40F5-9EDB-0A4FFA98039E}"/>
            </c:ext>
          </c:extLst>
        </c:ser>
        <c:dLbls>
          <c:showLegendKey val="0"/>
          <c:showVal val="1"/>
          <c:showCatName val="0"/>
          <c:showSerName val="0"/>
          <c:showPercent val="0"/>
          <c:showBubbleSize val="0"/>
        </c:dLbls>
        <c:marker val="1"/>
        <c:smooth val="0"/>
        <c:axId val="162234752"/>
        <c:axId val="162236288"/>
      </c:lineChart>
      <c:lineChart>
        <c:grouping val="standard"/>
        <c:varyColors val="0"/>
        <c:ser>
          <c:idx val="1"/>
          <c:order val="1"/>
          <c:tx>
            <c:strRef>
              <c:f>'Seva Sindhu'!$G$1</c:f>
              <c:strCache>
                <c:ptCount val="1"/>
                <c:pt idx="0">
                  <c:v>Services</c:v>
                </c:pt>
              </c:strCache>
            </c:strRef>
          </c:tx>
          <c:spPr>
            <a:ln w="28575" cap="rnd">
              <a:solidFill>
                <a:schemeClr val="accent2"/>
              </a:solidFill>
              <a:round/>
            </a:ln>
            <a:effectLst/>
          </c:spPr>
          <c:marker>
            <c:symbol val="none"/>
          </c:marker>
          <c:dLbls>
            <c:dLbl>
              <c:idx val="10"/>
              <c:layout>
                <c:manualLayout>
                  <c:x val="-2.5573546687442456E-2"/>
                  <c:y val="-6.84543499571053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A91-40F5-9EDB-0A4FFA98039E}"/>
                </c:ext>
              </c:extLst>
            </c:dLbl>
            <c:dLbl>
              <c:idx val="11"/>
              <c:layout>
                <c:manualLayout>
                  <c:x val="-7.4972796517954493E-2"/>
                  <c:y val="-3.024401597236247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A91-40F5-9EDB-0A4FFA98039E}"/>
                </c:ext>
              </c:extLst>
            </c:dLbl>
            <c:dLbl>
              <c:idx val="12"/>
              <c:layout>
                <c:manualLayout>
                  <c:x val="-2.7291823961298541E-2"/>
                  <c:y val="-8.23167987925744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A91-40F5-9EDB-0A4FFA98039E}"/>
                </c:ext>
              </c:extLst>
            </c:dLbl>
            <c:dLbl>
              <c:idx val="13"/>
              <c:layout>
                <c:manualLayout>
                  <c:x val="-1.7551385708058476E-2"/>
                  <c:y val="-0.1039936059473868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A91-40F5-9EDB-0A4FFA98039E}"/>
                </c:ext>
              </c:extLst>
            </c:dLbl>
            <c:dLbl>
              <c:idx val="14"/>
              <c:layout>
                <c:manualLayout>
                  <c:x val="-2.1851121686660976E-2"/>
                  <c:y val="-9.85686041308947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A91-40F5-9EDB-0A4FFA98039E}"/>
                </c:ext>
              </c:extLst>
            </c:dLbl>
            <c:dLbl>
              <c:idx val="15"/>
              <c:layout>
                <c:manualLayout>
                  <c:x val="-2.2707385447882301E-2"/>
                  <c:y val="-0.1076008408128198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1A91-40F5-9EDB-0A4FFA98039E}"/>
                </c:ext>
              </c:extLst>
            </c:dLbl>
            <c:dLbl>
              <c:idx val="16"/>
              <c:layout>
                <c:manualLayout>
                  <c:x val="-1.8803124558661854E-2"/>
                  <c:y val="-0.10022804944428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1A91-40F5-9EDB-0A4FFA98039E}"/>
                </c:ext>
              </c:extLst>
            </c:dLbl>
            <c:dLbl>
              <c:idx val="17"/>
              <c:layout>
                <c:manualLayout>
                  <c:x val="-1.8803124558661691E-2"/>
                  <c:y val="-8.874858345475149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1A91-40F5-9EDB-0A4FFA98039E}"/>
                </c:ext>
              </c:extLst>
            </c:dLbl>
            <c:dLbl>
              <c:idx val="18"/>
              <c:layout>
                <c:manualLayout>
                  <c:x val="-2.4507956038838128E-2"/>
                  <c:y val="-8.5510765743888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1A91-40F5-9EDB-0A4FFA98039E}"/>
                </c:ext>
              </c:extLst>
            </c:dLbl>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'Seva Sindhu'!$E$2:$E$20</c:f>
              <c:numCache>
                <c:formatCode>mmm\/yy</c:formatCode>
                <c:ptCount val="19"/>
                <c:pt idx="0">
                  <c:v>43160</c:v>
                </c:pt>
                <c:pt idx="1">
                  <c:v>43252</c:v>
                </c:pt>
                <c:pt idx="2">
                  <c:v>43344</c:v>
                </c:pt>
                <c:pt idx="3">
                  <c:v>43435</c:v>
                </c:pt>
                <c:pt idx="4">
                  <c:v>43525</c:v>
                </c:pt>
                <c:pt idx="5">
                  <c:v>43617</c:v>
                </c:pt>
                <c:pt idx="6">
                  <c:v>43709</c:v>
                </c:pt>
                <c:pt idx="7">
                  <c:v>43800</c:v>
                </c:pt>
                <c:pt idx="8">
                  <c:v>43891</c:v>
                </c:pt>
                <c:pt idx="9">
                  <c:v>43983</c:v>
                </c:pt>
                <c:pt idx="10">
                  <c:v>44075</c:v>
                </c:pt>
                <c:pt idx="11">
                  <c:v>44166</c:v>
                </c:pt>
                <c:pt idx="12">
                  <c:v>44256</c:v>
                </c:pt>
                <c:pt idx="13">
                  <c:v>44348</c:v>
                </c:pt>
                <c:pt idx="14">
                  <c:v>44440</c:v>
                </c:pt>
                <c:pt idx="15">
                  <c:v>44531</c:v>
                </c:pt>
                <c:pt idx="16">
                  <c:v>44621</c:v>
                </c:pt>
                <c:pt idx="17">
                  <c:v>44713</c:v>
                </c:pt>
                <c:pt idx="18">
                  <c:v>44805</c:v>
                </c:pt>
              </c:numCache>
            </c:numRef>
          </c:cat>
          <c:val>
            <c:numRef>
              <c:f>'Seva Sindhu'!$G$2:$G$20</c:f>
              <c:numCache>
                <c:formatCode>General</c:formatCode>
                <c:ptCount val="19"/>
                <c:pt idx="0">
                  <c:v>35</c:v>
                </c:pt>
                <c:pt idx="1">
                  <c:v>50</c:v>
                </c:pt>
                <c:pt idx="2">
                  <c:v>53</c:v>
                </c:pt>
                <c:pt idx="3">
                  <c:v>60</c:v>
                </c:pt>
                <c:pt idx="4">
                  <c:v>84</c:v>
                </c:pt>
                <c:pt idx="5">
                  <c:v>200</c:v>
                </c:pt>
                <c:pt idx="6">
                  <c:v>260</c:v>
                </c:pt>
                <c:pt idx="7">
                  <c:v>351</c:v>
                </c:pt>
                <c:pt idx="8">
                  <c:v>451</c:v>
                </c:pt>
                <c:pt idx="9">
                  <c:v>501</c:v>
                </c:pt>
                <c:pt idx="10">
                  <c:v>561</c:v>
                </c:pt>
                <c:pt idx="11">
                  <c:v>750</c:v>
                </c:pt>
                <c:pt idx="12">
                  <c:v>760</c:v>
                </c:pt>
                <c:pt idx="13">
                  <c:v>778</c:v>
                </c:pt>
                <c:pt idx="14">
                  <c:v>798</c:v>
                </c:pt>
                <c:pt idx="15">
                  <c:v>798</c:v>
                </c:pt>
                <c:pt idx="16">
                  <c:v>798</c:v>
                </c:pt>
                <c:pt idx="17">
                  <c:v>798</c:v>
                </c:pt>
                <c:pt idx="18">
                  <c:v>854</c:v>
                </c:pt>
              </c:numCache>
            </c:numRef>
          </c:val>
          <c:smooth val="0"/>
          <c:extLst>
            <c:ext xmlns:c16="http://schemas.microsoft.com/office/drawing/2014/chart" uri="{C3380CC4-5D6E-409C-BE32-E72D297353CC}">
              <c16:uniqueId val="{00000012-1A91-40F5-9EDB-0A4FFA98039E}"/>
            </c:ext>
          </c:extLst>
        </c:ser>
        <c:dLbls>
          <c:showLegendKey val="0"/>
          <c:showVal val="1"/>
          <c:showCatName val="0"/>
          <c:showSerName val="0"/>
          <c:showPercent val="0"/>
          <c:showBubbleSize val="0"/>
        </c:dLbls>
        <c:marker val="1"/>
        <c:smooth val="0"/>
        <c:axId val="162260096"/>
        <c:axId val="162237824"/>
      </c:lineChart>
      <c:dateAx>
        <c:axId val="162234752"/>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62236288"/>
        <c:crosses val="autoZero"/>
        <c:auto val="1"/>
        <c:lblOffset val="100"/>
        <c:baseTimeUnit val="months"/>
        <c:majorUnit val="3"/>
        <c:majorTimeUnit val="months"/>
      </c:dateAx>
      <c:valAx>
        <c:axId val="162236288"/>
        <c:scaling>
          <c:orientation val="minMax"/>
          <c:max val="3000000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62234752"/>
        <c:crosses val="autoZero"/>
        <c:crossBetween val="between"/>
        <c:majorUnit val="3500000"/>
      </c:valAx>
      <c:valAx>
        <c:axId val="162237824"/>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62260096"/>
        <c:crosses val="max"/>
        <c:crossBetween val="between"/>
        <c:majorUnit val="200"/>
      </c:valAx>
      <c:dateAx>
        <c:axId val="162260096"/>
        <c:scaling>
          <c:orientation val="minMax"/>
        </c:scaling>
        <c:delete val="1"/>
        <c:axPos val="b"/>
        <c:numFmt formatCode="mmm\/yy" sourceLinked="1"/>
        <c:majorTickMark val="out"/>
        <c:minorTickMark val="none"/>
        <c:tickLblPos val="none"/>
        <c:crossAx val="162237824"/>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1"/>
      </a:solidFill>
      <a:round/>
    </a:ln>
    <a:effectLst/>
  </c:spPr>
  <c:txPr>
    <a:bodyPr/>
    <a:lstStyle/>
    <a:p>
      <a:pPr>
        <a:defRPr sz="1050" b="1"/>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pitchFamily="34" charset="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5F05CFF-548C-4E04-B325-CF1209D66BDC}" type="datetimeFigureOut">
              <a:rPr lang="en-US" smtClean="0">
                <a:latin typeface="Arial" pitchFamily="34" charset="0"/>
                <a:cs typeface="Arial" pitchFamily="34" charset="0"/>
              </a:rPr>
              <a:pPr/>
              <a:t>6/18/2026</a:t>
            </a:fld>
            <a:endParaRPr lang="en-US" dirty="0">
              <a:latin typeface="Arial" pitchFamily="34" charset="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pitchFamily="34" charset="0"/>
              <a:cs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EE90EF7-3E10-491C-87C2-59674BB3AAF6}" type="slidenum">
              <a:rPr lang="en-US" smtClean="0">
                <a:latin typeface="Arial" pitchFamily="34" charset="0"/>
                <a:cs typeface="Arial" pitchFamily="34" charset="0"/>
              </a:rPr>
              <a:pPr/>
              <a:t>‹#›</a:t>
            </a:fld>
            <a:endParaRPr lang="en-US" dirty="0">
              <a:latin typeface="Arial" pitchFamily="34" charset="0"/>
              <a:cs typeface="Arial" pitchFamily="34" charset="0"/>
            </a:endParaRPr>
          </a:p>
        </p:txBody>
      </p:sp>
    </p:spTree>
    <p:extLst>
      <p:ext uri="{BB962C8B-B14F-4D97-AF65-F5344CB8AC3E}">
        <p14:creationId xmlns:p14="http://schemas.microsoft.com/office/powerpoint/2010/main" val="23375995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cs typeface="Arial" pitchFamily="34" charset="0"/>
              </a:defRPr>
            </a:lvl1pPr>
          </a:lstStyle>
          <a:p>
            <a:fld id="{5EFB8DA3-BCA9-4B7D-B50D-14F47506B614}" type="datetimeFigureOut">
              <a:rPr lang="en-US" smtClean="0"/>
              <a:pPr/>
              <a:t>6/18/2026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cs typeface="Arial" pitchFamily="34" charset="0"/>
              </a:defRPr>
            </a:lvl1pPr>
          </a:lstStyle>
          <a:p>
            <a:fld id="{F07B8F03-BC93-4120-96CA-A36DF640BE24}" type="slidenum">
              <a:rPr lang="en-US" smtClean="0"/>
              <a:pPr/>
              <a:t>‹#›</a:t>
            </a:fld>
            <a:endParaRPr lang="en-US" dirty="0"/>
          </a:p>
        </p:txBody>
      </p:sp>
    </p:spTree>
    <p:extLst>
      <p:ext uri="{BB962C8B-B14F-4D97-AF65-F5344CB8AC3E}">
        <p14:creationId xmlns:p14="http://schemas.microsoft.com/office/powerpoint/2010/main" val="242598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200" kern="1200">
        <a:solidFill>
          <a:schemeClr val="tx1"/>
        </a:solidFill>
        <a:latin typeface="Arial" pitchFamily="34" charset="0"/>
        <a:ea typeface="+mn-ea"/>
        <a:cs typeface="Arial" pitchFamily="34" charset="0"/>
      </a:defRPr>
    </a:lvl2pPr>
    <a:lvl3pPr marL="914400" algn="l" defTabSz="914400" rtl="0" eaLnBrk="1" latinLnBrk="0" hangingPunct="1">
      <a:defRPr sz="1200" kern="1200">
        <a:solidFill>
          <a:schemeClr val="tx1"/>
        </a:solidFill>
        <a:latin typeface="Arial" pitchFamily="34" charset="0"/>
        <a:ea typeface="+mn-ea"/>
        <a:cs typeface="Arial" pitchFamily="34" charset="0"/>
      </a:defRPr>
    </a:lvl3pPr>
    <a:lvl4pPr marL="1371600" algn="l" defTabSz="914400" rtl="0" eaLnBrk="1" latinLnBrk="0" hangingPunct="1">
      <a:defRPr sz="1200" kern="1200">
        <a:solidFill>
          <a:schemeClr val="tx1"/>
        </a:solidFill>
        <a:latin typeface="Arial" pitchFamily="34" charset="0"/>
        <a:ea typeface="+mn-ea"/>
        <a:cs typeface="Arial" pitchFamily="34" charset="0"/>
      </a:defRPr>
    </a:lvl4pPr>
    <a:lvl5pPr marL="1828800" algn="l" defTabSz="914400" rtl="0" eaLnBrk="1" latinLnBrk="0" hangingPunct="1">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07B8F03-BC93-4120-96CA-A36DF640BE24}" type="slidenum">
              <a:rPr lang="en-US" smtClean="0"/>
              <a:pPr/>
              <a:t>2</a:t>
            </a:fld>
            <a:endParaRPr lang="en-US" dirty="0"/>
          </a:p>
        </p:txBody>
      </p:sp>
    </p:spTree>
    <p:extLst>
      <p:ext uri="{BB962C8B-B14F-4D97-AF65-F5344CB8AC3E}">
        <p14:creationId xmlns:p14="http://schemas.microsoft.com/office/powerpoint/2010/main" val="1961945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7B8F03-BC93-4120-96CA-A36DF640BE24}" type="slidenum">
              <a:rPr lang="en-US" smtClean="0"/>
              <a:pPr/>
              <a:t>3</a:t>
            </a:fld>
            <a:endParaRPr lang="en-US" dirty="0"/>
          </a:p>
        </p:txBody>
      </p:sp>
    </p:spTree>
    <p:extLst>
      <p:ext uri="{BB962C8B-B14F-4D97-AF65-F5344CB8AC3E}">
        <p14:creationId xmlns:p14="http://schemas.microsoft.com/office/powerpoint/2010/main" val="4049398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7B8F03-BC93-4120-96CA-A36DF640BE24}" type="slidenum">
              <a:rPr lang="en-US" smtClean="0"/>
              <a:pPr/>
              <a:t>4</a:t>
            </a:fld>
            <a:endParaRPr lang="en-US" dirty="0"/>
          </a:p>
        </p:txBody>
      </p:sp>
    </p:spTree>
    <p:extLst>
      <p:ext uri="{BB962C8B-B14F-4D97-AF65-F5344CB8AC3E}">
        <p14:creationId xmlns:p14="http://schemas.microsoft.com/office/powerpoint/2010/main" val="275920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7B8F03-BC93-4120-96CA-A36DF640BE24}" type="slidenum">
              <a:rPr lang="en-US" smtClean="0"/>
              <a:pPr/>
              <a:t>5</a:t>
            </a:fld>
            <a:endParaRPr lang="en-US" dirty="0"/>
          </a:p>
        </p:txBody>
      </p:sp>
    </p:spTree>
    <p:extLst>
      <p:ext uri="{BB962C8B-B14F-4D97-AF65-F5344CB8AC3E}">
        <p14:creationId xmlns:p14="http://schemas.microsoft.com/office/powerpoint/2010/main" val="1140489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5602A1-0457-441C-9580-5386FD37AB06}" type="slidenum">
              <a:rPr lang="en-IN" smtClean="0"/>
              <a:pPr/>
              <a:t>6</a:t>
            </a:fld>
            <a:endParaRPr lang="en-IN"/>
          </a:p>
        </p:txBody>
      </p:sp>
    </p:spTree>
    <p:extLst>
      <p:ext uri="{BB962C8B-B14F-4D97-AF65-F5344CB8AC3E}">
        <p14:creationId xmlns:p14="http://schemas.microsoft.com/office/powerpoint/2010/main" val="571453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7B8F03-BC93-4120-96CA-A36DF640BE24}" type="slidenum">
              <a:rPr lang="en-US" smtClean="0"/>
              <a:pPr/>
              <a:t>12</a:t>
            </a:fld>
            <a:endParaRPr lang="en-US" dirty="0"/>
          </a:p>
        </p:txBody>
      </p:sp>
    </p:spTree>
    <p:extLst>
      <p:ext uri="{BB962C8B-B14F-4D97-AF65-F5344CB8AC3E}">
        <p14:creationId xmlns:p14="http://schemas.microsoft.com/office/powerpoint/2010/main" val="1957702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C3851D77-5A5D-4C1A-8CDE-6A25567DB8ED}" type="slidenum">
              <a:rPr lang="en-GB" smtClean="0"/>
              <a:pPr/>
              <a:t>17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C3851D77-5A5D-4C1A-8CDE-6A25567DB8ED}" type="slidenum">
              <a:rPr lang="en-GB" smtClean="0"/>
              <a:pPr/>
              <a:t>18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7B8F03-BC93-4120-96CA-A36DF640BE24}" type="slidenum">
              <a:rPr lang="en-US" smtClean="0"/>
              <a:pPr/>
              <a:t>29</a:t>
            </a:fld>
            <a:endParaRPr lang="en-US" dirty="0"/>
          </a:p>
        </p:txBody>
      </p:sp>
    </p:spTree>
    <p:extLst>
      <p:ext uri="{BB962C8B-B14F-4D97-AF65-F5344CB8AC3E}">
        <p14:creationId xmlns:p14="http://schemas.microsoft.com/office/powerpoint/2010/main" val="48055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7B8F03-BC93-4120-96CA-A36DF640BE24}" type="slidenum">
              <a:rPr lang="en-US" smtClean="0"/>
              <a:pPr/>
              <a:t>30</a:t>
            </a:fld>
            <a:endParaRPr lang="en-US" dirty="0"/>
          </a:p>
        </p:txBody>
      </p:sp>
    </p:spTree>
    <p:extLst>
      <p:ext uri="{BB962C8B-B14F-4D97-AF65-F5344CB8AC3E}">
        <p14:creationId xmlns:p14="http://schemas.microsoft.com/office/powerpoint/2010/main" val="163014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Master" Target="../slideMasters/slideMaster1.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1.xml"/><Relationship Id="rId7" Type="http://schemas.openxmlformats.org/officeDocument/2006/relationships/tags" Target="../tags/tag25.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slideMaster" Target="../slideMasters/slideMaster2.xml"/><Relationship Id="rId5" Type="http://schemas.openxmlformats.org/officeDocument/2006/relationships/tags" Target="../tags/tag30.xml"/><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10" Type="http://schemas.openxmlformats.org/officeDocument/2006/relationships/slideMaster" Target="../slideMasters/slideMaster2.xml"/><Relationship Id="rId4" Type="http://schemas.openxmlformats.org/officeDocument/2006/relationships/tags" Target="../tags/tag50.xml"/><Relationship Id="rId9" Type="http://schemas.openxmlformats.org/officeDocument/2006/relationships/tags" Target="../tags/tag55.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63.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slideMaster" Target="../slideMasters/slideMaster2.xml"/><Relationship Id="rId5" Type="http://schemas.openxmlformats.org/officeDocument/2006/relationships/tags" Target="../tags/tag60.xml"/><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5" Type="http://schemas.openxmlformats.org/officeDocument/2006/relationships/tags" Target="../tags/tag70.xml"/><Relationship Id="rId10" Type="http://schemas.openxmlformats.org/officeDocument/2006/relationships/tags" Target="../tags/tag75.xml"/><Relationship Id="rId4" Type="http://schemas.openxmlformats.org/officeDocument/2006/relationships/tags" Target="../tags/tag69.xml"/><Relationship Id="rId9" Type="http://schemas.openxmlformats.org/officeDocument/2006/relationships/tags" Target="../tags/tag74.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5" Type="http://schemas.openxmlformats.org/officeDocument/2006/relationships/tags" Target="../tags/tag81.xml"/><Relationship Id="rId10" Type="http://schemas.openxmlformats.org/officeDocument/2006/relationships/tags" Target="../tags/tag86.xml"/><Relationship Id="rId4" Type="http://schemas.openxmlformats.org/officeDocument/2006/relationships/tags" Target="../tags/tag80.xml"/><Relationship Id="rId9" Type="http://schemas.openxmlformats.org/officeDocument/2006/relationships/tags" Target="../tags/tag85.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slideMaster" Target="../slideMasters/slideMaster2.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tags" Target="../tags/tag99.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0" Type="http://schemas.openxmlformats.org/officeDocument/2006/relationships/tags" Target="../tags/tag97.xml"/><Relationship Id="rId4" Type="http://schemas.openxmlformats.org/officeDocument/2006/relationships/tags" Target="../tags/tag91.xml"/><Relationship Id="rId9" Type="http://schemas.openxmlformats.org/officeDocument/2006/relationships/tags" Target="../tags/tag96.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slideMaster" Target="../slideMasters/slideMaster2.xml"/><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tags" Target="../tags/tag111.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5" Type="http://schemas.openxmlformats.org/officeDocument/2006/relationships/tags" Target="../tags/tag104.xml"/><Relationship Id="rId10" Type="http://schemas.openxmlformats.org/officeDocument/2006/relationships/tags" Target="../tags/tag109.xml"/><Relationship Id="rId4" Type="http://schemas.openxmlformats.org/officeDocument/2006/relationships/tags" Target="../tags/tag103.xml"/><Relationship Id="rId9" Type="http://schemas.openxmlformats.org/officeDocument/2006/relationships/tags" Target="../tags/tag108.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slideMaster" Target="../slideMasters/slideMaster2.xml"/><Relationship Id="rId4" Type="http://schemas.openxmlformats.org/officeDocument/2006/relationships/tags" Target="../tags/tag115.xml"/><Relationship Id="rId9" Type="http://schemas.openxmlformats.org/officeDocument/2006/relationships/tags" Target="../tags/tag120.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2.xml"/><Relationship Id="rId1" Type="http://schemas.openxmlformats.org/officeDocument/2006/relationships/tags" Target="../tags/tag121.xml"/></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4.xml"/><Relationship Id="rId1" Type="http://schemas.openxmlformats.org/officeDocument/2006/relationships/tags" Target="../tags/tag123.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5" Type="http://schemas.openxmlformats.org/officeDocument/2006/relationships/tags" Target="../tags/tag129.xml"/><Relationship Id="rId10" Type="http://schemas.openxmlformats.org/officeDocument/2006/relationships/slideMaster" Target="../slideMasters/slideMaster2.xml"/><Relationship Id="rId4" Type="http://schemas.openxmlformats.org/officeDocument/2006/relationships/tags" Target="../tags/tag128.xml"/><Relationship Id="rId9" Type="http://schemas.openxmlformats.org/officeDocument/2006/relationships/tags" Target="../tags/tag133.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136.xml"/><Relationship Id="rId7" Type="http://schemas.openxmlformats.org/officeDocument/2006/relationships/slideMaster" Target="../slideMasters/slideMaster2.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147.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slideMaster" Target="../slideMasters/slideMaster2.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s>
</file>

<file path=ppt/slideLayouts/_rels/slideLayout39.xml.rels><?xml version="1.0" encoding="UTF-8" standalone="yes"?>
<Relationships xmlns="http://schemas.openxmlformats.org/package/2006/relationships"><Relationship Id="rId8" Type="http://schemas.openxmlformats.org/officeDocument/2006/relationships/tags" Target="../tags/tag158.xml"/><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slideMaster" Target="../slideMasters/slideMaster2.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tags" Target="../tags/tag161.xml"/><Relationship Id="rId5" Type="http://schemas.openxmlformats.org/officeDocument/2006/relationships/tags" Target="../tags/tag155.xml"/><Relationship Id="rId10" Type="http://schemas.openxmlformats.org/officeDocument/2006/relationships/tags" Target="../tags/tag160.xml"/><Relationship Id="rId4" Type="http://schemas.openxmlformats.org/officeDocument/2006/relationships/tags" Target="../tags/tag154.xml"/><Relationship Id="rId9" Type="http://schemas.openxmlformats.org/officeDocument/2006/relationships/tags" Target="../tags/tag159.xml"/></Relationships>
</file>

<file path=ppt/slideLayouts/_rels/slideLayout40.xml.rels><?xml version="1.0" encoding="UTF-8" standalone="yes"?>
<Relationships xmlns="http://schemas.openxmlformats.org/package/2006/relationships"><Relationship Id="rId8" Type="http://schemas.openxmlformats.org/officeDocument/2006/relationships/tags" Target="../tags/tag169.xml"/><Relationship Id="rId3" Type="http://schemas.openxmlformats.org/officeDocument/2006/relationships/tags" Target="../tags/tag164.xml"/><Relationship Id="rId7" Type="http://schemas.openxmlformats.org/officeDocument/2006/relationships/tags" Target="../tags/tag168.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9"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177.xml"/><Relationship Id="rId3" Type="http://schemas.openxmlformats.org/officeDocument/2006/relationships/tags" Target="../tags/tag172.xml"/><Relationship Id="rId7" Type="http://schemas.openxmlformats.org/officeDocument/2006/relationships/tags" Target="../tags/tag176.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9"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185.xml"/><Relationship Id="rId3" Type="http://schemas.openxmlformats.org/officeDocument/2006/relationships/tags" Target="../tags/tag180.xml"/><Relationship Id="rId7" Type="http://schemas.openxmlformats.org/officeDocument/2006/relationships/tags" Target="../tags/tag184.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9"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193.xml"/><Relationship Id="rId3" Type="http://schemas.openxmlformats.org/officeDocument/2006/relationships/tags" Target="../tags/tag188.xml"/><Relationship Id="rId7" Type="http://schemas.openxmlformats.org/officeDocument/2006/relationships/tags" Target="../tags/tag192.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9"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Slide">
    <p:spTree>
      <p:nvGrpSpPr>
        <p:cNvPr id="1" name=""/>
        <p:cNvGrpSpPr/>
        <p:nvPr/>
      </p:nvGrpSpPr>
      <p:grpSpPr>
        <a:xfrm>
          <a:off x="0" y="0"/>
          <a:ext cx="0" cy="0"/>
          <a:chOff x="0" y="0"/>
          <a:chExt cx="0" cy="0"/>
        </a:xfrm>
      </p:grpSpPr>
      <p:grpSp>
        <p:nvGrpSpPr>
          <p:cNvPr id="19" name="Group 18"/>
          <p:cNvGrpSpPr/>
          <p:nvPr userDrawn="1"/>
        </p:nvGrpSpPr>
        <p:grpSpPr bwMode="gray">
          <a:xfrm>
            <a:off x="1752601" y="3"/>
            <a:ext cx="7391400" cy="6176009"/>
            <a:chOff x="19140488" y="13674"/>
            <a:chExt cx="7443798" cy="6145827"/>
          </a:xfrm>
        </p:grpSpPr>
        <p:sp>
          <p:nvSpPr>
            <p:cNvPr id="23" name="Rectangle 17"/>
            <p:cNvSpPr>
              <a:spLocks noChangeArrowheads="1"/>
            </p:cNvSpPr>
            <p:nvPr/>
          </p:nvSpPr>
          <p:spPr bwMode="gray">
            <a:xfrm>
              <a:off x="19140488" y="4188799"/>
              <a:ext cx="2302206" cy="1970702"/>
            </a:xfrm>
            <a:prstGeom prst="rect">
              <a:avLst/>
            </a:prstGeom>
            <a:solidFill>
              <a:srgbClr val="9A170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24" name="Rectangle 7"/>
            <p:cNvSpPr>
              <a:spLocks noChangeArrowheads="1"/>
            </p:cNvSpPr>
            <p:nvPr/>
          </p:nvSpPr>
          <p:spPr bwMode="gray">
            <a:xfrm>
              <a:off x="25663403" y="4032250"/>
              <a:ext cx="920883" cy="2127250"/>
            </a:xfrm>
            <a:prstGeom prst="rect">
              <a:avLst/>
            </a:prstGeom>
            <a:solidFill>
              <a:srgbClr val="F3BE2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28" name="Rectangle 8"/>
            <p:cNvSpPr>
              <a:spLocks noChangeArrowheads="1"/>
            </p:cNvSpPr>
            <p:nvPr/>
          </p:nvSpPr>
          <p:spPr bwMode="gray">
            <a:xfrm>
              <a:off x="25049482" y="2899477"/>
              <a:ext cx="734694" cy="1289321"/>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3" name="Rectangle 9"/>
            <p:cNvSpPr>
              <a:spLocks noChangeArrowheads="1"/>
            </p:cNvSpPr>
            <p:nvPr/>
          </p:nvSpPr>
          <p:spPr bwMode="gray">
            <a:xfrm>
              <a:off x="25049482" y="4032250"/>
              <a:ext cx="734693" cy="212725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4" name="Rectangle 11"/>
            <p:cNvSpPr>
              <a:spLocks noChangeArrowheads="1"/>
            </p:cNvSpPr>
            <p:nvPr/>
          </p:nvSpPr>
          <p:spPr bwMode="gray">
            <a:xfrm>
              <a:off x="24665780" y="706365"/>
              <a:ext cx="477045" cy="2263848"/>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5" name="Rectangle 12"/>
            <p:cNvSpPr>
              <a:spLocks noChangeArrowheads="1"/>
            </p:cNvSpPr>
            <p:nvPr/>
          </p:nvSpPr>
          <p:spPr bwMode="gray">
            <a:xfrm>
              <a:off x="24665780" y="2899478"/>
              <a:ext cx="477045" cy="1289321"/>
            </a:xfrm>
            <a:prstGeom prst="rect">
              <a:avLst/>
            </a:prstGeom>
            <a:solidFill>
              <a:srgbClr val="DB4D5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6" name="Rectangle 13"/>
            <p:cNvSpPr>
              <a:spLocks noChangeArrowheads="1"/>
            </p:cNvSpPr>
            <p:nvPr/>
          </p:nvSpPr>
          <p:spPr bwMode="gray">
            <a:xfrm>
              <a:off x="24665780" y="4032250"/>
              <a:ext cx="477045" cy="2127250"/>
            </a:xfrm>
            <a:prstGeom prst="rect">
              <a:avLst/>
            </a:prstGeom>
            <a:solidFill>
              <a:srgbClr val="D13A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7" name="Rectangle 14"/>
            <p:cNvSpPr>
              <a:spLocks noChangeArrowheads="1"/>
            </p:cNvSpPr>
            <p:nvPr/>
          </p:nvSpPr>
          <p:spPr bwMode="gray">
            <a:xfrm>
              <a:off x="19140488" y="669925"/>
              <a:ext cx="5662612" cy="2300288"/>
            </a:xfrm>
            <a:prstGeom prst="rect">
              <a:avLst/>
            </a:prstGeom>
            <a:solidFill>
              <a:srgbClr val="D74021"/>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8" name="Rectangle 15"/>
            <p:cNvSpPr>
              <a:spLocks noChangeArrowheads="1"/>
            </p:cNvSpPr>
            <p:nvPr/>
          </p:nvSpPr>
          <p:spPr bwMode="gray">
            <a:xfrm>
              <a:off x="19140488" y="2899478"/>
              <a:ext cx="5662612" cy="1289321"/>
            </a:xfrm>
            <a:prstGeom prst="rect">
              <a:avLst/>
            </a:prstGeom>
            <a:solidFill>
              <a:srgbClr val="CD2F1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9" name="Freeform 16"/>
            <p:cNvSpPr>
              <a:spLocks/>
            </p:cNvSpPr>
            <p:nvPr/>
          </p:nvSpPr>
          <p:spPr bwMode="gray">
            <a:xfrm>
              <a:off x="19140488" y="4032250"/>
              <a:ext cx="5662612" cy="2127250"/>
            </a:xfrm>
            <a:custGeom>
              <a:avLst/>
              <a:gdLst/>
              <a:ahLst/>
              <a:cxnLst>
                <a:cxn ang="0">
                  <a:pos x="0" y="0"/>
                </a:cxn>
                <a:cxn ang="0">
                  <a:pos x="3567" y="0"/>
                </a:cxn>
                <a:cxn ang="0">
                  <a:pos x="3567" y="1340"/>
                </a:cxn>
                <a:cxn ang="0">
                  <a:pos x="1372" y="1340"/>
                </a:cxn>
                <a:cxn ang="0">
                  <a:pos x="1372" y="181"/>
                </a:cxn>
                <a:cxn ang="0">
                  <a:pos x="0" y="181"/>
                </a:cxn>
                <a:cxn ang="0">
                  <a:pos x="0" y="0"/>
                </a:cxn>
              </a:cxnLst>
              <a:rect l="0" t="0" r="r" b="b"/>
              <a:pathLst>
                <a:path w="3567" h="1340">
                  <a:moveTo>
                    <a:pt x="0" y="0"/>
                  </a:moveTo>
                  <a:lnTo>
                    <a:pt x="3567" y="0"/>
                  </a:lnTo>
                  <a:lnTo>
                    <a:pt x="3567" y="1340"/>
                  </a:lnTo>
                  <a:lnTo>
                    <a:pt x="1372" y="1340"/>
                  </a:lnTo>
                  <a:lnTo>
                    <a:pt x="1372" y="181"/>
                  </a:lnTo>
                  <a:lnTo>
                    <a:pt x="0" y="181"/>
                  </a:lnTo>
                  <a:lnTo>
                    <a:pt x="0" y="0"/>
                  </a:lnTo>
                  <a:close/>
                </a:path>
              </a:pathLst>
            </a:custGeom>
            <a:solidFill>
              <a:srgbClr val="C4230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a:p>
          </p:txBody>
        </p:sp>
        <p:sp>
          <p:nvSpPr>
            <p:cNvPr id="40" name="Rectangle 10"/>
            <p:cNvSpPr>
              <a:spLocks noChangeArrowheads="1"/>
            </p:cNvSpPr>
            <p:nvPr/>
          </p:nvSpPr>
          <p:spPr bwMode="gray">
            <a:xfrm>
              <a:off x="19140488" y="13674"/>
              <a:ext cx="5662612" cy="692692"/>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grpSp>
      <p:sp>
        <p:nvSpPr>
          <p:cNvPr id="15" name="Title 1"/>
          <p:cNvSpPr>
            <a:spLocks noGrp="1"/>
          </p:cNvSpPr>
          <p:nvPr>
            <p:ph type="ctrTitle" hasCustomPrompt="1"/>
          </p:nvPr>
        </p:nvSpPr>
        <p:spPr bwMode="white">
          <a:xfrm>
            <a:off x="1895476" y="838200"/>
            <a:ext cx="5343525" cy="914400"/>
          </a:xfrm>
        </p:spPr>
        <p:txBody>
          <a:bodyPr anchor="t" anchorCtr="0">
            <a:noAutofit/>
          </a:bodyPr>
          <a:lstStyle>
            <a:lvl1pPr>
              <a:lnSpc>
                <a:spcPct val="90000"/>
              </a:lnSpc>
              <a:defRPr sz="3200" b="1" i="1" baseline="0">
                <a:solidFill>
                  <a:schemeClr val="bg1"/>
                </a:solidFill>
              </a:defRPr>
            </a:lvl1pPr>
          </a:lstStyle>
          <a:p>
            <a:r>
              <a:rPr lang="en-US" noProof="0" dirty="0"/>
              <a:t>Click to add the presentation’s main title</a:t>
            </a:r>
          </a:p>
        </p:txBody>
      </p:sp>
      <p:sp>
        <p:nvSpPr>
          <p:cNvPr id="18" name="Subtitle 2"/>
          <p:cNvSpPr>
            <a:spLocks noGrp="1"/>
          </p:cNvSpPr>
          <p:nvPr>
            <p:ph type="subTitle" idx="1" hasCustomPrompt="1"/>
          </p:nvPr>
        </p:nvSpPr>
        <p:spPr bwMode="white">
          <a:xfrm>
            <a:off x="1895476" y="1828801"/>
            <a:ext cx="5343525" cy="914401"/>
          </a:xfrm>
        </p:spPr>
        <p:txBody>
          <a:bodyPr>
            <a:noAutofit/>
          </a:bodyPr>
          <a:lstStyle>
            <a:lvl1pPr marL="0" indent="0" algn="l">
              <a:lnSpc>
                <a:spcPct val="90000"/>
              </a:lnSpc>
              <a:spcAft>
                <a:spcPts val="0"/>
              </a:spcAft>
              <a:buNone/>
              <a:defRPr sz="3200" baseline="0">
                <a:solidFill>
                  <a:schemeClr val="bg1"/>
                </a:solidFill>
                <a:latin typeface="+mj-lt"/>
              </a:defRPr>
            </a:lvl1pPr>
            <a:lvl2pPr marL="0" indent="0" algn="l">
              <a:buNone/>
              <a:defRPr sz="1800">
                <a:solidFill>
                  <a:schemeClr val="bg1"/>
                </a:solidFill>
                <a:latin typeface="+mj-lt"/>
              </a:defRPr>
            </a:lvl2pPr>
            <a:lvl3pPr marL="457200" indent="0" algn="l">
              <a:buNone/>
              <a:defRPr sz="1800">
                <a:solidFill>
                  <a:schemeClr val="bg1"/>
                </a:solidFill>
                <a:latin typeface="+mj-lt"/>
              </a:defRPr>
            </a:lvl3pPr>
            <a:lvl4pPr marL="914400" indent="0" algn="l">
              <a:buNone/>
              <a:defRPr sz="1800">
                <a:solidFill>
                  <a:schemeClr val="bg1"/>
                </a:solidFill>
                <a:latin typeface="+mj-lt"/>
              </a:defRPr>
            </a:lvl4pPr>
            <a:lvl5pPr marL="1371600" indent="0" algn="l">
              <a:buNone/>
              <a:defRPr sz="1800">
                <a:solidFill>
                  <a:schemeClr val="bg1"/>
                </a:solidFill>
                <a:latin typeface="+mj-lt"/>
              </a:defRPr>
            </a:lvl5pPr>
            <a:lvl6pPr marL="1828800" indent="0" algn="l">
              <a:buNone/>
              <a:defRPr sz="1800">
                <a:solidFill>
                  <a:schemeClr val="bg1"/>
                </a:solidFill>
                <a:latin typeface="+mj-lt"/>
              </a:defRPr>
            </a:lvl6pPr>
            <a:lvl7pPr marL="2286000" indent="0" algn="l">
              <a:buNone/>
              <a:defRPr sz="1800">
                <a:solidFill>
                  <a:schemeClr val="bg1"/>
                </a:solidFill>
                <a:latin typeface="+mj-lt"/>
              </a:defRPr>
            </a:lvl7pPr>
            <a:lvl8pPr marL="2743200" indent="0" algn="l">
              <a:buNone/>
              <a:defRPr sz="1800">
                <a:solidFill>
                  <a:schemeClr val="bg1"/>
                </a:solidFill>
                <a:latin typeface="+mj-lt"/>
              </a:defRPr>
            </a:lvl8pPr>
            <a:lvl9pPr marL="3200400" indent="0" algn="l">
              <a:buNone/>
              <a:defRPr sz="1800">
                <a:solidFill>
                  <a:schemeClr val="bg1"/>
                </a:solidFill>
                <a:latin typeface="+mj-lt"/>
              </a:defRPr>
            </a:lvl9pPr>
          </a:lstStyle>
          <a:p>
            <a:r>
              <a:rPr lang="en-US" noProof="0" dirty="0"/>
              <a:t>Subtitle and date (move higher if title is only one line)</a:t>
            </a:r>
          </a:p>
        </p:txBody>
      </p:sp>
      <p:sp>
        <p:nvSpPr>
          <p:cNvPr id="21" name="Text Placeholder 31"/>
          <p:cNvSpPr>
            <a:spLocks noGrp="1"/>
          </p:cNvSpPr>
          <p:nvPr>
            <p:ph type="body" sz="quarter" idx="10" hasCustomPrompt="1"/>
          </p:nvPr>
        </p:nvSpPr>
        <p:spPr bwMode="white">
          <a:xfrm>
            <a:off x="1895475" y="374904"/>
            <a:ext cx="4105656" cy="146304"/>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US" noProof="0" dirty="0"/>
              <a:t>www.pwc.com</a:t>
            </a:r>
          </a:p>
        </p:txBody>
      </p:sp>
      <p:grpSp>
        <p:nvGrpSpPr>
          <p:cNvPr id="16" name="Group 32"/>
          <p:cNvGrpSpPr/>
          <p:nvPr userDrawn="1"/>
        </p:nvGrpSpPr>
        <p:grpSpPr>
          <a:xfrm>
            <a:off x="968592" y="6170993"/>
            <a:ext cx="914400" cy="533479"/>
            <a:chOff x="518032" y="978681"/>
            <a:chExt cx="4572000" cy="2667393"/>
          </a:xfrm>
        </p:grpSpPr>
        <p:sp>
          <p:nvSpPr>
            <p:cNvPr id="17" name="Rectangle 37"/>
            <p:cNvSpPr>
              <a:spLocks noChangeArrowheads="1"/>
            </p:cNvSpPr>
            <p:nvPr userDrawn="1"/>
          </p:nvSpPr>
          <p:spPr bwMode="black">
            <a:xfrm>
              <a:off x="3295650" y="978681"/>
              <a:ext cx="1143000" cy="263229"/>
            </a:xfrm>
            <a:prstGeom prst="rect">
              <a:avLst/>
            </a:prstGeom>
            <a:solidFill>
              <a:srgbClr val="A10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20" name="Freeform 7"/>
            <p:cNvSpPr>
              <a:spLocks noEditPoints="1"/>
            </p:cNvSpPr>
            <p:nvPr userDrawn="1"/>
          </p:nvSpPr>
          <p:spPr bwMode="black">
            <a:xfrm>
              <a:off x="518032" y="1922794"/>
              <a:ext cx="4572000" cy="172328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noProof="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One">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lvl1pPr>
              <a:defRPr/>
            </a:lvl1pPr>
          </a:lstStyle>
          <a:p>
            <a:r>
              <a:rPr lang="en-US" noProof="0" dirty="0"/>
              <a:t>Click to edit Master title style</a:t>
            </a:r>
          </a:p>
        </p:txBody>
      </p:sp>
      <p:sp>
        <p:nvSpPr>
          <p:cNvPr id="31" name="Content Placeholder 26"/>
          <p:cNvSpPr>
            <a:spLocks noGrp="1"/>
          </p:cNvSpPr>
          <p:nvPr>
            <p:ph sz="quarter" idx="15"/>
          </p:nvPr>
        </p:nvSpPr>
        <p:spPr>
          <a:xfrm>
            <a:off x="533400" y="1752600"/>
            <a:ext cx="8077200" cy="4419600"/>
          </a:xfrm>
        </p:spPr>
        <p:txBody>
          <a:bodyPr/>
          <a:lstStyle>
            <a:lvl1pPr>
              <a:defRPr baseline="0"/>
            </a:lvl1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7"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sp>
        <p:nvSpPr>
          <p:cNvPr id="32" name="PwCFirm"/>
          <p:cNvSpPr txBox="1"/>
          <p:nvPr/>
        </p:nvSpPr>
        <p:spPr>
          <a:xfrm>
            <a:off x="533400" y="6477002"/>
            <a:ext cx="2590800" cy="152401"/>
          </a:xfrm>
          <a:prstGeom prst="rect">
            <a:avLst/>
          </a:prstGeom>
          <a:noFill/>
        </p:spPr>
        <p:txBody>
          <a:bodyPr vert="horz" wrap="square" lIns="0" tIns="0" rIns="0" bIns="0" rtlCol="0" anchor="t" anchorCtr="0">
            <a:noAutofit/>
          </a:bodyPr>
          <a:lstStyle/>
          <a:p>
            <a:endParaRPr lang="en-US" sz="1000" noProof="0" dirty="0">
              <a:latin typeface="Arial" pitchFamily="34" charset="0"/>
              <a:cs typeface="Arial" pitchFamily="34" charset="0"/>
            </a:endParaRPr>
          </a:p>
        </p:txBody>
      </p:sp>
      <p:cxnSp>
        <p:nvCxnSpPr>
          <p:cNvPr id="15" name="Shape 14"/>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ntent: Two">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p>
            <a:r>
              <a:rPr lang="en-US" noProof="0" dirty="0"/>
              <a:t>Click to edit Master title style</a:t>
            </a:r>
          </a:p>
        </p:txBody>
      </p:sp>
      <p:sp>
        <p:nvSpPr>
          <p:cNvPr id="28" name="Content Placeholder 26"/>
          <p:cNvSpPr>
            <a:spLocks noGrp="1"/>
          </p:cNvSpPr>
          <p:nvPr>
            <p:ph sz="quarter" idx="14"/>
          </p:nvPr>
        </p:nvSpPr>
        <p:spPr>
          <a:xfrm>
            <a:off x="533400" y="1752603"/>
            <a:ext cx="3962400" cy="4419599"/>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Content Placeholder 26"/>
          <p:cNvSpPr>
            <a:spLocks noGrp="1"/>
          </p:cNvSpPr>
          <p:nvPr>
            <p:ph sz="quarter" idx="15"/>
          </p:nvPr>
        </p:nvSpPr>
        <p:spPr>
          <a:xfrm>
            <a:off x="4648202" y="1752600"/>
            <a:ext cx="3962399" cy="441960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2"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cxnSp>
        <p:nvCxnSpPr>
          <p:cNvPr id="62" name="Shape 61"/>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1"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ontent: Three">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1"/>
            <a:ext cx="8077200" cy="914400"/>
          </a:xfrm>
        </p:spPr>
        <p:txBody>
          <a:bodyPr/>
          <a:lstStyle/>
          <a:p>
            <a:r>
              <a:rPr lang="en-US" noProof="0" dirty="0"/>
              <a:t>Click to edit Master title style</a:t>
            </a:r>
          </a:p>
        </p:txBody>
      </p:sp>
      <p:sp>
        <p:nvSpPr>
          <p:cNvPr id="27" name="Content Placeholder 26"/>
          <p:cNvSpPr>
            <a:spLocks noGrp="1"/>
          </p:cNvSpPr>
          <p:nvPr>
            <p:ph sz="quarter" idx="13"/>
          </p:nvPr>
        </p:nvSpPr>
        <p:spPr>
          <a:xfrm>
            <a:off x="533400" y="1752603"/>
            <a:ext cx="2590800" cy="4419599"/>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8" name="Content Placeholder 26"/>
          <p:cNvSpPr>
            <a:spLocks noGrp="1"/>
          </p:cNvSpPr>
          <p:nvPr>
            <p:ph sz="quarter" idx="14"/>
          </p:nvPr>
        </p:nvSpPr>
        <p:spPr>
          <a:xfrm>
            <a:off x="3276602" y="1752603"/>
            <a:ext cx="2590799" cy="4419599"/>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Content Placeholder 26"/>
          <p:cNvSpPr>
            <a:spLocks noGrp="1"/>
          </p:cNvSpPr>
          <p:nvPr>
            <p:ph sz="quarter" idx="15"/>
          </p:nvPr>
        </p:nvSpPr>
        <p:spPr>
          <a:xfrm>
            <a:off x="6019800" y="1752603"/>
            <a:ext cx="2590800" cy="4419599"/>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6"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cxnSp>
        <p:nvCxnSpPr>
          <p:cNvPr id="19" name="Shape 18"/>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2"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13"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ntent: Two und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p>
            <a:r>
              <a:rPr lang="en-US" noProof="0" dirty="0"/>
              <a:t>Click to edit Master title style</a:t>
            </a:r>
          </a:p>
        </p:txBody>
      </p:sp>
      <p:sp>
        <p:nvSpPr>
          <p:cNvPr id="28" name="Content Placeholder 26"/>
          <p:cNvSpPr>
            <a:spLocks noGrp="1"/>
          </p:cNvSpPr>
          <p:nvPr>
            <p:ph sz="quarter" idx="14"/>
          </p:nvPr>
        </p:nvSpPr>
        <p:spPr>
          <a:xfrm>
            <a:off x="533400" y="3352800"/>
            <a:ext cx="3962400" cy="281940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Content Placeholder 26"/>
          <p:cNvSpPr>
            <a:spLocks noGrp="1"/>
          </p:cNvSpPr>
          <p:nvPr>
            <p:ph sz="quarter" idx="15"/>
          </p:nvPr>
        </p:nvSpPr>
        <p:spPr>
          <a:xfrm>
            <a:off x="4648200" y="3352800"/>
            <a:ext cx="3962401" cy="281940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2"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sp>
        <p:nvSpPr>
          <p:cNvPr id="13" name="Text Placeholder 12"/>
          <p:cNvSpPr>
            <a:spLocks noGrp="1"/>
          </p:cNvSpPr>
          <p:nvPr>
            <p:ph type="body" sz="quarter" idx="16"/>
          </p:nvPr>
        </p:nvSpPr>
        <p:spPr>
          <a:xfrm>
            <a:off x="533400" y="1752600"/>
            <a:ext cx="8077200" cy="1447800"/>
          </a:xfrm>
        </p:spPr>
        <p:txBody>
          <a:bodyPr/>
          <a:lstStyle/>
          <a:p>
            <a:pPr lvl="0"/>
            <a:r>
              <a:rPr lang="en-US" noProof="0" dirty="0"/>
              <a:t>Edit Master text styles</a:t>
            </a:r>
          </a:p>
        </p:txBody>
      </p:sp>
      <p:cxnSp>
        <p:nvCxnSpPr>
          <p:cNvPr id="14" name="Shape 13"/>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2"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15"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ontent: Two and Left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p>
            <a:r>
              <a:rPr lang="en-US" noProof="0" dirty="0"/>
              <a:t>Click to edit Master title style</a:t>
            </a:r>
          </a:p>
        </p:txBody>
      </p:sp>
      <p:sp>
        <p:nvSpPr>
          <p:cNvPr id="28" name="Content Placeholder 26"/>
          <p:cNvSpPr>
            <a:spLocks noGrp="1"/>
          </p:cNvSpPr>
          <p:nvPr>
            <p:ph sz="quarter" idx="14"/>
          </p:nvPr>
        </p:nvSpPr>
        <p:spPr>
          <a:xfrm>
            <a:off x="6019800" y="1752600"/>
            <a:ext cx="2590800" cy="2133600"/>
          </a:xfrm>
        </p:spPr>
        <p:txBody>
          <a:bodyPr/>
          <a:lstStyle/>
          <a:p>
            <a:pPr lvl="0"/>
            <a:r>
              <a:rPr lang="en-US" noProof="0" dirty="0"/>
              <a:t>Edit Master text styles</a:t>
            </a:r>
          </a:p>
        </p:txBody>
      </p:sp>
      <p:sp>
        <p:nvSpPr>
          <p:cNvPr id="31" name="Content Placeholder 26"/>
          <p:cNvSpPr>
            <a:spLocks noGrp="1"/>
          </p:cNvSpPr>
          <p:nvPr>
            <p:ph sz="quarter" idx="15"/>
          </p:nvPr>
        </p:nvSpPr>
        <p:spPr>
          <a:xfrm>
            <a:off x="6019800" y="4038600"/>
            <a:ext cx="2590800" cy="2133600"/>
          </a:xfrm>
        </p:spPr>
        <p:txBody>
          <a:bodyPr/>
          <a:lstStyle/>
          <a:p>
            <a:pPr lvl="0"/>
            <a:r>
              <a:rPr lang="en-US" noProof="0" dirty="0"/>
              <a:t>Edit Master text styles</a:t>
            </a:r>
          </a:p>
        </p:txBody>
      </p:sp>
      <p:sp>
        <p:nvSpPr>
          <p:cNvPr id="13" name="Text Placeholder 12"/>
          <p:cNvSpPr>
            <a:spLocks noGrp="1"/>
          </p:cNvSpPr>
          <p:nvPr>
            <p:ph type="body" sz="quarter" idx="16"/>
          </p:nvPr>
        </p:nvSpPr>
        <p:spPr>
          <a:xfrm>
            <a:off x="533400" y="1752600"/>
            <a:ext cx="5334000" cy="4419600"/>
          </a:xfrm>
        </p:spPr>
        <p:txBody>
          <a:bodyPr/>
          <a:lstStyle/>
          <a:p>
            <a:pPr lvl="0"/>
            <a:r>
              <a:rPr lang="en-US" noProof="0" dirty="0"/>
              <a:t>Edit Master text styles</a:t>
            </a:r>
          </a:p>
        </p:txBody>
      </p:sp>
      <p:sp>
        <p:nvSpPr>
          <p:cNvPr id="19"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cxnSp>
        <p:nvCxnSpPr>
          <p:cNvPr id="14" name="Shape 13"/>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2"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15"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ntent: Two and Right Text">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533400" y="1752600"/>
            <a:ext cx="2590800" cy="2133600"/>
          </a:xfrm>
        </p:spPr>
        <p:txBody>
          <a:bodyPr/>
          <a:lstStyle/>
          <a:p>
            <a:pPr lvl="0"/>
            <a:r>
              <a:rPr lang="en-US" noProof="0" dirty="0"/>
              <a:t>Edit Master text styles</a:t>
            </a:r>
          </a:p>
        </p:txBody>
      </p:sp>
      <p:sp>
        <p:nvSpPr>
          <p:cNvPr id="2" name="Title 1"/>
          <p:cNvSpPr>
            <a:spLocks noGrp="1"/>
          </p:cNvSpPr>
          <p:nvPr>
            <p:ph type="title"/>
          </p:nvPr>
        </p:nvSpPr>
        <p:spPr>
          <a:xfrm>
            <a:off x="533400" y="685800"/>
            <a:ext cx="8077200" cy="914400"/>
          </a:xfrm>
        </p:spPr>
        <p:txBody>
          <a:bodyPr/>
          <a:lstStyle/>
          <a:p>
            <a:r>
              <a:rPr lang="en-US" noProof="0" dirty="0"/>
              <a:t>Click to edit Master title style</a:t>
            </a:r>
          </a:p>
        </p:txBody>
      </p:sp>
      <p:sp>
        <p:nvSpPr>
          <p:cNvPr id="31" name="Content Placeholder 26"/>
          <p:cNvSpPr>
            <a:spLocks noGrp="1"/>
          </p:cNvSpPr>
          <p:nvPr>
            <p:ph sz="quarter" idx="15"/>
          </p:nvPr>
        </p:nvSpPr>
        <p:spPr>
          <a:xfrm>
            <a:off x="533400" y="4038600"/>
            <a:ext cx="2590800" cy="2133600"/>
          </a:xfrm>
        </p:spPr>
        <p:txBody>
          <a:bodyPr/>
          <a:lstStyle/>
          <a:p>
            <a:pPr lvl="0"/>
            <a:r>
              <a:rPr lang="en-US" noProof="0" dirty="0"/>
              <a:t>Edit Master text styles</a:t>
            </a:r>
          </a:p>
        </p:txBody>
      </p:sp>
      <p:sp>
        <p:nvSpPr>
          <p:cNvPr id="13" name="Text Placeholder 12"/>
          <p:cNvSpPr>
            <a:spLocks noGrp="1"/>
          </p:cNvSpPr>
          <p:nvPr>
            <p:ph type="body" sz="quarter" idx="16"/>
          </p:nvPr>
        </p:nvSpPr>
        <p:spPr>
          <a:xfrm>
            <a:off x="3276600" y="1752600"/>
            <a:ext cx="5334000" cy="4419600"/>
          </a:xfrm>
        </p:spPr>
        <p:txBody>
          <a:bodyPr/>
          <a:lstStyle/>
          <a:p>
            <a:pPr lvl="0"/>
            <a:r>
              <a:rPr lang="en-US" noProof="0" dirty="0"/>
              <a:t>Edit Master text styles</a:t>
            </a:r>
          </a:p>
        </p:txBody>
      </p:sp>
      <p:sp>
        <p:nvSpPr>
          <p:cNvPr id="19"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cxnSp>
        <p:nvCxnSpPr>
          <p:cNvPr id="14" name="Shape 13"/>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2"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15"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One with Impact">
    <p:spTree>
      <p:nvGrpSpPr>
        <p:cNvPr id="1" name=""/>
        <p:cNvGrpSpPr/>
        <p:nvPr/>
      </p:nvGrpSpPr>
      <p:grpSpPr>
        <a:xfrm>
          <a:off x="0" y="0"/>
          <a:ext cx="0" cy="0"/>
          <a:chOff x="0" y="0"/>
          <a:chExt cx="0" cy="0"/>
        </a:xfrm>
      </p:grpSpPr>
      <p:sp>
        <p:nvSpPr>
          <p:cNvPr id="2" name="Title 1"/>
          <p:cNvSpPr>
            <a:spLocks noGrp="1"/>
          </p:cNvSpPr>
          <p:nvPr>
            <p:ph type="title"/>
          </p:nvPr>
        </p:nvSpPr>
        <p:spPr>
          <a:xfrm>
            <a:off x="3276600" y="685800"/>
            <a:ext cx="5334000" cy="914400"/>
          </a:xfrm>
        </p:spPr>
        <p:txBody>
          <a:bodyPr/>
          <a:lstStyle>
            <a:lvl1pPr>
              <a:defRPr/>
            </a:lvl1pPr>
          </a:lstStyle>
          <a:p>
            <a:r>
              <a:rPr lang="en-US" noProof="1"/>
              <a:t>Click to edit Master title style</a:t>
            </a:r>
          </a:p>
        </p:txBody>
      </p:sp>
      <p:sp>
        <p:nvSpPr>
          <p:cNvPr id="31" name="Content Placeholder 26"/>
          <p:cNvSpPr>
            <a:spLocks noGrp="1"/>
          </p:cNvSpPr>
          <p:nvPr>
            <p:ph sz="quarter" idx="15"/>
          </p:nvPr>
        </p:nvSpPr>
        <p:spPr>
          <a:xfrm>
            <a:off x="3276600" y="1752600"/>
            <a:ext cx="5334000" cy="4419600"/>
          </a:xfrm>
        </p:spPr>
        <p:txBody>
          <a:bodyPr/>
          <a:lstStyle>
            <a:lvl1pPr>
              <a:defRPr baseline="0"/>
            </a:lvl1p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2" name="Text Placeholder 11"/>
          <p:cNvSpPr>
            <a:spLocks noGrp="1"/>
          </p:cNvSpPr>
          <p:nvPr>
            <p:ph type="body" sz="quarter" idx="16"/>
          </p:nvPr>
        </p:nvSpPr>
        <p:spPr>
          <a:xfrm>
            <a:off x="533400" y="1752600"/>
            <a:ext cx="2590800" cy="2130552"/>
          </a:xfrm>
        </p:spPr>
        <p:txBody>
          <a:bodyPr/>
          <a:lstStyle>
            <a:lvl1pPr>
              <a:defRPr sz="2400" b="1" i="1" baseline="0">
                <a:solidFill>
                  <a:schemeClr val="tx2"/>
                </a:solidFill>
              </a:defRPr>
            </a:lvl1pPr>
          </a:lstStyle>
          <a:p>
            <a:pPr lvl="0"/>
            <a:r>
              <a:rPr lang="en-US" noProof="1"/>
              <a:t>Edit Master text styles</a:t>
            </a:r>
          </a:p>
        </p:txBody>
      </p:sp>
      <p:sp>
        <p:nvSpPr>
          <p:cNvPr id="18"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cxnSp>
        <p:nvCxnSpPr>
          <p:cNvPr id="30" name="Shape 29"/>
          <p:cNvCxnSpPr/>
          <p:nvPr/>
        </p:nvCxnSpPr>
        <p:spPr>
          <a:xfrm rot="5400000" flipH="1" flipV="1">
            <a:off x="5791202" y="-2057400"/>
            <a:ext cx="152399" cy="54864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1"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13"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ver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p>
            <a:r>
              <a:rPr lang="en-US" noProof="0" dirty="0"/>
              <a:t>Click to edit Master title style</a:t>
            </a:r>
          </a:p>
        </p:txBody>
      </p:sp>
      <p:sp>
        <p:nvSpPr>
          <p:cNvPr id="12"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cxnSp>
        <p:nvCxnSpPr>
          <p:cNvPr id="10" name="Shape 9"/>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9"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11"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Empty no Footer">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11"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sp>
        <p:nvSpPr>
          <p:cNvPr id="6"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8"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7"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Key point">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lvl1pPr>
              <a:lnSpc>
                <a:spcPct val="100000"/>
              </a:lnSpc>
              <a:defRPr baseline="0">
                <a:solidFill>
                  <a:schemeClr val="tx1"/>
                </a:solidFill>
              </a:defRPr>
            </a:lvl1pPr>
          </a:lstStyle>
          <a:p>
            <a:r>
              <a:rPr lang="en-US" noProof="0" dirty="0"/>
              <a:t>Click to edit Master title style</a:t>
            </a:r>
          </a:p>
        </p:txBody>
      </p:sp>
      <p:cxnSp>
        <p:nvCxnSpPr>
          <p:cNvPr id="11" name="Shape 10"/>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sp>
        <p:nvSpPr>
          <p:cNvPr id="15" name="Content Placeholder 26"/>
          <p:cNvSpPr>
            <a:spLocks noGrp="1"/>
          </p:cNvSpPr>
          <p:nvPr>
            <p:ph sz="quarter" idx="15"/>
          </p:nvPr>
        </p:nvSpPr>
        <p:spPr>
          <a:xfrm>
            <a:off x="533400" y="1752600"/>
            <a:ext cx="8077200" cy="4419600"/>
          </a:xfrm>
        </p:spPr>
        <p:txBody>
          <a:bodyPr/>
          <a:lstStyle>
            <a:lvl1pPr>
              <a:defRPr sz="3200" baseline="0">
                <a:solidFill>
                  <a:schemeClr val="tx2"/>
                </a:solidFill>
              </a:defRPr>
            </a:lvl1pPr>
            <a:lvl2pPr>
              <a:buClr>
                <a:schemeClr val="tx2"/>
              </a:buClr>
              <a:defRPr sz="3200">
                <a:solidFill>
                  <a:schemeClr val="tx2"/>
                </a:solidFill>
              </a:defRPr>
            </a:lvl2pPr>
            <a:lvl3pPr>
              <a:buClr>
                <a:schemeClr val="tx2"/>
              </a:buClr>
              <a:defRPr sz="3200">
                <a:solidFill>
                  <a:schemeClr val="tx2"/>
                </a:solidFill>
              </a:defRPr>
            </a:lvl3pPr>
            <a:lvl4pPr>
              <a:buClr>
                <a:schemeClr val="tx2"/>
              </a:buClr>
              <a:defRPr sz="3200">
                <a:solidFill>
                  <a:schemeClr val="tx2"/>
                </a:solidFill>
              </a:defRPr>
            </a:lvl4pPr>
            <a:lvl5pPr>
              <a:buClr>
                <a:schemeClr val="tx2"/>
              </a:buClr>
              <a:defRPr sz="3200">
                <a:solidFill>
                  <a:schemeClr val="tx2"/>
                </a:solidFill>
              </a:defRPr>
            </a:lvl5pPr>
            <a:lvl6pPr>
              <a:buClr>
                <a:schemeClr val="tx2"/>
              </a:buClr>
              <a:defRPr sz="3200" baseline="0">
                <a:solidFill>
                  <a:schemeClr val="tx2"/>
                </a:solidFill>
              </a:defRPr>
            </a:lvl6pPr>
            <a:lvl7pPr>
              <a:buClr>
                <a:schemeClr val="tx2"/>
              </a:buClr>
              <a:buAutoNum type="alphaLcPeriod"/>
              <a:defRPr sz="3200" baseline="0">
                <a:solidFill>
                  <a:schemeClr val="tx2"/>
                </a:solidFill>
              </a:defRPr>
            </a:lvl7pPr>
            <a:lvl8pPr>
              <a:buClr>
                <a:schemeClr val="tx2"/>
              </a:buClr>
              <a:buNone/>
              <a:defRPr sz="3200">
                <a:solidFill>
                  <a:schemeClr val="tx2"/>
                </a:solidFill>
              </a:defRPr>
            </a:lvl8pPr>
            <a:lvl9pPr>
              <a:defRPr sz="3200"/>
            </a:lvl9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6"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9"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Key point: Colour">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lvl1pPr>
              <a:lnSpc>
                <a:spcPct val="100000"/>
              </a:lnSpc>
              <a:defRPr baseline="0">
                <a:solidFill>
                  <a:schemeClr val="bg1"/>
                </a:solidFill>
              </a:defRPr>
            </a:lvl1pPr>
          </a:lstStyle>
          <a:p>
            <a:r>
              <a:rPr lang="en-US" noProof="0" dirty="0"/>
              <a:t>Click to edit Master title style</a:t>
            </a:r>
          </a:p>
        </p:txBody>
      </p:sp>
      <p:sp>
        <p:nvSpPr>
          <p:cNvPr id="3" name="Content Placeholder 2"/>
          <p:cNvSpPr>
            <a:spLocks noGrp="1"/>
          </p:cNvSpPr>
          <p:nvPr>
            <p:ph idx="1"/>
          </p:nvPr>
        </p:nvSpPr>
        <p:spPr>
          <a:xfrm>
            <a:off x="533400" y="1752600"/>
            <a:ext cx="8077200" cy="4419600"/>
          </a:xfrm>
        </p:spPr>
        <p:txBody>
          <a:bodyPr>
            <a:noAutofit/>
          </a:bodyPr>
          <a:lstStyle>
            <a:lvl1pPr>
              <a:lnSpc>
                <a:spcPts val="3600"/>
              </a:lnSpc>
              <a:spcBef>
                <a:spcPts val="0"/>
              </a:spcBef>
              <a:spcAft>
                <a:spcPts val="600"/>
              </a:spcAft>
              <a:defRPr sz="3200" baseline="0">
                <a:solidFill>
                  <a:schemeClr val="bg1"/>
                </a:solidFill>
              </a:defRPr>
            </a:lvl1pPr>
            <a:lvl2pPr marL="444500" indent="-263525">
              <a:lnSpc>
                <a:spcPts val="3600"/>
              </a:lnSpc>
              <a:spcBef>
                <a:spcPts val="0"/>
              </a:spcBef>
              <a:spcAft>
                <a:spcPts val="600"/>
              </a:spcAft>
              <a:buClr>
                <a:schemeClr val="bg1"/>
              </a:buClr>
              <a:defRPr sz="3200">
                <a:solidFill>
                  <a:schemeClr val="bg1"/>
                </a:solidFill>
              </a:defRPr>
            </a:lvl2pPr>
            <a:lvl3pPr marL="714375" indent="-266700">
              <a:lnSpc>
                <a:spcPts val="3600"/>
              </a:lnSpc>
              <a:spcBef>
                <a:spcPts val="0"/>
              </a:spcBef>
              <a:spcAft>
                <a:spcPts val="600"/>
              </a:spcAft>
              <a:buClr>
                <a:schemeClr val="bg1"/>
              </a:buClr>
              <a:defRPr sz="3200">
                <a:solidFill>
                  <a:schemeClr val="bg1"/>
                </a:solidFill>
              </a:defRPr>
            </a:lvl3pPr>
            <a:lvl4pPr marL="984250" indent="-266700">
              <a:lnSpc>
                <a:spcPts val="3600"/>
              </a:lnSpc>
              <a:spcBef>
                <a:spcPts val="0"/>
              </a:spcBef>
              <a:spcAft>
                <a:spcPts val="600"/>
              </a:spcAft>
              <a:buClr>
                <a:schemeClr val="bg1"/>
              </a:buClr>
              <a:defRPr sz="3200">
                <a:solidFill>
                  <a:schemeClr val="bg1"/>
                </a:solidFill>
              </a:defRPr>
            </a:lvl4pPr>
            <a:lvl5pPr marL="1341438" indent="-266700">
              <a:lnSpc>
                <a:spcPts val="3600"/>
              </a:lnSpc>
              <a:spcBef>
                <a:spcPts val="0"/>
              </a:spcBef>
              <a:spcAft>
                <a:spcPts val="600"/>
              </a:spcAft>
              <a:buClr>
                <a:schemeClr val="bg1"/>
              </a:buClr>
              <a:defRPr sz="3200">
                <a:solidFill>
                  <a:schemeClr val="bg1"/>
                </a:solidFill>
              </a:defRPr>
            </a:lvl5pPr>
            <a:lvl6pPr marL="1611313" indent="-271463">
              <a:lnSpc>
                <a:spcPts val="3600"/>
              </a:lnSpc>
              <a:spcBef>
                <a:spcPts val="0"/>
              </a:spcBef>
              <a:spcAft>
                <a:spcPts val="60"/>
              </a:spcAft>
              <a:buClr>
                <a:schemeClr val="bg1"/>
              </a:buClr>
              <a:buFont typeface="Arial" pitchFamily="34" charset="0"/>
              <a:buNone/>
              <a:defRPr sz="2800">
                <a:solidFill>
                  <a:schemeClr val="bg1"/>
                </a:solidFill>
              </a:defRPr>
            </a:lvl6pPr>
            <a:lvl7pPr>
              <a:defRPr sz="2800">
                <a:solidFill>
                  <a:schemeClr val="bg1"/>
                </a:solidFill>
              </a:defRPr>
            </a:lvl7pPr>
            <a:lvl8pPr>
              <a:lnSpc>
                <a:spcPts val="3600"/>
              </a:lnSpc>
              <a:defRPr sz="2800">
                <a:solidFill>
                  <a:schemeClr val="bg1"/>
                </a:solidFill>
              </a:defRPr>
            </a:lvl8pPr>
            <a:lvl9pPr>
              <a:defRPr sz="2800">
                <a:solidFill>
                  <a:schemeClr val="bg1"/>
                </a:solidFill>
              </a:defRPr>
            </a:lvl9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8"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bg1"/>
                </a:solidFill>
                <a:latin typeface="Arial" pitchFamily="34" charset="0"/>
                <a:cs typeface="Arial" pitchFamily="34" charset="0"/>
              </a:defRPr>
            </a:lvl1pPr>
          </a:lstStyle>
          <a:p>
            <a:endParaRPr lang="en-US" dirty="0"/>
          </a:p>
        </p:txBody>
      </p:sp>
      <p:cxnSp>
        <p:nvCxnSpPr>
          <p:cNvPr id="11" name="Shape 10"/>
          <p:cNvCxnSpPr/>
          <p:nvPr/>
        </p:nvCxnSpPr>
        <p:spPr>
          <a:xfrm rot="5400000" flipH="1" flipV="1">
            <a:off x="4419602" y="-3429000"/>
            <a:ext cx="152399" cy="8229600"/>
          </a:xfrm>
          <a:prstGeom prst="bentConnector2">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bg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0"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bg1"/>
                </a:solidFill>
                <a:latin typeface="Arial" pitchFamily="34" charset="0"/>
                <a:cs typeface="Arial" pitchFamily="34" charset="0"/>
              </a:defRPr>
            </a:lvl1pPr>
          </a:lstStyle>
          <a:p>
            <a:endParaRPr lang="en-US" dirty="0"/>
          </a:p>
        </p:txBody>
      </p:sp>
      <p:sp>
        <p:nvSpPr>
          <p:cNvPr id="12"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solidFill>
                  <a:schemeClr val="bg1"/>
                </a:solidFill>
                <a:latin typeface="Arial" pitchFamily="34" charset="0"/>
                <a:cs typeface="Arial" pitchFamily="34" charset="0"/>
              </a:rPr>
              <a:t>PwC</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ection Divider">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533400" y="685803"/>
            <a:ext cx="8077200" cy="1066799"/>
          </a:xfrm>
        </p:spPr>
        <p:txBody>
          <a:bodyPr anchor="t" anchorCtr="0">
            <a:noAutofit/>
          </a:bodyPr>
          <a:lstStyle>
            <a:lvl1pPr>
              <a:lnSpc>
                <a:spcPct val="90000"/>
              </a:lnSpc>
              <a:defRPr sz="3200">
                <a:solidFill>
                  <a:schemeClr val="tx1"/>
                </a:solidFill>
              </a:defRPr>
            </a:lvl1pPr>
          </a:lstStyle>
          <a:p>
            <a:r>
              <a:rPr lang="en-US" noProof="0" dirty="0"/>
              <a:t>Click to edit Master title style</a:t>
            </a:r>
          </a:p>
        </p:txBody>
      </p:sp>
      <p:sp>
        <p:nvSpPr>
          <p:cNvPr id="58" name="Subtitle 2"/>
          <p:cNvSpPr>
            <a:spLocks noGrp="1"/>
          </p:cNvSpPr>
          <p:nvPr>
            <p:ph type="subTitle" idx="1"/>
          </p:nvPr>
        </p:nvSpPr>
        <p:spPr bwMode="black">
          <a:xfrm>
            <a:off x="533400" y="1905003"/>
            <a:ext cx="8077200" cy="1371599"/>
          </a:xfrm>
        </p:spPr>
        <p:txBody>
          <a:bodyPr>
            <a:noAutofit/>
          </a:bodyPr>
          <a:lstStyle>
            <a:lvl1pPr marL="0" indent="0" algn="l">
              <a:lnSpc>
                <a:spcPct val="90000"/>
              </a:lnSpc>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33"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cxnSp>
        <p:nvCxnSpPr>
          <p:cNvPr id="12" name="Shape 11"/>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0"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11"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ection Divider: Colour">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533400" y="685800"/>
            <a:ext cx="8077200" cy="1066800"/>
          </a:xfrm>
        </p:spPr>
        <p:txBody>
          <a:bodyPr anchor="t" anchorCtr="0">
            <a:noAutofit/>
          </a:bodyPr>
          <a:lstStyle>
            <a:lvl1pPr>
              <a:lnSpc>
                <a:spcPct val="90000"/>
              </a:lnSpc>
              <a:defRPr sz="3200" baseline="0">
                <a:solidFill>
                  <a:schemeClr val="bg1"/>
                </a:solidFill>
              </a:defRPr>
            </a:lvl1pPr>
          </a:lstStyle>
          <a:p>
            <a:r>
              <a:rPr lang="en-US" noProof="0" dirty="0"/>
              <a:t>Click to edit Master title style</a:t>
            </a:r>
          </a:p>
        </p:txBody>
      </p:sp>
      <p:sp>
        <p:nvSpPr>
          <p:cNvPr id="22" name="Subtitle 2"/>
          <p:cNvSpPr>
            <a:spLocks noGrp="1"/>
          </p:cNvSpPr>
          <p:nvPr>
            <p:ph type="subTitle" idx="1"/>
          </p:nvPr>
        </p:nvSpPr>
        <p:spPr bwMode="black">
          <a:xfrm>
            <a:off x="533400" y="1905000"/>
            <a:ext cx="8077200" cy="1371600"/>
          </a:xfrm>
        </p:spPr>
        <p:txBody>
          <a:bodyPr>
            <a:noAutofit/>
          </a:bodyPr>
          <a:lstStyle>
            <a:lvl1pPr marL="0" indent="0" algn="l">
              <a:lnSpc>
                <a:spcPct val="90000"/>
              </a:lnSpc>
              <a:buNone/>
              <a:defRPr sz="3200" baseline="0">
                <a:solidFill>
                  <a:schemeClr val="bg1"/>
                </a:solidFill>
                <a:latin typeface="+mj-lt"/>
              </a:defRPr>
            </a:lvl1pPr>
            <a:lvl2pPr marL="0" indent="0" algn="l">
              <a:buNone/>
              <a:defRPr sz="1800">
                <a:solidFill>
                  <a:schemeClr val="bg1"/>
                </a:solidFill>
                <a:latin typeface="+mj-lt"/>
              </a:defRPr>
            </a:lvl2pPr>
            <a:lvl3pPr marL="457200" indent="0" algn="l">
              <a:buNone/>
              <a:defRPr sz="1800">
                <a:solidFill>
                  <a:schemeClr val="bg1"/>
                </a:solidFill>
                <a:latin typeface="+mj-lt"/>
              </a:defRPr>
            </a:lvl3pPr>
            <a:lvl4pPr marL="914400" indent="0" algn="l">
              <a:buNone/>
              <a:defRPr sz="1800">
                <a:solidFill>
                  <a:schemeClr val="bg1"/>
                </a:solidFill>
                <a:latin typeface="+mj-lt"/>
              </a:defRPr>
            </a:lvl4pPr>
            <a:lvl5pPr marL="1371600" indent="0" algn="l">
              <a:buNone/>
              <a:defRPr sz="1800">
                <a:solidFill>
                  <a:schemeClr val="bg1"/>
                </a:solidFill>
                <a:latin typeface="+mj-lt"/>
              </a:defRPr>
            </a:lvl5pPr>
            <a:lvl6pPr marL="1828800" indent="0" algn="l">
              <a:buNone/>
              <a:defRPr sz="1800">
                <a:solidFill>
                  <a:schemeClr val="bg1"/>
                </a:solidFill>
                <a:latin typeface="+mj-lt"/>
              </a:defRPr>
            </a:lvl6pPr>
            <a:lvl7pPr marL="2286000" indent="0" algn="l">
              <a:buNone/>
              <a:defRPr sz="1800">
                <a:solidFill>
                  <a:schemeClr val="bg1"/>
                </a:solidFill>
                <a:latin typeface="+mj-lt"/>
              </a:defRPr>
            </a:lvl7pPr>
            <a:lvl8pPr marL="2743200" indent="0" algn="l">
              <a:buNone/>
              <a:defRPr sz="1800">
                <a:solidFill>
                  <a:schemeClr val="bg1"/>
                </a:solidFill>
                <a:latin typeface="+mj-lt"/>
              </a:defRPr>
            </a:lvl8pPr>
            <a:lvl9pPr marL="3200400" indent="0" algn="l">
              <a:buNone/>
              <a:defRPr sz="1800">
                <a:solidFill>
                  <a:schemeClr val="bg1"/>
                </a:solidFill>
                <a:latin typeface="+mj-lt"/>
              </a:defRPr>
            </a:lvl9pPr>
          </a:lstStyle>
          <a:p>
            <a:r>
              <a:rPr lang="en-US" noProof="0" dirty="0"/>
              <a:t>Click to edit Master subtitle style</a:t>
            </a:r>
          </a:p>
        </p:txBody>
      </p:sp>
      <p:sp>
        <p:nvSpPr>
          <p:cNvPr id="37"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bg1"/>
                </a:solidFill>
                <a:latin typeface="Arial" pitchFamily="34" charset="0"/>
                <a:cs typeface="Arial" pitchFamily="34" charset="0"/>
              </a:defRPr>
            </a:lvl1pPr>
          </a:lstStyle>
          <a:p>
            <a:endParaRPr lang="en-US" dirty="0"/>
          </a:p>
        </p:txBody>
      </p:sp>
      <p:cxnSp>
        <p:nvCxnSpPr>
          <p:cNvPr id="11" name="Shape 10"/>
          <p:cNvCxnSpPr/>
          <p:nvPr/>
        </p:nvCxnSpPr>
        <p:spPr>
          <a:xfrm rot="5400000" flipH="1" flipV="1">
            <a:off x="4419602" y="-3429000"/>
            <a:ext cx="152399" cy="8229600"/>
          </a:xfrm>
          <a:prstGeom prst="bentConnector2">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bg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0"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bg1"/>
                </a:solidFill>
                <a:latin typeface="Arial" pitchFamily="34" charset="0"/>
                <a:cs typeface="Arial" pitchFamily="34" charset="0"/>
              </a:defRPr>
            </a:lvl1pPr>
          </a:lstStyle>
          <a:p>
            <a:endParaRPr lang="en-US" dirty="0"/>
          </a:p>
        </p:txBody>
      </p:sp>
      <p:sp>
        <p:nvSpPr>
          <p:cNvPr id="12"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solidFill>
                  <a:schemeClr val="bg1"/>
                </a:solidFill>
                <a:latin typeface="Arial" pitchFamily="34" charset="0"/>
                <a:cs typeface="Arial" pitchFamily="34" charset="0"/>
              </a:rPr>
              <a:t>PwC</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Divider: Content">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533400" y="685800"/>
            <a:ext cx="8077200" cy="1066800"/>
          </a:xfrm>
        </p:spPr>
        <p:txBody>
          <a:bodyPr anchor="t" anchorCtr="0">
            <a:noAutofit/>
          </a:bodyPr>
          <a:lstStyle>
            <a:lvl1pPr>
              <a:lnSpc>
                <a:spcPct val="90000"/>
              </a:lnSpc>
              <a:defRPr sz="3200">
                <a:solidFill>
                  <a:schemeClr val="bg1"/>
                </a:solidFill>
              </a:defRPr>
            </a:lvl1pPr>
          </a:lstStyle>
          <a:p>
            <a:r>
              <a:rPr lang="en-US" noProof="0" dirty="0"/>
              <a:t>Click to edit Master title style</a:t>
            </a:r>
          </a:p>
        </p:txBody>
      </p:sp>
      <p:sp>
        <p:nvSpPr>
          <p:cNvPr id="20" name="Content Placeholder 19"/>
          <p:cNvSpPr>
            <a:spLocks noGrp="1"/>
          </p:cNvSpPr>
          <p:nvPr>
            <p:ph sz="quarter" idx="13"/>
          </p:nvPr>
        </p:nvSpPr>
        <p:spPr>
          <a:xfrm>
            <a:off x="533402" y="2819400"/>
            <a:ext cx="3962399" cy="33528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Subtitle 2"/>
          <p:cNvSpPr>
            <a:spLocks noGrp="1"/>
          </p:cNvSpPr>
          <p:nvPr>
            <p:ph type="subTitle" idx="1"/>
          </p:nvPr>
        </p:nvSpPr>
        <p:spPr bwMode="black">
          <a:xfrm>
            <a:off x="533400" y="1905001"/>
            <a:ext cx="8077200" cy="762000"/>
          </a:xfrm>
        </p:spPr>
        <p:txBody>
          <a:bodyPr>
            <a:noAutofit/>
          </a:bodyPr>
          <a:lstStyle>
            <a:lvl1pPr marL="0" indent="0" algn="l">
              <a:lnSpc>
                <a:spcPct val="90000"/>
              </a:lnSpc>
              <a:buNone/>
              <a:defRPr sz="3200">
                <a:solidFill>
                  <a:schemeClr val="bg1"/>
                </a:solidFill>
                <a:latin typeface="+mj-lt"/>
              </a:defRPr>
            </a:lvl1pPr>
            <a:lvl2pPr marL="0" indent="0" algn="l">
              <a:buNone/>
              <a:defRPr sz="1800">
                <a:solidFill>
                  <a:schemeClr val="bg1"/>
                </a:solidFill>
                <a:latin typeface="+mj-lt"/>
              </a:defRPr>
            </a:lvl2pPr>
            <a:lvl3pPr marL="457200" indent="0" algn="l">
              <a:buNone/>
              <a:defRPr sz="1800">
                <a:solidFill>
                  <a:schemeClr val="bg1"/>
                </a:solidFill>
                <a:latin typeface="+mj-lt"/>
              </a:defRPr>
            </a:lvl3pPr>
            <a:lvl4pPr marL="914400" indent="0" algn="l">
              <a:buNone/>
              <a:defRPr sz="1800">
                <a:solidFill>
                  <a:schemeClr val="bg1"/>
                </a:solidFill>
                <a:latin typeface="+mj-lt"/>
              </a:defRPr>
            </a:lvl4pPr>
            <a:lvl5pPr marL="1371600" indent="0" algn="l">
              <a:buNone/>
              <a:defRPr sz="1800">
                <a:solidFill>
                  <a:schemeClr val="bg1"/>
                </a:solidFill>
                <a:latin typeface="+mj-lt"/>
              </a:defRPr>
            </a:lvl5pPr>
            <a:lvl6pPr marL="1828800" indent="0" algn="l">
              <a:buNone/>
              <a:defRPr sz="1800">
                <a:solidFill>
                  <a:schemeClr val="bg1"/>
                </a:solidFill>
                <a:latin typeface="+mj-lt"/>
              </a:defRPr>
            </a:lvl6pPr>
            <a:lvl7pPr marL="2286000" indent="0" algn="l">
              <a:buNone/>
              <a:defRPr sz="1800">
                <a:solidFill>
                  <a:schemeClr val="bg1"/>
                </a:solidFill>
                <a:latin typeface="+mj-lt"/>
              </a:defRPr>
            </a:lvl7pPr>
            <a:lvl8pPr marL="2743200" indent="0" algn="l">
              <a:buNone/>
              <a:defRPr sz="1800">
                <a:solidFill>
                  <a:schemeClr val="bg1"/>
                </a:solidFill>
                <a:latin typeface="+mj-lt"/>
              </a:defRPr>
            </a:lvl8pPr>
            <a:lvl9pPr marL="3200400" indent="0" algn="l">
              <a:buNone/>
              <a:defRPr sz="1800">
                <a:solidFill>
                  <a:schemeClr val="bg1"/>
                </a:solidFill>
                <a:latin typeface="+mj-lt"/>
              </a:defRPr>
            </a:lvl9pPr>
          </a:lstStyle>
          <a:p>
            <a:r>
              <a:rPr lang="en-US" noProof="0" dirty="0"/>
              <a:t>Click to edit Master subtitle style</a:t>
            </a:r>
          </a:p>
        </p:txBody>
      </p:sp>
      <p:sp>
        <p:nvSpPr>
          <p:cNvPr id="31" name="Footer Placeholder 4"/>
          <p:cNvSpPr>
            <a:spLocks noGrp="1"/>
          </p:cNvSpPr>
          <p:nvPr>
            <p:ph type="ftr" sz="quarter" idx="3"/>
          </p:nvPr>
        </p:nvSpPr>
        <p:spPr>
          <a:xfrm>
            <a:off x="533400" y="6324600"/>
            <a:ext cx="5257800" cy="152400"/>
          </a:xfrm>
          <a:prstGeom prst="rect">
            <a:avLst/>
          </a:prstGeom>
        </p:spPr>
        <p:txBody>
          <a:bodyPr vert="horz" lIns="0" tIns="0" rIns="0" bIns="0" anchor="b" anchorCtr="0">
            <a:noAutofit/>
          </a:bodyPr>
          <a:lstStyle>
            <a:lvl1pPr algn="l">
              <a:defRPr sz="1000">
                <a:solidFill>
                  <a:schemeClr val="bg1"/>
                </a:solidFill>
                <a:latin typeface="Arial" pitchFamily="34" charset="0"/>
                <a:cs typeface="Arial" pitchFamily="34" charset="0"/>
              </a:defRPr>
            </a:lvl1pPr>
          </a:lstStyle>
          <a:p>
            <a:endParaRPr lang="en-US" dirty="0"/>
          </a:p>
        </p:txBody>
      </p:sp>
      <p:cxnSp>
        <p:nvCxnSpPr>
          <p:cNvPr id="12" name="Shape 11"/>
          <p:cNvCxnSpPr/>
          <p:nvPr/>
        </p:nvCxnSpPr>
        <p:spPr>
          <a:xfrm rot="5400000" flipH="1" flipV="1">
            <a:off x="4419602" y="-3429000"/>
            <a:ext cx="152399" cy="8229600"/>
          </a:xfrm>
          <a:prstGeom prst="bentConnector2">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bg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11"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bg1"/>
                </a:solidFill>
                <a:latin typeface="Arial" pitchFamily="34" charset="0"/>
                <a:cs typeface="Arial" pitchFamily="34" charset="0"/>
              </a:defRPr>
            </a:lvl1pPr>
          </a:lstStyle>
          <a:p>
            <a:endParaRPr lang="en-US" dirty="0"/>
          </a:p>
        </p:txBody>
      </p:sp>
      <p:sp>
        <p:nvSpPr>
          <p:cNvPr id="13"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solidFill>
                  <a:schemeClr val="bg1"/>
                </a:solidFill>
                <a:latin typeface="Arial" pitchFamily="34" charset="0"/>
                <a:cs typeface="Arial" pitchFamily="34" charset="0"/>
              </a:rPr>
              <a:t>PwC</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ver Slide: Fixed Logo">
    <p:spTree>
      <p:nvGrpSpPr>
        <p:cNvPr id="1" name=""/>
        <p:cNvGrpSpPr/>
        <p:nvPr/>
      </p:nvGrpSpPr>
      <p:grpSpPr>
        <a:xfrm>
          <a:off x="0" y="0"/>
          <a:ext cx="0" cy="0"/>
          <a:chOff x="0" y="0"/>
          <a:chExt cx="0" cy="0"/>
        </a:xfrm>
      </p:grpSpPr>
      <p:cxnSp>
        <p:nvCxnSpPr>
          <p:cNvPr id="141" name="Shape 140"/>
          <p:cNvCxnSpPr/>
          <p:nvPr/>
        </p:nvCxnSpPr>
        <p:spPr>
          <a:xfrm rot="5400000" flipH="1" flipV="1">
            <a:off x="5096258" y="-2734056"/>
            <a:ext cx="152399" cy="6839712"/>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2" name="Title 1"/>
          <p:cNvSpPr>
            <a:spLocks noGrp="1"/>
          </p:cNvSpPr>
          <p:nvPr>
            <p:ph type="ctrTitle" hasCustomPrompt="1"/>
          </p:nvPr>
        </p:nvSpPr>
        <p:spPr bwMode="black">
          <a:xfrm>
            <a:off x="1895476" y="838200"/>
            <a:ext cx="5343525" cy="914400"/>
          </a:xfrm>
        </p:spPr>
        <p:txBody>
          <a:bodyPr anchor="t" anchorCtr="0">
            <a:noAutofit/>
          </a:bodyPr>
          <a:lstStyle>
            <a:lvl1pPr>
              <a:lnSpc>
                <a:spcPct val="90000"/>
              </a:lnSpc>
              <a:defRPr sz="3200" b="1" i="1" baseline="0">
                <a:solidFill>
                  <a:schemeClr val="tx1"/>
                </a:solidFill>
              </a:defRPr>
            </a:lvl1pPr>
          </a:lstStyle>
          <a:p>
            <a:r>
              <a:rPr lang="en-US" noProof="0" dirty="0"/>
              <a:t>Click to add the presentation’s main title</a:t>
            </a:r>
          </a:p>
        </p:txBody>
      </p:sp>
      <p:sp>
        <p:nvSpPr>
          <p:cNvPr id="143" name="Subtitle 2"/>
          <p:cNvSpPr>
            <a:spLocks noGrp="1"/>
          </p:cNvSpPr>
          <p:nvPr>
            <p:ph type="subTitle" idx="1" hasCustomPrompt="1"/>
          </p:nvPr>
        </p:nvSpPr>
        <p:spPr bwMode="black">
          <a:xfrm>
            <a:off x="1895476" y="1828801"/>
            <a:ext cx="5343525" cy="914401"/>
          </a:xfrm>
        </p:spPr>
        <p:txBody>
          <a:bodyPr>
            <a:noAutofit/>
          </a:bodyPr>
          <a:lstStyle>
            <a:lvl1pPr marL="0" indent="0" algn="l">
              <a:lnSpc>
                <a:spcPct val="90000"/>
              </a:lnSpc>
              <a:spcAft>
                <a:spcPts val="0"/>
              </a:spcAft>
              <a:buNone/>
              <a:defRPr sz="3200" baseline="0">
                <a:solidFill>
                  <a:schemeClr val="tx1"/>
                </a:solidFill>
                <a:latin typeface="+mj-lt"/>
              </a:defRPr>
            </a:lvl1pPr>
            <a:lvl2pPr marL="0" indent="0" algn="l">
              <a:buNone/>
              <a:defRPr sz="1800">
                <a:solidFill>
                  <a:schemeClr val="bg1"/>
                </a:solidFill>
                <a:latin typeface="+mj-lt"/>
              </a:defRPr>
            </a:lvl2pPr>
            <a:lvl3pPr marL="457200" indent="0" algn="l">
              <a:buNone/>
              <a:defRPr sz="1800">
                <a:solidFill>
                  <a:schemeClr val="bg1"/>
                </a:solidFill>
                <a:latin typeface="+mj-lt"/>
              </a:defRPr>
            </a:lvl3pPr>
            <a:lvl4pPr marL="914400" indent="0" algn="l">
              <a:buNone/>
              <a:defRPr sz="1800">
                <a:solidFill>
                  <a:schemeClr val="bg1"/>
                </a:solidFill>
                <a:latin typeface="+mj-lt"/>
              </a:defRPr>
            </a:lvl4pPr>
            <a:lvl5pPr marL="1371600" indent="0" algn="l">
              <a:buNone/>
              <a:defRPr sz="1800">
                <a:solidFill>
                  <a:schemeClr val="bg1"/>
                </a:solidFill>
                <a:latin typeface="+mj-lt"/>
              </a:defRPr>
            </a:lvl5pPr>
            <a:lvl6pPr marL="1828800" indent="0" algn="l">
              <a:buNone/>
              <a:defRPr sz="1800">
                <a:solidFill>
                  <a:schemeClr val="bg1"/>
                </a:solidFill>
                <a:latin typeface="+mj-lt"/>
              </a:defRPr>
            </a:lvl6pPr>
            <a:lvl7pPr marL="2286000" indent="0" algn="l">
              <a:buNone/>
              <a:defRPr sz="1800">
                <a:solidFill>
                  <a:schemeClr val="bg1"/>
                </a:solidFill>
                <a:latin typeface="+mj-lt"/>
              </a:defRPr>
            </a:lvl7pPr>
            <a:lvl8pPr marL="2743200" indent="0" algn="l">
              <a:buNone/>
              <a:defRPr sz="1800">
                <a:solidFill>
                  <a:schemeClr val="bg1"/>
                </a:solidFill>
                <a:latin typeface="+mj-lt"/>
              </a:defRPr>
            </a:lvl8pPr>
            <a:lvl9pPr marL="3200400" indent="0" algn="l">
              <a:buNone/>
              <a:defRPr sz="1800">
                <a:solidFill>
                  <a:schemeClr val="bg1"/>
                </a:solidFill>
                <a:latin typeface="+mj-lt"/>
              </a:defRPr>
            </a:lvl9pPr>
          </a:lstStyle>
          <a:p>
            <a:r>
              <a:rPr lang="en-US" noProof="0" dirty="0"/>
              <a:t>Subtitle and date (move higher if title is only one line)</a:t>
            </a:r>
          </a:p>
        </p:txBody>
      </p:sp>
      <p:sp>
        <p:nvSpPr>
          <p:cNvPr id="144" name="Text Placeholder 31"/>
          <p:cNvSpPr>
            <a:spLocks noGrp="1"/>
          </p:cNvSpPr>
          <p:nvPr>
            <p:ph type="body" sz="quarter" idx="10" hasCustomPrompt="1"/>
          </p:nvPr>
        </p:nvSpPr>
        <p:spPr bwMode="black">
          <a:xfrm>
            <a:off x="1895475" y="374904"/>
            <a:ext cx="4105656" cy="146304"/>
          </a:xfrm>
        </p:spPr>
        <p:txBody>
          <a:bodyPr/>
          <a:lstStyle>
            <a:lvl1pPr>
              <a:defRPr sz="1100">
                <a:solidFill>
                  <a:schemeClr val="tx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US" noProof="0" dirty="0"/>
              <a:t>www.pwc.com</a:t>
            </a:r>
          </a:p>
        </p:txBody>
      </p:sp>
      <p:grpSp>
        <p:nvGrpSpPr>
          <p:cNvPr id="102" name="Group 101"/>
          <p:cNvGrpSpPr>
            <a:grpSpLocks noChangeAspect="1"/>
          </p:cNvGrpSpPr>
          <p:nvPr userDrawn="1"/>
        </p:nvGrpSpPr>
        <p:grpSpPr>
          <a:xfrm>
            <a:off x="968593" y="5768683"/>
            <a:ext cx="1232283" cy="935789"/>
            <a:chOff x="518032" y="-1032869"/>
            <a:chExt cx="6161413" cy="4678943"/>
          </a:xfrm>
        </p:grpSpPr>
        <p:grpSp>
          <p:nvGrpSpPr>
            <p:cNvPr id="103" name="Group 73"/>
            <p:cNvGrpSpPr>
              <a:grpSpLocks noChangeAspect="1"/>
            </p:cNvGrpSpPr>
            <p:nvPr/>
          </p:nvGrpSpPr>
          <p:grpSpPr>
            <a:xfrm>
              <a:off x="4438637" y="-1032863"/>
              <a:ext cx="2240792" cy="2011550"/>
              <a:chOff x="1905000" y="5715000"/>
              <a:chExt cx="445770" cy="381000"/>
            </a:xfrm>
          </p:grpSpPr>
          <p:sp>
            <p:nvSpPr>
              <p:cNvPr id="107" name="Rectangle 25"/>
              <p:cNvSpPr>
                <a:spLocks noChangeArrowheads="1"/>
              </p:cNvSpPr>
              <p:nvPr userDrawn="1"/>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08" name="Rectangle 26"/>
              <p:cNvSpPr>
                <a:spLocks noChangeArrowheads="1"/>
              </p:cNvSpPr>
              <p:nvPr userDrawn="1"/>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09" name="Rectangle 27"/>
              <p:cNvSpPr>
                <a:spLocks noChangeArrowheads="1"/>
              </p:cNvSpPr>
              <p:nvPr userDrawn="1"/>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0" name="Rectangle 28"/>
              <p:cNvSpPr>
                <a:spLocks noChangeArrowheads="1"/>
              </p:cNvSpPr>
              <p:nvPr userDrawn="1"/>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1" name="Rectangle 29"/>
              <p:cNvSpPr>
                <a:spLocks noChangeArrowheads="1"/>
              </p:cNvSpPr>
              <p:nvPr userDrawn="1"/>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2" name="Rectangle 30"/>
              <p:cNvSpPr>
                <a:spLocks noChangeArrowheads="1"/>
              </p:cNvSpPr>
              <p:nvPr userDrawn="1"/>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3" name="Rectangle 31"/>
              <p:cNvSpPr>
                <a:spLocks noChangeArrowheads="1"/>
              </p:cNvSpPr>
              <p:nvPr userDrawn="1"/>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4" name="Rectangle 32"/>
              <p:cNvSpPr>
                <a:spLocks noChangeArrowheads="1"/>
              </p:cNvSpPr>
              <p:nvPr userDrawn="1"/>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5" name="Freeform 33"/>
              <p:cNvSpPr>
                <a:spLocks/>
              </p:cNvSpPr>
              <p:nvPr userDrawn="1"/>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6" name="Rectangle 34"/>
              <p:cNvSpPr>
                <a:spLocks noChangeArrowheads="1"/>
              </p:cNvSpPr>
              <p:nvPr userDrawn="1"/>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7" name="Rectangle 35"/>
              <p:cNvSpPr>
                <a:spLocks noChangeArrowheads="1"/>
              </p:cNvSpPr>
              <p:nvPr userDrawn="1"/>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8" name="Rectangle 36"/>
              <p:cNvSpPr>
                <a:spLocks noChangeArrowheads="1"/>
              </p:cNvSpPr>
              <p:nvPr userDrawn="1"/>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19" name="Rectangle 25"/>
              <p:cNvSpPr>
                <a:spLocks noChangeArrowheads="1"/>
              </p:cNvSpPr>
              <p:nvPr/>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0" name="Rectangle 26"/>
              <p:cNvSpPr>
                <a:spLocks noChangeArrowheads="1"/>
              </p:cNvSpPr>
              <p:nvPr/>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1" name="Rectangle 27"/>
              <p:cNvSpPr>
                <a:spLocks noChangeArrowheads="1"/>
              </p:cNvSpPr>
              <p:nvPr/>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2" name="Rectangle 28"/>
              <p:cNvSpPr>
                <a:spLocks noChangeArrowheads="1"/>
              </p:cNvSpPr>
              <p:nvPr/>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3" name="Rectangle 29"/>
              <p:cNvSpPr>
                <a:spLocks noChangeArrowheads="1"/>
              </p:cNvSpPr>
              <p:nvPr/>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4" name="Rectangle 30"/>
              <p:cNvSpPr>
                <a:spLocks noChangeArrowheads="1"/>
              </p:cNvSpPr>
              <p:nvPr/>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5" name="Rectangle 31"/>
              <p:cNvSpPr>
                <a:spLocks noChangeArrowheads="1"/>
              </p:cNvSpPr>
              <p:nvPr/>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6" name="Rectangle 32"/>
              <p:cNvSpPr>
                <a:spLocks noChangeArrowheads="1"/>
              </p:cNvSpPr>
              <p:nvPr/>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7" name="Freeform 33"/>
              <p:cNvSpPr>
                <a:spLocks/>
              </p:cNvSpPr>
              <p:nvPr/>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8" name="Rectangle 34"/>
              <p:cNvSpPr>
                <a:spLocks noChangeArrowheads="1"/>
              </p:cNvSpPr>
              <p:nvPr/>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29" name="Rectangle 35"/>
              <p:cNvSpPr>
                <a:spLocks noChangeArrowheads="1"/>
              </p:cNvSpPr>
              <p:nvPr/>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30" name="Rectangle 36"/>
              <p:cNvSpPr>
                <a:spLocks noChangeArrowheads="1"/>
              </p:cNvSpPr>
              <p:nvPr/>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grpSp>
        <p:grpSp>
          <p:nvGrpSpPr>
            <p:cNvPr id="104" name="Group 32"/>
            <p:cNvGrpSpPr/>
            <p:nvPr/>
          </p:nvGrpSpPr>
          <p:grpSpPr>
            <a:xfrm>
              <a:off x="518032" y="978681"/>
              <a:ext cx="4572000" cy="2667393"/>
              <a:chOff x="518032" y="978681"/>
              <a:chExt cx="4572000" cy="2667393"/>
            </a:xfrm>
          </p:grpSpPr>
          <p:sp>
            <p:nvSpPr>
              <p:cNvPr id="105" name="Rectangle 37"/>
              <p:cNvSpPr>
                <a:spLocks noChangeArrowheads="1"/>
              </p:cNvSpPr>
              <p:nvPr userDrawn="1"/>
            </p:nvSpPr>
            <p:spPr bwMode="black">
              <a:xfrm>
                <a:off x="3295650" y="978681"/>
                <a:ext cx="1143000" cy="263229"/>
              </a:xfrm>
              <a:prstGeom prst="rect">
                <a:avLst/>
              </a:prstGeom>
              <a:solidFill>
                <a:srgbClr val="A10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06" name="Freeform 7"/>
              <p:cNvSpPr>
                <a:spLocks noEditPoints="1"/>
              </p:cNvSpPr>
              <p:nvPr userDrawn="1"/>
            </p:nvSpPr>
            <p:spPr bwMode="black">
              <a:xfrm>
                <a:off x="518032" y="1922794"/>
                <a:ext cx="4572000" cy="172328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noProof="0"/>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ver Slide: Client Logo">
    <p:spTree>
      <p:nvGrpSpPr>
        <p:cNvPr id="1" name=""/>
        <p:cNvGrpSpPr/>
        <p:nvPr/>
      </p:nvGrpSpPr>
      <p:grpSpPr>
        <a:xfrm>
          <a:off x="0" y="0"/>
          <a:ext cx="0" cy="0"/>
          <a:chOff x="0" y="0"/>
          <a:chExt cx="0" cy="0"/>
        </a:xfrm>
      </p:grpSpPr>
      <p:grpSp>
        <p:nvGrpSpPr>
          <p:cNvPr id="32" name="Group 31"/>
          <p:cNvGrpSpPr/>
          <p:nvPr userDrawn="1"/>
        </p:nvGrpSpPr>
        <p:grpSpPr bwMode="gray">
          <a:xfrm>
            <a:off x="1752601" y="3"/>
            <a:ext cx="7391400" cy="6176009"/>
            <a:chOff x="19140488" y="13674"/>
            <a:chExt cx="7443798" cy="6145827"/>
          </a:xfrm>
        </p:grpSpPr>
        <p:sp>
          <p:nvSpPr>
            <p:cNvPr id="35" name="Rectangle 17"/>
            <p:cNvSpPr>
              <a:spLocks noChangeArrowheads="1"/>
            </p:cNvSpPr>
            <p:nvPr/>
          </p:nvSpPr>
          <p:spPr bwMode="gray">
            <a:xfrm>
              <a:off x="19140488" y="4188799"/>
              <a:ext cx="2302206" cy="1970702"/>
            </a:xfrm>
            <a:prstGeom prst="rect">
              <a:avLst/>
            </a:prstGeom>
            <a:solidFill>
              <a:srgbClr val="9A170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6" name="Rectangle 7"/>
            <p:cNvSpPr>
              <a:spLocks noChangeArrowheads="1"/>
            </p:cNvSpPr>
            <p:nvPr/>
          </p:nvSpPr>
          <p:spPr bwMode="gray">
            <a:xfrm>
              <a:off x="25663403" y="4032250"/>
              <a:ext cx="920883" cy="2127250"/>
            </a:xfrm>
            <a:prstGeom prst="rect">
              <a:avLst/>
            </a:prstGeom>
            <a:solidFill>
              <a:srgbClr val="F3BE2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7" name="Rectangle 8"/>
            <p:cNvSpPr>
              <a:spLocks noChangeArrowheads="1"/>
            </p:cNvSpPr>
            <p:nvPr/>
          </p:nvSpPr>
          <p:spPr bwMode="gray">
            <a:xfrm>
              <a:off x="25049482" y="2899477"/>
              <a:ext cx="734694" cy="1289321"/>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2" name="Rectangle 9"/>
            <p:cNvSpPr>
              <a:spLocks noChangeArrowheads="1"/>
            </p:cNvSpPr>
            <p:nvPr/>
          </p:nvSpPr>
          <p:spPr bwMode="gray">
            <a:xfrm>
              <a:off x="25049482" y="4032250"/>
              <a:ext cx="734693" cy="212725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3" name="Rectangle 11"/>
            <p:cNvSpPr>
              <a:spLocks noChangeArrowheads="1"/>
            </p:cNvSpPr>
            <p:nvPr/>
          </p:nvSpPr>
          <p:spPr bwMode="gray">
            <a:xfrm>
              <a:off x="24665780" y="706365"/>
              <a:ext cx="477045" cy="2263848"/>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4" name="Rectangle 12"/>
            <p:cNvSpPr>
              <a:spLocks noChangeArrowheads="1"/>
            </p:cNvSpPr>
            <p:nvPr/>
          </p:nvSpPr>
          <p:spPr bwMode="gray">
            <a:xfrm>
              <a:off x="24665780" y="2899478"/>
              <a:ext cx="477045" cy="1289321"/>
            </a:xfrm>
            <a:prstGeom prst="rect">
              <a:avLst/>
            </a:prstGeom>
            <a:solidFill>
              <a:srgbClr val="DB4D5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8" name="Rectangle 13"/>
            <p:cNvSpPr>
              <a:spLocks noChangeArrowheads="1"/>
            </p:cNvSpPr>
            <p:nvPr/>
          </p:nvSpPr>
          <p:spPr bwMode="gray">
            <a:xfrm>
              <a:off x="24665780" y="4032250"/>
              <a:ext cx="477045" cy="2127250"/>
            </a:xfrm>
            <a:prstGeom prst="rect">
              <a:avLst/>
            </a:prstGeom>
            <a:solidFill>
              <a:srgbClr val="D13A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9" name="Rectangle 14"/>
            <p:cNvSpPr>
              <a:spLocks noChangeArrowheads="1"/>
            </p:cNvSpPr>
            <p:nvPr/>
          </p:nvSpPr>
          <p:spPr bwMode="gray">
            <a:xfrm>
              <a:off x="19140488" y="669925"/>
              <a:ext cx="5662612" cy="2300288"/>
            </a:xfrm>
            <a:prstGeom prst="rect">
              <a:avLst/>
            </a:prstGeom>
            <a:solidFill>
              <a:srgbClr val="D74021"/>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50" name="Rectangle 15"/>
            <p:cNvSpPr>
              <a:spLocks noChangeArrowheads="1"/>
            </p:cNvSpPr>
            <p:nvPr/>
          </p:nvSpPr>
          <p:spPr bwMode="gray">
            <a:xfrm>
              <a:off x="19140488" y="2899478"/>
              <a:ext cx="5662612" cy="1289321"/>
            </a:xfrm>
            <a:prstGeom prst="rect">
              <a:avLst/>
            </a:prstGeom>
            <a:solidFill>
              <a:srgbClr val="CD2F1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51" name="Freeform 16"/>
            <p:cNvSpPr>
              <a:spLocks/>
            </p:cNvSpPr>
            <p:nvPr/>
          </p:nvSpPr>
          <p:spPr bwMode="gray">
            <a:xfrm>
              <a:off x="19140488" y="4032250"/>
              <a:ext cx="5662612" cy="2127250"/>
            </a:xfrm>
            <a:custGeom>
              <a:avLst/>
              <a:gdLst/>
              <a:ahLst/>
              <a:cxnLst>
                <a:cxn ang="0">
                  <a:pos x="0" y="0"/>
                </a:cxn>
                <a:cxn ang="0">
                  <a:pos x="3567" y="0"/>
                </a:cxn>
                <a:cxn ang="0">
                  <a:pos x="3567" y="1340"/>
                </a:cxn>
                <a:cxn ang="0">
                  <a:pos x="1372" y="1340"/>
                </a:cxn>
                <a:cxn ang="0">
                  <a:pos x="1372" y="181"/>
                </a:cxn>
                <a:cxn ang="0">
                  <a:pos x="0" y="181"/>
                </a:cxn>
                <a:cxn ang="0">
                  <a:pos x="0" y="0"/>
                </a:cxn>
              </a:cxnLst>
              <a:rect l="0" t="0" r="r" b="b"/>
              <a:pathLst>
                <a:path w="3567" h="1340">
                  <a:moveTo>
                    <a:pt x="0" y="0"/>
                  </a:moveTo>
                  <a:lnTo>
                    <a:pt x="3567" y="0"/>
                  </a:lnTo>
                  <a:lnTo>
                    <a:pt x="3567" y="1340"/>
                  </a:lnTo>
                  <a:lnTo>
                    <a:pt x="1372" y="1340"/>
                  </a:lnTo>
                  <a:lnTo>
                    <a:pt x="1372" y="181"/>
                  </a:lnTo>
                  <a:lnTo>
                    <a:pt x="0" y="181"/>
                  </a:lnTo>
                  <a:lnTo>
                    <a:pt x="0" y="0"/>
                  </a:lnTo>
                  <a:close/>
                </a:path>
              </a:pathLst>
            </a:custGeom>
            <a:solidFill>
              <a:srgbClr val="C4230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a:p>
          </p:txBody>
        </p:sp>
        <p:sp>
          <p:nvSpPr>
            <p:cNvPr id="52" name="Rectangle 10"/>
            <p:cNvSpPr>
              <a:spLocks noChangeArrowheads="1"/>
            </p:cNvSpPr>
            <p:nvPr/>
          </p:nvSpPr>
          <p:spPr bwMode="gray">
            <a:xfrm>
              <a:off x="19140488" y="13674"/>
              <a:ext cx="5662612" cy="692692"/>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grpSp>
      <p:sp>
        <p:nvSpPr>
          <p:cNvPr id="31" name="Picture Placeholder 76"/>
          <p:cNvSpPr>
            <a:spLocks noGrp="1"/>
          </p:cNvSpPr>
          <p:nvPr>
            <p:ph type="pic" sz="quarter" idx="13"/>
          </p:nvPr>
        </p:nvSpPr>
        <p:spPr>
          <a:xfrm>
            <a:off x="609601" y="3048000"/>
            <a:ext cx="914400" cy="762000"/>
          </a:xfrm>
        </p:spPr>
        <p:txBody>
          <a:bodyPr/>
          <a:lstStyle>
            <a:lvl1pPr>
              <a:defRPr sz="1400"/>
            </a:lvl1pPr>
          </a:lstStyle>
          <a:p>
            <a:r>
              <a:rPr lang="en-US" noProof="0" dirty="0"/>
              <a:t>Click icon to add picture</a:t>
            </a:r>
          </a:p>
        </p:txBody>
      </p:sp>
      <p:grpSp>
        <p:nvGrpSpPr>
          <p:cNvPr id="3" name="Group 31"/>
          <p:cNvGrpSpPr/>
          <p:nvPr/>
        </p:nvGrpSpPr>
        <p:grpSpPr>
          <a:xfrm>
            <a:off x="489087" y="2901699"/>
            <a:ext cx="1209752" cy="151219"/>
            <a:chOff x="489087" y="2521685"/>
            <a:chExt cx="1209752" cy="151219"/>
          </a:xfrm>
        </p:grpSpPr>
        <p:cxnSp>
          <p:nvCxnSpPr>
            <p:cNvPr id="33" name="Straight Connector 32"/>
            <p:cNvCxnSpPr/>
            <p:nvPr userDrawn="1"/>
          </p:nvCxnSpPr>
          <p:spPr>
            <a:xfrm rot="10800000">
              <a:off x="489087" y="2521686"/>
              <a:ext cx="1209752"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rot="5400000">
              <a:off x="413478" y="2597295"/>
              <a:ext cx="151219"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45" name="Title 1"/>
          <p:cNvSpPr>
            <a:spLocks noGrp="1"/>
          </p:cNvSpPr>
          <p:nvPr>
            <p:ph type="ctrTitle" hasCustomPrompt="1"/>
          </p:nvPr>
        </p:nvSpPr>
        <p:spPr bwMode="white">
          <a:xfrm>
            <a:off x="1895476" y="838200"/>
            <a:ext cx="5343525" cy="914400"/>
          </a:xfrm>
        </p:spPr>
        <p:txBody>
          <a:bodyPr anchor="t" anchorCtr="0">
            <a:noAutofit/>
          </a:bodyPr>
          <a:lstStyle>
            <a:lvl1pPr>
              <a:lnSpc>
                <a:spcPct val="90000"/>
              </a:lnSpc>
              <a:defRPr sz="3200" b="1" i="1" baseline="0">
                <a:solidFill>
                  <a:schemeClr val="bg1"/>
                </a:solidFill>
              </a:defRPr>
            </a:lvl1pPr>
          </a:lstStyle>
          <a:p>
            <a:r>
              <a:rPr lang="en-US" noProof="0" dirty="0"/>
              <a:t>Click to add the presentation’s main title</a:t>
            </a:r>
          </a:p>
        </p:txBody>
      </p:sp>
      <p:sp>
        <p:nvSpPr>
          <p:cNvPr id="46" name="Subtitle 2"/>
          <p:cNvSpPr>
            <a:spLocks noGrp="1"/>
          </p:cNvSpPr>
          <p:nvPr>
            <p:ph type="subTitle" idx="1" hasCustomPrompt="1"/>
          </p:nvPr>
        </p:nvSpPr>
        <p:spPr bwMode="white">
          <a:xfrm>
            <a:off x="1895476" y="1828801"/>
            <a:ext cx="5343525" cy="914401"/>
          </a:xfrm>
        </p:spPr>
        <p:txBody>
          <a:bodyPr>
            <a:noAutofit/>
          </a:bodyPr>
          <a:lstStyle>
            <a:lvl1pPr marL="0" indent="0" algn="l">
              <a:lnSpc>
                <a:spcPct val="90000"/>
              </a:lnSpc>
              <a:spcAft>
                <a:spcPts val="0"/>
              </a:spcAft>
              <a:buNone/>
              <a:defRPr sz="3200" baseline="0">
                <a:solidFill>
                  <a:schemeClr val="bg1"/>
                </a:solidFill>
                <a:latin typeface="+mj-lt"/>
              </a:defRPr>
            </a:lvl1pPr>
            <a:lvl2pPr marL="0" indent="0" algn="l">
              <a:buNone/>
              <a:defRPr sz="1800">
                <a:solidFill>
                  <a:schemeClr val="bg1"/>
                </a:solidFill>
                <a:latin typeface="+mj-lt"/>
              </a:defRPr>
            </a:lvl2pPr>
            <a:lvl3pPr marL="457200" indent="0" algn="l">
              <a:buNone/>
              <a:defRPr sz="1800">
                <a:solidFill>
                  <a:schemeClr val="bg1"/>
                </a:solidFill>
                <a:latin typeface="+mj-lt"/>
              </a:defRPr>
            </a:lvl3pPr>
            <a:lvl4pPr marL="914400" indent="0" algn="l">
              <a:buNone/>
              <a:defRPr sz="1800">
                <a:solidFill>
                  <a:schemeClr val="bg1"/>
                </a:solidFill>
                <a:latin typeface="+mj-lt"/>
              </a:defRPr>
            </a:lvl4pPr>
            <a:lvl5pPr marL="1371600" indent="0" algn="l">
              <a:buNone/>
              <a:defRPr sz="1800">
                <a:solidFill>
                  <a:schemeClr val="bg1"/>
                </a:solidFill>
                <a:latin typeface="+mj-lt"/>
              </a:defRPr>
            </a:lvl5pPr>
            <a:lvl6pPr marL="1828800" indent="0" algn="l">
              <a:buNone/>
              <a:defRPr sz="1800">
                <a:solidFill>
                  <a:schemeClr val="bg1"/>
                </a:solidFill>
                <a:latin typeface="+mj-lt"/>
              </a:defRPr>
            </a:lvl6pPr>
            <a:lvl7pPr marL="2286000" indent="0" algn="l">
              <a:buNone/>
              <a:defRPr sz="1800">
                <a:solidFill>
                  <a:schemeClr val="bg1"/>
                </a:solidFill>
                <a:latin typeface="+mj-lt"/>
              </a:defRPr>
            </a:lvl7pPr>
            <a:lvl8pPr marL="2743200" indent="0" algn="l">
              <a:buNone/>
              <a:defRPr sz="1800">
                <a:solidFill>
                  <a:schemeClr val="bg1"/>
                </a:solidFill>
                <a:latin typeface="+mj-lt"/>
              </a:defRPr>
            </a:lvl8pPr>
            <a:lvl9pPr marL="3200400" indent="0" algn="l">
              <a:buNone/>
              <a:defRPr sz="1800">
                <a:solidFill>
                  <a:schemeClr val="bg1"/>
                </a:solidFill>
                <a:latin typeface="+mj-lt"/>
              </a:defRPr>
            </a:lvl9pPr>
          </a:lstStyle>
          <a:p>
            <a:r>
              <a:rPr lang="en-US" noProof="0" dirty="0"/>
              <a:t>Subtitle and date (move higher if title is only one line)</a:t>
            </a:r>
          </a:p>
        </p:txBody>
      </p:sp>
      <p:sp>
        <p:nvSpPr>
          <p:cNvPr id="47" name="Text Placeholder 31"/>
          <p:cNvSpPr>
            <a:spLocks noGrp="1"/>
          </p:cNvSpPr>
          <p:nvPr>
            <p:ph type="body" sz="quarter" idx="10" hasCustomPrompt="1"/>
          </p:nvPr>
        </p:nvSpPr>
        <p:spPr bwMode="white">
          <a:xfrm>
            <a:off x="1895475" y="374904"/>
            <a:ext cx="4105656" cy="146304"/>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US" noProof="0" dirty="0"/>
              <a:t>www.pwc.com</a:t>
            </a:r>
          </a:p>
        </p:txBody>
      </p:sp>
      <p:grpSp>
        <p:nvGrpSpPr>
          <p:cNvPr id="96" name="Group 32"/>
          <p:cNvGrpSpPr/>
          <p:nvPr/>
        </p:nvGrpSpPr>
        <p:grpSpPr>
          <a:xfrm>
            <a:off x="968592" y="6170993"/>
            <a:ext cx="914400" cy="533479"/>
            <a:chOff x="518032" y="978681"/>
            <a:chExt cx="4572000" cy="2667393"/>
          </a:xfrm>
        </p:grpSpPr>
        <p:sp>
          <p:nvSpPr>
            <p:cNvPr id="97" name="Rectangle 37"/>
            <p:cNvSpPr>
              <a:spLocks noChangeArrowheads="1"/>
            </p:cNvSpPr>
            <p:nvPr userDrawn="1"/>
          </p:nvSpPr>
          <p:spPr bwMode="black">
            <a:xfrm>
              <a:off x="3295650" y="978681"/>
              <a:ext cx="1143000" cy="263229"/>
            </a:xfrm>
            <a:prstGeom prst="rect">
              <a:avLst/>
            </a:prstGeom>
            <a:solidFill>
              <a:srgbClr val="A10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98" name="Freeform 7"/>
            <p:cNvSpPr>
              <a:spLocks noEditPoints="1"/>
            </p:cNvSpPr>
            <p:nvPr userDrawn="1"/>
          </p:nvSpPr>
          <p:spPr bwMode="black">
            <a:xfrm>
              <a:off x="518032" y="1922794"/>
              <a:ext cx="4572000" cy="172328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noProof="0"/>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ver Slide: Picture">
    <p:spTree>
      <p:nvGrpSpPr>
        <p:cNvPr id="1" name=""/>
        <p:cNvGrpSpPr/>
        <p:nvPr/>
      </p:nvGrpSpPr>
      <p:grpSpPr>
        <a:xfrm>
          <a:off x="0" y="0"/>
          <a:ext cx="0" cy="0"/>
          <a:chOff x="0" y="0"/>
          <a:chExt cx="0" cy="0"/>
        </a:xfrm>
      </p:grpSpPr>
      <p:grpSp>
        <p:nvGrpSpPr>
          <p:cNvPr id="27" name="Group 26"/>
          <p:cNvGrpSpPr/>
          <p:nvPr userDrawn="1"/>
        </p:nvGrpSpPr>
        <p:grpSpPr bwMode="gray">
          <a:xfrm>
            <a:off x="1752601" y="3"/>
            <a:ext cx="7391400" cy="6176009"/>
            <a:chOff x="19140488" y="13674"/>
            <a:chExt cx="7443798" cy="6145827"/>
          </a:xfrm>
        </p:grpSpPr>
        <p:sp>
          <p:nvSpPr>
            <p:cNvPr id="28" name="Rectangle 17"/>
            <p:cNvSpPr>
              <a:spLocks noChangeArrowheads="1"/>
            </p:cNvSpPr>
            <p:nvPr/>
          </p:nvSpPr>
          <p:spPr bwMode="gray">
            <a:xfrm>
              <a:off x="19140488" y="4188799"/>
              <a:ext cx="2302206" cy="1970702"/>
            </a:xfrm>
            <a:prstGeom prst="rect">
              <a:avLst/>
            </a:prstGeom>
            <a:solidFill>
              <a:srgbClr val="9A170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29" name="Rectangle 7"/>
            <p:cNvSpPr>
              <a:spLocks noChangeArrowheads="1"/>
            </p:cNvSpPr>
            <p:nvPr/>
          </p:nvSpPr>
          <p:spPr bwMode="gray">
            <a:xfrm>
              <a:off x="25663403" y="4032250"/>
              <a:ext cx="920883" cy="2127250"/>
            </a:xfrm>
            <a:prstGeom prst="rect">
              <a:avLst/>
            </a:prstGeom>
            <a:solidFill>
              <a:srgbClr val="F3BE2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0" name="Rectangle 8"/>
            <p:cNvSpPr>
              <a:spLocks noChangeArrowheads="1"/>
            </p:cNvSpPr>
            <p:nvPr/>
          </p:nvSpPr>
          <p:spPr bwMode="gray">
            <a:xfrm>
              <a:off x="25049482" y="2899477"/>
              <a:ext cx="734694" cy="1289321"/>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1" name="Rectangle 9"/>
            <p:cNvSpPr>
              <a:spLocks noChangeArrowheads="1"/>
            </p:cNvSpPr>
            <p:nvPr/>
          </p:nvSpPr>
          <p:spPr bwMode="gray">
            <a:xfrm>
              <a:off x="25049482" y="4032250"/>
              <a:ext cx="734693" cy="212725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2" name="Rectangle 11"/>
            <p:cNvSpPr>
              <a:spLocks noChangeArrowheads="1"/>
            </p:cNvSpPr>
            <p:nvPr/>
          </p:nvSpPr>
          <p:spPr bwMode="gray">
            <a:xfrm>
              <a:off x="24665780" y="706365"/>
              <a:ext cx="477045" cy="2263848"/>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33" name="Rectangle 12"/>
            <p:cNvSpPr>
              <a:spLocks noChangeArrowheads="1"/>
            </p:cNvSpPr>
            <p:nvPr/>
          </p:nvSpPr>
          <p:spPr bwMode="gray">
            <a:xfrm>
              <a:off x="24665780" y="2899478"/>
              <a:ext cx="477045" cy="1289321"/>
            </a:xfrm>
            <a:prstGeom prst="rect">
              <a:avLst/>
            </a:prstGeom>
            <a:solidFill>
              <a:srgbClr val="DB4D5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0" name="Rectangle 13"/>
            <p:cNvSpPr>
              <a:spLocks noChangeArrowheads="1"/>
            </p:cNvSpPr>
            <p:nvPr/>
          </p:nvSpPr>
          <p:spPr bwMode="gray">
            <a:xfrm>
              <a:off x="24665780" y="4032250"/>
              <a:ext cx="477045" cy="2127250"/>
            </a:xfrm>
            <a:prstGeom prst="rect">
              <a:avLst/>
            </a:prstGeom>
            <a:solidFill>
              <a:srgbClr val="D13A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1" name="Rectangle 14"/>
            <p:cNvSpPr>
              <a:spLocks noChangeArrowheads="1"/>
            </p:cNvSpPr>
            <p:nvPr/>
          </p:nvSpPr>
          <p:spPr bwMode="gray">
            <a:xfrm>
              <a:off x="19140488" y="669925"/>
              <a:ext cx="5662612" cy="2300288"/>
            </a:xfrm>
            <a:prstGeom prst="rect">
              <a:avLst/>
            </a:prstGeom>
            <a:solidFill>
              <a:srgbClr val="D74021"/>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2" name="Rectangle 15"/>
            <p:cNvSpPr>
              <a:spLocks noChangeArrowheads="1"/>
            </p:cNvSpPr>
            <p:nvPr/>
          </p:nvSpPr>
          <p:spPr bwMode="gray">
            <a:xfrm>
              <a:off x="19140488" y="2899478"/>
              <a:ext cx="5662612" cy="1289321"/>
            </a:xfrm>
            <a:prstGeom prst="rect">
              <a:avLst/>
            </a:prstGeom>
            <a:solidFill>
              <a:srgbClr val="CD2F1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sp>
          <p:nvSpPr>
            <p:cNvPr id="43" name="Freeform 16"/>
            <p:cNvSpPr>
              <a:spLocks/>
            </p:cNvSpPr>
            <p:nvPr/>
          </p:nvSpPr>
          <p:spPr bwMode="gray">
            <a:xfrm>
              <a:off x="19140488" y="4032250"/>
              <a:ext cx="5662612" cy="2127250"/>
            </a:xfrm>
            <a:custGeom>
              <a:avLst/>
              <a:gdLst/>
              <a:ahLst/>
              <a:cxnLst>
                <a:cxn ang="0">
                  <a:pos x="0" y="0"/>
                </a:cxn>
                <a:cxn ang="0">
                  <a:pos x="3567" y="0"/>
                </a:cxn>
                <a:cxn ang="0">
                  <a:pos x="3567" y="1340"/>
                </a:cxn>
                <a:cxn ang="0">
                  <a:pos x="1372" y="1340"/>
                </a:cxn>
                <a:cxn ang="0">
                  <a:pos x="1372" y="181"/>
                </a:cxn>
                <a:cxn ang="0">
                  <a:pos x="0" y="181"/>
                </a:cxn>
                <a:cxn ang="0">
                  <a:pos x="0" y="0"/>
                </a:cxn>
              </a:cxnLst>
              <a:rect l="0" t="0" r="r" b="b"/>
              <a:pathLst>
                <a:path w="3567" h="1340">
                  <a:moveTo>
                    <a:pt x="0" y="0"/>
                  </a:moveTo>
                  <a:lnTo>
                    <a:pt x="3567" y="0"/>
                  </a:lnTo>
                  <a:lnTo>
                    <a:pt x="3567" y="1340"/>
                  </a:lnTo>
                  <a:lnTo>
                    <a:pt x="1372" y="1340"/>
                  </a:lnTo>
                  <a:lnTo>
                    <a:pt x="1372" y="181"/>
                  </a:lnTo>
                  <a:lnTo>
                    <a:pt x="0" y="181"/>
                  </a:lnTo>
                  <a:lnTo>
                    <a:pt x="0" y="0"/>
                  </a:lnTo>
                  <a:close/>
                </a:path>
              </a:pathLst>
            </a:custGeom>
            <a:solidFill>
              <a:srgbClr val="C4230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a:p>
          </p:txBody>
        </p:sp>
        <p:sp>
          <p:nvSpPr>
            <p:cNvPr id="44" name="Rectangle 10"/>
            <p:cNvSpPr>
              <a:spLocks noChangeArrowheads="1"/>
            </p:cNvSpPr>
            <p:nvPr/>
          </p:nvSpPr>
          <p:spPr bwMode="gray">
            <a:xfrm>
              <a:off x="19140488" y="13674"/>
              <a:ext cx="5662612" cy="692692"/>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a:p>
          </p:txBody>
        </p:sp>
      </p:grpSp>
      <p:sp>
        <p:nvSpPr>
          <p:cNvPr id="54" name="Title 1"/>
          <p:cNvSpPr>
            <a:spLocks noGrp="1"/>
          </p:cNvSpPr>
          <p:nvPr>
            <p:ph type="ctrTitle" hasCustomPrompt="1"/>
          </p:nvPr>
        </p:nvSpPr>
        <p:spPr bwMode="white">
          <a:xfrm>
            <a:off x="1895476" y="838200"/>
            <a:ext cx="5343525" cy="914400"/>
          </a:xfrm>
        </p:spPr>
        <p:txBody>
          <a:bodyPr anchor="t" anchorCtr="0">
            <a:noAutofit/>
          </a:bodyPr>
          <a:lstStyle>
            <a:lvl1pPr>
              <a:lnSpc>
                <a:spcPct val="90000"/>
              </a:lnSpc>
              <a:defRPr sz="3200" b="1" i="1" baseline="0">
                <a:solidFill>
                  <a:schemeClr val="bg1"/>
                </a:solidFill>
              </a:defRPr>
            </a:lvl1pPr>
          </a:lstStyle>
          <a:p>
            <a:r>
              <a:rPr lang="en-US" noProof="0" dirty="0"/>
              <a:t>Click to add the presentation’s main title</a:t>
            </a:r>
          </a:p>
        </p:txBody>
      </p:sp>
      <p:sp>
        <p:nvSpPr>
          <p:cNvPr id="55" name="Subtitle 2"/>
          <p:cNvSpPr>
            <a:spLocks noGrp="1"/>
          </p:cNvSpPr>
          <p:nvPr>
            <p:ph type="subTitle" idx="1" hasCustomPrompt="1"/>
          </p:nvPr>
        </p:nvSpPr>
        <p:spPr bwMode="white">
          <a:xfrm>
            <a:off x="1895476" y="1828801"/>
            <a:ext cx="5343525" cy="914401"/>
          </a:xfrm>
        </p:spPr>
        <p:txBody>
          <a:bodyPr>
            <a:noAutofit/>
          </a:bodyPr>
          <a:lstStyle>
            <a:lvl1pPr marL="0" indent="0" algn="l">
              <a:lnSpc>
                <a:spcPct val="90000"/>
              </a:lnSpc>
              <a:spcAft>
                <a:spcPts val="0"/>
              </a:spcAft>
              <a:buNone/>
              <a:defRPr sz="3200" baseline="0">
                <a:solidFill>
                  <a:schemeClr val="bg1"/>
                </a:solidFill>
                <a:latin typeface="+mj-lt"/>
              </a:defRPr>
            </a:lvl1pPr>
            <a:lvl2pPr marL="0" indent="0" algn="l">
              <a:buNone/>
              <a:defRPr sz="1800">
                <a:solidFill>
                  <a:schemeClr val="bg1"/>
                </a:solidFill>
                <a:latin typeface="+mj-lt"/>
              </a:defRPr>
            </a:lvl2pPr>
            <a:lvl3pPr marL="457200" indent="0" algn="l">
              <a:buNone/>
              <a:defRPr sz="1800">
                <a:solidFill>
                  <a:schemeClr val="bg1"/>
                </a:solidFill>
                <a:latin typeface="+mj-lt"/>
              </a:defRPr>
            </a:lvl3pPr>
            <a:lvl4pPr marL="914400" indent="0" algn="l">
              <a:buNone/>
              <a:defRPr sz="1800">
                <a:solidFill>
                  <a:schemeClr val="bg1"/>
                </a:solidFill>
                <a:latin typeface="+mj-lt"/>
              </a:defRPr>
            </a:lvl4pPr>
            <a:lvl5pPr marL="1371600" indent="0" algn="l">
              <a:buNone/>
              <a:defRPr sz="1800">
                <a:solidFill>
                  <a:schemeClr val="bg1"/>
                </a:solidFill>
                <a:latin typeface="+mj-lt"/>
              </a:defRPr>
            </a:lvl5pPr>
            <a:lvl6pPr marL="1828800" indent="0" algn="l">
              <a:buNone/>
              <a:defRPr sz="1800">
                <a:solidFill>
                  <a:schemeClr val="bg1"/>
                </a:solidFill>
                <a:latin typeface="+mj-lt"/>
              </a:defRPr>
            </a:lvl6pPr>
            <a:lvl7pPr marL="2286000" indent="0" algn="l">
              <a:buNone/>
              <a:defRPr sz="1800">
                <a:solidFill>
                  <a:schemeClr val="bg1"/>
                </a:solidFill>
                <a:latin typeface="+mj-lt"/>
              </a:defRPr>
            </a:lvl7pPr>
            <a:lvl8pPr marL="2743200" indent="0" algn="l">
              <a:buNone/>
              <a:defRPr sz="1800">
                <a:solidFill>
                  <a:schemeClr val="bg1"/>
                </a:solidFill>
                <a:latin typeface="+mj-lt"/>
              </a:defRPr>
            </a:lvl8pPr>
            <a:lvl9pPr marL="3200400" indent="0" algn="l">
              <a:buNone/>
              <a:defRPr sz="1800">
                <a:solidFill>
                  <a:schemeClr val="bg1"/>
                </a:solidFill>
                <a:latin typeface="+mj-lt"/>
              </a:defRPr>
            </a:lvl9pPr>
          </a:lstStyle>
          <a:p>
            <a:r>
              <a:rPr lang="en-US" noProof="0" dirty="0"/>
              <a:t>Subtitle and date (move higher if title is only one line)</a:t>
            </a:r>
          </a:p>
        </p:txBody>
      </p:sp>
      <p:sp>
        <p:nvSpPr>
          <p:cNvPr id="56" name="Text Placeholder 31"/>
          <p:cNvSpPr>
            <a:spLocks noGrp="1"/>
          </p:cNvSpPr>
          <p:nvPr>
            <p:ph type="body" sz="quarter" idx="10" hasCustomPrompt="1"/>
          </p:nvPr>
        </p:nvSpPr>
        <p:spPr bwMode="white">
          <a:xfrm>
            <a:off x="1895475" y="374904"/>
            <a:ext cx="4105656" cy="146304"/>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US" noProof="0" dirty="0"/>
              <a:t>www.pwc.com</a:t>
            </a:r>
          </a:p>
        </p:txBody>
      </p:sp>
      <p:sp>
        <p:nvSpPr>
          <p:cNvPr id="17" name="Picture Placeholder 76"/>
          <p:cNvSpPr>
            <a:spLocks noGrp="1"/>
          </p:cNvSpPr>
          <p:nvPr>
            <p:ph type="pic" sz="quarter" idx="13"/>
          </p:nvPr>
        </p:nvSpPr>
        <p:spPr>
          <a:xfrm>
            <a:off x="1752600" y="2899979"/>
            <a:ext cx="6324600" cy="3272223"/>
          </a:xfrm>
        </p:spPr>
        <p:txBody>
          <a:bodyPr/>
          <a:lstStyle>
            <a:lvl1pPr>
              <a:defRPr sz="1400"/>
            </a:lvl1pPr>
          </a:lstStyle>
          <a:p>
            <a:r>
              <a:rPr lang="en-US" noProof="0" dirty="0"/>
              <a:t>Click icon to add picture</a:t>
            </a:r>
          </a:p>
        </p:txBody>
      </p:sp>
      <p:grpSp>
        <p:nvGrpSpPr>
          <p:cNvPr id="18" name="Group 32"/>
          <p:cNvGrpSpPr/>
          <p:nvPr userDrawn="1"/>
        </p:nvGrpSpPr>
        <p:grpSpPr>
          <a:xfrm>
            <a:off x="968592" y="6170993"/>
            <a:ext cx="914400" cy="533479"/>
            <a:chOff x="518032" y="978681"/>
            <a:chExt cx="4572000" cy="2667393"/>
          </a:xfrm>
        </p:grpSpPr>
        <p:sp>
          <p:nvSpPr>
            <p:cNvPr id="19" name="Rectangle 37"/>
            <p:cNvSpPr>
              <a:spLocks noChangeArrowheads="1"/>
            </p:cNvSpPr>
            <p:nvPr userDrawn="1"/>
          </p:nvSpPr>
          <p:spPr bwMode="black">
            <a:xfrm>
              <a:off x="3295650" y="978681"/>
              <a:ext cx="1143000" cy="263229"/>
            </a:xfrm>
            <a:prstGeom prst="rect">
              <a:avLst/>
            </a:prstGeom>
            <a:solidFill>
              <a:srgbClr val="A10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21" name="Freeform 7"/>
            <p:cNvSpPr>
              <a:spLocks noEditPoints="1"/>
            </p:cNvSpPr>
            <p:nvPr userDrawn="1"/>
          </p:nvSpPr>
          <p:spPr bwMode="black">
            <a:xfrm>
              <a:off x="518032" y="1922794"/>
              <a:ext cx="4572000" cy="172328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noProof="0"/>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ver Slide: Colour">
    <p:spTree>
      <p:nvGrpSpPr>
        <p:cNvPr id="1" name=""/>
        <p:cNvGrpSpPr/>
        <p:nvPr/>
      </p:nvGrpSpPr>
      <p:grpSpPr>
        <a:xfrm>
          <a:off x="0" y="0"/>
          <a:ext cx="0" cy="0"/>
          <a:chOff x="0" y="0"/>
          <a:chExt cx="0" cy="0"/>
        </a:xfrm>
      </p:grpSpPr>
      <p:sp>
        <p:nvSpPr>
          <p:cNvPr id="82" name="Rectangle 649"/>
          <p:cNvSpPr>
            <a:spLocks noChangeArrowheads="1"/>
          </p:cNvSpPr>
          <p:nvPr/>
        </p:nvSpPr>
        <p:spPr bwMode="gray">
          <a:xfrm>
            <a:off x="7391400" y="685803"/>
            <a:ext cx="1752600" cy="5486399"/>
          </a:xfrm>
          <a:prstGeom prst="rect">
            <a:avLst/>
          </a:prstGeom>
          <a:solidFill>
            <a:schemeClr val="tx2">
              <a:lumMod val="40000"/>
              <a:lumOff val="60000"/>
            </a:schemeClr>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noProof="0" dirty="0"/>
          </a:p>
        </p:txBody>
      </p:sp>
      <p:sp>
        <p:nvSpPr>
          <p:cNvPr id="81" name="Rectangle 648"/>
          <p:cNvSpPr>
            <a:spLocks noChangeArrowheads="1"/>
          </p:cNvSpPr>
          <p:nvPr/>
        </p:nvSpPr>
        <p:spPr bwMode="gray">
          <a:xfrm>
            <a:off x="1752600" y="0"/>
            <a:ext cx="5638800" cy="685800"/>
          </a:xfrm>
          <a:prstGeom prst="rect">
            <a:avLst/>
          </a:prstGeom>
          <a:solidFill>
            <a:schemeClr val="tx2">
              <a:lumMod val="60000"/>
              <a:lumOff val="40000"/>
            </a:schemeClr>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noProof="0" dirty="0"/>
          </a:p>
        </p:txBody>
      </p:sp>
      <p:sp>
        <p:nvSpPr>
          <p:cNvPr id="83" name="Rectangle 650"/>
          <p:cNvSpPr>
            <a:spLocks noChangeArrowheads="1"/>
          </p:cNvSpPr>
          <p:nvPr/>
        </p:nvSpPr>
        <p:spPr bwMode="gray">
          <a:xfrm>
            <a:off x="1752600" y="685800"/>
            <a:ext cx="5638800" cy="5486400"/>
          </a:xfrm>
          <a:prstGeom prst="rect">
            <a:avLst/>
          </a:prstGeom>
          <a:solidFill>
            <a:schemeClr val="tx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800" noProof="0" dirty="0"/>
          </a:p>
        </p:txBody>
      </p:sp>
      <p:sp>
        <p:nvSpPr>
          <p:cNvPr id="50" name="Title 1"/>
          <p:cNvSpPr>
            <a:spLocks noGrp="1"/>
          </p:cNvSpPr>
          <p:nvPr>
            <p:ph type="ctrTitle" hasCustomPrompt="1"/>
          </p:nvPr>
        </p:nvSpPr>
        <p:spPr bwMode="white">
          <a:xfrm>
            <a:off x="1895476" y="838200"/>
            <a:ext cx="5343525" cy="914400"/>
          </a:xfrm>
        </p:spPr>
        <p:txBody>
          <a:bodyPr anchor="t" anchorCtr="0">
            <a:noAutofit/>
          </a:bodyPr>
          <a:lstStyle>
            <a:lvl1pPr>
              <a:lnSpc>
                <a:spcPct val="90000"/>
              </a:lnSpc>
              <a:defRPr sz="3200" b="1" i="1" baseline="0">
                <a:solidFill>
                  <a:schemeClr val="bg1"/>
                </a:solidFill>
              </a:defRPr>
            </a:lvl1pPr>
          </a:lstStyle>
          <a:p>
            <a:r>
              <a:rPr lang="en-US" noProof="0" dirty="0"/>
              <a:t>Click to add the presentation’s main title</a:t>
            </a:r>
          </a:p>
        </p:txBody>
      </p:sp>
      <p:sp>
        <p:nvSpPr>
          <p:cNvPr id="51" name="Subtitle 2"/>
          <p:cNvSpPr>
            <a:spLocks noGrp="1"/>
          </p:cNvSpPr>
          <p:nvPr>
            <p:ph type="subTitle" idx="1" hasCustomPrompt="1"/>
          </p:nvPr>
        </p:nvSpPr>
        <p:spPr bwMode="white">
          <a:xfrm>
            <a:off x="1895476" y="1828801"/>
            <a:ext cx="5343525" cy="914401"/>
          </a:xfrm>
        </p:spPr>
        <p:txBody>
          <a:bodyPr>
            <a:noAutofit/>
          </a:bodyPr>
          <a:lstStyle>
            <a:lvl1pPr marL="0" indent="0" algn="l">
              <a:lnSpc>
                <a:spcPct val="90000"/>
              </a:lnSpc>
              <a:spcAft>
                <a:spcPts val="0"/>
              </a:spcAft>
              <a:buNone/>
              <a:defRPr sz="3200" baseline="0">
                <a:solidFill>
                  <a:schemeClr val="bg1"/>
                </a:solidFill>
                <a:latin typeface="+mj-lt"/>
              </a:defRPr>
            </a:lvl1pPr>
            <a:lvl2pPr marL="0" indent="0" algn="l">
              <a:buNone/>
              <a:defRPr sz="1800">
                <a:solidFill>
                  <a:schemeClr val="bg1"/>
                </a:solidFill>
                <a:latin typeface="+mj-lt"/>
              </a:defRPr>
            </a:lvl2pPr>
            <a:lvl3pPr marL="457200" indent="0" algn="l">
              <a:buNone/>
              <a:defRPr sz="1800">
                <a:solidFill>
                  <a:schemeClr val="bg1"/>
                </a:solidFill>
                <a:latin typeface="+mj-lt"/>
              </a:defRPr>
            </a:lvl3pPr>
            <a:lvl4pPr marL="914400" indent="0" algn="l">
              <a:buNone/>
              <a:defRPr sz="1800">
                <a:solidFill>
                  <a:schemeClr val="bg1"/>
                </a:solidFill>
                <a:latin typeface="+mj-lt"/>
              </a:defRPr>
            </a:lvl4pPr>
            <a:lvl5pPr marL="1371600" indent="0" algn="l">
              <a:buNone/>
              <a:defRPr sz="1800">
                <a:solidFill>
                  <a:schemeClr val="bg1"/>
                </a:solidFill>
                <a:latin typeface="+mj-lt"/>
              </a:defRPr>
            </a:lvl5pPr>
            <a:lvl6pPr marL="1828800" indent="0" algn="l">
              <a:buNone/>
              <a:defRPr sz="1800">
                <a:solidFill>
                  <a:schemeClr val="bg1"/>
                </a:solidFill>
                <a:latin typeface="+mj-lt"/>
              </a:defRPr>
            </a:lvl6pPr>
            <a:lvl7pPr marL="2286000" indent="0" algn="l">
              <a:buNone/>
              <a:defRPr sz="1800">
                <a:solidFill>
                  <a:schemeClr val="bg1"/>
                </a:solidFill>
                <a:latin typeface="+mj-lt"/>
              </a:defRPr>
            </a:lvl7pPr>
            <a:lvl8pPr marL="2743200" indent="0" algn="l">
              <a:buNone/>
              <a:defRPr sz="1800">
                <a:solidFill>
                  <a:schemeClr val="bg1"/>
                </a:solidFill>
                <a:latin typeface="+mj-lt"/>
              </a:defRPr>
            </a:lvl8pPr>
            <a:lvl9pPr marL="3200400" indent="0" algn="l">
              <a:buNone/>
              <a:defRPr sz="1800">
                <a:solidFill>
                  <a:schemeClr val="bg1"/>
                </a:solidFill>
                <a:latin typeface="+mj-lt"/>
              </a:defRPr>
            </a:lvl9pPr>
          </a:lstStyle>
          <a:p>
            <a:r>
              <a:rPr lang="en-US" noProof="0" dirty="0"/>
              <a:t>Subtitle and date (move higher if title is only one line)</a:t>
            </a:r>
          </a:p>
        </p:txBody>
      </p:sp>
      <p:sp>
        <p:nvSpPr>
          <p:cNvPr id="52" name="Text Placeholder 31"/>
          <p:cNvSpPr>
            <a:spLocks noGrp="1"/>
          </p:cNvSpPr>
          <p:nvPr>
            <p:ph type="body" sz="quarter" idx="10" hasCustomPrompt="1"/>
          </p:nvPr>
        </p:nvSpPr>
        <p:spPr bwMode="white">
          <a:xfrm>
            <a:off x="1895475" y="374904"/>
            <a:ext cx="4105656" cy="146304"/>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US" noProof="0" dirty="0"/>
              <a:t>www.pwc.com</a:t>
            </a:r>
          </a:p>
        </p:txBody>
      </p:sp>
      <p:grpSp>
        <p:nvGrpSpPr>
          <p:cNvPr id="11" name="Group 32"/>
          <p:cNvGrpSpPr/>
          <p:nvPr userDrawn="1"/>
        </p:nvGrpSpPr>
        <p:grpSpPr>
          <a:xfrm>
            <a:off x="968592" y="6170993"/>
            <a:ext cx="914400" cy="533479"/>
            <a:chOff x="518032" y="978681"/>
            <a:chExt cx="4572000" cy="2667393"/>
          </a:xfrm>
        </p:grpSpPr>
        <p:sp>
          <p:nvSpPr>
            <p:cNvPr id="12" name="Rectangle 37"/>
            <p:cNvSpPr>
              <a:spLocks noChangeArrowheads="1"/>
            </p:cNvSpPr>
            <p:nvPr userDrawn="1"/>
          </p:nvSpPr>
          <p:spPr bwMode="black">
            <a:xfrm>
              <a:off x="3295650" y="978681"/>
              <a:ext cx="1143000" cy="263229"/>
            </a:xfrm>
            <a:prstGeom prst="rect">
              <a:avLst/>
            </a:prstGeom>
            <a:solidFill>
              <a:schemeClr val="tx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800" noProof="0"/>
            </a:p>
          </p:txBody>
        </p:sp>
        <p:sp>
          <p:nvSpPr>
            <p:cNvPr id="13" name="Freeform 7"/>
            <p:cNvSpPr>
              <a:spLocks noEditPoints="1"/>
            </p:cNvSpPr>
            <p:nvPr userDrawn="1"/>
          </p:nvSpPr>
          <p:spPr bwMode="black">
            <a:xfrm>
              <a:off x="518032" y="1922794"/>
              <a:ext cx="4572000" cy="172328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1800" noProof="0"/>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losing Statement">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lvl1pPr>
              <a:defRPr sz="3200">
                <a:solidFill>
                  <a:schemeClr val="tx1"/>
                </a:solidFill>
              </a:defRPr>
            </a:lvl1pPr>
          </a:lstStyle>
          <a:p>
            <a:r>
              <a:rPr lang="en-US" noProof="0" dirty="0"/>
              <a:t>Click to edit Master title style</a:t>
            </a:r>
          </a:p>
        </p:txBody>
      </p:sp>
      <p:cxnSp>
        <p:nvCxnSpPr>
          <p:cNvPr id="7" name="Shape 6"/>
          <p:cNvCxnSpPr/>
          <p:nvPr/>
        </p:nvCxnSpPr>
        <p:spPr>
          <a:xfrm rot="5400000" flipH="1" flipV="1">
            <a:off x="4419602"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2_Content: One">
    <p:spTree>
      <p:nvGrpSpPr>
        <p:cNvPr id="1" name=""/>
        <p:cNvGrpSpPr/>
        <p:nvPr/>
      </p:nvGrpSpPr>
      <p:grpSpPr>
        <a:xfrm>
          <a:off x="0" y="0"/>
          <a:ext cx="0" cy="0"/>
          <a:chOff x="0" y="0"/>
          <a:chExt cx="0" cy="0"/>
        </a:xfrm>
      </p:grpSpPr>
      <p:sp>
        <p:nvSpPr>
          <p:cNvPr id="47"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34" name="Content Placeholder 2"/>
          <p:cNvSpPr>
            <a:spLocks noGrp="1"/>
          </p:cNvSpPr>
          <p:nvPr>
            <p:ph sz="quarter" idx="24"/>
            <p:custDataLst>
              <p:tags r:id="rId1"/>
            </p:custDataLst>
          </p:nvPr>
        </p:nvSpPr>
        <p:spPr>
          <a:xfrm>
            <a:off x="482139" y="1815353"/>
            <a:ext cx="8179724"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5" name="HeaderTOCPlaceholder"/>
          <p:cNvSpPr txBox="1"/>
          <p:nvPr userDrawn="1">
            <p:custDataLst>
              <p:tags r:id="rId2"/>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2" name="Straight Connector 51"/>
          <p:cNvCxnSpPr/>
          <p:nvPr userDrawn="1"/>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8" name="Section Header"/>
          <p:cNvSpPr txBox="1"/>
          <p:nvPr userDrawn="1">
            <p:custDataLst>
              <p:tags r:id="rId3"/>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ate/Filepath" hidden="1"/>
          <p:cNvSpPr txBox="1"/>
          <p:nvPr userDrawn="1">
            <p:custDataLst>
              <p:tags r:id="rId4"/>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9" name="Slide Tags" hidden="1"/>
          <p:cNvSpPr txBox="1"/>
          <p:nvPr userDrawn="1">
            <p:custDataLst>
              <p:tags r:id="rId5"/>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6" name="Frame Line"/>
          <p:cNvCxnSpPr/>
          <p:nvPr userDrawn="1"/>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PwC Text"/>
          <p:cNvSpPr txBox="1"/>
          <p:nvPr userDrawn="1"/>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4" name="Report Date"/>
          <p:cNvSpPr txBox="1"/>
          <p:nvPr userDrawn="1">
            <p:custDataLst>
              <p:tags r:id="rId6"/>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5" name="Page Number"/>
          <p:cNvSpPr txBox="1"/>
          <p:nvPr userDrawn="1">
            <p:custDataLst>
              <p:tags r:id="rId7"/>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7" name="Presentation Disclaimer"/>
          <p:cNvSpPr txBox="1"/>
          <p:nvPr userDrawn="1">
            <p:custDataLst>
              <p:tags r:id="rId8"/>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31" name="Straight Connector 30"/>
          <p:cNvCxnSpPr/>
          <p:nvPr userDrawn="1"/>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Section Footer"/>
          <p:cNvSpPr txBox="1"/>
          <p:nvPr userDrawn="1">
            <p:custDataLst>
              <p:tags r:id="rId9"/>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35" name="Draft stamp" hidden="1"/>
          <p:cNvSpPr txBox="1"/>
          <p:nvPr userDrawn="1">
            <p:custDataLst>
              <p:tags r:id="rId10"/>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13499040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Intro Only">
    <p:spTree>
      <p:nvGrpSpPr>
        <p:cNvPr id="1" name=""/>
        <p:cNvGrpSpPr/>
        <p:nvPr/>
      </p:nvGrpSpPr>
      <p:grpSpPr>
        <a:xfrm>
          <a:off x="0" y="0"/>
          <a:ext cx="0" cy="0"/>
          <a:chOff x="0" y="0"/>
          <a:chExt cx="0" cy="0"/>
        </a:xfrm>
      </p:grpSpPr>
      <p:sp>
        <p:nvSpPr>
          <p:cNvPr id="13" name="HeaderTOCPlaceholder"/>
          <p:cNvSpPr txBox="1"/>
          <p:nvPr>
            <p:custDataLst>
              <p:tags r:id="rId1"/>
            </p:custDataLst>
          </p:nvPr>
        </p:nvSpPr>
        <p:spPr>
          <a:xfrm>
            <a:off x="3255818"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6" name="Date/Filepath" hidden="1"/>
          <p:cNvSpPr txBox="1"/>
          <p:nvPr>
            <p:custDataLst>
              <p:tags r:id="rId2"/>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7" name="Slide Tags" hidden="1"/>
          <p:cNvSpPr txBox="1"/>
          <p:nvPr>
            <p:custDataLst>
              <p:tags r:id="rId3"/>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15"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Page Number"/>
          <p:cNvSpPr txBox="1"/>
          <p:nvPr>
            <p:custDataLst>
              <p:tags r:id="rId4"/>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cxnSp>
        <p:nvCxnSpPr>
          <p:cNvPr id="27" name="Straight Connector 26"/>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Section Footer"/>
          <p:cNvSpPr txBox="1"/>
          <p:nvPr>
            <p:custDataLst>
              <p:tags r:id="rId5"/>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29" name="Draft stamp" hidden="1"/>
          <p:cNvSpPr txBox="1"/>
          <p:nvPr>
            <p:custDataLst>
              <p:tags r:id="rId6"/>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3978543585"/>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ver slide">
    <p:spTree>
      <p:nvGrpSpPr>
        <p:cNvPr id="1" name=""/>
        <p:cNvGrpSpPr/>
        <p:nvPr/>
      </p:nvGrpSpPr>
      <p:grpSpPr>
        <a:xfrm>
          <a:off x="0" y="0"/>
          <a:ext cx="0" cy="0"/>
          <a:chOff x="0" y="0"/>
          <a:chExt cx="0" cy="0"/>
        </a:xfrm>
      </p:grpSpPr>
      <p:grpSp>
        <p:nvGrpSpPr>
          <p:cNvPr id="40" name="Logo with Panels"/>
          <p:cNvGrpSpPr/>
          <p:nvPr/>
        </p:nvGrpSpPr>
        <p:grpSpPr>
          <a:xfrm>
            <a:off x="1027608" y="0"/>
            <a:ext cx="8116392" cy="6457244"/>
            <a:chOff x="1130368" y="0"/>
            <a:chExt cx="8928031" cy="7318210"/>
          </a:xfrm>
        </p:grpSpPr>
        <p:grpSp>
          <p:nvGrpSpPr>
            <p:cNvPr id="4" name="Logo Shapes"/>
            <p:cNvGrpSpPr/>
            <p:nvPr userDrawn="1"/>
          </p:nvGrpSpPr>
          <p:grpSpPr>
            <a:xfrm>
              <a:off x="1904992" y="0"/>
              <a:ext cx="8153407" cy="6792223"/>
              <a:chOff x="1828800" y="-7143"/>
              <a:chExt cx="8153407" cy="6792223"/>
            </a:xfrm>
          </p:grpSpPr>
          <p:sp>
            <p:nvSpPr>
              <p:cNvPr id="23" name="Rectangle 1"/>
              <p:cNvSpPr>
                <a:spLocks noChangeArrowheads="1"/>
              </p:cNvSpPr>
              <p:nvPr/>
            </p:nvSpPr>
            <p:spPr bwMode="gray">
              <a:xfrm>
                <a:off x="1832930" y="4496096"/>
                <a:ext cx="8149277" cy="2288752"/>
              </a:xfrm>
              <a:prstGeom prst="rect">
                <a:avLst/>
              </a:prstGeom>
              <a:solidFill>
                <a:srgbClr val="F3BE2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68" name="Rectangle 2"/>
              <p:cNvSpPr>
                <a:spLocks noChangeArrowheads="1"/>
              </p:cNvSpPr>
              <p:nvPr userDrawn="1"/>
            </p:nvSpPr>
            <p:spPr bwMode="gray">
              <a:xfrm>
                <a:off x="1828800" y="3583783"/>
                <a:ext cx="7132320" cy="3201066"/>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0" name="Rectangle 3"/>
              <p:cNvSpPr>
                <a:spLocks noChangeArrowheads="1"/>
              </p:cNvSpPr>
              <p:nvPr userDrawn="1"/>
            </p:nvSpPr>
            <p:spPr bwMode="gray">
              <a:xfrm>
                <a:off x="1828800" y="4496096"/>
                <a:ext cx="7132320" cy="2288752"/>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4" name="Rectangle 4"/>
              <p:cNvSpPr>
                <a:spLocks noChangeArrowheads="1"/>
              </p:cNvSpPr>
              <p:nvPr/>
            </p:nvSpPr>
            <p:spPr bwMode="gray">
              <a:xfrm>
                <a:off x="1828800" y="-7143"/>
                <a:ext cx="6248400" cy="6772722"/>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8" name="Rectangle 5"/>
              <p:cNvSpPr>
                <a:spLocks noChangeArrowheads="1"/>
              </p:cNvSpPr>
              <p:nvPr userDrawn="1"/>
            </p:nvSpPr>
            <p:spPr bwMode="gray">
              <a:xfrm>
                <a:off x="1828800" y="1057864"/>
                <a:ext cx="6492240" cy="5707715"/>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69" name="Rectangle 6"/>
              <p:cNvSpPr>
                <a:spLocks noChangeArrowheads="1"/>
              </p:cNvSpPr>
              <p:nvPr userDrawn="1"/>
            </p:nvSpPr>
            <p:spPr bwMode="gray">
              <a:xfrm>
                <a:off x="1828800" y="3583783"/>
                <a:ext cx="6492240" cy="3201066"/>
              </a:xfrm>
              <a:prstGeom prst="rect">
                <a:avLst/>
              </a:prstGeom>
              <a:solidFill>
                <a:srgbClr val="DB4D5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9" name="Rectangle 7"/>
              <p:cNvSpPr>
                <a:spLocks noChangeArrowheads="1"/>
              </p:cNvSpPr>
              <p:nvPr userDrawn="1"/>
            </p:nvSpPr>
            <p:spPr bwMode="gray">
              <a:xfrm>
                <a:off x="1828800" y="1057864"/>
                <a:ext cx="6248400" cy="5707715"/>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sz="1588" noProof="0" dirty="0"/>
              </a:p>
            </p:txBody>
          </p:sp>
          <p:sp>
            <p:nvSpPr>
              <p:cNvPr id="26" name="Rectangle 8"/>
              <p:cNvSpPr>
                <a:spLocks noChangeArrowheads="1"/>
              </p:cNvSpPr>
              <p:nvPr userDrawn="1"/>
            </p:nvSpPr>
            <p:spPr bwMode="gray">
              <a:xfrm>
                <a:off x="1828800" y="4496096"/>
                <a:ext cx="6492240" cy="2288752"/>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7" name="Rectangle 9"/>
              <p:cNvSpPr/>
              <p:nvPr userDrawn="1"/>
            </p:nvSpPr>
            <p:spPr bwMode="gray">
              <a:xfrm>
                <a:off x="1828800" y="3583783"/>
                <a:ext cx="6246019" cy="3201066"/>
              </a:xfrm>
              <a:prstGeom prst="rect">
                <a:avLst/>
              </a:prstGeom>
              <a:solidFill>
                <a:srgbClr val="CD2F0E"/>
              </a:solidFill>
              <a:ln w="0">
                <a:noFill/>
                <a:prstDash val="solid"/>
                <a:round/>
                <a:headEnd/>
                <a:tailEnd/>
              </a:ln>
            </p:spPr>
            <p:txBody>
              <a:bodyPr vert="horz" wrap="square" lIns="91440" tIns="45720" rIns="91440" bIns="45720" numCol="1" anchor="t" anchorCtr="0" compatLnSpc="1">
                <a:prstTxWarp prst="textNoShape">
                  <a:avLst/>
                </a:prstTxWarp>
              </a:bodyPr>
              <a:lstStyle/>
              <a:p>
                <a:pPr marL="0" algn="l" defTabSz="899010" rtl="0" eaLnBrk="1" latinLnBrk="0" hangingPunct="1"/>
                <a:endParaRPr lang="en-GB" sz="1765" kern="1200" noProof="0" dirty="0">
                  <a:solidFill>
                    <a:schemeClr val="tx1"/>
                  </a:solidFill>
                  <a:latin typeface="+mn-lt"/>
                  <a:ea typeface="+mn-ea"/>
                  <a:cs typeface="+mn-cs"/>
                </a:endParaRPr>
              </a:p>
            </p:txBody>
          </p:sp>
          <p:sp>
            <p:nvSpPr>
              <p:cNvPr id="30" name="Rectangle 10"/>
              <p:cNvSpPr>
                <a:spLocks noChangeArrowheads="1"/>
              </p:cNvSpPr>
              <p:nvPr userDrawn="1"/>
            </p:nvSpPr>
            <p:spPr bwMode="gray">
              <a:xfrm>
                <a:off x="1828800" y="4495801"/>
                <a:ext cx="6245352" cy="2288752"/>
              </a:xfrm>
              <a:prstGeom prst="rect">
                <a:avLst/>
              </a:prstGeom>
              <a:solidFill>
                <a:srgbClr val="C42303"/>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71" name="Rectangle 11"/>
              <p:cNvSpPr>
                <a:spLocks noChangeArrowheads="1"/>
              </p:cNvSpPr>
              <p:nvPr userDrawn="1"/>
            </p:nvSpPr>
            <p:spPr bwMode="gray">
              <a:xfrm>
                <a:off x="1828800" y="4800832"/>
                <a:ext cx="2286000" cy="1984248"/>
              </a:xfrm>
              <a:prstGeom prst="rect">
                <a:avLst/>
              </a:prstGeom>
              <a:solidFill>
                <a:srgbClr val="9A170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grpSp>
        <p:grpSp>
          <p:nvGrpSpPr>
            <p:cNvPr id="36" name="Logo"/>
            <p:cNvGrpSpPr/>
            <p:nvPr userDrawn="1"/>
          </p:nvGrpSpPr>
          <p:grpSpPr>
            <a:xfrm>
              <a:off x="1130368" y="6790556"/>
              <a:ext cx="905256" cy="527654"/>
              <a:chOff x="1130368" y="6790556"/>
              <a:chExt cx="905256" cy="527654"/>
            </a:xfrm>
          </p:grpSpPr>
          <p:sp>
            <p:nvSpPr>
              <p:cNvPr id="38" name="Rectangle 0"/>
              <p:cNvSpPr>
                <a:spLocks noChangeArrowheads="1"/>
              </p:cNvSpPr>
              <p:nvPr userDrawn="1"/>
            </p:nvSpPr>
            <p:spPr bwMode="black">
              <a:xfrm>
                <a:off x="1676368" y="6790556"/>
                <a:ext cx="228600" cy="57350"/>
              </a:xfrm>
              <a:prstGeom prst="rect">
                <a:avLst/>
              </a:prstGeom>
              <a:solidFill>
                <a:srgbClr val="A10000"/>
              </a:solidFill>
              <a:ln w="0">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06867" rtl="0" eaLnBrk="1" fontAlgn="auto" latinLnBrk="0" hangingPunct="1">
                  <a:lnSpc>
                    <a:spcPct val="100000"/>
                  </a:lnSpc>
                  <a:spcBef>
                    <a:spcPts val="0"/>
                  </a:spcBef>
                  <a:spcAft>
                    <a:spcPts val="0"/>
                  </a:spcAft>
                  <a:buClrTx/>
                  <a:buSzTx/>
                  <a:buFontTx/>
                  <a:buNone/>
                  <a:tabLst/>
                  <a:defRPr/>
                </a:pPr>
                <a:endParaRPr kumimoji="0" lang="en-GB" sz="1588" b="0" i="0" u="none" strike="noStrike" kern="1200" cap="none" spc="0" normalizeH="0" baseline="0" noProof="0" dirty="0">
                  <a:ln>
                    <a:noFill/>
                  </a:ln>
                  <a:solidFill>
                    <a:srgbClr val="000000"/>
                  </a:solidFill>
                  <a:effectLst/>
                  <a:uLnTx/>
                  <a:uFillTx/>
                  <a:latin typeface="Arial"/>
                  <a:ea typeface="+mn-ea"/>
                  <a:cs typeface="+mn-cs"/>
                </a:endParaRPr>
              </a:p>
            </p:txBody>
          </p:sp>
          <p:sp>
            <p:nvSpPr>
              <p:cNvPr id="39" name="Freeform 38"/>
              <p:cNvSpPr>
                <a:spLocks noEditPoints="1"/>
              </p:cNvSpPr>
              <p:nvPr userDrawn="1"/>
            </p:nvSpPr>
            <p:spPr bwMode="black">
              <a:xfrm>
                <a:off x="1130368" y="6976999"/>
                <a:ext cx="905256" cy="341211"/>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06867" rtl="0" eaLnBrk="1" fontAlgn="auto" latinLnBrk="0" hangingPunct="1">
                  <a:lnSpc>
                    <a:spcPct val="100000"/>
                  </a:lnSpc>
                  <a:spcBef>
                    <a:spcPts val="0"/>
                  </a:spcBef>
                  <a:spcAft>
                    <a:spcPts val="0"/>
                  </a:spcAft>
                  <a:buClrTx/>
                  <a:buSzTx/>
                  <a:buFontTx/>
                  <a:buNone/>
                  <a:tabLst/>
                  <a:defRPr/>
                </a:pPr>
                <a:endParaRPr kumimoji="0" lang="en-GB" sz="1588" b="0" i="0" u="none" strike="noStrike" kern="1200" cap="none" spc="0" normalizeH="0" baseline="0" noProof="0" dirty="0">
                  <a:ln>
                    <a:noFill/>
                  </a:ln>
                  <a:solidFill>
                    <a:srgbClr val="000000"/>
                  </a:solidFill>
                  <a:effectLst/>
                  <a:uLnTx/>
                  <a:uFillTx/>
                  <a:latin typeface="Arial"/>
                  <a:ea typeface="+mn-ea"/>
                  <a:cs typeface="+mn-cs"/>
                </a:endParaRPr>
              </a:p>
            </p:txBody>
          </p:sp>
        </p:grpSp>
      </p:grpSp>
      <p:sp>
        <p:nvSpPr>
          <p:cNvPr id="43" name="Descriptor"/>
          <p:cNvSpPr txBox="1"/>
          <p:nvPr>
            <p:custDataLst>
              <p:tags r:id="rId1"/>
            </p:custDataLst>
          </p:nvPr>
        </p:nvSpPr>
        <p:spPr bwMode="white">
          <a:xfrm>
            <a:off x="1870364" y="598469"/>
            <a:ext cx="32060" cy="135743"/>
          </a:xfrm>
          <a:prstGeom prst="rect">
            <a:avLst/>
          </a:prstGeom>
          <a:noFill/>
          <a:ln>
            <a:noFill/>
          </a:ln>
        </p:spPr>
        <p:txBody>
          <a:bodyPr wrap="none" lIns="0" tIns="0" rIns="0" bIns="0" rtlCol="0" anchor="b" anchorCtr="0">
            <a:spAutoFit/>
          </a:bodyPr>
          <a:lstStyle/>
          <a:p>
            <a:r>
              <a:rPr lang="en-GB" sz="882" noProof="0" dirty="0">
                <a:solidFill>
                  <a:schemeClr val="bg2"/>
                </a:solidFill>
                <a:latin typeface="Arial" pitchFamily="34" charset="0"/>
                <a:cs typeface="Arial" pitchFamily="34" charset="0"/>
              </a:rPr>
              <a:t> </a:t>
            </a:r>
          </a:p>
        </p:txBody>
      </p:sp>
      <p:sp>
        <p:nvSpPr>
          <p:cNvPr id="42" name="Report Title"/>
          <p:cNvSpPr>
            <a:spLocks noGrp="1"/>
          </p:cNvSpPr>
          <p:nvPr>
            <p:ph type="ctrTitle" hasCustomPrompt="1"/>
            <p:custDataLst>
              <p:tags r:id="rId2"/>
            </p:custDataLst>
          </p:nvPr>
        </p:nvSpPr>
        <p:spPr bwMode="white">
          <a:xfrm>
            <a:off x="1869835" y="1112680"/>
            <a:ext cx="5403273" cy="455766"/>
          </a:xfrm>
        </p:spPr>
        <p:txBody>
          <a:bodyPr vert="horz" lIns="0" tIns="0" rIns="0" bIns="64008" rtlCol="0" anchor="t" anchorCtr="0">
            <a:spAutoFit/>
          </a:bodyPr>
          <a:lstStyle>
            <a:lvl1pPr algn="l" defTabSz="899010" rtl="0" eaLnBrk="1" latinLnBrk="0" hangingPunct="1">
              <a:lnSpc>
                <a:spcPct val="90000"/>
              </a:lnSpc>
              <a:spcBef>
                <a:spcPct val="0"/>
              </a:spcBef>
              <a:buNone/>
              <a:defRPr lang="en-GB" sz="2824" b="1" i="1" kern="1200" baseline="0" noProof="0">
                <a:solidFill>
                  <a:schemeClr val="bg1"/>
                </a:solidFill>
                <a:latin typeface="+mj-lt"/>
                <a:ea typeface="+mj-ea"/>
                <a:cs typeface="+mj-cs"/>
              </a:defRPr>
            </a:lvl1pPr>
          </a:lstStyle>
          <a:p>
            <a:r>
              <a:rPr lang="en-GB" noProof="0" dirty="0"/>
              <a:t>Report Title</a:t>
            </a:r>
          </a:p>
        </p:txBody>
      </p:sp>
      <p:sp>
        <p:nvSpPr>
          <p:cNvPr id="41" name="Report Subtitle"/>
          <p:cNvSpPr>
            <a:spLocks noGrp="1"/>
          </p:cNvSpPr>
          <p:nvPr>
            <p:ph type="subTitle" idx="1" hasCustomPrompt="1"/>
            <p:custDataLst>
              <p:tags r:id="rId3"/>
            </p:custDataLst>
          </p:nvPr>
        </p:nvSpPr>
        <p:spPr bwMode="white">
          <a:xfrm>
            <a:off x="1869835" y="1570742"/>
            <a:ext cx="5403273" cy="391057"/>
          </a:xfrm>
        </p:spPr>
        <p:txBody>
          <a:bodyPr tIns="0" bIns="0">
            <a:spAutoFit/>
          </a:bodyPr>
          <a:lstStyle>
            <a:lvl1pPr marL="0" indent="0" algn="l">
              <a:lnSpc>
                <a:spcPct val="90000"/>
              </a:lnSpc>
              <a:spcAft>
                <a:spcPts val="0"/>
              </a:spcAft>
              <a:buNone/>
              <a:defRPr sz="2824" baseline="0">
                <a:solidFill>
                  <a:schemeClr val="bg1"/>
                </a:solidFill>
                <a:latin typeface="+mj-lt"/>
              </a:defRPr>
            </a:lvl1pPr>
            <a:lvl2pPr marL="449505" indent="0" algn="ctr">
              <a:buNone/>
              <a:defRPr>
                <a:solidFill>
                  <a:schemeClr val="tx1">
                    <a:tint val="75000"/>
                  </a:schemeClr>
                </a:solidFill>
              </a:defRPr>
            </a:lvl2pPr>
            <a:lvl3pPr marL="899010" indent="0" algn="ctr">
              <a:buNone/>
              <a:defRPr>
                <a:solidFill>
                  <a:schemeClr val="tx1">
                    <a:tint val="75000"/>
                  </a:schemeClr>
                </a:solidFill>
              </a:defRPr>
            </a:lvl3pPr>
            <a:lvl4pPr marL="1348516" indent="0" algn="ctr">
              <a:buNone/>
              <a:defRPr>
                <a:solidFill>
                  <a:schemeClr val="tx1">
                    <a:tint val="75000"/>
                  </a:schemeClr>
                </a:solidFill>
              </a:defRPr>
            </a:lvl4pPr>
            <a:lvl5pPr marL="1798021" indent="0" algn="ctr">
              <a:buNone/>
              <a:defRPr>
                <a:solidFill>
                  <a:schemeClr val="tx1">
                    <a:tint val="75000"/>
                  </a:schemeClr>
                </a:solidFill>
              </a:defRPr>
            </a:lvl5pPr>
            <a:lvl6pPr marL="2247527" indent="0" algn="ctr">
              <a:buNone/>
              <a:defRPr>
                <a:solidFill>
                  <a:schemeClr val="tx1">
                    <a:tint val="75000"/>
                  </a:schemeClr>
                </a:solidFill>
              </a:defRPr>
            </a:lvl6pPr>
            <a:lvl7pPr marL="2697032" indent="0" algn="ctr">
              <a:buNone/>
              <a:defRPr>
                <a:solidFill>
                  <a:schemeClr val="tx1">
                    <a:tint val="75000"/>
                  </a:schemeClr>
                </a:solidFill>
              </a:defRPr>
            </a:lvl7pPr>
            <a:lvl8pPr marL="3146538" indent="0" algn="ctr">
              <a:buNone/>
              <a:defRPr>
                <a:solidFill>
                  <a:schemeClr val="tx1">
                    <a:tint val="75000"/>
                  </a:schemeClr>
                </a:solidFill>
              </a:defRPr>
            </a:lvl8pPr>
            <a:lvl9pPr marL="3596043" indent="0" algn="ctr">
              <a:buNone/>
              <a:defRPr>
                <a:solidFill>
                  <a:schemeClr val="tx1">
                    <a:tint val="75000"/>
                  </a:schemeClr>
                </a:solidFill>
              </a:defRPr>
            </a:lvl9pPr>
          </a:lstStyle>
          <a:p>
            <a:r>
              <a:rPr lang="en-GB" noProof="0" dirty="0"/>
              <a:t>Subtitle</a:t>
            </a:r>
          </a:p>
        </p:txBody>
      </p:sp>
      <p:sp>
        <p:nvSpPr>
          <p:cNvPr id="45" name="Confidentiality Stamp"/>
          <p:cNvSpPr txBox="1"/>
          <p:nvPr>
            <p:custDataLst>
              <p:tags r:id="rId4"/>
            </p:custDataLst>
          </p:nvPr>
        </p:nvSpPr>
        <p:spPr>
          <a:xfrm>
            <a:off x="482139" y="3291843"/>
            <a:ext cx="1113905" cy="135743"/>
          </a:xfrm>
          <a:prstGeom prst="rect">
            <a:avLst/>
          </a:prstGeom>
          <a:noFill/>
          <a:ln>
            <a:noFill/>
          </a:ln>
        </p:spPr>
        <p:txBody>
          <a:bodyPr wrap="square" lIns="0" tIns="0" rIns="0" bIns="0" rtlCol="0">
            <a:spAutoFit/>
          </a:bodyPr>
          <a:lstStyle/>
          <a:p>
            <a:r>
              <a:rPr lang="en-GB" sz="882" i="1" noProof="0" dirty="0">
                <a:solidFill>
                  <a:schemeClr val="tx1"/>
                </a:solidFill>
                <a:latin typeface="Georgia" pitchFamily="18" charset="0"/>
                <a:cs typeface="Arial" pitchFamily="34" charset="0"/>
              </a:rPr>
              <a:t> </a:t>
            </a:r>
          </a:p>
        </p:txBody>
      </p:sp>
      <p:sp>
        <p:nvSpPr>
          <p:cNvPr id="32" name="Draft Stamp"/>
          <p:cNvSpPr txBox="1"/>
          <p:nvPr>
            <p:custDataLst>
              <p:tags r:id="rId5"/>
            </p:custDataLst>
          </p:nvPr>
        </p:nvSpPr>
        <p:spPr bwMode="black">
          <a:xfrm>
            <a:off x="482139" y="3566162"/>
            <a:ext cx="1246909" cy="257949"/>
          </a:xfrm>
          <a:prstGeom prst="rect">
            <a:avLst/>
          </a:prstGeom>
          <a:noFill/>
          <a:ln>
            <a:noFill/>
          </a:ln>
        </p:spPr>
        <p:txBody>
          <a:bodyPr wrap="square" lIns="0" tIns="0" rIns="0" bIns="121024" rtlCol="0" anchor="t" anchorCtr="0">
            <a:spAutoFit/>
          </a:bodyPr>
          <a:lstStyle/>
          <a:p>
            <a:pPr algn="l">
              <a:lnSpc>
                <a:spcPct val="100000"/>
              </a:lnSpc>
            </a:pPr>
            <a:endParaRPr lang="en-GB" sz="882" b="1" i="1" dirty="0">
              <a:solidFill>
                <a:schemeClr val="tx1"/>
              </a:solidFill>
              <a:latin typeface="Georgia" pitchFamily="18" charset="0"/>
            </a:endParaRPr>
          </a:p>
        </p:txBody>
      </p:sp>
      <p:sp>
        <p:nvSpPr>
          <p:cNvPr id="33" name="Report Date"/>
          <p:cNvSpPr txBox="1"/>
          <p:nvPr>
            <p:custDataLst>
              <p:tags r:id="rId6"/>
            </p:custDataLst>
          </p:nvPr>
        </p:nvSpPr>
        <p:spPr bwMode="black">
          <a:xfrm>
            <a:off x="482139" y="3832414"/>
            <a:ext cx="1113905" cy="135743"/>
          </a:xfrm>
          <a:prstGeom prst="rect">
            <a:avLst/>
          </a:prstGeom>
          <a:noFill/>
          <a:ln>
            <a:noFill/>
          </a:ln>
        </p:spPr>
        <p:txBody>
          <a:bodyPr wrap="square" lIns="0" tIns="0" rIns="0" bIns="0" rtlCol="0">
            <a:spAutoFit/>
          </a:bodyPr>
          <a:lstStyle/>
          <a:p>
            <a:pPr algn="l"/>
            <a:endParaRPr lang="en-GB" sz="882" i="1" dirty="0">
              <a:latin typeface="Georgia" pitchFamily="18" charset="0"/>
            </a:endParaRPr>
          </a:p>
        </p:txBody>
      </p:sp>
      <p:cxnSp>
        <p:nvCxnSpPr>
          <p:cNvPr id="25" name="Frame Line"/>
          <p:cNvCxnSpPr/>
          <p:nvPr/>
        </p:nvCxnSpPr>
        <p:spPr>
          <a:xfrm flipV="1">
            <a:off x="346365" y="3171489"/>
            <a:ext cx="1246909" cy="127059"/>
          </a:xfrm>
          <a:prstGeom prst="bentConnector3">
            <a:avLst>
              <a:gd name="adj1" fmla="val -174"/>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34" name="Cover image"/>
          <p:cNvSpPr txBox="1">
            <a:spLocks noChangeAspect="1"/>
          </p:cNvSpPr>
          <p:nvPr>
            <p:custDataLst>
              <p:tags r:id="rId7"/>
            </p:custDataLst>
          </p:nvPr>
        </p:nvSpPr>
        <p:spPr>
          <a:xfrm>
            <a:off x="1731213" y="3167623"/>
            <a:ext cx="6109026" cy="2823882"/>
          </a:xfrm>
          <a:prstGeom prst="rect">
            <a:avLst/>
          </a:prstGeom>
          <a:noFill/>
          <a:ln w="3175">
            <a:noFill/>
          </a:ln>
        </p:spPr>
        <p:txBody>
          <a:bodyPr wrap="square" lIns="0" tIns="0" rIns="0" bIns="0" rtlCol="0">
            <a:noAutofit/>
          </a:bodyPr>
          <a:lstStyle/>
          <a:p>
            <a:pPr indent="-269703">
              <a:spcAft>
                <a:spcPts val="885"/>
              </a:spcAft>
            </a:pPr>
            <a:endParaRPr lang="en-GB" sz="1941" dirty="0">
              <a:latin typeface="Georgia" pitchFamily="18" charset="0"/>
            </a:endParaRPr>
          </a:p>
        </p:txBody>
      </p:sp>
    </p:spTree>
    <p:extLst>
      <p:ext uri="{BB962C8B-B14F-4D97-AF65-F5344CB8AC3E}">
        <p14:creationId xmlns:p14="http://schemas.microsoft.com/office/powerpoint/2010/main" val="1825254869"/>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R: One">
    <p:spTree>
      <p:nvGrpSpPr>
        <p:cNvPr id="1" name=""/>
        <p:cNvGrpSpPr/>
        <p:nvPr/>
      </p:nvGrpSpPr>
      <p:grpSpPr>
        <a:xfrm>
          <a:off x="0" y="0"/>
          <a:ext cx="0" cy="0"/>
          <a:chOff x="0" y="0"/>
          <a:chExt cx="0" cy="0"/>
        </a:xfrm>
      </p:grpSpPr>
      <p:sp>
        <p:nvSpPr>
          <p:cNvPr id="22" name="Banner Statement"/>
          <p:cNvSpPr>
            <a:spLocks noGrp="1"/>
          </p:cNvSpPr>
          <p:nvPr>
            <p:ph type="title" hasCustomPrompt="1"/>
          </p:nvPr>
        </p:nvSpPr>
        <p:spPr>
          <a:xfrm>
            <a:off x="482139" y="943983"/>
            <a:ext cx="4020589" cy="742278"/>
          </a:xfrm>
        </p:spPr>
        <p:txBody>
          <a:bodyPr vert="horz" lIns="0" tIns="0" rIns="0" bIns="0" rtlCol="0" anchor="t" anchorCtr="0">
            <a:noAutofit/>
          </a:bodyPr>
          <a:lstStyle>
            <a:lvl1pPr algn="l" defTabSz="899010" rtl="0" eaLnBrk="1" latinLnBrk="0" hangingPunct="1">
              <a:spcBef>
                <a:spcPct val="0"/>
              </a:spcBef>
              <a:buNone/>
              <a:defRPr lang="en-GB" sz="971" b="1" i="0"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heading here</a:t>
            </a:r>
            <a:r>
              <a:rPr lang="en-GB" dirty="0"/>
              <a:t> – Insert text here</a:t>
            </a:r>
          </a:p>
        </p:txBody>
      </p:sp>
      <p:sp>
        <p:nvSpPr>
          <p:cNvPr id="28" name="Text Placeholder 27"/>
          <p:cNvSpPr>
            <a:spLocks noGrp="1"/>
          </p:cNvSpPr>
          <p:nvPr>
            <p:ph type="body" sz="quarter" idx="37" hasCustomPrompt="1"/>
          </p:nvPr>
        </p:nvSpPr>
        <p:spPr>
          <a:xfrm>
            <a:off x="4641272" y="944096"/>
            <a:ext cx="4023360" cy="742390"/>
          </a:xfrm>
        </p:spPr>
        <p:txBody>
          <a:bodyPr vert="horz" lIns="0" tIns="0" rIns="0" bIns="0" rtlCol="0" anchor="t" anchorCtr="0">
            <a:noAutofit/>
          </a:bodyPr>
          <a:lstStyle>
            <a:lvl1pPr algn="l" defTabSz="899010" rtl="0" eaLnBrk="1" latinLnBrk="0" hangingPunct="1">
              <a:spcBef>
                <a:spcPct val="0"/>
              </a:spcBef>
              <a:buNone/>
              <a:defRPr lang="en-GB" sz="971" b="1" i="1" kern="1200" baseline="0" noProof="0" dirty="0" smtClean="0">
                <a:solidFill>
                  <a:schemeClr val="tx2"/>
                </a:solidFill>
                <a:latin typeface="+mj-lt"/>
                <a:ea typeface="+mj-ea"/>
                <a:cs typeface="+mj-cs"/>
              </a:defRPr>
            </a:lvl1pPr>
          </a:lstStyle>
          <a:p>
            <a:pPr lvl="0" algn="l" defTabSz="899010" rtl="0" eaLnBrk="1" latinLnBrk="0" hangingPunct="1">
              <a:spcBef>
                <a:spcPct val="0"/>
              </a:spcBef>
              <a:buNone/>
            </a:pPr>
            <a:r>
              <a:rPr lang="en-GB" dirty="0"/>
              <a:t>PwC view – Inserted text here should not be bold.</a:t>
            </a:r>
          </a:p>
        </p:txBody>
      </p:sp>
      <p:sp>
        <p:nvSpPr>
          <p:cNvPr id="34" name="Content Placeholder 2"/>
          <p:cNvSpPr>
            <a:spLocks noGrp="1"/>
          </p:cNvSpPr>
          <p:nvPr>
            <p:ph sz="quarter" idx="24"/>
            <p:custDataLst>
              <p:tags r:id="rId1"/>
            </p:custDataLst>
          </p:nvPr>
        </p:nvSpPr>
        <p:spPr>
          <a:xfrm>
            <a:off x="482139" y="1815353"/>
            <a:ext cx="8179724" cy="4308438"/>
          </a:xfrm>
        </p:spPr>
        <p:txBody>
          <a:bodyPr tIns="0" bIns="0"/>
          <a:lstStyle>
            <a:lvl5pPr>
              <a:defRPr/>
            </a:lvl5pPr>
            <a:lvl6pPr>
              <a:buAutoNum type="arabicPeriod"/>
              <a:defRPr/>
            </a:lvl6pPr>
            <a:lvl7pPr>
              <a:buAutoNum type="alphaLcPeriod"/>
              <a:defRPr/>
            </a:lvl7pPr>
            <a:lvl8pPr>
              <a:buAutoNum type="romanLcPeriod"/>
              <a:defRPr/>
            </a:lvl8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cxnSp>
        <p:nvCxnSpPr>
          <p:cNvPr id="29" name="Straight Connector 28"/>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14"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17" name="Report Date"/>
          <p:cNvSpPr txBox="1"/>
          <p:nvPr>
            <p:custDataLst>
              <p:tags r:id="rId2"/>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15" name="Page Number"/>
          <p:cNvSpPr txBox="1"/>
          <p:nvPr>
            <p:custDataLst>
              <p:tags r:id="rId3"/>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30" name="HeaderTOCPlaceholder"/>
          <p:cNvSpPr txBox="1"/>
          <p:nvPr>
            <p:custDataLst>
              <p:tags r:id="rId4"/>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19" name="Presentation Disclaimer"/>
          <p:cNvSpPr txBox="1"/>
          <p:nvPr>
            <p:custDataLst>
              <p:tags r:id="rId5"/>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35"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Section Footer"/>
          <p:cNvSpPr txBox="1"/>
          <p:nvPr>
            <p:custDataLst>
              <p:tags r:id="rId6"/>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25" name="Section Header"/>
          <p:cNvSpPr txBox="1"/>
          <p:nvPr>
            <p:custDataLst>
              <p:tags r:id="rId7"/>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raft stamp" hidden="1"/>
          <p:cNvSpPr txBox="1"/>
          <p:nvPr>
            <p:custDataLst>
              <p:tags r:id="rId8"/>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
        <p:nvSpPr>
          <p:cNvPr id="23" name="Date/Filepath" hidden="1"/>
          <p:cNvSpPr txBox="1"/>
          <p:nvPr>
            <p:custDataLst>
              <p:tags r:id="rId9"/>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24" name="Slide Tags" hidden="1"/>
          <p:cNvSpPr txBox="1"/>
          <p:nvPr>
            <p:custDataLst>
              <p:tags r:id="rId10"/>
            </p:custDataLst>
          </p:nvPr>
        </p:nvSpPr>
        <p:spPr>
          <a:xfrm>
            <a:off x="1" y="201708"/>
            <a:ext cx="1454727" cy="336695"/>
          </a:xfrm>
          <a:prstGeom prst="rect">
            <a:avLst/>
          </a:prstGeom>
          <a:noFill/>
        </p:spPr>
        <p:txBody>
          <a:bodyPr wrap="square" rtlCol="0">
            <a:spAutoFit/>
          </a:bodyPr>
          <a:lstStyle/>
          <a:p>
            <a:r>
              <a:rPr lang="en-GB" sz="1588" noProof="1"/>
              <a:t>Slide Tags</a:t>
            </a:r>
          </a:p>
        </p:txBody>
      </p:sp>
    </p:spTree>
    <p:extLst>
      <p:ext uri="{BB962C8B-B14F-4D97-AF65-F5344CB8AC3E}">
        <p14:creationId xmlns:p14="http://schemas.microsoft.com/office/powerpoint/2010/main" val="379260264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ER: Two">
    <p:spTree>
      <p:nvGrpSpPr>
        <p:cNvPr id="1" name=""/>
        <p:cNvGrpSpPr/>
        <p:nvPr/>
      </p:nvGrpSpPr>
      <p:grpSpPr>
        <a:xfrm>
          <a:off x="0" y="0"/>
          <a:ext cx="0" cy="0"/>
          <a:chOff x="0" y="0"/>
          <a:chExt cx="0" cy="0"/>
        </a:xfrm>
      </p:grpSpPr>
      <p:sp>
        <p:nvSpPr>
          <p:cNvPr id="30" name="Banner Statement"/>
          <p:cNvSpPr>
            <a:spLocks noGrp="1"/>
          </p:cNvSpPr>
          <p:nvPr>
            <p:ph type="title" hasCustomPrompt="1"/>
          </p:nvPr>
        </p:nvSpPr>
        <p:spPr>
          <a:xfrm>
            <a:off x="482139" y="943983"/>
            <a:ext cx="4020589" cy="742278"/>
          </a:xfrm>
        </p:spPr>
        <p:txBody>
          <a:bodyPr vert="horz" lIns="0" tIns="0" rIns="0" bIns="0" rtlCol="0" anchor="t" anchorCtr="0">
            <a:noAutofit/>
          </a:bodyPr>
          <a:lstStyle>
            <a:lvl1pPr algn="l" defTabSz="899010" rtl="0" eaLnBrk="1" latinLnBrk="0" hangingPunct="1">
              <a:spcBef>
                <a:spcPct val="0"/>
              </a:spcBef>
              <a:buNone/>
              <a:defRPr lang="en-GB" sz="971" b="1" i="0"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heading here</a:t>
            </a:r>
            <a:r>
              <a:rPr lang="en-GB" dirty="0"/>
              <a:t> – Insert text here</a:t>
            </a:r>
          </a:p>
        </p:txBody>
      </p:sp>
      <p:sp>
        <p:nvSpPr>
          <p:cNvPr id="35" name="Text Placeholder 27"/>
          <p:cNvSpPr>
            <a:spLocks noGrp="1"/>
          </p:cNvSpPr>
          <p:nvPr>
            <p:ph type="body" sz="quarter" idx="37" hasCustomPrompt="1"/>
          </p:nvPr>
        </p:nvSpPr>
        <p:spPr>
          <a:xfrm>
            <a:off x="4641272" y="944096"/>
            <a:ext cx="4023360" cy="742390"/>
          </a:xfrm>
        </p:spPr>
        <p:txBody>
          <a:bodyPr vert="horz" lIns="0" tIns="0" rIns="0" bIns="0" rtlCol="0" anchor="t" anchorCtr="0">
            <a:noAutofit/>
          </a:bodyPr>
          <a:lstStyle>
            <a:lvl1pPr algn="l" defTabSz="899010" rtl="0" eaLnBrk="1" latinLnBrk="0" hangingPunct="1">
              <a:spcBef>
                <a:spcPct val="0"/>
              </a:spcBef>
              <a:buNone/>
              <a:defRPr lang="en-GB" sz="971" b="1" i="1" kern="1200" baseline="0" noProof="0" dirty="0" smtClean="0">
                <a:solidFill>
                  <a:schemeClr val="tx2"/>
                </a:solidFill>
                <a:latin typeface="+mj-lt"/>
                <a:ea typeface="+mj-ea"/>
                <a:cs typeface="+mj-cs"/>
              </a:defRPr>
            </a:lvl1pPr>
          </a:lstStyle>
          <a:p>
            <a:pPr lvl="0" algn="l" defTabSz="899010" rtl="0" eaLnBrk="1" latinLnBrk="0" hangingPunct="1">
              <a:spcBef>
                <a:spcPct val="0"/>
              </a:spcBef>
              <a:buNone/>
            </a:pPr>
            <a:r>
              <a:rPr lang="en-GB" dirty="0"/>
              <a:t>PwC view – Inserted text here should not be bold.</a:t>
            </a:r>
          </a:p>
        </p:txBody>
      </p:sp>
      <p:sp>
        <p:nvSpPr>
          <p:cNvPr id="34" name="Content Placeholder 2"/>
          <p:cNvSpPr>
            <a:spLocks noGrp="1"/>
          </p:cNvSpPr>
          <p:nvPr>
            <p:ph sz="quarter" idx="24"/>
            <p:custDataLst>
              <p:tags r:id="rId1"/>
            </p:custDataLst>
          </p:nvPr>
        </p:nvSpPr>
        <p:spPr>
          <a:xfrm>
            <a:off x="482140" y="1815353"/>
            <a:ext cx="4019983"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6" name="Content Placeholder 3"/>
          <p:cNvSpPr>
            <a:spLocks noGrp="1"/>
          </p:cNvSpPr>
          <p:nvPr>
            <p:ph sz="quarter" idx="25"/>
            <p:custDataLst>
              <p:tags r:id="rId2"/>
            </p:custDataLst>
          </p:nvPr>
        </p:nvSpPr>
        <p:spPr>
          <a:xfrm>
            <a:off x="4641995" y="1815353"/>
            <a:ext cx="4023360" cy="4308438"/>
          </a:xfrm>
        </p:spPr>
        <p:txBody>
          <a:bodyPr tIns="0" bIns="0"/>
          <a:lstStyle>
            <a:lvl5pPr>
              <a:defRPr/>
            </a:lvl5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cxnSp>
        <p:nvCxnSpPr>
          <p:cNvPr id="37" name="Straight Connector 36"/>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8" name="HeaderTOCPlaceholder"/>
          <p:cNvSpPr txBox="1"/>
          <p:nvPr>
            <p:custDataLst>
              <p:tags r:id="rId3"/>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29" name="Section Header"/>
          <p:cNvSpPr txBox="1"/>
          <p:nvPr>
            <p:custDataLst>
              <p:tags r:id="rId4"/>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ate/Filepath" hidden="1"/>
          <p:cNvSpPr txBox="1"/>
          <p:nvPr>
            <p:custDataLst>
              <p:tags r:id="rId5"/>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9" name="Slide Tags" hidden="1"/>
          <p:cNvSpPr txBox="1"/>
          <p:nvPr>
            <p:custDataLst>
              <p:tags r:id="rId6"/>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6"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3" name="Report Date"/>
          <p:cNvSpPr txBox="1"/>
          <p:nvPr>
            <p:custDataLst>
              <p:tags r:id="rId7"/>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5" name="Page Number"/>
          <p:cNvSpPr txBox="1"/>
          <p:nvPr>
            <p:custDataLst>
              <p:tags r:id="rId8"/>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7" name="Presentation Disclaimer"/>
          <p:cNvSpPr txBox="1"/>
          <p:nvPr>
            <p:custDataLst>
              <p:tags r:id="rId9"/>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31" name="Straight Connector 30"/>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Section Footer"/>
          <p:cNvSpPr txBox="1"/>
          <p:nvPr>
            <p:custDataLst>
              <p:tags r:id="rId10"/>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39" name="Draft stamp" hidden="1"/>
          <p:cNvSpPr txBox="1"/>
          <p:nvPr>
            <p:custDataLst>
              <p:tags r:id="rId11"/>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2278876003"/>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ER: Title Only">
    <p:spTree>
      <p:nvGrpSpPr>
        <p:cNvPr id="1" name=""/>
        <p:cNvGrpSpPr/>
        <p:nvPr/>
      </p:nvGrpSpPr>
      <p:grpSpPr>
        <a:xfrm>
          <a:off x="0" y="0"/>
          <a:ext cx="0" cy="0"/>
          <a:chOff x="0" y="0"/>
          <a:chExt cx="0" cy="0"/>
        </a:xfrm>
      </p:grpSpPr>
      <p:sp>
        <p:nvSpPr>
          <p:cNvPr id="49" name="Banner Statement"/>
          <p:cNvSpPr>
            <a:spLocks noGrp="1"/>
          </p:cNvSpPr>
          <p:nvPr>
            <p:ph type="title" hasCustomPrompt="1"/>
          </p:nvPr>
        </p:nvSpPr>
        <p:spPr>
          <a:xfrm>
            <a:off x="482139" y="943983"/>
            <a:ext cx="4020589" cy="742278"/>
          </a:xfrm>
        </p:spPr>
        <p:txBody>
          <a:bodyPr vert="horz" lIns="0" tIns="0" rIns="0" bIns="0" rtlCol="0" anchor="t" anchorCtr="0">
            <a:noAutofit/>
          </a:bodyPr>
          <a:lstStyle>
            <a:lvl1pPr algn="l" defTabSz="899010" rtl="0" eaLnBrk="1" latinLnBrk="0" hangingPunct="1">
              <a:spcBef>
                <a:spcPct val="0"/>
              </a:spcBef>
              <a:buNone/>
              <a:defRPr lang="en-GB" sz="971" b="1" i="0"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heading here</a:t>
            </a:r>
            <a:r>
              <a:rPr lang="en-GB" dirty="0"/>
              <a:t> – Insert text here</a:t>
            </a:r>
          </a:p>
        </p:txBody>
      </p:sp>
      <p:sp>
        <p:nvSpPr>
          <p:cNvPr id="53" name="Text Placeholder 27"/>
          <p:cNvSpPr>
            <a:spLocks noGrp="1"/>
          </p:cNvSpPr>
          <p:nvPr>
            <p:ph type="body" sz="quarter" idx="37" hasCustomPrompt="1"/>
          </p:nvPr>
        </p:nvSpPr>
        <p:spPr>
          <a:xfrm>
            <a:off x="4641272" y="944096"/>
            <a:ext cx="4023360" cy="742390"/>
          </a:xfrm>
        </p:spPr>
        <p:txBody>
          <a:bodyPr vert="horz" lIns="0" tIns="0" rIns="0" bIns="0" rtlCol="0" anchor="t" anchorCtr="0">
            <a:noAutofit/>
          </a:bodyPr>
          <a:lstStyle>
            <a:lvl1pPr algn="l" defTabSz="899010" rtl="0" eaLnBrk="1" latinLnBrk="0" hangingPunct="1">
              <a:spcBef>
                <a:spcPct val="0"/>
              </a:spcBef>
              <a:buNone/>
              <a:defRPr lang="en-GB" sz="971" b="1" i="1" kern="1200" baseline="0" noProof="0" dirty="0" smtClean="0">
                <a:solidFill>
                  <a:schemeClr val="tx2"/>
                </a:solidFill>
                <a:latin typeface="+mj-lt"/>
                <a:ea typeface="+mj-ea"/>
                <a:cs typeface="+mj-cs"/>
              </a:defRPr>
            </a:lvl1pPr>
          </a:lstStyle>
          <a:p>
            <a:pPr lvl="0" algn="l" defTabSz="899010" rtl="0" eaLnBrk="1" latinLnBrk="0" hangingPunct="1">
              <a:spcBef>
                <a:spcPct val="0"/>
              </a:spcBef>
              <a:buNone/>
            </a:pPr>
            <a:r>
              <a:rPr lang="en-GB" dirty="0"/>
              <a:t>PwC view – Inserted text here should not be bold.</a:t>
            </a:r>
          </a:p>
        </p:txBody>
      </p:sp>
      <p:sp>
        <p:nvSpPr>
          <p:cNvPr id="47" name="HeaderTOCPlaceholder"/>
          <p:cNvSpPr txBox="1"/>
          <p:nvPr>
            <p:custDataLst>
              <p:tags r:id="rId1"/>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4" name="Straight Connector 53"/>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2" name="Section Header"/>
          <p:cNvSpPr txBox="1"/>
          <p:nvPr>
            <p:custDataLst>
              <p:tags r:id="rId2"/>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30" name="Date/Filepath" hidden="1"/>
          <p:cNvSpPr txBox="1"/>
          <p:nvPr>
            <p:custDataLst>
              <p:tags r:id="rId3"/>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7" name="Slide Tags" hidden="1"/>
          <p:cNvSpPr txBox="1"/>
          <p:nvPr>
            <p:custDataLst>
              <p:tags r:id="rId4"/>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1"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8" name="Report Date"/>
          <p:cNvSpPr txBox="1"/>
          <p:nvPr>
            <p:custDataLst>
              <p:tags r:id="rId5"/>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9" name="Page Number"/>
          <p:cNvSpPr txBox="1"/>
          <p:nvPr>
            <p:custDataLst>
              <p:tags r:id="rId6"/>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31" name="Presentation Disclaimer"/>
          <p:cNvSpPr txBox="1"/>
          <p:nvPr>
            <p:custDataLst>
              <p:tags r:id="rId7"/>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32" name="Straight Connector 31"/>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Section Footer"/>
          <p:cNvSpPr txBox="1"/>
          <p:nvPr>
            <p:custDataLst>
              <p:tags r:id="rId8"/>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34" name="Draft stamp" hidden="1"/>
          <p:cNvSpPr txBox="1"/>
          <p:nvPr>
            <p:custDataLst>
              <p:tags r:id="rId9"/>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4243035567"/>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One">
    <p:spTree>
      <p:nvGrpSpPr>
        <p:cNvPr id="1" name=""/>
        <p:cNvGrpSpPr/>
        <p:nvPr/>
      </p:nvGrpSpPr>
      <p:grpSpPr>
        <a:xfrm>
          <a:off x="0" y="0"/>
          <a:ext cx="0" cy="0"/>
          <a:chOff x="0" y="0"/>
          <a:chExt cx="0" cy="0"/>
        </a:xfrm>
      </p:grpSpPr>
      <p:sp>
        <p:nvSpPr>
          <p:cNvPr id="47"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34" name="Content Placeholder 2"/>
          <p:cNvSpPr>
            <a:spLocks noGrp="1"/>
          </p:cNvSpPr>
          <p:nvPr>
            <p:ph sz="quarter" idx="24"/>
            <p:custDataLst>
              <p:tags r:id="rId1"/>
            </p:custDataLst>
          </p:nvPr>
        </p:nvSpPr>
        <p:spPr>
          <a:xfrm>
            <a:off x="482139" y="1815353"/>
            <a:ext cx="8179724"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5" name="HeaderTOCPlaceholder"/>
          <p:cNvSpPr txBox="1"/>
          <p:nvPr>
            <p:custDataLst>
              <p:tags r:id="rId2"/>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2" name="Straight Connector 51"/>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8" name="Section Header"/>
          <p:cNvSpPr txBox="1"/>
          <p:nvPr>
            <p:custDataLst>
              <p:tags r:id="rId3"/>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ate/Filepath" hidden="1"/>
          <p:cNvSpPr txBox="1"/>
          <p:nvPr>
            <p:custDataLst>
              <p:tags r:id="rId4"/>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9" name="Slide Tags" hidden="1"/>
          <p:cNvSpPr txBox="1"/>
          <p:nvPr>
            <p:custDataLst>
              <p:tags r:id="rId5"/>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6"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4" name="Report Date"/>
          <p:cNvSpPr txBox="1"/>
          <p:nvPr>
            <p:custDataLst>
              <p:tags r:id="rId6"/>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5" name="Page Number"/>
          <p:cNvSpPr txBox="1"/>
          <p:nvPr>
            <p:custDataLst>
              <p:tags r:id="rId7"/>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7" name="Presentation Disclaimer"/>
          <p:cNvSpPr txBox="1"/>
          <p:nvPr>
            <p:custDataLst>
              <p:tags r:id="rId8"/>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31" name="Straight Connector 30"/>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Section Footer"/>
          <p:cNvSpPr txBox="1"/>
          <p:nvPr>
            <p:custDataLst>
              <p:tags r:id="rId9"/>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35" name="Draft stamp" hidden="1"/>
          <p:cNvSpPr txBox="1"/>
          <p:nvPr>
            <p:custDataLst>
              <p:tags r:id="rId10"/>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120466236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Two">
    <p:spTree>
      <p:nvGrpSpPr>
        <p:cNvPr id="1" name=""/>
        <p:cNvGrpSpPr/>
        <p:nvPr/>
      </p:nvGrpSpPr>
      <p:grpSpPr>
        <a:xfrm>
          <a:off x="0" y="0"/>
          <a:ext cx="0" cy="0"/>
          <a:chOff x="0" y="0"/>
          <a:chExt cx="0" cy="0"/>
        </a:xfrm>
      </p:grpSpPr>
      <p:sp>
        <p:nvSpPr>
          <p:cNvPr id="47"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34" name="Content Placeholder 2"/>
          <p:cNvSpPr>
            <a:spLocks noGrp="1"/>
          </p:cNvSpPr>
          <p:nvPr>
            <p:ph sz="quarter" idx="24"/>
            <p:custDataLst>
              <p:tags r:id="rId1"/>
            </p:custDataLst>
          </p:nvPr>
        </p:nvSpPr>
        <p:spPr>
          <a:xfrm>
            <a:off x="482138" y="1815353"/>
            <a:ext cx="4023360"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6" name="Content Placeholder 3"/>
          <p:cNvSpPr>
            <a:spLocks noGrp="1"/>
          </p:cNvSpPr>
          <p:nvPr>
            <p:ph sz="quarter" idx="25"/>
            <p:custDataLst>
              <p:tags r:id="rId2"/>
            </p:custDataLst>
          </p:nvPr>
        </p:nvSpPr>
        <p:spPr>
          <a:xfrm>
            <a:off x="4638502" y="1815353"/>
            <a:ext cx="4023360"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5" name="HeaderTOCPlaceholder"/>
          <p:cNvSpPr txBox="1"/>
          <p:nvPr>
            <p:custDataLst>
              <p:tags r:id="rId3"/>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2" name="Straight Connector 51"/>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8" name="Section Header"/>
          <p:cNvSpPr txBox="1"/>
          <p:nvPr>
            <p:custDataLst>
              <p:tags r:id="rId4"/>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ate/Filepath" hidden="1"/>
          <p:cNvSpPr txBox="1"/>
          <p:nvPr>
            <p:custDataLst>
              <p:tags r:id="rId5"/>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9" name="Slide Tags" hidden="1"/>
          <p:cNvSpPr txBox="1"/>
          <p:nvPr>
            <p:custDataLst>
              <p:tags r:id="rId6"/>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2"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39" name="Report Date"/>
          <p:cNvSpPr txBox="1"/>
          <p:nvPr>
            <p:custDataLst>
              <p:tags r:id="rId7"/>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40" name="Page Number"/>
          <p:cNvSpPr txBox="1"/>
          <p:nvPr>
            <p:custDataLst>
              <p:tags r:id="rId8"/>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41" name="Presentation Disclaimer"/>
          <p:cNvSpPr txBox="1"/>
          <p:nvPr>
            <p:custDataLst>
              <p:tags r:id="rId9"/>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42" name="Straight Connector 41"/>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Section Footer"/>
          <p:cNvSpPr txBox="1"/>
          <p:nvPr>
            <p:custDataLst>
              <p:tags r:id="rId10"/>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44" name="Draft stamp" hidden="1"/>
          <p:cNvSpPr txBox="1"/>
          <p:nvPr>
            <p:custDataLst>
              <p:tags r:id="rId11"/>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4059957344"/>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Large left">
    <p:spTree>
      <p:nvGrpSpPr>
        <p:cNvPr id="1" name=""/>
        <p:cNvGrpSpPr/>
        <p:nvPr/>
      </p:nvGrpSpPr>
      <p:grpSpPr>
        <a:xfrm>
          <a:off x="0" y="0"/>
          <a:ext cx="0" cy="0"/>
          <a:chOff x="0" y="0"/>
          <a:chExt cx="0" cy="0"/>
        </a:xfrm>
      </p:grpSpPr>
      <p:sp>
        <p:nvSpPr>
          <p:cNvPr id="47"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34" name="Content Placeholder 2"/>
          <p:cNvSpPr>
            <a:spLocks noGrp="1"/>
          </p:cNvSpPr>
          <p:nvPr>
            <p:ph sz="quarter" idx="24"/>
            <p:custDataLst>
              <p:tags r:id="rId1"/>
            </p:custDataLst>
          </p:nvPr>
        </p:nvSpPr>
        <p:spPr>
          <a:xfrm>
            <a:off x="482139" y="1815353"/>
            <a:ext cx="5414818"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6" name="Content Placeholder 3"/>
          <p:cNvSpPr>
            <a:spLocks noGrp="1"/>
          </p:cNvSpPr>
          <p:nvPr>
            <p:ph sz="quarter" idx="25"/>
            <p:custDataLst>
              <p:tags r:id="rId2"/>
            </p:custDataLst>
          </p:nvPr>
        </p:nvSpPr>
        <p:spPr>
          <a:xfrm>
            <a:off x="6026729" y="1815353"/>
            <a:ext cx="2629593"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5" name="HeaderTOCPlaceholder"/>
          <p:cNvSpPr txBox="1"/>
          <p:nvPr>
            <p:custDataLst>
              <p:tags r:id="rId3"/>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2" name="Straight Connector 51"/>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8" name="Section Header"/>
          <p:cNvSpPr txBox="1"/>
          <p:nvPr>
            <p:custDataLst>
              <p:tags r:id="rId4"/>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1" name="Date/Filepath" hidden="1"/>
          <p:cNvSpPr txBox="1"/>
          <p:nvPr>
            <p:custDataLst>
              <p:tags r:id="rId5"/>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9" name="Slide Tags" hidden="1"/>
          <p:cNvSpPr txBox="1"/>
          <p:nvPr>
            <p:custDataLst>
              <p:tags r:id="rId6"/>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2"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39" name="Report Date"/>
          <p:cNvSpPr txBox="1"/>
          <p:nvPr>
            <p:custDataLst>
              <p:tags r:id="rId7"/>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40" name="Page Number"/>
          <p:cNvSpPr txBox="1"/>
          <p:nvPr>
            <p:custDataLst>
              <p:tags r:id="rId8"/>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41" name="Presentation Disclaimer"/>
          <p:cNvSpPr txBox="1"/>
          <p:nvPr>
            <p:custDataLst>
              <p:tags r:id="rId9"/>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42" name="Straight Connector 41"/>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Section Footer"/>
          <p:cNvSpPr txBox="1"/>
          <p:nvPr>
            <p:custDataLst>
              <p:tags r:id="rId10"/>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44" name="Draft stamp" hidden="1"/>
          <p:cNvSpPr txBox="1"/>
          <p:nvPr>
            <p:custDataLst>
              <p:tags r:id="rId11"/>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869139477"/>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Two Left">
    <p:spTree>
      <p:nvGrpSpPr>
        <p:cNvPr id="1" name=""/>
        <p:cNvGrpSpPr/>
        <p:nvPr/>
      </p:nvGrpSpPr>
      <p:grpSpPr>
        <a:xfrm>
          <a:off x="0" y="0"/>
          <a:ext cx="0" cy="0"/>
          <a:chOff x="0" y="0"/>
          <a:chExt cx="0" cy="0"/>
        </a:xfrm>
      </p:grpSpPr>
      <p:sp>
        <p:nvSpPr>
          <p:cNvPr id="47"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34" name="Content Placeholder 2"/>
          <p:cNvSpPr>
            <a:spLocks noGrp="1"/>
          </p:cNvSpPr>
          <p:nvPr>
            <p:ph sz="quarter" idx="24"/>
            <p:custDataLst>
              <p:tags r:id="rId1"/>
            </p:custDataLst>
          </p:nvPr>
        </p:nvSpPr>
        <p:spPr>
          <a:xfrm>
            <a:off x="482139" y="1815353"/>
            <a:ext cx="4020590" cy="2084294"/>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6" name="Content Placeholder 3"/>
          <p:cNvSpPr>
            <a:spLocks noGrp="1"/>
          </p:cNvSpPr>
          <p:nvPr>
            <p:ph sz="quarter" idx="25"/>
            <p:custDataLst>
              <p:tags r:id="rId2"/>
            </p:custDataLst>
          </p:nvPr>
        </p:nvSpPr>
        <p:spPr>
          <a:xfrm>
            <a:off x="482139" y="4034120"/>
            <a:ext cx="4020590" cy="2081605"/>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8" name="Content Placeholder 4"/>
          <p:cNvSpPr>
            <a:spLocks noGrp="1"/>
          </p:cNvSpPr>
          <p:nvPr>
            <p:ph sz="quarter" idx="26"/>
            <p:custDataLst>
              <p:tags r:id="rId3"/>
            </p:custDataLst>
          </p:nvPr>
        </p:nvSpPr>
        <p:spPr>
          <a:xfrm>
            <a:off x="4641273" y="1815353"/>
            <a:ext cx="4023360" cy="4308438"/>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4" name="HeaderTOCPlaceholder"/>
          <p:cNvSpPr txBox="1"/>
          <p:nvPr>
            <p:custDataLst>
              <p:tags r:id="rId4"/>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2" name="Straight Connector 51"/>
          <p:cNvCxnSpPr/>
          <p:nvPr/>
        </p:nvCxnSpPr>
        <p:spPr>
          <a:xfrm>
            <a:off x="487638"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8" name="Section Header"/>
          <p:cNvSpPr txBox="1"/>
          <p:nvPr>
            <p:custDataLst>
              <p:tags r:id="rId5"/>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5" name="Date/Filepath" hidden="1"/>
          <p:cNvSpPr txBox="1"/>
          <p:nvPr>
            <p:custDataLst>
              <p:tags r:id="rId6"/>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20" name="Slide Tags" hidden="1"/>
          <p:cNvSpPr txBox="1"/>
          <p:nvPr>
            <p:custDataLst>
              <p:tags r:id="rId7"/>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2"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41" name="Report Date"/>
          <p:cNvSpPr txBox="1"/>
          <p:nvPr>
            <p:custDataLst>
              <p:tags r:id="rId8"/>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42" name="Page Number"/>
          <p:cNvSpPr txBox="1"/>
          <p:nvPr>
            <p:custDataLst>
              <p:tags r:id="rId9"/>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43" name="Presentation Disclaimer"/>
          <p:cNvSpPr txBox="1"/>
          <p:nvPr>
            <p:custDataLst>
              <p:tags r:id="rId10"/>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45" name="Straight Connector 44"/>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Section Footer"/>
          <p:cNvSpPr txBox="1"/>
          <p:nvPr>
            <p:custDataLst>
              <p:tags r:id="rId11"/>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48" name="Draft stamp" hidden="1"/>
          <p:cNvSpPr txBox="1"/>
          <p:nvPr>
            <p:custDataLst>
              <p:tags r:id="rId12"/>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2016665575"/>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Three Large Bottom">
    <p:spTree>
      <p:nvGrpSpPr>
        <p:cNvPr id="1" name=""/>
        <p:cNvGrpSpPr/>
        <p:nvPr/>
      </p:nvGrpSpPr>
      <p:grpSpPr>
        <a:xfrm>
          <a:off x="0" y="0"/>
          <a:ext cx="0" cy="0"/>
          <a:chOff x="0" y="0"/>
          <a:chExt cx="0" cy="0"/>
        </a:xfrm>
      </p:grpSpPr>
      <p:sp>
        <p:nvSpPr>
          <p:cNvPr id="48"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46" name="HeaderTOCPlaceholder"/>
          <p:cNvSpPr txBox="1"/>
          <p:nvPr>
            <p:custDataLst>
              <p:tags r:id="rId1"/>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3" name="Straight Connector 52"/>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31" name="Section Header"/>
          <p:cNvSpPr txBox="1"/>
          <p:nvPr>
            <p:custDataLst>
              <p:tags r:id="rId2"/>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2" name="Date/Filepath" hidden="1"/>
          <p:cNvSpPr txBox="1"/>
          <p:nvPr>
            <p:custDataLst>
              <p:tags r:id="rId3"/>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21" name="Slide Tags" hidden="1"/>
          <p:cNvSpPr txBox="1"/>
          <p:nvPr>
            <p:custDataLst>
              <p:tags r:id="rId4"/>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8"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Content Placeholder 2"/>
          <p:cNvSpPr>
            <a:spLocks noGrp="1"/>
          </p:cNvSpPr>
          <p:nvPr>
            <p:ph sz="quarter" idx="10"/>
            <p:custDataLst>
              <p:tags r:id="rId5"/>
            </p:custDataLst>
          </p:nvPr>
        </p:nvSpPr>
        <p:spPr>
          <a:xfrm>
            <a:off x="482138" y="1815353"/>
            <a:ext cx="4023360" cy="2080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Content Placeholder 3"/>
          <p:cNvSpPr>
            <a:spLocks noGrp="1"/>
          </p:cNvSpPr>
          <p:nvPr>
            <p:ph sz="quarter" idx="11"/>
            <p:custDataLst>
              <p:tags r:id="rId6"/>
            </p:custDataLst>
          </p:nvPr>
        </p:nvSpPr>
        <p:spPr>
          <a:xfrm>
            <a:off x="4638502" y="1815353"/>
            <a:ext cx="4023360" cy="2080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6" name="Content Placeholder 4"/>
          <p:cNvSpPr>
            <a:spLocks noGrp="1"/>
          </p:cNvSpPr>
          <p:nvPr>
            <p:ph sz="quarter" idx="12"/>
            <p:custDataLst>
              <p:tags r:id="rId7"/>
            </p:custDataLst>
          </p:nvPr>
        </p:nvSpPr>
        <p:spPr>
          <a:xfrm>
            <a:off x="482139" y="4035134"/>
            <a:ext cx="8179724" cy="2080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3"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5" name="Report Date"/>
          <p:cNvSpPr txBox="1"/>
          <p:nvPr>
            <p:custDataLst>
              <p:tags r:id="rId8"/>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7" name="Page Number"/>
          <p:cNvSpPr txBox="1"/>
          <p:nvPr>
            <p:custDataLst>
              <p:tags r:id="rId9"/>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30" name="Presentation Disclaimer"/>
          <p:cNvSpPr txBox="1"/>
          <p:nvPr>
            <p:custDataLst>
              <p:tags r:id="rId10"/>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37" name="Straight Connector 36"/>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Section Footer"/>
          <p:cNvSpPr txBox="1"/>
          <p:nvPr>
            <p:custDataLst>
              <p:tags r:id="rId11"/>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39" name="Draft stamp" hidden="1"/>
          <p:cNvSpPr txBox="1"/>
          <p:nvPr>
            <p:custDataLst>
              <p:tags r:id="rId12"/>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3994762622"/>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Four">
    <p:spTree>
      <p:nvGrpSpPr>
        <p:cNvPr id="1" name=""/>
        <p:cNvGrpSpPr/>
        <p:nvPr/>
      </p:nvGrpSpPr>
      <p:grpSpPr>
        <a:xfrm>
          <a:off x="0" y="0"/>
          <a:ext cx="0" cy="0"/>
          <a:chOff x="0" y="0"/>
          <a:chExt cx="0" cy="0"/>
        </a:xfrm>
      </p:grpSpPr>
      <p:sp>
        <p:nvSpPr>
          <p:cNvPr id="53"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34" name="Content Placeholder 2"/>
          <p:cNvSpPr>
            <a:spLocks noGrp="1"/>
          </p:cNvSpPr>
          <p:nvPr>
            <p:ph sz="quarter" idx="24"/>
          </p:nvPr>
        </p:nvSpPr>
        <p:spPr>
          <a:xfrm>
            <a:off x="482138" y="1815355"/>
            <a:ext cx="4023360" cy="2081605"/>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6" name="Content Placeholder 3"/>
          <p:cNvSpPr>
            <a:spLocks noGrp="1"/>
          </p:cNvSpPr>
          <p:nvPr>
            <p:ph sz="quarter" idx="25"/>
          </p:nvPr>
        </p:nvSpPr>
        <p:spPr>
          <a:xfrm>
            <a:off x="4638502" y="1815355"/>
            <a:ext cx="4023360" cy="2081605"/>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8" name="Content Placeholder 4"/>
          <p:cNvSpPr>
            <a:spLocks noGrp="1"/>
          </p:cNvSpPr>
          <p:nvPr>
            <p:ph sz="quarter" idx="26"/>
          </p:nvPr>
        </p:nvSpPr>
        <p:spPr>
          <a:xfrm>
            <a:off x="482138" y="4034120"/>
            <a:ext cx="4023360" cy="2081605"/>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0" name="Content Placeholder 5"/>
          <p:cNvSpPr>
            <a:spLocks noGrp="1"/>
          </p:cNvSpPr>
          <p:nvPr>
            <p:ph sz="quarter" idx="27"/>
          </p:nvPr>
        </p:nvSpPr>
        <p:spPr>
          <a:xfrm>
            <a:off x="4638502" y="4034120"/>
            <a:ext cx="4023360" cy="2081605"/>
          </a:xfrm>
        </p:spPr>
        <p:txBody>
          <a:bodyPr tIns="0" bIns="0"/>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1" name="HeaderTOCPlaceholder"/>
          <p:cNvSpPr txBox="1"/>
          <p:nvPr>
            <p:custDataLst>
              <p:tags r:id="rId1"/>
            </p:custDataLst>
          </p:nvPr>
        </p:nvSpPr>
        <p:spPr>
          <a:xfrm>
            <a:off x="3255819" y="621257"/>
            <a:ext cx="5399467"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58" name="Straight Connector 57"/>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26" name="Section Header"/>
          <p:cNvSpPr txBox="1"/>
          <p:nvPr>
            <p:custDataLst>
              <p:tags r:id="rId2"/>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27" name="Date/Filepath" hidden="1"/>
          <p:cNvSpPr txBox="1"/>
          <p:nvPr>
            <p:custDataLst>
              <p:tags r:id="rId3"/>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21" name="Slide Tags" hidden="1"/>
          <p:cNvSpPr txBox="1"/>
          <p:nvPr>
            <p:custDataLst>
              <p:tags r:id="rId4"/>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3"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9" name="Report Date"/>
          <p:cNvSpPr txBox="1"/>
          <p:nvPr>
            <p:custDataLst>
              <p:tags r:id="rId5"/>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31" name="Page Number"/>
          <p:cNvSpPr txBox="1"/>
          <p:nvPr>
            <p:custDataLst>
              <p:tags r:id="rId6"/>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33" name="Presentation Disclaimer"/>
          <p:cNvSpPr txBox="1"/>
          <p:nvPr>
            <p:custDataLst>
              <p:tags r:id="rId7"/>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37" name="Straight Connector 36"/>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Section Footer"/>
          <p:cNvSpPr txBox="1"/>
          <p:nvPr>
            <p:custDataLst>
              <p:tags r:id="rId8"/>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41" name="Draft stamp" hidden="1"/>
          <p:cNvSpPr txBox="1"/>
          <p:nvPr>
            <p:custDataLst>
              <p:tags r:id="rId9"/>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3428600128"/>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2" name="Date/Filepath" hidden="1"/>
          <p:cNvSpPr txBox="1"/>
          <p:nvPr>
            <p:custDataLst>
              <p:tags r:id="rId1"/>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5" name="Slide Tags" hidden="1"/>
          <p:cNvSpPr txBox="1"/>
          <p:nvPr>
            <p:custDataLst>
              <p:tags r:id="rId2"/>
            </p:custDataLst>
          </p:nvPr>
        </p:nvSpPr>
        <p:spPr>
          <a:xfrm>
            <a:off x="1" y="201708"/>
            <a:ext cx="1454727" cy="336695"/>
          </a:xfrm>
          <a:prstGeom prst="rect">
            <a:avLst/>
          </a:prstGeom>
          <a:noFill/>
        </p:spPr>
        <p:txBody>
          <a:bodyPr wrap="square" rtlCol="0">
            <a:spAutoFit/>
          </a:bodyPr>
          <a:lstStyle/>
          <a:p>
            <a:r>
              <a:rPr lang="en-GB" sz="1588" noProof="1"/>
              <a:t>Slide Tags</a:t>
            </a:r>
          </a:p>
        </p:txBody>
      </p:sp>
      <p:sp>
        <p:nvSpPr>
          <p:cNvPr id="4" name="PwCFirm"/>
          <p:cNvSpPr txBox="1"/>
          <p:nvPr userDrawn="1"/>
        </p:nvSpPr>
        <p:spPr>
          <a:xfrm>
            <a:off x="533400" y="6477002"/>
            <a:ext cx="2590800" cy="152401"/>
          </a:xfrm>
          <a:prstGeom prst="rect">
            <a:avLst/>
          </a:prstGeom>
          <a:noFill/>
        </p:spPr>
        <p:txBody>
          <a:bodyPr vert="horz" wrap="square" lIns="0" tIns="0" rIns="0" bIns="0" rtlCol="0" anchor="t" anchorCtr="0">
            <a:noAutofit/>
          </a:bodyPr>
          <a:lstStyle/>
          <a:p>
            <a:r>
              <a:rPr lang="en-US" sz="1000" noProof="0" dirty="0">
                <a:latin typeface="Arial" pitchFamily="34" charset="0"/>
                <a:cs typeface="Arial" pitchFamily="34" charset="0"/>
              </a:rPr>
              <a:t>PwC</a:t>
            </a:r>
          </a:p>
        </p:txBody>
      </p:sp>
    </p:spTree>
    <p:extLst>
      <p:ext uri="{BB962C8B-B14F-4D97-AF65-F5344CB8AC3E}">
        <p14:creationId xmlns:p14="http://schemas.microsoft.com/office/powerpoint/2010/main" val="32003713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Title Only No Header Footer">
    <p:spTree>
      <p:nvGrpSpPr>
        <p:cNvPr id="1" name=""/>
        <p:cNvGrpSpPr/>
        <p:nvPr/>
      </p:nvGrpSpPr>
      <p:grpSpPr>
        <a:xfrm>
          <a:off x="0" y="0"/>
          <a:ext cx="0" cy="0"/>
          <a:chOff x="0" y="0"/>
          <a:chExt cx="0" cy="0"/>
        </a:xfrm>
      </p:grpSpPr>
      <p:sp>
        <p:nvSpPr>
          <p:cNvPr id="22" name="Banner Statement"/>
          <p:cNvSpPr>
            <a:spLocks noGrp="1"/>
          </p:cNvSpPr>
          <p:nvPr>
            <p:ph type="title" hasCustomPrompt="1"/>
          </p:nvPr>
        </p:nvSpPr>
        <p:spPr>
          <a:xfrm>
            <a:off x="482139" y="943983"/>
            <a:ext cx="8179724" cy="742278"/>
          </a:xfrm>
        </p:spPr>
        <p:txBody>
          <a:bodyPr vert="horz" lIns="0" tIns="0" rIns="0" bIns="0" rtlCol="0" anchor="t" anchorCtr="0">
            <a:noAutofit/>
          </a:bodyPr>
          <a:lstStyle>
            <a:lvl1pPr algn="l" defTabSz="899010" rtl="0" eaLnBrk="1" latinLnBrk="0" hangingPunct="1">
              <a:spcBef>
                <a:spcPct val="0"/>
              </a:spcBef>
              <a:buNone/>
              <a:defRPr lang="en-GB" sz="1588" b="1" i="1" kern="1200" baseline="0" noProof="0" dirty="0">
                <a:solidFill>
                  <a:schemeClr val="tx2"/>
                </a:solidFill>
                <a:latin typeface="+mj-lt"/>
                <a:ea typeface="+mj-ea"/>
                <a:cs typeface="+mj-cs"/>
              </a:defRPr>
            </a:lvl1pPr>
          </a:lstStyle>
          <a:p>
            <a:pPr lvl="0" algn="l" defTabSz="899010" rtl="0" eaLnBrk="1" latinLnBrk="0" hangingPunct="1">
              <a:spcBef>
                <a:spcPct val="0"/>
              </a:spcBef>
              <a:buNone/>
            </a:pPr>
            <a:r>
              <a:rPr lang="en-GB" noProof="0" dirty="0"/>
              <a:t>Insert banner statement here</a:t>
            </a:r>
            <a:endParaRPr lang="en-GB" dirty="0"/>
          </a:p>
        </p:txBody>
      </p:sp>
      <p:sp>
        <p:nvSpPr>
          <p:cNvPr id="12" name="HeaderTOCPlaceholder"/>
          <p:cNvSpPr txBox="1"/>
          <p:nvPr>
            <p:custDataLst>
              <p:tags r:id="rId1"/>
            </p:custDataLst>
          </p:nvPr>
        </p:nvSpPr>
        <p:spPr>
          <a:xfrm>
            <a:off x="3255818"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cxnSp>
        <p:nvCxnSpPr>
          <p:cNvPr id="21" name="Straight Connector 20"/>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8" name="Slide Tags" hidden="1"/>
          <p:cNvSpPr txBox="1"/>
          <p:nvPr>
            <p:custDataLst>
              <p:tags r:id="rId2"/>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13"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3921660"/>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Header Footer Only">
    <p:spTree>
      <p:nvGrpSpPr>
        <p:cNvPr id="1" name=""/>
        <p:cNvGrpSpPr/>
        <p:nvPr/>
      </p:nvGrpSpPr>
      <p:grpSpPr>
        <a:xfrm>
          <a:off x="0" y="0"/>
          <a:ext cx="0" cy="0"/>
          <a:chOff x="0" y="0"/>
          <a:chExt cx="0" cy="0"/>
        </a:xfrm>
      </p:grpSpPr>
      <p:sp>
        <p:nvSpPr>
          <p:cNvPr id="13" name="HeaderTOCPlaceholder"/>
          <p:cNvSpPr txBox="1"/>
          <p:nvPr>
            <p:custDataLst>
              <p:tags r:id="rId1"/>
            </p:custDataLst>
          </p:nvPr>
        </p:nvSpPr>
        <p:spPr>
          <a:xfrm>
            <a:off x="3255818"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18" name="Section Header"/>
          <p:cNvSpPr txBox="1"/>
          <p:nvPr>
            <p:custDataLst>
              <p:tags r:id="rId2"/>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6" name="Date/Filepath" hidden="1"/>
          <p:cNvSpPr txBox="1"/>
          <p:nvPr>
            <p:custDataLst>
              <p:tags r:id="rId3"/>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7" name="Slide Tags" hidden="1"/>
          <p:cNvSpPr txBox="1"/>
          <p:nvPr>
            <p:custDataLst>
              <p:tags r:id="rId4"/>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1"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0" name="Report Date"/>
          <p:cNvSpPr txBox="1"/>
          <p:nvPr>
            <p:custDataLst>
              <p:tags r:id="rId5"/>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2" name="Page Number"/>
          <p:cNvSpPr txBox="1"/>
          <p:nvPr>
            <p:custDataLst>
              <p:tags r:id="rId6"/>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7" name="Presentation Disclaimer"/>
          <p:cNvSpPr txBox="1"/>
          <p:nvPr>
            <p:custDataLst>
              <p:tags r:id="rId7"/>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28" name="Straight Connector 27"/>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Section Footer"/>
          <p:cNvSpPr txBox="1"/>
          <p:nvPr>
            <p:custDataLst>
              <p:tags r:id="rId8"/>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30" name="Draft stamp" hidden="1"/>
          <p:cNvSpPr txBox="1"/>
          <p:nvPr>
            <p:custDataLst>
              <p:tags r:id="rId9"/>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4144999656"/>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Intro Only">
    <p:spTree>
      <p:nvGrpSpPr>
        <p:cNvPr id="1" name=""/>
        <p:cNvGrpSpPr/>
        <p:nvPr/>
      </p:nvGrpSpPr>
      <p:grpSpPr>
        <a:xfrm>
          <a:off x="0" y="0"/>
          <a:ext cx="0" cy="0"/>
          <a:chOff x="0" y="0"/>
          <a:chExt cx="0" cy="0"/>
        </a:xfrm>
      </p:grpSpPr>
      <p:sp>
        <p:nvSpPr>
          <p:cNvPr id="13" name="HeaderTOCPlaceholder"/>
          <p:cNvSpPr txBox="1"/>
          <p:nvPr>
            <p:custDataLst>
              <p:tags r:id="rId1"/>
            </p:custDataLst>
          </p:nvPr>
        </p:nvSpPr>
        <p:spPr>
          <a:xfrm>
            <a:off x="3255818"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6" name="Date/Filepath" hidden="1"/>
          <p:cNvSpPr txBox="1"/>
          <p:nvPr>
            <p:custDataLst>
              <p:tags r:id="rId2"/>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7" name="Slide Tags" hidden="1"/>
          <p:cNvSpPr txBox="1"/>
          <p:nvPr>
            <p:custDataLst>
              <p:tags r:id="rId3"/>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15"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Page Number"/>
          <p:cNvSpPr txBox="1"/>
          <p:nvPr>
            <p:custDataLst>
              <p:tags r:id="rId4"/>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cxnSp>
        <p:nvCxnSpPr>
          <p:cNvPr id="27" name="Straight Connector 26"/>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Section Footer"/>
          <p:cNvSpPr txBox="1"/>
          <p:nvPr>
            <p:custDataLst>
              <p:tags r:id="rId5"/>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29" name="Draft stamp" hidden="1"/>
          <p:cNvSpPr txBox="1"/>
          <p:nvPr>
            <p:custDataLst>
              <p:tags r:id="rId6"/>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3577755915"/>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ection Divider">
    <p:spTree>
      <p:nvGrpSpPr>
        <p:cNvPr id="1" name=""/>
        <p:cNvGrpSpPr/>
        <p:nvPr/>
      </p:nvGrpSpPr>
      <p:grpSpPr>
        <a:xfrm>
          <a:off x="0" y="0"/>
          <a:ext cx="0" cy="0"/>
          <a:chOff x="0" y="0"/>
          <a:chExt cx="0" cy="0"/>
        </a:xfrm>
      </p:grpSpPr>
      <p:sp>
        <p:nvSpPr>
          <p:cNvPr id="13" name="Section Divider Title"/>
          <p:cNvSpPr>
            <a:spLocks noGrp="1"/>
          </p:cNvSpPr>
          <p:nvPr>
            <p:ph type="title" hasCustomPrompt="1"/>
            <p:custDataLst>
              <p:tags r:id="rId1"/>
            </p:custDataLst>
          </p:nvPr>
        </p:nvSpPr>
        <p:spPr>
          <a:xfrm>
            <a:off x="481093" y="886237"/>
            <a:ext cx="2628295" cy="1303525"/>
          </a:xfrm>
        </p:spPr>
        <p:txBody>
          <a:bodyPr wrap="square" tIns="0" bIns="0" anchor="t">
            <a:spAutoFit/>
          </a:bodyPr>
          <a:lstStyle>
            <a:lvl1pPr algn="l">
              <a:defRPr sz="2824" b="1" i="1" cap="none">
                <a:solidFill>
                  <a:schemeClr val="tx2"/>
                </a:solidFill>
              </a:defRPr>
            </a:lvl1pPr>
          </a:lstStyle>
          <a:p>
            <a:r>
              <a:rPr lang="en-GB" noProof="0" dirty="0"/>
              <a:t>Click to add Section Divider Title</a:t>
            </a:r>
          </a:p>
        </p:txBody>
      </p:sp>
      <p:sp>
        <p:nvSpPr>
          <p:cNvPr id="25" name="DividerTOCPlaceholder"/>
          <p:cNvSpPr txBox="1"/>
          <p:nvPr>
            <p:custDataLst>
              <p:tags r:id="rId2"/>
            </p:custDataLst>
          </p:nvPr>
        </p:nvSpPr>
        <p:spPr>
          <a:xfrm>
            <a:off x="3262910" y="908473"/>
            <a:ext cx="5403273" cy="5209941"/>
          </a:xfrm>
          <a:prstGeom prst="rect">
            <a:avLst/>
          </a:prstGeom>
          <a:noFill/>
          <a:ln>
            <a:noFill/>
          </a:ln>
        </p:spPr>
        <p:txBody>
          <a:bodyPr wrap="square" lIns="0" tIns="0" rIns="0" bIns="0" rtlCol="0">
            <a:noAutofit/>
          </a:bodyPr>
          <a:lstStyle/>
          <a:p>
            <a:endParaRPr lang="en-GB" sz="1588" noProof="1">
              <a:solidFill>
                <a:schemeClr val="tx1"/>
              </a:solidFill>
              <a:latin typeface="Georgia" pitchFamily="18" charset="0"/>
              <a:cs typeface="Arial" pitchFamily="34" charset="0"/>
            </a:endParaRPr>
          </a:p>
        </p:txBody>
      </p:sp>
      <p:sp>
        <p:nvSpPr>
          <p:cNvPr id="24" name="HeaderTOCPlaceholder"/>
          <p:cNvSpPr txBox="1"/>
          <p:nvPr>
            <p:custDataLst>
              <p:tags r:id="rId3"/>
            </p:custDataLst>
          </p:nvPr>
        </p:nvSpPr>
        <p:spPr>
          <a:xfrm>
            <a:off x="3255818"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29" name="Section Header"/>
          <p:cNvSpPr txBox="1"/>
          <p:nvPr>
            <p:custDataLst>
              <p:tags r:id="rId4"/>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14" name="Date/Filepath" hidden="1"/>
          <p:cNvSpPr txBox="1"/>
          <p:nvPr>
            <p:custDataLst>
              <p:tags r:id="rId5"/>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1" name="Slide Tags" hidden="1"/>
          <p:cNvSpPr txBox="1"/>
          <p:nvPr>
            <p:custDataLst>
              <p:tags r:id="rId6"/>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0"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18" name="Report Date"/>
          <p:cNvSpPr txBox="1"/>
          <p:nvPr>
            <p:custDataLst>
              <p:tags r:id="rId7"/>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19" name="Page Number"/>
          <p:cNvSpPr txBox="1"/>
          <p:nvPr>
            <p:custDataLst>
              <p:tags r:id="rId8"/>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1" name="Presentation Disclaimer"/>
          <p:cNvSpPr txBox="1"/>
          <p:nvPr>
            <p:custDataLst>
              <p:tags r:id="rId9"/>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23" name="Straight Connector 22"/>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Section Footer"/>
          <p:cNvSpPr txBox="1"/>
          <p:nvPr>
            <p:custDataLst>
              <p:tags r:id="rId10"/>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28" name="Draft stamp" hidden="1"/>
          <p:cNvSpPr txBox="1"/>
          <p:nvPr>
            <p:custDataLst>
              <p:tags r:id="rId11"/>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711584552"/>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Appendix Divider">
    <p:spTree>
      <p:nvGrpSpPr>
        <p:cNvPr id="1" name=""/>
        <p:cNvGrpSpPr/>
        <p:nvPr/>
      </p:nvGrpSpPr>
      <p:grpSpPr>
        <a:xfrm>
          <a:off x="0" y="0"/>
          <a:ext cx="0" cy="0"/>
          <a:chOff x="0" y="0"/>
          <a:chExt cx="0" cy="0"/>
        </a:xfrm>
      </p:grpSpPr>
      <p:sp>
        <p:nvSpPr>
          <p:cNvPr id="2" name="Appendix Divider Title"/>
          <p:cNvSpPr>
            <a:spLocks noGrp="1"/>
          </p:cNvSpPr>
          <p:nvPr>
            <p:ph type="title" hasCustomPrompt="1"/>
            <p:custDataLst>
              <p:tags r:id="rId1"/>
            </p:custDataLst>
          </p:nvPr>
        </p:nvSpPr>
        <p:spPr>
          <a:xfrm>
            <a:off x="482139" y="886237"/>
            <a:ext cx="2635135" cy="1303525"/>
          </a:xfrm>
        </p:spPr>
        <p:txBody>
          <a:bodyPr wrap="square" tIns="0" bIns="0" anchor="t">
            <a:spAutoFit/>
          </a:bodyPr>
          <a:lstStyle>
            <a:lvl1pPr algn="l">
              <a:defRPr sz="2824" b="1" i="1" cap="none" baseline="0">
                <a:latin typeface="+mj-lt"/>
              </a:defRPr>
            </a:lvl1pPr>
          </a:lstStyle>
          <a:p>
            <a:r>
              <a:rPr lang="en-GB" noProof="0" dirty="0"/>
              <a:t>Click to add Appendix Divider Title</a:t>
            </a:r>
          </a:p>
        </p:txBody>
      </p:sp>
      <p:sp>
        <p:nvSpPr>
          <p:cNvPr id="18" name="DividerTOCPlaceholder"/>
          <p:cNvSpPr txBox="1"/>
          <p:nvPr>
            <p:custDataLst>
              <p:tags r:id="rId2"/>
            </p:custDataLst>
          </p:nvPr>
        </p:nvSpPr>
        <p:spPr>
          <a:xfrm>
            <a:off x="3262910" y="908470"/>
            <a:ext cx="5403273" cy="5209412"/>
          </a:xfrm>
          <a:prstGeom prst="rect">
            <a:avLst/>
          </a:prstGeom>
          <a:noFill/>
          <a:ln>
            <a:noFill/>
          </a:ln>
        </p:spPr>
        <p:txBody>
          <a:bodyPr wrap="square" lIns="0" tIns="0" rIns="0" bIns="0" rtlCol="0">
            <a:noAutofit/>
          </a:bodyPr>
          <a:lstStyle/>
          <a:p>
            <a:endParaRPr lang="en-GB" sz="1588" noProof="1">
              <a:solidFill>
                <a:schemeClr val="tx1"/>
              </a:solidFill>
              <a:latin typeface="Georgia" pitchFamily="18" charset="0"/>
              <a:cs typeface="Arial" pitchFamily="34" charset="0"/>
            </a:endParaRPr>
          </a:p>
        </p:txBody>
      </p:sp>
      <p:sp>
        <p:nvSpPr>
          <p:cNvPr id="26" name="HeaderTOCPlaceholder"/>
          <p:cNvSpPr txBox="1"/>
          <p:nvPr>
            <p:custDataLst>
              <p:tags r:id="rId3"/>
            </p:custDataLst>
          </p:nvPr>
        </p:nvSpPr>
        <p:spPr>
          <a:xfrm>
            <a:off x="3255818"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19" name="Section Header"/>
          <p:cNvSpPr txBox="1"/>
          <p:nvPr>
            <p:custDataLst>
              <p:tags r:id="rId4"/>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17" name="Date/Filepath" hidden="1"/>
          <p:cNvSpPr txBox="1"/>
          <p:nvPr>
            <p:custDataLst>
              <p:tags r:id="rId5"/>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6" name="Slide Tags" hidden="1"/>
          <p:cNvSpPr txBox="1"/>
          <p:nvPr>
            <p:custDataLst>
              <p:tags r:id="rId6"/>
            </p:custDataLst>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8"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1" name="Report Date"/>
          <p:cNvSpPr txBox="1"/>
          <p:nvPr>
            <p:custDataLst>
              <p:tags r:id="rId7"/>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3" name="Page Number"/>
          <p:cNvSpPr txBox="1"/>
          <p:nvPr>
            <p:custDataLst>
              <p:tags r:id="rId8"/>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5" name="Presentation Disclaimer"/>
          <p:cNvSpPr txBox="1"/>
          <p:nvPr>
            <p:custDataLst>
              <p:tags r:id="rId9"/>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27" name="Straight Connector 26"/>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Section Footer"/>
          <p:cNvSpPr txBox="1"/>
          <p:nvPr>
            <p:custDataLst>
              <p:tags r:id="rId10"/>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30" name="Draft stamp" hidden="1"/>
          <p:cNvSpPr txBox="1"/>
          <p:nvPr>
            <p:custDataLst>
              <p:tags r:id="rId11"/>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3359263152"/>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At a glance">
    <p:spTree>
      <p:nvGrpSpPr>
        <p:cNvPr id="1" name=""/>
        <p:cNvGrpSpPr/>
        <p:nvPr/>
      </p:nvGrpSpPr>
      <p:grpSpPr>
        <a:xfrm>
          <a:off x="0" y="0"/>
          <a:ext cx="0" cy="0"/>
          <a:chOff x="0" y="0"/>
          <a:chExt cx="0" cy="0"/>
        </a:xfrm>
      </p:grpSpPr>
      <p:sp>
        <p:nvSpPr>
          <p:cNvPr id="13" name="Banner"/>
          <p:cNvSpPr>
            <a:spLocks noGrp="1"/>
          </p:cNvSpPr>
          <p:nvPr>
            <p:ph type="title" hasCustomPrompt="1"/>
          </p:nvPr>
        </p:nvSpPr>
        <p:spPr>
          <a:xfrm>
            <a:off x="482139" y="941294"/>
            <a:ext cx="2635135" cy="742278"/>
          </a:xfrm>
        </p:spPr>
        <p:txBody>
          <a:bodyPr wrap="square" tIns="0" bIns="0" anchor="t">
            <a:noAutofit/>
          </a:bodyPr>
          <a:lstStyle>
            <a:lvl1pPr algn="l">
              <a:defRPr sz="1324" b="1" i="0" cap="none">
                <a:solidFill>
                  <a:schemeClr val="tx2"/>
                </a:solidFill>
              </a:defRPr>
            </a:lvl1pPr>
          </a:lstStyle>
          <a:p>
            <a:r>
              <a:rPr lang="en-GB" noProof="0" dirty="0"/>
              <a:t>At a glance</a:t>
            </a:r>
          </a:p>
        </p:txBody>
      </p:sp>
      <p:sp>
        <p:nvSpPr>
          <p:cNvPr id="17" name="Text Placeholder"/>
          <p:cNvSpPr>
            <a:spLocks noGrp="1"/>
          </p:cNvSpPr>
          <p:nvPr>
            <p:ph type="body" sz="quarter" idx="30" hasCustomPrompt="1"/>
          </p:nvPr>
        </p:nvSpPr>
        <p:spPr>
          <a:xfrm>
            <a:off x="3259638" y="941293"/>
            <a:ext cx="5402225" cy="742278"/>
          </a:xfrm>
        </p:spPr>
        <p:txBody>
          <a:bodyPr vert="horz" lIns="0" tIns="0" rIns="0" bIns="0" rtlCol="0">
            <a:noAutofit/>
          </a:bodyPr>
          <a:lstStyle>
            <a:lvl1pPr marL="0" marR="0" indent="0" algn="l" defTabSz="899010" rtl="0" eaLnBrk="1" fontAlgn="base" latinLnBrk="0" hangingPunct="1">
              <a:lnSpc>
                <a:spcPct val="100000"/>
              </a:lnSpc>
              <a:spcBef>
                <a:spcPct val="0"/>
              </a:spcBef>
              <a:spcAft>
                <a:spcPts val="0"/>
              </a:spcAft>
              <a:buClr>
                <a:srgbClr val="000000"/>
              </a:buClr>
              <a:buSzTx/>
              <a:buFont typeface="Wingdings" pitchFamily="2" charset="2"/>
              <a:buNone/>
              <a:tabLst/>
              <a:defRPr lang="en-GB" sz="971" b="0" i="1" kern="1200" noProof="0" dirty="0" smtClean="0">
                <a:solidFill>
                  <a:schemeClr val="tx2"/>
                </a:solidFill>
                <a:latin typeface="Georgia" pitchFamily="18" charset="0"/>
                <a:ea typeface="+mn-ea"/>
                <a:cs typeface="+mn-cs"/>
              </a:defRPr>
            </a:lvl1pPr>
          </a:lstStyle>
          <a:p>
            <a:pPr lvl="0" algn="l" defTabSz="899010" rtl="0" eaLnBrk="1" latinLnBrk="0" hangingPunct="1">
              <a:spcBef>
                <a:spcPct val="0"/>
              </a:spcBef>
              <a:buNone/>
            </a:pPr>
            <a:r>
              <a:rPr lang="en-GB" dirty="0"/>
              <a:t>PwC view – Insert text here</a:t>
            </a:r>
          </a:p>
        </p:txBody>
      </p:sp>
      <p:cxnSp>
        <p:nvCxnSpPr>
          <p:cNvPr id="34" name="Straight Connector 33"/>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30" name="HeaderTOCPlaceholder"/>
          <p:cNvSpPr txBox="1"/>
          <p:nvPr>
            <p:custDataLst>
              <p:tags r:id="rId1"/>
            </p:custDataLst>
          </p:nvPr>
        </p:nvSpPr>
        <p:spPr>
          <a:xfrm>
            <a:off x="3258590"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25" name="Section Header"/>
          <p:cNvSpPr txBox="1"/>
          <p:nvPr>
            <p:custDataLst>
              <p:tags r:id="rId2"/>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14" name="Date/Filepath" hidden="1"/>
          <p:cNvSpPr txBox="1"/>
          <p:nvPr>
            <p:custDataLst>
              <p:tags r:id="rId3"/>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1" name="Slide Tags" hidden="1"/>
          <p:cNvSpPr txBox="1"/>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2"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19" name="Report Date"/>
          <p:cNvSpPr txBox="1"/>
          <p:nvPr>
            <p:custDataLst>
              <p:tags r:id="rId4"/>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1" name="Page Number"/>
          <p:cNvSpPr txBox="1"/>
          <p:nvPr>
            <p:custDataLst>
              <p:tags r:id="rId5"/>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3" name="Presentation Disclaimer"/>
          <p:cNvSpPr txBox="1"/>
          <p:nvPr>
            <p:custDataLst>
              <p:tags r:id="rId6"/>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24" name="Straight Connector 23"/>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Section Footer"/>
          <p:cNvSpPr txBox="1"/>
          <p:nvPr>
            <p:custDataLst>
              <p:tags r:id="rId7"/>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28" name="Draft stamp" hidden="1"/>
          <p:cNvSpPr txBox="1"/>
          <p:nvPr>
            <p:custDataLst>
              <p:tags r:id="rId8"/>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4288357666"/>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At a glance Content: Three">
    <p:spTree>
      <p:nvGrpSpPr>
        <p:cNvPr id="1" name=""/>
        <p:cNvGrpSpPr/>
        <p:nvPr/>
      </p:nvGrpSpPr>
      <p:grpSpPr>
        <a:xfrm>
          <a:off x="0" y="0"/>
          <a:ext cx="0" cy="0"/>
          <a:chOff x="0" y="0"/>
          <a:chExt cx="0" cy="0"/>
        </a:xfrm>
      </p:grpSpPr>
      <p:sp>
        <p:nvSpPr>
          <p:cNvPr id="13" name="Banner"/>
          <p:cNvSpPr>
            <a:spLocks noGrp="1"/>
          </p:cNvSpPr>
          <p:nvPr>
            <p:ph type="title" hasCustomPrompt="1"/>
          </p:nvPr>
        </p:nvSpPr>
        <p:spPr>
          <a:xfrm>
            <a:off x="482139" y="941294"/>
            <a:ext cx="2635135" cy="742278"/>
          </a:xfrm>
        </p:spPr>
        <p:txBody>
          <a:bodyPr wrap="square" tIns="0" bIns="0" anchor="t">
            <a:noAutofit/>
          </a:bodyPr>
          <a:lstStyle>
            <a:lvl1pPr algn="l">
              <a:defRPr sz="1324" b="1" i="0" cap="none">
                <a:solidFill>
                  <a:schemeClr val="tx2"/>
                </a:solidFill>
                <a:latin typeface="+mj-lt"/>
                <a:cs typeface="Arial"/>
              </a:defRPr>
            </a:lvl1pPr>
          </a:lstStyle>
          <a:p>
            <a:r>
              <a:rPr lang="en-GB" noProof="0" dirty="0"/>
              <a:t>At a glance – our views</a:t>
            </a:r>
          </a:p>
        </p:txBody>
      </p:sp>
      <p:sp>
        <p:nvSpPr>
          <p:cNvPr id="17" name="Text Placeholder"/>
          <p:cNvSpPr>
            <a:spLocks noGrp="1"/>
          </p:cNvSpPr>
          <p:nvPr>
            <p:ph type="body" sz="quarter" idx="30" hasCustomPrompt="1"/>
          </p:nvPr>
        </p:nvSpPr>
        <p:spPr>
          <a:xfrm>
            <a:off x="3259637" y="941293"/>
            <a:ext cx="5403273" cy="742278"/>
          </a:xfrm>
        </p:spPr>
        <p:txBody>
          <a:bodyPr vert="horz" lIns="0" tIns="0" rIns="0" bIns="0" rtlCol="0">
            <a:noAutofit/>
          </a:bodyPr>
          <a:lstStyle>
            <a:lvl1pPr marL="0" marR="0" indent="0" algn="l" defTabSz="899010" rtl="0" eaLnBrk="1" fontAlgn="base" latinLnBrk="0" hangingPunct="1">
              <a:lnSpc>
                <a:spcPct val="100000"/>
              </a:lnSpc>
              <a:spcBef>
                <a:spcPct val="0"/>
              </a:spcBef>
              <a:spcAft>
                <a:spcPts val="0"/>
              </a:spcAft>
              <a:buClr>
                <a:srgbClr val="000000"/>
              </a:buClr>
              <a:buSzTx/>
              <a:buFont typeface="Wingdings" pitchFamily="2" charset="2"/>
              <a:buNone/>
              <a:tabLst/>
              <a:defRPr lang="en-GB" sz="971" b="0" i="1" kern="1200" noProof="0" dirty="0" smtClean="0">
                <a:solidFill>
                  <a:schemeClr val="tx2"/>
                </a:solidFill>
                <a:latin typeface="Georgia" pitchFamily="18" charset="0"/>
                <a:ea typeface="+mn-ea"/>
                <a:cs typeface="+mn-cs"/>
              </a:defRPr>
            </a:lvl1pPr>
          </a:lstStyle>
          <a:p>
            <a:pPr lvl="0" algn="l" defTabSz="899010" rtl="0" eaLnBrk="1" latinLnBrk="0" hangingPunct="1">
              <a:spcBef>
                <a:spcPct val="0"/>
              </a:spcBef>
              <a:buNone/>
            </a:pPr>
            <a:r>
              <a:rPr lang="en-GB" dirty="0"/>
              <a:t>Insert text here</a:t>
            </a:r>
          </a:p>
        </p:txBody>
      </p:sp>
      <p:sp>
        <p:nvSpPr>
          <p:cNvPr id="22" name="Content Placeholder 2"/>
          <p:cNvSpPr>
            <a:spLocks noGrp="1"/>
          </p:cNvSpPr>
          <p:nvPr>
            <p:ph sz="quarter" idx="31"/>
          </p:nvPr>
        </p:nvSpPr>
        <p:spPr>
          <a:xfrm>
            <a:off x="482139" y="1815353"/>
            <a:ext cx="2635135" cy="43084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1" name="Content Placeholder 3"/>
          <p:cNvSpPr>
            <a:spLocks noGrp="1"/>
          </p:cNvSpPr>
          <p:nvPr>
            <p:ph sz="quarter" idx="32"/>
          </p:nvPr>
        </p:nvSpPr>
        <p:spPr>
          <a:xfrm>
            <a:off x="3258590" y="1815353"/>
            <a:ext cx="2635135" cy="43084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3" name="Content Placeholder 4"/>
          <p:cNvSpPr>
            <a:spLocks noGrp="1"/>
          </p:cNvSpPr>
          <p:nvPr>
            <p:ph sz="quarter" idx="33"/>
          </p:nvPr>
        </p:nvSpPr>
        <p:spPr>
          <a:xfrm>
            <a:off x="6026728" y="1815353"/>
            <a:ext cx="2635135" cy="43084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cxnSp>
        <p:nvCxnSpPr>
          <p:cNvPr id="34" name="Straight Connector 33"/>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30" name="HeaderTOCPlaceholder"/>
          <p:cNvSpPr txBox="1"/>
          <p:nvPr>
            <p:custDataLst>
              <p:tags r:id="rId1"/>
            </p:custDataLst>
          </p:nvPr>
        </p:nvSpPr>
        <p:spPr>
          <a:xfrm>
            <a:off x="3258590"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25" name="Section Header"/>
          <p:cNvSpPr txBox="1"/>
          <p:nvPr>
            <p:custDataLst>
              <p:tags r:id="rId2"/>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14" name="Date/Filepath" hidden="1"/>
          <p:cNvSpPr txBox="1"/>
          <p:nvPr>
            <p:custDataLst>
              <p:tags r:id="rId3"/>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1" name="Slide Tags" hidden="1"/>
          <p:cNvSpPr txBox="1"/>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7"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3" name="Report Date"/>
          <p:cNvSpPr txBox="1"/>
          <p:nvPr>
            <p:custDataLst>
              <p:tags r:id="rId4"/>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4" name="Page Number"/>
          <p:cNvSpPr txBox="1"/>
          <p:nvPr>
            <p:custDataLst>
              <p:tags r:id="rId5"/>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6" name="Presentation Disclaimer"/>
          <p:cNvSpPr txBox="1"/>
          <p:nvPr>
            <p:custDataLst>
              <p:tags r:id="rId6"/>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28" name="Straight Connector 27"/>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Section Footer"/>
          <p:cNvSpPr txBox="1"/>
          <p:nvPr>
            <p:custDataLst>
              <p:tags r:id="rId7"/>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40" name="Draft stamp" hidden="1"/>
          <p:cNvSpPr txBox="1"/>
          <p:nvPr>
            <p:custDataLst>
              <p:tags r:id="rId8"/>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3488161402"/>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At a glance Content: Six">
    <p:spTree>
      <p:nvGrpSpPr>
        <p:cNvPr id="1" name=""/>
        <p:cNvGrpSpPr/>
        <p:nvPr/>
      </p:nvGrpSpPr>
      <p:grpSpPr>
        <a:xfrm>
          <a:off x="0" y="0"/>
          <a:ext cx="0" cy="0"/>
          <a:chOff x="0" y="0"/>
          <a:chExt cx="0" cy="0"/>
        </a:xfrm>
      </p:grpSpPr>
      <p:sp>
        <p:nvSpPr>
          <p:cNvPr id="13" name="Banner"/>
          <p:cNvSpPr>
            <a:spLocks noGrp="1"/>
          </p:cNvSpPr>
          <p:nvPr>
            <p:ph type="title" hasCustomPrompt="1"/>
          </p:nvPr>
        </p:nvSpPr>
        <p:spPr>
          <a:xfrm>
            <a:off x="482139" y="941294"/>
            <a:ext cx="2635135" cy="742278"/>
          </a:xfrm>
        </p:spPr>
        <p:txBody>
          <a:bodyPr wrap="square" tIns="0" bIns="0" anchor="t">
            <a:noAutofit/>
          </a:bodyPr>
          <a:lstStyle>
            <a:lvl1pPr algn="l">
              <a:defRPr sz="1324" b="1" i="0" cap="none">
                <a:solidFill>
                  <a:schemeClr val="tx2"/>
                </a:solidFill>
              </a:defRPr>
            </a:lvl1pPr>
          </a:lstStyle>
          <a:p>
            <a:r>
              <a:rPr lang="en-GB" noProof="0" dirty="0"/>
              <a:t>At a glance – our views</a:t>
            </a:r>
          </a:p>
        </p:txBody>
      </p:sp>
      <p:sp>
        <p:nvSpPr>
          <p:cNvPr id="17" name="Text Placeholder"/>
          <p:cNvSpPr>
            <a:spLocks noGrp="1"/>
          </p:cNvSpPr>
          <p:nvPr>
            <p:ph type="body" sz="quarter" idx="30" hasCustomPrompt="1"/>
          </p:nvPr>
        </p:nvSpPr>
        <p:spPr>
          <a:xfrm>
            <a:off x="3259637" y="941293"/>
            <a:ext cx="5403273" cy="742278"/>
          </a:xfrm>
        </p:spPr>
        <p:txBody>
          <a:bodyPr vert="horz" lIns="0" tIns="0" rIns="0" bIns="0" rtlCol="0">
            <a:noAutofit/>
          </a:bodyPr>
          <a:lstStyle>
            <a:lvl1pPr marL="0" marR="0" indent="0" algn="l" defTabSz="899010" rtl="0" eaLnBrk="1" fontAlgn="base" latinLnBrk="0" hangingPunct="1">
              <a:lnSpc>
                <a:spcPct val="100000"/>
              </a:lnSpc>
              <a:spcBef>
                <a:spcPct val="0"/>
              </a:spcBef>
              <a:spcAft>
                <a:spcPts val="0"/>
              </a:spcAft>
              <a:buClr>
                <a:srgbClr val="000000"/>
              </a:buClr>
              <a:buSzTx/>
              <a:buFont typeface="Wingdings" pitchFamily="2" charset="2"/>
              <a:buNone/>
              <a:tabLst/>
              <a:defRPr lang="en-GB" sz="971" b="0" i="1" kern="1200" noProof="0" dirty="0" smtClean="0">
                <a:solidFill>
                  <a:schemeClr val="tx2"/>
                </a:solidFill>
                <a:latin typeface="Georgia" pitchFamily="18" charset="0"/>
                <a:ea typeface="+mn-ea"/>
                <a:cs typeface="+mn-cs"/>
              </a:defRPr>
            </a:lvl1pPr>
          </a:lstStyle>
          <a:p>
            <a:pPr lvl="0" algn="l" defTabSz="899010" rtl="0" eaLnBrk="1" latinLnBrk="0" hangingPunct="1">
              <a:spcBef>
                <a:spcPct val="0"/>
              </a:spcBef>
              <a:buNone/>
            </a:pPr>
            <a:r>
              <a:rPr lang="en-GB" dirty="0"/>
              <a:t>Insert text here</a:t>
            </a:r>
          </a:p>
        </p:txBody>
      </p:sp>
      <p:sp>
        <p:nvSpPr>
          <p:cNvPr id="22" name="Content Placeholder 2"/>
          <p:cNvSpPr>
            <a:spLocks noGrp="1"/>
          </p:cNvSpPr>
          <p:nvPr>
            <p:ph sz="quarter" idx="31"/>
          </p:nvPr>
        </p:nvSpPr>
        <p:spPr>
          <a:xfrm>
            <a:off x="482139" y="1815355"/>
            <a:ext cx="2635135" cy="20816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1" name="Content Placeholder 3"/>
          <p:cNvSpPr>
            <a:spLocks noGrp="1"/>
          </p:cNvSpPr>
          <p:nvPr>
            <p:ph sz="quarter" idx="32"/>
          </p:nvPr>
        </p:nvSpPr>
        <p:spPr>
          <a:xfrm>
            <a:off x="3258589" y="1815355"/>
            <a:ext cx="2635135" cy="20816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3" name="Content Placeholder 4"/>
          <p:cNvSpPr>
            <a:spLocks noGrp="1"/>
          </p:cNvSpPr>
          <p:nvPr>
            <p:ph sz="quarter" idx="33"/>
          </p:nvPr>
        </p:nvSpPr>
        <p:spPr>
          <a:xfrm>
            <a:off x="6026727" y="1815355"/>
            <a:ext cx="2635135" cy="20816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6" name="Content Placeholder 5"/>
          <p:cNvSpPr>
            <a:spLocks noGrp="1"/>
          </p:cNvSpPr>
          <p:nvPr>
            <p:ph sz="quarter" idx="34"/>
          </p:nvPr>
        </p:nvSpPr>
        <p:spPr>
          <a:xfrm>
            <a:off x="482139" y="4034120"/>
            <a:ext cx="2635135" cy="20816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8" name="Content Placeholder 6"/>
          <p:cNvSpPr>
            <a:spLocks noGrp="1"/>
          </p:cNvSpPr>
          <p:nvPr>
            <p:ph sz="quarter" idx="35"/>
          </p:nvPr>
        </p:nvSpPr>
        <p:spPr>
          <a:xfrm>
            <a:off x="3258589" y="4034120"/>
            <a:ext cx="2635135" cy="20816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0" name="Content Placeholder 7"/>
          <p:cNvSpPr>
            <a:spLocks noGrp="1"/>
          </p:cNvSpPr>
          <p:nvPr>
            <p:ph sz="quarter" idx="36"/>
          </p:nvPr>
        </p:nvSpPr>
        <p:spPr>
          <a:xfrm>
            <a:off x="6026727" y="4034120"/>
            <a:ext cx="2635135" cy="20816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cxnSp>
        <p:nvCxnSpPr>
          <p:cNvPr id="34" name="Straight Connector 33"/>
          <p:cNvCxnSpPr/>
          <p:nvPr/>
        </p:nvCxnSpPr>
        <p:spPr>
          <a:xfrm>
            <a:off x="481092" y="1748118"/>
            <a:ext cx="8178545" cy="0"/>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30" name="HeaderTOCPlaceholder"/>
          <p:cNvSpPr txBox="1"/>
          <p:nvPr>
            <p:custDataLst>
              <p:tags r:id="rId1"/>
            </p:custDataLst>
          </p:nvPr>
        </p:nvSpPr>
        <p:spPr>
          <a:xfrm>
            <a:off x="3258590" y="621257"/>
            <a:ext cx="5403273" cy="122213"/>
          </a:xfrm>
          <a:prstGeom prst="rect">
            <a:avLst/>
          </a:prstGeom>
          <a:noFill/>
          <a:ln>
            <a:noFill/>
          </a:ln>
        </p:spPr>
        <p:txBody>
          <a:bodyPr wrap="square" lIns="0" tIns="0" rIns="0" bIns="0" rtlCol="0">
            <a:spAutoFit/>
          </a:bodyPr>
          <a:lstStyle/>
          <a:p>
            <a:endParaRPr lang="en-GB" sz="794" noProof="1">
              <a:solidFill>
                <a:schemeClr val="tx1"/>
              </a:solidFill>
              <a:latin typeface="+mn-lt"/>
              <a:cs typeface="Arial" pitchFamily="34" charset="0"/>
            </a:endParaRPr>
          </a:p>
        </p:txBody>
      </p:sp>
      <p:sp>
        <p:nvSpPr>
          <p:cNvPr id="25" name="Section Header"/>
          <p:cNvSpPr txBox="1"/>
          <p:nvPr>
            <p:custDataLst>
              <p:tags r:id="rId2"/>
            </p:custDataLst>
          </p:nvPr>
        </p:nvSpPr>
        <p:spPr>
          <a:xfrm>
            <a:off x="482139" y="621254"/>
            <a:ext cx="2758526" cy="121024"/>
          </a:xfrm>
          <a:prstGeom prst="rect">
            <a:avLst/>
          </a:prstGeom>
          <a:noFill/>
        </p:spPr>
        <p:txBody>
          <a:bodyPr wrap="square" lIns="0" tIns="0" rIns="0" bIns="0" rtlCol="0" anchor="b" anchorCtr="0">
            <a:noAutofit/>
          </a:bodyPr>
          <a:lstStyle/>
          <a:p>
            <a:endParaRPr lang="en-GB" sz="794" noProof="1">
              <a:solidFill>
                <a:schemeClr val="tx1"/>
              </a:solidFill>
            </a:endParaRPr>
          </a:p>
        </p:txBody>
      </p:sp>
      <p:sp>
        <p:nvSpPr>
          <p:cNvPr id="14" name="Date/Filepath" hidden="1"/>
          <p:cNvSpPr txBox="1"/>
          <p:nvPr>
            <p:custDataLst>
              <p:tags r:id="rId3"/>
            </p:custDataLst>
          </p:nvPr>
        </p:nvSpPr>
        <p:spPr>
          <a:xfrm>
            <a:off x="2999514" y="267429"/>
            <a:ext cx="5652655" cy="122213"/>
          </a:xfrm>
          <a:prstGeom prst="rect">
            <a:avLst/>
          </a:prstGeom>
          <a:noFill/>
        </p:spPr>
        <p:txBody>
          <a:bodyPr wrap="square" lIns="0" tIns="0" rIns="0" bIns="0" rtlCol="0" anchor="b" anchorCtr="0">
            <a:spAutoFit/>
          </a:bodyPr>
          <a:lstStyle/>
          <a:p>
            <a:pPr algn="r"/>
            <a:r>
              <a:rPr lang="en-US" sz="794" noProof="1"/>
              <a:t>10/13/2017 C:\Users\osalaun001\Desktop\New Global Libraries\Slides\Diagrams Process Charts and Timelines.pptx</a:t>
            </a:r>
            <a:endParaRPr lang="en-GB" sz="794" noProof="1"/>
          </a:p>
        </p:txBody>
      </p:sp>
      <p:sp>
        <p:nvSpPr>
          <p:cNvPr id="11" name="Slide Tags" hidden="1"/>
          <p:cNvSpPr txBox="1"/>
          <p:nvPr/>
        </p:nvSpPr>
        <p:spPr>
          <a:xfrm>
            <a:off x="1" y="201708"/>
            <a:ext cx="1454727" cy="336695"/>
          </a:xfrm>
          <a:prstGeom prst="rect">
            <a:avLst/>
          </a:prstGeom>
          <a:noFill/>
        </p:spPr>
        <p:txBody>
          <a:bodyPr wrap="square" rtlCol="0">
            <a:spAutoFit/>
          </a:bodyPr>
          <a:lstStyle/>
          <a:p>
            <a:r>
              <a:rPr lang="en-GB" sz="1588" noProof="1"/>
              <a:t>Slide Tags</a:t>
            </a:r>
          </a:p>
        </p:txBody>
      </p:sp>
      <p:cxnSp>
        <p:nvCxnSpPr>
          <p:cNvPr id="27" name="Frame Line"/>
          <p:cNvCxnSpPr/>
          <p:nvPr/>
        </p:nvCxnSpPr>
        <p:spPr>
          <a:xfrm flipV="1">
            <a:off x="346365" y="823409"/>
            <a:ext cx="8312729" cy="127059"/>
          </a:xfrm>
          <a:prstGeom prst="bentConnector3">
            <a:avLst>
              <a:gd name="adj1" fmla="val 0"/>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PwC Text"/>
          <p:cNvSpPr txBox="1"/>
          <p:nvPr/>
        </p:nvSpPr>
        <p:spPr>
          <a:xfrm>
            <a:off x="482139" y="6454588"/>
            <a:ext cx="249382" cy="121024"/>
          </a:xfrm>
          <a:prstGeom prst="rect">
            <a:avLst/>
          </a:prstGeom>
          <a:noFill/>
        </p:spPr>
        <p:txBody>
          <a:bodyPr vert="horz" wrap="none" lIns="0" tIns="0" rIns="0" bIns="0" rtlCol="0" anchor="t" anchorCtr="0">
            <a:noAutofit/>
          </a:bodyPr>
          <a:lstStyle/>
          <a:p>
            <a:pPr>
              <a:lnSpc>
                <a:spcPts val="882"/>
              </a:lnSpc>
            </a:pPr>
            <a:r>
              <a:rPr lang="en-GB" sz="794" noProof="1">
                <a:latin typeface="+mn-lt"/>
                <a:cs typeface="Arial" pitchFamily="34" charset="0"/>
              </a:rPr>
              <a:t>PwC</a:t>
            </a:r>
          </a:p>
        </p:txBody>
      </p:sp>
      <p:sp>
        <p:nvSpPr>
          <p:cNvPr id="24" name="Report Date"/>
          <p:cNvSpPr txBox="1"/>
          <p:nvPr>
            <p:custDataLst>
              <p:tags r:id="rId4"/>
            </p:custDataLst>
          </p:nvPr>
        </p:nvSpPr>
        <p:spPr>
          <a:xfrm>
            <a:off x="7906848" y="6317431"/>
            <a:ext cx="755015" cy="122213"/>
          </a:xfrm>
          <a:prstGeom prst="rect">
            <a:avLst/>
          </a:prstGeom>
          <a:noFill/>
        </p:spPr>
        <p:txBody>
          <a:bodyPr wrap="none" lIns="0" tIns="0" rIns="0" bIns="0" rtlCol="0">
            <a:spAutoFit/>
          </a:bodyPr>
          <a:lstStyle/>
          <a:p>
            <a:pPr indent="-242060" algn="r">
              <a:spcAft>
                <a:spcPts val="794"/>
              </a:spcAft>
            </a:pPr>
            <a:r>
              <a:rPr lang="en-GB" sz="794" noProof="1">
                <a:latin typeface="+mn-lt"/>
              </a:rPr>
              <a:t>11 October 2017</a:t>
            </a:r>
          </a:p>
        </p:txBody>
      </p:sp>
      <p:sp>
        <p:nvSpPr>
          <p:cNvPr id="26" name="Page Number"/>
          <p:cNvSpPr txBox="1"/>
          <p:nvPr>
            <p:custDataLst>
              <p:tags r:id="rId5"/>
            </p:custDataLst>
          </p:nvPr>
        </p:nvSpPr>
        <p:spPr>
          <a:xfrm>
            <a:off x="8370918" y="6454588"/>
            <a:ext cx="290945" cy="121024"/>
          </a:xfrm>
          <a:prstGeom prst="rect">
            <a:avLst/>
          </a:prstGeom>
          <a:noFill/>
        </p:spPr>
        <p:txBody>
          <a:bodyPr wrap="none" lIns="0" tIns="0" rIns="0" bIns="0" rtlCol="0">
            <a:noAutofit/>
          </a:bodyPr>
          <a:lstStyle/>
          <a:p>
            <a:pPr algn="r">
              <a:lnSpc>
                <a:spcPts val="882"/>
              </a:lnSpc>
            </a:pPr>
            <a:endParaRPr lang="en-GB" sz="794" noProof="1"/>
          </a:p>
        </p:txBody>
      </p:sp>
      <p:sp>
        <p:nvSpPr>
          <p:cNvPr id="28" name="Presentation Disclaimer"/>
          <p:cNvSpPr txBox="1"/>
          <p:nvPr>
            <p:custDataLst>
              <p:tags r:id="rId6"/>
            </p:custDataLst>
          </p:nvPr>
        </p:nvSpPr>
        <p:spPr>
          <a:xfrm>
            <a:off x="3258591" y="6317431"/>
            <a:ext cx="1378583" cy="122213"/>
          </a:xfrm>
          <a:prstGeom prst="rect">
            <a:avLst/>
          </a:prstGeom>
          <a:noFill/>
        </p:spPr>
        <p:txBody>
          <a:bodyPr wrap="none" lIns="0" tIns="0" rIns="0" bIns="0" rtlCol="0" anchor="t" anchorCtr="0">
            <a:spAutoFit/>
          </a:bodyPr>
          <a:lstStyle/>
          <a:p>
            <a:pPr algn="l"/>
            <a:r>
              <a:rPr lang="en-GB" sz="794" noProof="1"/>
              <a:t>Strictly private and confidential</a:t>
            </a:r>
          </a:p>
        </p:txBody>
      </p:sp>
      <p:cxnSp>
        <p:nvCxnSpPr>
          <p:cNvPr id="43" name="Straight Connector 42"/>
          <p:cNvCxnSpPr/>
          <p:nvPr/>
        </p:nvCxnSpPr>
        <p:spPr>
          <a:xfrm>
            <a:off x="482138" y="6252882"/>
            <a:ext cx="817972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Section Footer"/>
          <p:cNvSpPr txBox="1"/>
          <p:nvPr>
            <p:custDataLst>
              <p:tags r:id="rId7"/>
            </p:custDataLst>
          </p:nvPr>
        </p:nvSpPr>
        <p:spPr>
          <a:xfrm>
            <a:off x="482139" y="6317423"/>
            <a:ext cx="2635135" cy="122213"/>
          </a:xfrm>
          <a:prstGeom prst="rect">
            <a:avLst/>
          </a:prstGeom>
          <a:noFill/>
          <a:ln>
            <a:noFill/>
          </a:ln>
        </p:spPr>
        <p:txBody>
          <a:bodyPr wrap="square" lIns="0" tIns="0" rIns="0" bIns="0" rtlCol="0" anchor="b" anchorCtr="0">
            <a:spAutoFit/>
          </a:bodyPr>
          <a:lstStyle/>
          <a:p>
            <a:endParaRPr lang="en-GB" sz="794" noProof="1">
              <a:solidFill>
                <a:schemeClr val="tx1"/>
              </a:solidFill>
            </a:endParaRPr>
          </a:p>
        </p:txBody>
      </p:sp>
      <p:sp>
        <p:nvSpPr>
          <p:cNvPr id="45" name="Draft stamp" hidden="1"/>
          <p:cNvSpPr txBox="1"/>
          <p:nvPr>
            <p:custDataLst>
              <p:tags r:id="rId8"/>
            </p:custDataLst>
          </p:nvPr>
        </p:nvSpPr>
        <p:spPr>
          <a:xfrm>
            <a:off x="3258590" y="6453409"/>
            <a:ext cx="1936865" cy="122213"/>
          </a:xfrm>
          <a:prstGeom prst="rect">
            <a:avLst/>
          </a:prstGeom>
          <a:noFill/>
          <a:ln>
            <a:noFill/>
          </a:ln>
        </p:spPr>
        <p:txBody>
          <a:bodyPr wrap="square" lIns="0" tIns="0" rIns="0" bIns="0" rtlCol="0">
            <a:spAutoFit/>
          </a:bodyPr>
          <a:lstStyle/>
          <a:p>
            <a:pPr algn="l"/>
            <a:r>
              <a:rPr lang="en-GB" sz="794" noProof="1"/>
              <a:t>Draft</a:t>
            </a:r>
          </a:p>
        </p:txBody>
      </p:sp>
    </p:spTree>
    <p:extLst>
      <p:ext uri="{BB962C8B-B14F-4D97-AF65-F5344CB8AC3E}">
        <p14:creationId xmlns:p14="http://schemas.microsoft.com/office/powerpoint/2010/main" val="1848084652"/>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over Slide with Content">
    <p:spTree>
      <p:nvGrpSpPr>
        <p:cNvPr id="1" name=""/>
        <p:cNvGrpSpPr/>
        <p:nvPr/>
      </p:nvGrpSpPr>
      <p:grpSpPr>
        <a:xfrm>
          <a:off x="0" y="0"/>
          <a:ext cx="0" cy="0"/>
          <a:chOff x="0" y="0"/>
          <a:chExt cx="0" cy="0"/>
        </a:xfrm>
      </p:grpSpPr>
      <p:grpSp>
        <p:nvGrpSpPr>
          <p:cNvPr id="4" name="Logo with Panels"/>
          <p:cNvGrpSpPr/>
          <p:nvPr/>
        </p:nvGrpSpPr>
        <p:grpSpPr>
          <a:xfrm>
            <a:off x="1027608" y="0"/>
            <a:ext cx="8116392" cy="6457244"/>
            <a:chOff x="1130368" y="0"/>
            <a:chExt cx="8928031" cy="7318210"/>
          </a:xfrm>
        </p:grpSpPr>
        <p:grpSp>
          <p:nvGrpSpPr>
            <p:cNvPr id="5" name="Logo Shapes"/>
            <p:cNvGrpSpPr/>
            <p:nvPr userDrawn="1"/>
          </p:nvGrpSpPr>
          <p:grpSpPr>
            <a:xfrm>
              <a:off x="1904992" y="0"/>
              <a:ext cx="8153407" cy="6792223"/>
              <a:chOff x="1828800" y="-7143"/>
              <a:chExt cx="8153407" cy="6792223"/>
            </a:xfrm>
          </p:grpSpPr>
          <p:sp>
            <p:nvSpPr>
              <p:cNvPr id="23" name="Rectangle 1"/>
              <p:cNvSpPr>
                <a:spLocks noChangeArrowheads="1"/>
              </p:cNvSpPr>
              <p:nvPr/>
            </p:nvSpPr>
            <p:spPr bwMode="gray">
              <a:xfrm>
                <a:off x="1832930" y="4496096"/>
                <a:ext cx="8149277" cy="2288752"/>
              </a:xfrm>
              <a:prstGeom prst="rect">
                <a:avLst/>
              </a:prstGeom>
              <a:solidFill>
                <a:srgbClr val="F3BE2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68" name="Rectangle 2"/>
              <p:cNvSpPr>
                <a:spLocks noChangeArrowheads="1"/>
              </p:cNvSpPr>
              <p:nvPr userDrawn="1"/>
            </p:nvSpPr>
            <p:spPr bwMode="gray">
              <a:xfrm>
                <a:off x="1828800" y="3583782"/>
                <a:ext cx="7132320" cy="3201066"/>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0" name="Rectangle 3"/>
              <p:cNvSpPr>
                <a:spLocks noChangeArrowheads="1"/>
              </p:cNvSpPr>
              <p:nvPr userDrawn="1"/>
            </p:nvSpPr>
            <p:spPr bwMode="gray">
              <a:xfrm>
                <a:off x="1828800" y="4496096"/>
                <a:ext cx="7132320" cy="2288752"/>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4" name="Rectangle 4"/>
              <p:cNvSpPr>
                <a:spLocks noChangeArrowheads="1"/>
              </p:cNvSpPr>
              <p:nvPr/>
            </p:nvSpPr>
            <p:spPr bwMode="gray">
              <a:xfrm>
                <a:off x="1828800" y="-7143"/>
                <a:ext cx="6248400" cy="6772722"/>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8" name="Rectangle 5"/>
              <p:cNvSpPr>
                <a:spLocks noChangeArrowheads="1"/>
              </p:cNvSpPr>
              <p:nvPr userDrawn="1"/>
            </p:nvSpPr>
            <p:spPr bwMode="gray">
              <a:xfrm>
                <a:off x="1828800" y="1057382"/>
                <a:ext cx="6492240" cy="5708197"/>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69" name="Rectangle 6"/>
              <p:cNvSpPr>
                <a:spLocks noChangeArrowheads="1"/>
              </p:cNvSpPr>
              <p:nvPr userDrawn="1"/>
            </p:nvSpPr>
            <p:spPr bwMode="gray">
              <a:xfrm>
                <a:off x="1828800" y="3583782"/>
                <a:ext cx="6492240" cy="3201066"/>
              </a:xfrm>
              <a:prstGeom prst="rect">
                <a:avLst/>
              </a:prstGeom>
              <a:solidFill>
                <a:srgbClr val="DB4D5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9" name="Rectangle 7"/>
              <p:cNvSpPr>
                <a:spLocks noChangeArrowheads="1"/>
              </p:cNvSpPr>
              <p:nvPr userDrawn="1"/>
            </p:nvSpPr>
            <p:spPr bwMode="gray">
              <a:xfrm>
                <a:off x="1828800" y="1057382"/>
                <a:ext cx="6248400" cy="5708197"/>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sz="1588" noProof="0" dirty="0"/>
              </a:p>
            </p:txBody>
          </p:sp>
          <p:sp>
            <p:nvSpPr>
              <p:cNvPr id="26" name="Rectangle 8"/>
              <p:cNvSpPr>
                <a:spLocks noChangeArrowheads="1"/>
              </p:cNvSpPr>
              <p:nvPr userDrawn="1"/>
            </p:nvSpPr>
            <p:spPr bwMode="gray">
              <a:xfrm>
                <a:off x="1828800" y="4496096"/>
                <a:ext cx="6492240" cy="2288752"/>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27" name="Rectangle 9"/>
              <p:cNvSpPr/>
              <p:nvPr userDrawn="1"/>
            </p:nvSpPr>
            <p:spPr bwMode="gray">
              <a:xfrm>
                <a:off x="1828800" y="3583782"/>
                <a:ext cx="6246019" cy="3201066"/>
              </a:xfrm>
              <a:prstGeom prst="rect">
                <a:avLst/>
              </a:prstGeom>
              <a:solidFill>
                <a:srgbClr val="CD2F0E"/>
              </a:solidFill>
              <a:ln w="0">
                <a:noFill/>
                <a:prstDash val="solid"/>
                <a:round/>
                <a:headEnd/>
                <a:tailEnd/>
              </a:ln>
            </p:spPr>
            <p:txBody>
              <a:bodyPr vert="horz" wrap="square" lIns="91440" tIns="45720" rIns="91440" bIns="45720" numCol="1" anchor="t" anchorCtr="0" compatLnSpc="1">
                <a:prstTxWarp prst="textNoShape">
                  <a:avLst/>
                </a:prstTxWarp>
              </a:bodyPr>
              <a:lstStyle/>
              <a:p>
                <a:pPr marL="0" algn="l" defTabSz="899010" rtl="0" eaLnBrk="1" latinLnBrk="0" hangingPunct="1"/>
                <a:endParaRPr lang="en-GB" sz="1765" kern="1200" noProof="0" dirty="0">
                  <a:solidFill>
                    <a:schemeClr val="tx1"/>
                  </a:solidFill>
                  <a:latin typeface="+mn-lt"/>
                  <a:ea typeface="+mn-ea"/>
                  <a:cs typeface="+mn-cs"/>
                </a:endParaRPr>
              </a:p>
            </p:txBody>
          </p:sp>
          <p:sp>
            <p:nvSpPr>
              <p:cNvPr id="30" name="Rectangle 10"/>
              <p:cNvSpPr>
                <a:spLocks noChangeArrowheads="1"/>
              </p:cNvSpPr>
              <p:nvPr userDrawn="1"/>
            </p:nvSpPr>
            <p:spPr bwMode="gray">
              <a:xfrm>
                <a:off x="1828800" y="4495801"/>
                <a:ext cx="6245352" cy="2288752"/>
              </a:xfrm>
              <a:prstGeom prst="rect">
                <a:avLst/>
              </a:prstGeom>
              <a:solidFill>
                <a:srgbClr val="C42303"/>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sp>
            <p:nvSpPr>
              <p:cNvPr id="71" name="Rectangle 11"/>
              <p:cNvSpPr>
                <a:spLocks noChangeArrowheads="1"/>
              </p:cNvSpPr>
              <p:nvPr userDrawn="1"/>
            </p:nvSpPr>
            <p:spPr bwMode="gray">
              <a:xfrm>
                <a:off x="1828800" y="4800832"/>
                <a:ext cx="2286000" cy="1984248"/>
              </a:xfrm>
              <a:prstGeom prst="rect">
                <a:avLst/>
              </a:prstGeom>
              <a:solidFill>
                <a:srgbClr val="9A170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sz="1588" noProof="0" dirty="0"/>
              </a:p>
            </p:txBody>
          </p:sp>
        </p:grpSp>
        <p:grpSp>
          <p:nvGrpSpPr>
            <p:cNvPr id="6" name="Logo"/>
            <p:cNvGrpSpPr/>
            <p:nvPr userDrawn="1"/>
          </p:nvGrpSpPr>
          <p:grpSpPr>
            <a:xfrm>
              <a:off x="1130368" y="6790556"/>
              <a:ext cx="905256" cy="527654"/>
              <a:chOff x="1130368" y="6790556"/>
              <a:chExt cx="905256" cy="527654"/>
            </a:xfrm>
          </p:grpSpPr>
          <p:sp>
            <p:nvSpPr>
              <p:cNvPr id="38" name="Rectangle 0"/>
              <p:cNvSpPr>
                <a:spLocks noChangeArrowheads="1"/>
              </p:cNvSpPr>
              <p:nvPr userDrawn="1"/>
            </p:nvSpPr>
            <p:spPr bwMode="black">
              <a:xfrm>
                <a:off x="1676368" y="6790556"/>
                <a:ext cx="228600" cy="57350"/>
              </a:xfrm>
              <a:prstGeom prst="rect">
                <a:avLst/>
              </a:prstGeom>
              <a:solidFill>
                <a:srgbClr val="A10000"/>
              </a:solidFill>
              <a:ln w="0">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06867" rtl="0" eaLnBrk="1" fontAlgn="auto" latinLnBrk="0" hangingPunct="1">
                  <a:lnSpc>
                    <a:spcPct val="100000"/>
                  </a:lnSpc>
                  <a:spcBef>
                    <a:spcPts val="0"/>
                  </a:spcBef>
                  <a:spcAft>
                    <a:spcPts val="0"/>
                  </a:spcAft>
                  <a:buClrTx/>
                  <a:buSzTx/>
                  <a:buFontTx/>
                  <a:buNone/>
                  <a:tabLst/>
                  <a:defRPr/>
                </a:pPr>
                <a:endParaRPr kumimoji="0" lang="en-GB" sz="1588" b="0" i="0" u="none" strike="noStrike" kern="1200" cap="none" spc="0" normalizeH="0" baseline="0" noProof="0" dirty="0">
                  <a:ln>
                    <a:noFill/>
                  </a:ln>
                  <a:solidFill>
                    <a:srgbClr val="000000"/>
                  </a:solidFill>
                  <a:effectLst/>
                  <a:uLnTx/>
                  <a:uFillTx/>
                  <a:latin typeface="Arial"/>
                  <a:ea typeface="+mn-ea"/>
                  <a:cs typeface="+mn-cs"/>
                </a:endParaRPr>
              </a:p>
            </p:txBody>
          </p:sp>
          <p:sp>
            <p:nvSpPr>
              <p:cNvPr id="39" name="Freeform 38"/>
              <p:cNvSpPr>
                <a:spLocks noEditPoints="1"/>
              </p:cNvSpPr>
              <p:nvPr userDrawn="1"/>
            </p:nvSpPr>
            <p:spPr bwMode="black">
              <a:xfrm>
                <a:off x="1130368" y="6976999"/>
                <a:ext cx="905256" cy="341211"/>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06867" rtl="0" eaLnBrk="1" fontAlgn="auto" latinLnBrk="0" hangingPunct="1">
                  <a:lnSpc>
                    <a:spcPct val="100000"/>
                  </a:lnSpc>
                  <a:spcBef>
                    <a:spcPts val="0"/>
                  </a:spcBef>
                  <a:spcAft>
                    <a:spcPts val="0"/>
                  </a:spcAft>
                  <a:buClrTx/>
                  <a:buSzTx/>
                  <a:buFontTx/>
                  <a:buNone/>
                  <a:tabLst/>
                  <a:defRPr/>
                </a:pPr>
                <a:endParaRPr kumimoji="0" lang="en-GB" sz="1588" b="0" i="0" u="none" strike="noStrike" kern="1200" cap="none" spc="0" normalizeH="0" baseline="0" noProof="0" dirty="0">
                  <a:ln>
                    <a:noFill/>
                  </a:ln>
                  <a:solidFill>
                    <a:srgbClr val="000000"/>
                  </a:solidFill>
                  <a:effectLst/>
                  <a:uLnTx/>
                  <a:uFillTx/>
                  <a:latin typeface="Arial"/>
                  <a:ea typeface="+mn-ea"/>
                  <a:cs typeface="+mn-cs"/>
                </a:endParaRPr>
              </a:p>
            </p:txBody>
          </p:sp>
        </p:grpSp>
      </p:grpSp>
      <p:sp>
        <p:nvSpPr>
          <p:cNvPr id="41" name="Descriptor"/>
          <p:cNvSpPr txBox="1"/>
          <p:nvPr>
            <p:custDataLst>
              <p:tags r:id="rId1"/>
            </p:custDataLst>
          </p:nvPr>
        </p:nvSpPr>
        <p:spPr bwMode="white">
          <a:xfrm>
            <a:off x="1870364" y="594043"/>
            <a:ext cx="32060" cy="135743"/>
          </a:xfrm>
          <a:prstGeom prst="rect">
            <a:avLst/>
          </a:prstGeom>
          <a:noFill/>
          <a:ln>
            <a:noFill/>
          </a:ln>
        </p:spPr>
        <p:txBody>
          <a:bodyPr wrap="none" lIns="0" tIns="0" rIns="0" bIns="0" rtlCol="0" anchor="b" anchorCtr="0">
            <a:spAutoFit/>
          </a:bodyPr>
          <a:lstStyle/>
          <a:p>
            <a:r>
              <a:rPr lang="en-GB" sz="882" noProof="0" dirty="0">
                <a:solidFill>
                  <a:schemeClr val="bg2"/>
                </a:solidFill>
                <a:latin typeface="Arial" pitchFamily="34" charset="0"/>
                <a:cs typeface="Arial" pitchFamily="34" charset="0"/>
              </a:rPr>
              <a:t> </a:t>
            </a:r>
          </a:p>
        </p:txBody>
      </p:sp>
      <p:sp>
        <p:nvSpPr>
          <p:cNvPr id="42" name="Confidentiality Stamp"/>
          <p:cNvSpPr txBox="1"/>
          <p:nvPr>
            <p:custDataLst>
              <p:tags r:id="rId2"/>
            </p:custDataLst>
          </p:nvPr>
        </p:nvSpPr>
        <p:spPr>
          <a:xfrm>
            <a:off x="482139" y="3291843"/>
            <a:ext cx="1113905" cy="135743"/>
          </a:xfrm>
          <a:prstGeom prst="rect">
            <a:avLst/>
          </a:prstGeom>
          <a:noFill/>
          <a:ln>
            <a:noFill/>
          </a:ln>
        </p:spPr>
        <p:txBody>
          <a:bodyPr wrap="square" lIns="0" tIns="0" rIns="0" bIns="0" rtlCol="0">
            <a:spAutoFit/>
          </a:bodyPr>
          <a:lstStyle/>
          <a:p>
            <a:r>
              <a:rPr lang="en-GB" sz="882" i="1" noProof="0" dirty="0">
                <a:solidFill>
                  <a:schemeClr val="tx1"/>
                </a:solidFill>
                <a:latin typeface="Georgia" pitchFamily="18" charset="0"/>
                <a:cs typeface="Arial" pitchFamily="34" charset="0"/>
              </a:rPr>
              <a:t> </a:t>
            </a:r>
          </a:p>
        </p:txBody>
      </p:sp>
      <p:sp>
        <p:nvSpPr>
          <p:cNvPr id="34" name="Draft Stamp"/>
          <p:cNvSpPr txBox="1"/>
          <p:nvPr>
            <p:custDataLst>
              <p:tags r:id="rId3"/>
            </p:custDataLst>
          </p:nvPr>
        </p:nvSpPr>
        <p:spPr bwMode="black">
          <a:xfrm>
            <a:off x="482139" y="3566162"/>
            <a:ext cx="1246909" cy="257949"/>
          </a:xfrm>
          <a:prstGeom prst="rect">
            <a:avLst/>
          </a:prstGeom>
          <a:noFill/>
          <a:ln>
            <a:noFill/>
          </a:ln>
        </p:spPr>
        <p:txBody>
          <a:bodyPr wrap="square" lIns="0" tIns="0" rIns="0" bIns="121024" rtlCol="0" anchor="t" anchorCtr="0">
            <a:spAutoFit/>
          </a:bodyPr>
          <a:lstStyle/>
          <a:p>
            <a:pPr algn="l">
              <a:lnSpc>
                <a:spcPct val="100000"/>
              </a:lnSpc>
            </a:pPr>
            <a:endParaRPr lang="en-GB" sz="882" b="1" i="1" dirty="0">
              <a:solidFill>
                <a:schemeClr val="tx1"/>
              </a:solidFill>
              <a:latin typeface="Georgia" pitchFamily="18" charset="0"/>
            </a:endParaRPr>
          </a:p>
        </p:txBody>
      </p:sp>
      <p:sp>
        <p:nvSpPr>
          <p:cNvPr id="40" name="Report Date"/>
          <p:cNvSpPr txBox="1"/>
          <p:nvPr>
            <p:custDataLst>
              <p:tags r:id="rId4"/>
            </p:custDataLst>
          </p:nvPr>
        </p:nvSpPr>
        <p:spPr bwMode="black">
          <a:xfrm>
            <a:off x="482139" y="3832414"/>
            <a:ext cx="1113905" cy="135743"/>
          </a:xfrm>
          <a:prstGeom prst="rect">
            <a:avLst/>
          </a:prstGeom>
          <a:noFill/>
          <a:ln>
            <a:noFill/>
          </a:ln>
        </p:spPr>
        <p:txBody>
          <a:bodyPr wrap="square" lIns="0" tIns="0" rIns="0" bIns="0" rtlCol="0">
            <a:spAutoFit/>
          </a:bodyPr>
          <a:lstStyle/>
          <a:p>
            <a:pPr algn="l"/>
            <a:endParaRPr lang="en-GB" sz="882" i="1" dirty="0">
              <a:latin typeface="Georgia" pitchFamily="18" charset="0"/>
            </a:endParaRPr>
          </a:p>
        </p:txBody>
      </p:sp>
      <p:cxnSp>
        <p:nvCxnSpPr>
          <p:cNvPr id="25" name="Frame Line"/>
          <p:cNvCxnSpPr/>
          <p:nvPr/>
        </p:nvCxnSpPr>
        <p:spPr>
          <a:xfrm flipV="1">
            <a:off x="346365" y="3170818"/>
            <a:ext cx="1246909" cy="127059"/>
          </a:xfrm>
          <a:prstGeom prst="bentConnector3">
            <a:avLst>
              <a:gd name="adj1" fmla="val -174"/>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35" name="Content Placeholder 34"/>
          <p:cNvSpPr>
            <a:spLocks noGrp="1"/>
          </p:cNvSpPr>
          <p:nvPr>
            <p:ph sz="quarter" idx="10" hasCustomPrompt="1"/>
            <p:custDataLst>
              <p:tags r:id="rId5"/>
            </p:custDataLst>
          </p:nvPr>
        </p:nvSpPr>
        <p:spPr>
          <a:xfrm>
            <a:off x="482139" y="4098666"/>
            <a:ext cx="1113905" cy="1145689"/>
          </a:xfrm>
        </p:spPr>
        <p:txBody>
          <a:bodyPr/>
          <a:lstStyle>
            <a:lvl1pPr>
              <a:defRPr sz="882" i="1"/>
            </a:lvl1pPr>
          </a:lstStyle>
          <a:p>
            <a:pPr lvl="0"/>
            <a:r>
              <a:rPr lang="en-GB" dirty="0"/>
              <a:t>Click to enter text</a:t>
            </a:r>
          </a:p>
        </p:txBody>
      </p:sp>
      <p:sp>
        <p:nvSpPr>
          <p:cNvPr id="36" name="Cover image"/>
          <p:cNvSpPr txBox="1">
            <a:spLocks noChangeAspect="1"/>
          </p:cNvSpPr>
          <p:nvPr>
            <p:custDataLst>
              <p:tags r:id="rId6"/>
            </p:custDataLst>
          </p:nvPr>
        </p:nvSpPr>
        <p:spPr>
          <a:xfrm>
            <a:off x="1731213" y="3167623"/>
            <a:ext cx="6109026" cy="2823882"/>
          </a:xfrm>
          <a:prstGeom prst="rect">
            <a:avLst/>
          </a:prstGeom>
          <a:noFill/>
          <a:ln w="3175">
            <a:noFill/>
          </a:ln>
        </p:spPr>
        <p:txBody>
          <a:bodyPr wrap="square" lIns="0" tIns="0" rIns="0" bIns="0" rtlCol="0">
            <a:noAutofit/>
          </a:bodyPr>
          <a:lstStyle/>
          <a:p>
            <a:pPr indent="-269703">
              <a:spcAft>
                <a:spcPts val="885"/>
              </a:spcAft>
            </a:pPr>
            <a:endParaRPr lang="en-GB" sz="1941" dirty="0">
              <a:latin typeface="Georgia" pitchFamily="18" charset="0"/>
            </a:endParaRPr>
          </a:p>
        </p:txBody>
      </p:sp>
      <p:sp>
        <p:nvSpPr>
          <p:cNvPr id="33" name="Report Title"/>
          <p:cNvSpPr>
            <a:spLocks noGrp="1"/>
          </p:cNvSpPr>
          <p:nvPr>
            <p:ph type="ctrTitle" hasCustomPrompt="1"/>
            <p:custDataLst>
              <p:tags r:id="rId7"/>
            </p:custDataLst>
          </p:nvPr>
        </p:nvSpPr>
        <p:spPr bwMode="white">
          <a:xfrm>
            <a:off x="1869835" y="1112680"/>
            <a:ext cx="5403273" cy="455766"/>
          </a:xfrm>
        </p:spPr>
        <p:txBody>
          <a:bodyPr vert="horz" lIns="0" tIns="0" rIns="0" bIns="64008" rtlCol="0" anchor="t" anchorCtr="0">
            <a:spAutoFit/>
          </a:bodyPr>
          <a:lstStyle>
            <a:lvl1pPr algn="l" defTabSz="899010" rtl="0" eaLnBrk="1" latinLnBrk="0" hangingPunct="1">
              <a:lnSpc>
                <a:spcPct val="90000"/>
              </a:lnSpc>
              <a:spcBef>
                <a:spcPct val="0"/>
              </a:spcBef>
              <a:buNone/>
              <a:defRPr lang="en-GB" sz="2824" b="1" i="1" kern="1200" baseline="0" noProof="0">
                <a:solidFill>
                  <a:schemeClr val="bg1"/>
                </a:solidFill>
                <a:latin typeface="+mj-lt"/>
                <a:ea typeface="+mj-ea"/>
                <a:cs typeface="+mj-cs"/>
              </a:defRPr>
            </a:lvl1pPr>
          </a:lstStyle>
          <a:p>
            <a:r>
              <a:rPr lang="en-GB" noProof="0" dirty="0"/>
              <a:t>Report Title</a:t>
            </a:r>
          </a:p>
        </p:txBody>
      </p:sp>
      <p:sp>
        <p:nvSpPr>
          <p:cNvPr id="37" name="Report Subtitle"/>
          <p:cNvSpPr>
            <a:spLocks noGrp="1"/>
          </p:cNvSpPr>
          <p:nvPr>
            <p:ph type="subTitle" idx="1" hasCustomPrompt="1"/>
            <p:custDataLst>
              <p:tags r:id="rId8"/>
            </p:custDataLst>
          </p:nvPr>
        </p:nvSpPr>
        <p:spPr bwMode="white">
          <a:xfrm>
            <a:off x="1869835" y="1570742"/>
            <a:ext cx="5403273" cy="391057"/>
          </a:xfrm>
        </p:spPr>
        <p:txBody>
          <a:bodyPr tIns="0" bIns="0">
            <a:spAutoFit/>
          </a:bodyPr>
          <a:lstStyle>
            <a:lvl1pPr marL="0" indent="0" algn="l">
              <a:lnSpc>
                <a:spcPct val="90000"/>
              </a:lnSpc>
              <a:spcAft>
                <a:spcPts val="0"/>
              </a:spcAft>
              <a:buNone/>
              <a:defRPr sz="2824" baseline="0">
                <a:solidFill>
                  <a:schemeClr val="bg1"/>
                </a:solidFill>
                <a:latin typeface="+mj-lt"/>
              </a:defRPr>
            </a:lvl1pPr>
            <a:lvl2pPr marL="449505" indent="0" algn="ctr">
              <a:buNone/>
              <a:defRPr>
                <a:solidFill>
                  <a:schemeClr val="tx1">
                    <a:tint val="75000"/>
                  </a:schemeClr>
                </a:solidFill>
              </a:defRPr>
            </a:lvl2pPr>
            <a:lvl3pPr marL="899010" indent="0" algn="ctr">
              <a:buNone/>
              <a:defRPr>
                <a:solidFill>
                  <a:schemeClr val="tx1">
                    <a:tint val="75000"/>
                  </a:schemeClr>
                </a:solidFill>
              </a:defRPr>
            </a:lvl3pPr>
            <a:lvl4pPr marL="1348516" indent="0" algn="ctr">
              <a:buNone/>
              <a:defRPr>
                <a:solidFill>
                  <a:schemeClr val="tx1">
                    <a:tint val="75000"/>
                  </a:schemeClr>
                </a:solidFill>
              </a:defRPr>
            </a:lvl4pPr>
            <a:lvl5pPr marL="1798021" indent="0" algn="ctr">
              <a:buNone/>
              <a:defRPr>
                <a:solidFill>
                  <a:schemeClr val="tx1">
                    <a:tint val="75000"/>
                  </a:schemeClr>
                </a:solidFill>
              </a:defRPr>
            </a:lvl5pPr>
            <a:lvl6pPr marL="2247527" indent="0" algn="ctr">
              <a:buNone/>
              <a:defRPr>
                <a:solidFill>
                  <a:schemeClr val="tx1">
                    <a:tint val="75000"/>
                  </a:schemeClr>
                </a:solidFill>
              </a:defRPr>
            </a:lvl6pPr>
            <a:lvl7pPr marL="2697032" indent="0" algn="ctr">
              <a:buNone/>
              <a:defRPr>
                <a:solidFill>
                  <a:schemeClr val="tx1">
                    <a:tint val="75000"/>
                  </a:schemeClr>
                </a:solidFill>
              </a:defRPr>
            </a:lvl7pPr>
            <a:lvl8pPr marL="3146538" indent="0" algn="ctr">
              <a:buNone/>
              <a:defRPr>
                <a:solidFill>
                  <a:schemeClr val="tx1">
                    <a:tint val="75000"/>
                  </a:schemeClr>
                </a:solidFill>
              </a:defRPr>
            </a:lvl8pPr>
            <a:lvl9pPr marL="3596043" indent="0" algn="ctr">
              <a:buNone/>
              <a:defRPr>
                <a:solidFill>
                  <a:schemeClr val="tx1">
                    <a:tint val="75000"/>
                  </a:schemeClr>
                </a:solidFill>
              </a:defRPr>
            </a:lvl9pPr>
          </a:lstStyle>
          <a:p>
            <a:r>
              <a:rPr lang="en-GB" noProof="0" dirty="0"/>
              <a:t>Subtitle</a:t>
            </a:r>
          </a:p>
        </p:txBody>
      </p:sp>
    </p:spTree>
    <p:extLst>
      <p:ext uri="{BB962C8B-B14F-4D97-AF65-F5344CB8AC3E}">
        <p14:creationId xmlns:p14="http://schemas.microsoft.com/office/powerpoint/2010/main" val="1958068046"/>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CBB3-799E-4CE9-92EC-9A86BA2B620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2CA146-0DCD-4BCE-9EC5-C68C907BE7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00F1B37-FAC1-43A6-BC3C-7046CE5E8E00}"/>
              </a:ext>
            </a:extLst>
          </p:cNvPr>
          <p:cNvSpPr>
            <a:spLocks noGrp="1"/>
          </p:cNvSpPr>
          <p:nvPr>
            <p:ph type="dt" sz="half" idx="10"/>
          </p:nvPr>
        </p:nvSpPr>
        <p:spPr/>
        <p:txBody>
          <a:bodyPr/>
          <a:lstStyle/>
          <a:p>
            <a:fld id="{58270509-D9D7-4761-8210-132E4FB59FC1}" type="datetimeFigureOut">
              <a:rPr lang="en-GB" smtClean="0"/>
              <a:pPr/>
              <a:t>18/06/2026</a:t>
            </a:fld>
            <a:endParaRPr lang="en-GB"/>
          </a:p>
        </p:txBody>
      </p:sp>
      <p:sp>
        <p:nvSpPr>
          <p:cNvPr id="5" name="Footer Placeholder 4">
            <a:extLst>
              <a:ext uri="{FF2B5EF4-FFF2-40B4-BE49-F238E27FC236}">
                <a16:creationId xmlns:a16="http://schemas.microsoft.com/office/drawing/2014/main" id="{9D6AB150-342E-4336-8528-D8B239A706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B93773-57E2-41C8-9B94-AE179638C3DF}"/>
              </a:ext>
            </a:extLst>
          </p:cNvPr>
          <p:cNvSpPr>
            <a:spLocks noGrp="1"/>
          </p:cNvSpPr>
          <p:nvPr>
            <p:ph type="sldNum" sz="quarter" idx="12"/>
          </p:nvPr>
        </p:nvSpPr>
        <p:spPr/>
        <p:txBody>
          <a:bodyPr/>
          <a:lstStyle/>
          <a:p>
            <a:fld id="{57E62737-951F-4190-ACA8-CFB8E46C3CE2}" type="slidenum">
              <a:rPr lang="en-GB" smtClean="0"/>
              <a:pPr/>
              <a:t>‹#›</a:t>
            </a:fld>
            <a:endParaRPr lang="en-GB"/>
          </a:p>
        </p:txBody>
      </p:sp>
    </p:spTree>
    <p:extLst>
      <p:ext uri="{BB962C8B-B14F-4D97-AF65-F5344CB8AC3E}">
        <p14:creationId xmlns:p14="http://schemas.microsoft.com/office/powerpoint/2010/main" val="1655550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ags" Target="../tags/tag18.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3401" y="685800"/>
            <a:ext cx="8077201" cy="914400"/>
          </a:xfrm>
          <a:prstGeom prst="rect">
            <a:avLst/>
          </a:prstGeom>
        </p:spPr>
        <p:txBody>
          <a:bodyPr vert="horz" lIns="0" tIns="0" rIns="0" bIns="0" rtlCol="0" anchor="t" anchorCtr="0">
            <a:noAutofit/>
          </a:bodyPr>
          <a:lstStyle/>
          <a:p>
            <a:r>
              <a:rPr lang="en-US" noProof="0" dirty="0"/>
              <a:t>Click to edit</a:t>
            </a:r>
            <a:br>
              <a:rPr lang="en-US" noProof="0" dirty="0"/>
            </a:br>
            <a:r>
              <a:rPr lang="en-US" noProof="0" dirty="0"/>
              <a:t>Master title style</a:t>
            </a:r>
          </a:p>
        </p:txBody>
      </p:sp>
      <p:sp>
        <p:nvSpPr>
          <p:cNvPr id="3" name="Text Placeholder 2"/>
          <p:cNvSpPr>
            <a:spLocks noGrp="1"/>
          </p:cNvSpPr>
          <p:nvPr>
            <p:ph type="body" idx="1"/>
          </p:nvPr>
        </p:nvSpPr>
        <p:spPr>
          <a:xfrm>
            <a:off x="533402" y="1752600"/>
            <a:ext cx="8077199" cy="4419600"/>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Slide Number Placeholder 5"/>
          <p:cNvSpPr>
            <a:spLocks noGrp="1"/>
          </p:cNvSpPr>
          <p:nvPr>
            <p:ph type="sldNum" sz="quarter" idx="4"/>
          </p:nvPr>
        </p:nvSpPr>
        <p:spPr>
          <a:xfrm>
            <a:off x="7086600" y="6477000"/>
            <a:ext cx="1527048"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fld id="{9EBD5762-3BDC-484D-9503-7EA6D5A9A8CE}" type="slidenum">
              <a:rPr lang="en-US" smtClean="0"/>
              <a:pPr/>
              <a:t>‹#›</a:t>
            </a:fld>
            <a:endParaRPr lang="en-US" dirty="0"/>
          </a:p>
        </p:txBody>
      </p:sp>
      <p:sp>
        <p:nvSpPr>
          <p:cNvPr id="6" name="Date Placeholder 3"/>
          <p:cNvSpPr>
            <a:spLocks noGrp="1"/>
          </p:cNvSpPr>
          <p:nvPr>
            <p:ph type="dt" sz="half" idx="2"/>
          </p:nvPr>
        </p:nvSpPr>
        <p:spPr>
          <a:xfrm>
            <a:off x="7086600" y="6324600"/>
            <a:ext cx="1524000"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endParaRPr lang="en-US" dirty="0"/>
          </a:p>
        </p:txBody>
      </p:sp>
      <p:sp>
        <p:nvSpPr>
          <p:cNvPr id="7" name="Footer Placeholder 4"/>
          <p:cNvSpPr>
            <a:spLocks noGrp="1"/>
          </p:cNvSpPr>
          <p:nvPr>
            <p:ph type="ftr" sz="quarter" idx="3"/>
          </p:nvPr>
        </p:nvSpPr>
        <p:spPr>
          <a:xfrm>
            <a:off x="530352" y="6324600"/>
            <a:ext cx="5260848" cy="150876"/>
          </a:xfrm>
          <a:prstGeom prst="rect">
            <a:avLst/>
          </a:prstGeom>
        </p:spPr>
        <p:txBody>
          <a:bodyPr vert="horz" lIns="0" tIns="0" rIns="0" bIns="0" anchor="b" anchorCtr="0">
            <a:noAutofit/>
          </a:bodyPr>
          <a:lstStyle>
            <a:lvl1pPr algn="l">
              <a:defRPr sz="1000">
                <a:solidFill>
                  <a:schemeClr val="tx1"/>
                </a:solidFill>
                <a:latin typeface="Arial" pitchFamily="34" charset="0"/>
                <a:cs typeface="Arial" pitchFamily="34" charset="0"/>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3" r:id="rId22"/>
    <p:sldLayoutId id="2147483695" r:id="rId23"/>
  </p:sldLayoutIdLst>
  <p:hf hdr="0" ftr="0" dt="0"/>
  <p:txStyles>
    <p:title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p:titleStyle>
    <p:bodyStyle>
      <a:lvl1pPr marL="0" marR="0" indent="-274320" algn="l" defTabSz="914400" rtl="0" eaLnBrk="1" fontAlgn="auto" latinLnBrk="0" hangingPunct="1">
        <a:lnSpc>
          <a:spcPct val="100000"/>
        </a:lnSpc>
        <a:spcBef>
          <a:spcPts val="0"/>
        </a:spcBef>
        <a:spcAft>
          <a:spcPts val="900"/>
        </a:spcAft>
        <a:buClr>
          <a:schemeClr val="tx1"/>
        </a:buClr>
        <a:buSzTx/>
        <a:buFontTx/>
        <a:buNone/>
        <a:tabLst/>
        <a:defRPr sz="2000" kern="1200">
          <a:solidFill>
            <a:schemeClr val="tx1"/>
          </a:solidFill>
          <a:latin typeface="Georgia" pitchFamily="18" charset="0"/>
          <a:ea typeface="+mn-ea"/>
          <a:cs typeface="+mn-cs"/>
        </a:defRPr>
      </a:lvl1pPr>
      <a:lvl2pPr marL="274320" indent="-274320" algn="l" defTabSz="914400" rtl="0" eaLnBrk="1" latinLnBrk="0" hangingPunct="1">
        <a:lnSpc>
          <a:spcPct val="100000"/>
        </a:lnSpc>
        <a:spcBef>
          <a:spcPts val="0"/>
        </a:spcBef>
        <a:spcAft>
          <a:spcPts val="900"/>
        </a:spcAft>
        <a:buClr>
          <a:schemeClr val="tx1"/>
        </a:buClr>
        <a:buFont typeface="Georgia" pitchFamily="18" charset="0"/>
        <a:buChar char="•"/>
        <a:defRPr sz="2000" kern="1200">
          <a:solidFill>
            <a:schemeClr val="tx1"/>
          </a:solidFill>
          <a:latin typeface="Georgia" pitchFamily="18" charset="0"/>
          <a:ea typeface="+mn-ea"/>
          <a:cs typeface="+mn-cs"/>
        </a:defRPr>
      </a:lvl2pPr>
      <a:lvl3pPr marL="548640" indent="-274320" algn="l" defTabSz="914400" rtl="0" eaLnBrk="1" latinLnBrk="0" hangingPunct="1">
        <a:lnSpc>
          <a:spcPct val="100000"/>
        </a:lnSpc>
        <a:spcBef>
          <a:spcPts val="0"/>
        </a:spcBef>
        <a:spcAft>
          <a:spcPts val="900"/>
        </a:spcAft>
        <a:buClr>
          <a:schemeClr val="tx1"/>
        </a:buClr>
        <a:buFont typeface="Georgia" pitchFamily="18" charset="0"/>
        <a:buChar char="-"/>
        <a:defRPr sz="2000" kern="1200">
          <a:solidFill>
            <a:schemeClr val="tx1"/>
          </a:solidFill>
          <a:latin typeface="Georgia" pitchFamily="18" charset="0"/>
          <a:ea typeface="+mn-ea"/>
          <a:cs typeface="+mn-cs"/>
        </a:defRPr>
      </a:lvl3pPr>
      <a:lvl4pPr marL="822960" indent="-274320" algn="l" defTabSz="914400" rtl="0" eaLnBrk="1" latinLnBrk="0" hangingPunct="1">
        <a:lnSpc>
          <a:spcPct val="100000"/>
        </a:lnSpc>
        <a:spcBef>
          <a:spcPts val="0"/>
        </a:spcBef>
        <a:spcAft>
          <a:spcPts val="900"/>
        </a:spcAft>
        <a:buClr>
          <a:schemeClr val="tx1"/>
        </a:buClr>
        <a:buFont typeface="Georgia" pitchFamily="18" charset="0"/>
        <a:buChar char="◦"/>
        <a:defRPr sz="2000" kern="1200">
          <a:solidFill>
            <a:schemeClr val="tx1"/>
          </a:solidFill>
          <a:latin typeface="Georgia" pitchFamily="18" charset="0"/>
          <a:ea typeface="+mn-ea"/>
          <a:cs typeface="+mn-cs"/>
        </a:defRPr>
      </a:lvl4pPr>
      <a:lvl5pPr marL="1097280" indent="-274320" algn="l" defTabSz="914400" rtl="0" eaLnBrk="1" latinLnBrk="0" hangingPunct="1">
        <a:lnSpc>
          <a:spcPct val="100000"/>
        </a:lnSpc>
        <a:spcBef>
          <a:spcPts val="0"/>
        </a:spcBef>
        <a:spcAft>
          <a:spcPts val="900"/>
        </a:spcAft>
        <a:buClr>
          <a:schemeClr val="tx1"/>
        </a:buClr>
        <a:buFont typeface="Georgia" pitchFamily="18" charset="0"/>
        <a:buChar char="›"/>
        <a:defRPr sz="2000" kern="1200" baseline="0">
          <a:solidFill>
            <a:schemeClr val="tx1"/>
          </a:solidFill>
          <a:latin typeface="Georgia" pitchFamily="18" charset="0"/>
          <a:ea typeface="+mn-ea"/>
          <a:cs typeface="+mn-cs"/>
        </a:defRPr>
      </a:lvl5pPr>
      <a:lvl6pPr marL="274320" marR="0" indent="-274320" algn="l" defTabSz="914400" rtl="0" eaLnBrk="1" fontAlgn="auto" latinLnBrk="0" hangingPunct="1">
        <a:lnSpc>
          <a:spcPct val="100000"/>
        </a:lnSpc>
        <a:spcBef>
          <a:spcPts val="0"/>
        </a:spcBef>
        <a:spcAft>
          <a:spcPts val="900"/>
        </a:spcAft>
        <a:buClr>
          <a:schemeClr val="tx1"/>
        </a:buClr>
        <a:buSzPct val="100000"/>
        <a:buFont typeface="+mj-lt"/>
        <a:buAutoNum type="arabicPeriod"/>
        <a:tabLst/>
        <a:defRPr sz="2000" kern="1200" baseline="0">
          <a:solidFill>
            <a:schemeClr val="tx1"/>
          </a:solidFill>
          <a:latin typeface="Georgia" pitchFamily="18" charset="0"/>
          <a:ea typeface="+mn-ea"/>
          <a:cs typeface="+mn-cs"/>
        </a:defRPr>
      </a:lvl6pPr>
      <a:lvl7pPr marL="548640" indent="-274320" algn="l" defTabSz="914400" rtl="0" eaLnBrk="1" latinLnBrk="0" hangingPunct="1">
        <a:lnSpc>
          <a:spcPct val="100000"/>
        </a:lnSpc>
        <a:spcBef>
          <a:spcPts val="0"/>
        </a:spcBef>
        <a:spcAft>
          <a:spcPts val="900"/>
        </a:spcAft>
        <a:buSzPct val="100000"/>
        <a:buFont typeface="+mj-lt"/>
        <a:buAutoNum type="alphaLcPeriod"/>
        <a:defRPr sz="2000" kern="1200" baseline="0">
          <a:solidFill>
            <a:schemeClr val="tx1"/>
          </a:solidFill>
          <a:latin typeface="Georgia" pitchFamily="18" charset="0"/>
          <a:ea typeface="+mn-ea"/>
          <a:cs typeface="+mn-cs"/>
        </a:defRPr>
      </a:lvl7pPr>
      <a:lvl8pPr marL="822960" indent="-274320" algn="l" defTabSz="914400" rtl="0" eaLnBrk="1" latinLnBrk="0" hangingPunct="1">
        <a:lnSpc>
          <a:spcPct val="100000"/>
        </a:lnSpc>
        <a:spcBef>
          <a:spcPts val="0"/>
        </a:spcBef>
        <a:spcAft>
          <a:spcPts val="900"/>
        </a:spcAft>
        <a:buSzPct val="100000"/>
        <a:buFont typeface="+mj-lt"/>
        <a:buAutoNum type="romanLcPeriod"/>
        <a:defRPr sz="2000" kern="1200" baseline="0">
          <a:solidFill>
            <a:schemeClr val="tx1"/>
          </a:solidFill>
          <a:latin typeface="Georgia" pitchFamily="18" charset="0"/>
          <a:ea typeface="+mn-ea"/>
          <a:cs typeface="+mn-cs"/>
        </a:defRPr>
      </a:lvl8pPr>
      <a:lvl9pPr marL="0" indent="-274320" algn="l" defTabSz="914400" rtl="0" eaLnBrk="1" latinLnBrk="0" hangingPunct="1">
        <a:lnSpc>
          <a:spcPct val="100000"/>
        </a:lnSpc>
        <a:spcBef>
          <a:spcPts val="0"/>
        </a:spcBef>
        <a:spcAft>
          <a:spcPts val="900"/>
        </a:spcAft>
        <a:buFont typeface="Arial" pitchFamily="34" charset="0"/>
        <a:buNone/>
        <a:defRPr sz="2000" b="1" kern="1200" baseline="0">
          <a:solidFill>
            <a:schemeClr val="tx2"/>
          </a:solidFill>
          <a:latin typeface="Georgia" pitchFamily="18"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10" name="Grid" hidden="1"/>
          <p:cNvGrpSpPr/>
          <p:nvPr>
            <p:custDataLst>
              <p:tags r:id="rId23"/>
            </p:custDataLst>
          </p:nvPr>
        </p:nvGrpSpPr>
        <p:grpSpPr>
          <a:xfrm>
            <a:off x="482139" y="540572"/>
            <a:ext cx="8179724" cy="6043108"/>
            <a:chOff x="530352" y="612648"/>
            <a:chExt cx="8997696" cy="6848856"/>
          </a:xfrm>
        </p:grpSpPr>
        <p:grpSp>
          <p:nvGrpSpPr>
            <p:cNvPr id="108" name="Group 107" hidden="1"/>
            <p:cNvGrpSpPr/>
            <p:nvPr userDrawn="1"/>
          </p:nvGrpSpPr>
          <p:grpSpPr>
            <a:xfrm>
              <a:off x="530352" y="7159752"/>
              <a:ext cx="8997696" cy="301752"/>
              <a:chOff x="530352" y="7159752"/>
              <a:chExt cx="8997696" cy="301752"/>
            </a:xfrm>
          </p:grpSpPr>
          <p:sp>
            <p:nvSpPr>
              <p:cNvPr id="43" name="Footer block" hidden="1"/>
              <p:cNvSpPr>
                <a:spLocks noChangeArrowheads="1"/>
              </p:cNvSpPr>
              <p:nvPr/>
            </p:nvSpPr>
            <p:spPr bwMode="gray">
              <a:xfrm>
                <a:off x="6629400"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805466">
                  <a:defRPr/>
                </a:pPr>
                <a:endParaRPr lang="en-GB" sz="1588" dirty="0"/>
              </a:p>
            </p:txBody>
          </p:sp>
          <p:sp>
            <p:nvSpPr>
              <p:cNvPr id="44" name="Footer block" hidden="1"/>
              <p:cNvSpPr>
                <a:spLocks noChangeArrowheads="1"/>
              </p:cNvSpPr>
              <p:nvPr/>
            </p:nvSpPr>
            <p:spPr bwMode="gray">
              <a:xfrm>
                <a:off x="3584448"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805466">
                  <a:defRPr/>
                </a:pPr>
                <a:endParaRPr lang="en-GB" sz="1588" dirty="0"/>
              </a:p>
            </p:txBody>
          </p:sp>
          <p:sp>
            <p:nvSpPr>
              <p:cNvPr id="55" name="Footer block" hidden="1"/>
              <p:cNvSpPr>
                <a:spLocks noChangeArrowheads="1"/>
              </p:cNvSpPr>
              <p:nvPr/>
            </p:nvSpPr>
            <p:spPr bwMode="gray">
              <a:xfrm>
                <a:off x="530352"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07" name="Group 106" hidden="1"/>
            <p:cNvGrpSpPr/>
            <p:nvPr userDrawn="1"/>
          </p:nvGrpSpPr>
          <p:grpSpPr>
            <a:xfrm>
              <a:off x="530352" y="1066800"/>
              <a:ext cx="8997696" cy="835152"/>
              <a:chOff x="530352" y="1066800"/>
              <a:chExt cx="8997696" cy="835152"/>
            </a:xfrm>
          </p:grpSpPr>
          <p:sp>
            <p:nvSpPr>
              <p:cNvPr id="45" name="Title block" hidden="1"/>
              <p:cNvSpPr>
                <a:spLocks noChangeArrowheads="1"/>
              </p:cNvSpPr>
              <p:nvPr userDrawn="1"/>
            </p:nvSpPr>
            <p:spPr bwMode="gray">
              <a:xfrm>
                <a:off x="5102352" y="1066800"/>
                <a:ext cx="4425696" cy="832104"/>
              </a:xfrm>
              <a:prstGeom prst="rect">
                <a:avLst/>
              </a:prstGeom>
              <a:solidFill>
                <a:srgbClr val="FCC3D7">
                  <a:alpha val="25000"/>
                </a:srgbClr>
              </a:solidFill>
              <a:ln w="6350" cap="rnd">
                <a:solidFill>
                  <a:srgbClr val="FCC3D7"/>
                </a:solidFill>
                <a:prstDash val="sysDot"/>
                <a:miter lim="800000"/>
                <a:headEnd/>
                <a:tailEnd/>
              </a:ln>
              <a:effectLst/>
            </p:spPr>
            <p:txBody>
              <a:bodyPr wrap="none" lIns="0" tIns="0" rIns="0" bIns="0" anchor="ctr"/>
              <a:lstStyle/>
              <a:p>
                <a:pPr algn="ctr" defTabSz="805466">
                  <a:defRPr/>
                </a:pPr>
                <a:endParaRPr lang="en-GB" sz="1588" dirty="0"/>
              </a:p>
            </p:txBody>
          </p:sp>
          <p:sp>
            <p:nvSpPr>
              <p:cNvPr id="56" name="Title block" hidden="1"/>
              <p:cNvSpPr>
                <a:spLocks noChangeArrowheads="1"/>
              </p:cNvSpPr>
              <p:nvPr/>
            </p:nvSpPr>
            <p:spPr bwMode="gray">
              <a:xfrm>
                <a:off x="530352" y="1069848"/>
                <a:ext cx="4425696" cy="832104"/>
              </a:xfrm>
              <a:prstGeom prst="rect">
                <a:avLst/>
              </a:prstGeom>
              <a:solidFill>
                <a:srgbClr val="FCC3D7">
                  <a:alpha val="25000"/>
                </a:srgbClr>
              </a:solidFill>
              <a:ln w="6350" cap="rnd">
                <a:solidFill>
                  <a:srgbClr val="FCC3D7"/>
                </a:solidFill>
                <a:prstDash val="sysDot"/>
                <a:miter lim="800000"/>
                <a:headEnd/>
                <a:tailEnd/>
              </a:ln>
              <a:effectLst/>
            </p:spPr>
            <p:txBody>
              <a:bodyPr wrap="none" lIns="0" tIns="0" rIns="0" bIns="0" anchor="ctr"/>
              <a:lstStyle/>
              <a:p>
                <a:pPr algn="ctr" defTabSz="805466">
                  <a:defRPr/>
                </a:pPr>
                <a:endParaRPr lang="en-GB" sz="1588" dirty="0"/>
              </a:p>
            </p:txBody>
          </p:sp>
        </p:grpSp>
        <p:sp>
          <p:nvSpPr>
            <p:cNvPr id="57" name="Header block" hidden="1"/>
            <p:cNvSpPr>
              <a:spLocks noChangeArrowheads="1"/>
            </p:cNvSpPr>
            <p:nvPr userDrawn="1"/>
          </p:nvSpPr>
          <p:spPr bwMode="gray">
            <a:xfrm>
              <a:off x="530352" y="612648"/>
              <a:ext cx="8988552" cy="228600"/>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707409">
                <a:buSzPct val="90000"/>
                <a:defRPr/>
              </a:pPr>
              <a:endParaRPr lang="en-GB" sz="1235" dirty="0">
                <a:solidFill>
                  <a:schemeClr val="folHlink"/>
                </a:solidFill>
                <a:cs typeface="Arial" charset="0"/>
              </a:endParaRPr>
            </a:p>
          </p:txBody>
        </p:sp>
        <p:grpSp>
          <p:nvGrpSpPr>
            <p:cNvPr id="106" name="Group 600" hidden="1"/>
            <p:cNvGrpSpPr/>
            <p:nvPr userDrawn="1"/>
          </p:nvGrpSpPr>
          <p:grpSpPr>
            <a:xfrm>
              <a:off x="533400" y="6245352"/>
              <a:ext cx="8994648" cy="688848"/>
              <a:chOff x="533400" y="6013704"/>
              <a:chExt cx="8994648" cy="688848"/>
            </a:xfrm>
          </p:grpSpPr>
          <p:sp>
            <p:nvSpPr>
              <p:cNvPr id="50" name="Content block 606" hidden="1"/>
              <p:cNvSpPr>
                <a:spLocks noChangeArrowheads="1"/>
              </p:cNvSpPr>
              <p:nvPr userDrawn="1"/>
            </p:nvSpPr>
            <p:spPr bwMode="gray">
              <a:xfrm>
                <a:off x="8156448" y="60137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51" name="Content block 605" hidden="1"/>
              <p:cNvSpPr>
                <a:spLocks noChangeArrowheads="1"/>
              </p:cNvSpPr>
              <p:nvPr userDrawn="1"/>
            </p:nvSpPr>
            <p:spPr bwMode="gray">
              <a:xfrm>
                <a:off x="6631840" y="60137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6" name="Content block 604" hidden="1"/>
              <p:cNvSpPr>
                <a:spLocks noChangeArrowheads="1"/>
              </p:cNvSpPr>
              <p:nvPr/>
            </p:nvSpPr>
            <p:spPr bwMode="gray">
              <a:xfrm>
                <a:off x="510723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7" name="Content block 603" hidden="1"/>
              <p:cNvSpPr>
                <a:spLocks noChangeArrowheads="1"/>
              </p:cNvSpPr>
              <p:nvPr/>
            </p:nvSpPr>
            <p:spPr bwMode="gray">
              <a:xfrm>
                <a:off x="358262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8" name="Content block 602" hidden="1"/>
              <p:cNvSpPr>
                <a:spLocks noChangeArrowheads="1"/>
              </p:cNvSpPr>
              <p:nvPr/>
            </p:nvSpPr>
            <p:spPr bwMode="gray">
              <a:xfrm>
                <a:off x="205801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9" name="Content block 601" hidden="1"/>
              <p:cNvSpPr>
                <a:spLocks noChangeArrowheads="1"/>
              </p:cNvSpPr>
              <p:nvPr/>
            </p:nvSpPr>
            <p:spPr bwMode="gray">
              <a:xfrm>
                <a:off x="53340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05" name="Group 500" hidden="1"/>
            <p:cNvGrpSpPr/>
            <p:nvPr userDrawn="1"/>
          </p:nvGrpSpPr>
          <p:grpSpPr>
            <a:xfrm>
              <a:off x="533400" y="5407152"/>
              <a:ext cx="8994648" cy="688848"/>
              <a:chOff x="533400" y="5026152"/>
              <a:chExt cx="8994648" cy="688848"/>
            </a:xfrm>
          </p:grpSpPr>
          <p:sp>
            <p:nvSpPr>
              <p:cNvPr id="52" name="Content block 506" hidden="1"/>
              <p:cNvSpPr>
                <a:spLocks noChangeArrowheads="1"/>
              </p:cNvSpPr>
              <p:nvPr userDrawn="1"/>
            </p:nvSpPr>
            <p:spPr bwMode="gray">
              <a:xfrm>
                <a:off x="8156448" y="50261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53" name="Content block 505" hidden="1"/>
              <p:cNvSpPr>
                <a:spLocks noChangeArrowheads="1"/>
              </p:cNvSpPr>
              <p:nvPr userDrawn="1"/>
            </p:nvSpPr>
            <p:spPr bwMode="gray">
              <a:xfrm>
                <a:off x="6631840" y="50261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0" name="Content block 504" hidden="1"/>
              <p:cNvSpPr>
                <a:spLocks noChangeArrowheads="1"/>
              </p:cNvSpPr>
              <p:nvPr/>
            </p:nvSpPr>
            <p:spPr bwMode="gray">
              <a:xfrm>
                <a:off x="510723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1" name="Content block 503" hidden="1"/>
              <p:cNvSpPr>
                <a:spLocks noChangeArrowheads="1"/>
              </p:cNvSpPr>
              <p:nvPr/>
            </p:nvSpPr>
            <p:spPr bwMode="gray">
              <a:xfrm>
                <a:off x="358262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2" name="Content block 502" hidden="1"/>
              <p:cNvSpPr>
                <a:spLocks noChangeArrowheads="1"/>
              </p:cNvSpPr>
              <p:nvPr/>
            </p:nvSpPr>
            <p:spPr bwMode="gray">
              <a:xfrm>
                <a:off x="205801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93" name="Content block 501" hidden="1"/>
              <p:cNvSpPr>
                <a:spLocks noChangeArrowheads="1"/>
              </p:cNvSpPr>
              <p:nvPr/>
            </p:nvSpPr>
            <p:spPr bwMode="gray">
              <a:xfrm>
                <a:off x="53340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04" name="Group 400" hidden="1"/>
            <p:cNvGrpSpPr/>
            <p:nvPr userDrawn="1"/>
          </p:nvGrpSpPr>
          <p:grpSpPr>
            <a:xfrm>
              <a:off x="533400" y="4568952"/>
              <a:ext cx="8994648" cy="688848"/>
              <a:chOff x="533400" y="4038600"/>
              <a:chExt cx="8994648" cy="688848"/>
            </a:xfrm>
          </p:grpSpPr>
          <p:sp>
            <p:nvSpPr>
              <p:cNvPr id="54" name="Content block 406" hidden="1"/>
              <p:cNvSpPr>
                <a:spLocks noChangeArrowheads="1"/>
              </p:cNvSpPr>
              <p:nvPr userDrawn="1"/>
            </p:nvSpPr>
            <p:spPr bwMode="gray">
              <a:xfrm>
                <a:off x="8156448" y="40386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64" name="Content block 405" hidden="1"/>
              <p:cNvSpPr>
                <a:spLocks noChangeArrowheads="1"/>
              </p:cNvSpPr>
              <p:nvPr userDrawn="1"/>
            </p:nvSpPr>
            <p:spPr bwMode="gray">
              <a:xfrm>
                <a:off x="6631840" y="40386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84" name="Content block 404" hidden="1"/>
              <p:cNvSpPr>
                <a:spLocks noChangeArrowheads="1"/>
              </p:cNvSpPr>
              <p:nvPr/>
            </p:nvSpPr>
            <p:spPr bwMode="gray">
              <a:xfrm>
                <a:off x="510723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85" name="Content block 403" hidden="1"/>
              <p:cNvSpPr>
                <a:spLocks noChangeArrowheads="1"/>
              </p:cNvSpPr>
              <p:nvPr/>
            </p:nvSpPr>
            <p:spPr bwMode="gray">
              <a:xfrm>
                <a:off x="358262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86" name="Content block 402" hidden="1"/>
              <p:cNvSpPr>
                <a:spLocks noChangeArrowheads="1"/>
              </p:cNvSpPr>
              <p:nvPr/>
            </p:nvSpPr>
            <p:spPr bwMode="gray">
              <a:xfrm>
                <a:off x="205801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87" name="Content block 401" hidden="1"/>
              <p:cNvSpPr>
                <a:spLocks noChangeArrowheads="1"/>
              </p:cNvSpPr>
              <p:nvPr/>
            </p:nvSpPr>
            <p:spPr bwMode="gray">
              <a:xfrm>
                <a:off x="53340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03" name="Group 300" hidden="1"/>
            <p:cNvGrpSpPr/>
            <p:nvPr userDrawn="1"/>
          </p:nvGrpSpPr>
          <p:grpSpPr>
            <a:xfrm>
              <a:off x="533400" y="3730752"/>
              <a:ext cx="8994648" cy="688848"/>
              <a:chOff x="533400" y="3041904"/>
              <a:chExt cx="8994648" cy="688848"/>
            </a:xfrm>
          </p:grpSpPr>
          <p:sp>
            <p:nvSpPr>
              <p:cNvPr id="65" name="Content block 306" hidden="1"/>
              <p:cNvSpPr>
                <a:spLocks noChangeArrowheads="1"/>
              </p:cNvSpPr>
              <p:nvPr userDrawn="1"/>
            </p:nvSpPr>
            <p:spPr bwMode="gray">
              <a:xfrm>
                <a:off x="8156448" y="30419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0" name="Content block 305" hidden="1"/>
              <p:cNvSpPr>
                <a:spLocks noChangeArrowheads="1"/>
              </p:cNvSpPr>
              <p:nvPr userDrawn="1"/>
            </p:nvSpPr>
            <p:spPr bwMode="gray">
              <a:xfrm>
                <a:off x="6631840" y="30419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8" name="Content block 304" hidden="1"/>
              <p:cNvSpPr>
                <a:spLocks noChangeArrowheads="1"/>
              </p:cNvSpPr>
              <p:nvPr/>
            </p:nvSpPr>
            <p:spPr bwMode="gray">
              <a:xfrm>
                <a:off x="510723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9" name="Content block 303" hidden="1"/>
              <p:cNvSpPr>
                <a:spLocks noChangeArrowheads="1"/>
              </p:cNvSpPr>
              <p:nvPr/>
            </p:nvSpPr>
            <p:spPr bwMode="gray">
              <a:xfrm>
                <a:off x="358262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80" name="Content block 302" hidden="1"/>
              <p:cNvSpPr>
                <a:spLocks noChangeArrowheads="1"/>
              </p:cNvSpPr>
              <p:nvPr/>
            </p:nvSpPr>
            <p:spPr bwMode="gray">
              <a:xfrm>
                <a:off x="205801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81" name="Content block 301" hidden="1"/>
              <p:cNvSpPr>
                <a:spLocks noChangeArrowheads="1"/>
              </p:cNvSpPr>
              <p:nvPr/>
            </p:nvSpPr>
            <p:spPr bwMode="gray">
              <a:xfrm>
                <a:off x="53340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01" name="Group 200" hidden="1"/>
            <p:cNvGrpSpPr/>
            <p:nvPr userDrawn="1"/>
          </p:nvGrpSpPr>
          <p:grpSpPr>
            <a:xfrm>
              <a:off x="533400" y="2892552"/>
              <a:ext cx="8994648" cy="688848"/>
              <a:chOff x="533400" y="1066800"/>
              <a:chExt cx="8994648" cy="688848"/>
            </a:xfrm>
          </p:grpSpPr>
          <p:sp>
            <p:nvSpPr>
              <p:cNvPr id="77" name="Content block 206" hidden="1"/>
              <p:cNvSpPr>
                <a:spLocks noChangeArrowheads="1"/>
              </p:cNvSpPr>
              <p:nvPr userDrawn="1"/>
            </p:nvSpPr>
            <p:spPr bwMode="gray">
              <a:xfrm>
                <a:off x="8156448" y="10668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82" name="Content block 205" hidden="1"/>
              <p:cNvSpPr>
                <a:spLocks noChangeArrowheads="1"/>
              </p:cNvSpPr>
              <p:nvPr userDrawn="1"/>
            </p:nvSpPr>
            <p:spPr bwMode="gray">
              <a:xfrm>
                <a:off x="6631840" y="10668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66" name="Content block 204" hidden="1"/>
              <p:cNvSpPr>
                <a:spLocks noChangeArrowheads="1"/>
              </p:cNvSpPr>
              <p:nvPr/>
            </p:nvSpPr>
            <p:spPr bwMode="gray">
              <a:xfrm>
                <a:off x="510723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67" name="Content block 203" hidden="1"/>
              <p:cNvSpPr>
                <a:spLocks noChangeArrowheads="1"/>
              </p:cNvSpPr>
              <p:nvPr/>
            </p:nvSpPr>
            <p:spPr bwMode="gray">
              <a:xfrm>
                <a:off x="358262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68" name="Content block 202" hidden="1"/>
              <p:cNvSpPr>
                <a:spLocks noChangeArrowheads="1"/>
              </p:cNvSpPr>
              <p:nvPr/>
            </p:nvSpPr>
            <p:spPr bwMode="gray">
              <a:xfrm>
                <a:off x="205801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69" name="Content block 201" hidden="1"/>
              <p:cNvSpPr>
                <a:spLocks noChangeArrowheads="1"/>
              </p:cNvSpPr>
              <p:nvPr/>
            </p:nvSpPr>
            <p:spPr bwMode="gray">
              <a:xfrm>
                <a:off x="53340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02" name="Group 100" hidden="1"/>
            <p:cNvGrpSpPr/>
            <p:nvPr userDrawn="1"/>
          </p:nvGrpSpPr>
          <p:grpSpPr>
            <a:xfrm>
              <a:off x="533400" y="2054352"/>
              <a:ext cx="8994648" cy="688848"/>
              <a:chOff x="533400" y="2054352"/>
              <a:chExt cx="8994648" cy="688848"/>
            </a:xfrm>
          </p:grpSpPr>
          <p:sp>
            <p:nvSpPr>
              <p:cNvPr id="71" name="Content block 106" hidden="1"/>
              <p:cNvSpPr>
                <a:spLocks noChangeArrowheads="1"/>
              </p:cNvSpPr>
              <p:nvPr userDrawn="1"/>
            </p:nvSpPr>
            <p:spPr bwMode="gray">
              <a:xfrm>
                <a:off x="8156448" y="20543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6" name="Content block 105" hidden="1"/>
              <p:cNvSpPr>
                <a:spLocks noChangeArrowheads="1"/>
              </p:cNvSpPr>
              <p:nvPr userDrawn="1"/>
            </p:nvSpPr>
            <p:spPr bwMode="gray">
              <a:xfrm>
                <a:off x="6631840" y="20543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2" name="Content block 104" hidden="1"/>
              <p:cNvSpPr>
                <a:spLocks noChangeArrowheads="1"/>
              </p:cNvSpPr>
              <p:nvPr/>
            </p:nvSpPr>
            <p:spPr bwMode="gray">
              <a:xfrm>
                <a:off x="510723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3" name="Content block 103" hidden="1"/>
              <p:cNvSpPr>
                <a:spLocks noChangeArrowheads="1"/>
              </p:cNvSpPr>
              <p:nvPr/>
            </p:nvSpPr>
            <p:spPr bwMode="gray">
              <a:xfrm>
                <a:off x="358262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4" name="Content block 102" hidden="1"/>
              <p:cNvSpPr>
                <a:spLocks noChangeArrowheads="1"/>
              </p:cNvSpPr>
              <p:nvPr/>
            </p:nvSpPr>
            <p:spPr bwMode="gray">
              <a:xfrm>
                <a:off x="205801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75" name="Content block 101" hidden="1"/>
              <p:cNvSpPr>
                <a:spLocks noChangeArrowheads="1"/>
              </p:cNvSpPr>
              <p:nvPr/>
            </p:nvSpPr>
            <p:spPr bwMode="gray">
              <a:xfrm>
                <a:off x="53340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sp>
        <p:nvSpPr>
          <p:cNvPr id="2" name="Title Placeholder 1"/>
          <p:cNvSpPr>
            <a:spLocks noGrp="1"/>
          </p:cNvSpPr>
          <p:nvPr>
            <p:ph type="title"/>
          </p:nvPr>
        </p:nvSpPr>
        <p:spPr>
          <a:xfrm>
            <a:off x="482139" y="943983"/>
            <a:ext cx="8179724" cy="742278"/>
          </a:xfrm>
          <a:prstGeom prst="rect">
            <a:avLst/>
          </a:prstGeom>
        </p:spPr>
        <p:txBody>
          <a:bodyPr vert="horz" lIns="0" tIns="0" rIns="0" bIns="0" rtlCol="0" anchor="t" anchorCtr="0">
            <a:noAutofit/>
          </a:bodyPr>
          <a:lstStyle/>
          <a:p>
            <a:r>
              <a:rPr lang="en-GB" noProof="0" dirty="0"/>
              <a:t>Click to edit Master title style</a:t>
            </a:r>
          </a:p>
        </p:txBody>
      </p:sp>
      <p:sp>
        <p:nvSpPr>
          <p:cNvPr id="3" name="Text Placeholder 2"/>
          <p:cNvSpPr>
            <a:spLocks noGrp="1"/>
          </p:cNvSpPr>
          <p:nvPr>
            <p:ph type="body" idx="1"/>
          </p:nvPr>
        </p:nvSpPr>
        <p:spPr>
          <a:xfrm>
            <a:off x="482139" y="1815353"/>
            <a:ext cx="8179724" cy="4307294"/>
          </a:xfrm>
          <a:prstGeom prst="rect">
            <a:avLst/>
          </a:prstGeom>
        </p:spPr>
        <p:txBody>
          <a:bodyPr vert="horz" lIns="0" tIns="0" rIns="0" bIns="0" rtlCol="0">
            <a:noAutofit/>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16875109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6" r:id="rId21"/>
  </p:sldLayoutIdLst>
  <p:hf hdr="0" ftr="0" dt="0"/>
  <p:txStyles>
    <p:titleStyle>
      <a:lvl1pPr algn="l" defTabSz="899010" rtl="0" eaLnBrk="1" latinLnBrk="0" hangingPunct="1">
        <a:spcBef>
          <a:spcPct val="0"/>
        </a:spcBef>
        <a:buNone/>
        <a:defRPr sz="1235" b="1" i="1" kern="1200">
          <a:solidFill>
            <a:schemeClr val="tx2"/>
          </a:solidFill>
          <a:latin typeface="+mj-lt"/>
          <a:ea typeface="+mj-ea"/>
          <a:cs typeface="+mj-cs"/>
        </a:defRPr>
      </a:lvl1pPr>
    </p:titleStyle>
    <p:bodyStyle>
      <a:lvl1pPr marL="0" marR="0" indent="0" algn="l" defTabSz="899320" rtl="0" eaLnBrk="1" fontAlgn="base" latinLnBrk="0" hangingPunct="1">
        <a:lnSpc>
          <a:spcPct val="100000"/>
        </a:lnSpc>
        <a:spcBef>
          <a:spcPts val="0"/>
        </a:spcBef>
        <a:spcAft>
          <a:spcPts val="529"/>
        </a:spcAft>
        <a:buClr>
          <a:srgbClr val="000000"/>
        </a:buClr>
        <a:buSzTx/>
        <a:buFont typeface="Wingdings" pitchFamily="2" charset="2"/>
        <a:buNone/>
        <a:tabLst/>
        <a:defRPr sz="971" kern="1200">
          <a:solidFill>
            <a:schemeClr val="tx1"/>
          </a:solidFill>
          <a:latin typeface="Georgia" pitchFamily="18" charset="0"/>
          <a:ea typeface="+mn-ea"/>
          <a:cs typeface="+mn-cs"/>
        </a:defRPr>
      </a:lvl1pPr>
      <a:lvl2pPr marL="207320" marR="0" indent="-201717" algn="l" defTabSz="899320" rtl="0" eaLnBrk="1" fontAlgn="base" latinLnBrk="0" hangingPunct="1">
        <a:lnSpc>
          <a:spcPct val="100000"/>
        </a:lnSpc>
        <a:spcBef>
          <a:spcPts val="0"/>
        </a:spcBef>
        <a:spcAft>
          <a:spcPts val="529"/>
        </a:spcAft>
        <a:buClr>
          <a:srgbClr val="000000"/>
        </a:buClr>
        <a:buSzTx/>
        <a:buFont typeface="Times New Roman" pitchFamily="18" charset="0"/>
        <a:buChar char="•"/>
        <a:tabLst/>
        <a:defRPr sz="971" kern="1200">
          <a:solidFill>
            <a:schemeClr val="tx1"/>
          </a:solidFill>
          <a:latin typeface="Georgia" pitchFamily="18" charset="0"/>
          <a:ea typeface="+mn-ea"/>
          <a:cs typeface="+mn-cs"/>
        </a:defRPr>
      </a:lvl2pPr>
      <a:lvl3pPr marL="412963" marR="0" indent="-203305" algn="l" defTabSz="899320" rtl="0" eaLnBrk="1" fontAlgn="base" latinLnBrk="0" hangingPunct="1">
        <a:lnSpc>
          <a:spcPct val="100000"/>
        </a:lnSpc>
        <a:spcBef>
          <a:spcPts val="0"/>
        </a:spcBef>
        <a:spcAft>
          <a:spcPts val="529"/>
        </a:spcAft>
        <a:buClr>
          <a:srgbClr val="000000"/>
        </a:buClr>
        <a:buSzTx/>
        <a:buFont typeface="Arial" pitchFamily="34" charset="0"/>
        <a:buChar char="-"/>
        <a:tabLst/>
        <a:defRPr sz="971" kern="1200">
          <a:solidFill>
            <a:schemeClr val="tx1"/>
          </a:solidFill>
          <a:latin typeface="Georgia" pitchFamily="18" charset="0"/>
          <a:ea typeface="+mn-ea"/>
          <a:cs typeface="+mn-cs"/>
        </a:defRPr>
      </a:lvl3pPr>
      <a:lvl4pPr marL="613092" marR="0" indent="-203305" algn="l" defTabSz="899320" rtl="0" eaLnBrk="1" fontAlgn="base" latinLnBrk="0" hangingPunct="1">
        <a:lnSpc>
          <a:spcPct val="100000"/>
        </a:lnSpc>
        <a:spcBef>
          <a:spcPts val="0"/>
        </a:spcBef>
        <a:spcAft>
          <a:spcPts val="529"/>
        </a:spcAft>
        <a:buClr>
          <a:srgbClr val="000000"/>
        </a:buClr>
        <a:buSzTx/>
        <a:buFont typeface="Georgia" pitchFamily="18" charset="0"/>
        <a:buChar char="◦"/>
        <a:tabLst/>
        <a:defRPr sz="971" kern="1200">
          <a:solidFill>
            <a:schemeClr val="tx1"/>
          </a:solidFill>
          <a:latin typeface="Georgia" pitchFamily="18" charset="0"/>
          <a:ea typeface="+mn-ea"/>
          <a:cs typeface="+mn-cs"/>
        </a:defRPr>
      </a:lvl4pPr>
      <a:lvl5pPr marL="806867" marR="0" indent="-201717" algn="l" defTabSz="899320" rtl="0" eaLnBrk="1" fontAlgn="base" latinLnBrk="0" hangingPunct="1">
        <a:lnSpc>
          <a:spcPct val="100000"/>
        </a:lnSpc>
        <a:spcBef>
          <a:spcPts val="0"/>
        </a:spcBef>
        <a:spcAft>
          <a:spcPts val="529"/>
        </a:spcAft>
        <a:buClr>
          <a:srgbClr val="000000"/>
        </a:buClr>
        <a:buSzTx/>
        <a:buFont typeface="Georgia" pitchFamily="18" charset="0"/>
        <a:buChar char="›"/>
        <a:tabLst/>
        <a:defRPr sz="971" kern="1200" baseline="0">
          <a:solidFill>
            <a:schemeClr val="tx1"/>
          </a:solidFill>
          <a:latin typeface="Georgia" pitchFamily="18" charset="0"/>
          <a:ea typeface="+mn-ea"/>
          <a:cs typeface="+mn-cs"/>
        </a:defRPr>
      </a:lvl5pPr>
      <a:lvl6pPr marL="206482" indent="-203305" algn="l" defTabSz="899010" rtl="0" eaLnBrk="1" latinLnBrk="0" hangingPunct="1">
        <a:lnSpc>
          <a:spcPct val="100000"/>
        </a:lnSpc>
        <a:spcBef>
          <a:spcPts val="0"/>
        </a:spcBef>
        <a:spcAft>
          <a:spcPts val="0"/>
        </a:spcAft>
        <a:buFont typeface="+mj-lt"/>
        <a:buAutoNum type="arabicPeriod"/>
        <a:defRPr lang="en-GB" sz="971" kern="1200" baseline="0" noProof="0" dirty="0" smtClean="0">
          <a:solidFill>
            <a:schemeClr val="tx1"/>
          </a:solidFill>
          <a:latin typeface="Georgia" pitchFamily="18" charset="0"/>
          <a:ea typeface="+mn-ea"/>
          <a:cs typeface="+mn-cs"/>
        </a:defRPr>
      </a:lvl6pPr>
      <a:lvl7pPr marL="412963" indent="-201717" algn="l" defTabSz="899010" rtl="0" eaLnBrk="1" latinLnBrk="0" hangingPunct="1">
        <a:lnSpc>
          <a:spcPct val="100000"/>
        </a:lnSpc>
        <a:spcBef>
          <a:spcPts val="0"/>
        </a:spcBef>
        <a:spcAft>
          <a:spcPts val="0"/>
        </a:spcAft>
        <a:buFont typeface="+mj-lt"/>
        <a:buAutoNum type="alphaLcPeriod"/>
        <a:defRPr lang="en-GB" sz="971" kern="1200" baseline="0" noProof="0" dirty="0" smtClean="0">
          <a:solidFill>
            <a:schemeClr val="tx1"/>
          </a:solidFill>
          <a:latin typeface="Georgia" pitchFamily="18" charset="0"/>
          <a:ea typeface="+mn-ea"/>
          <a:cs typeface="+mn-cs"/>
        </a:defRPr>
      </a:lvl7pPr>
      <a:lvl8pPr marL="613092" indent="-201717" algn="l" defTabSz="899010" rtl="0" eaLnBrk="1" latinLnBrk="0" hangingPunct="1">
        <a:lnSpc>
          <a:spcPct val="100000"/>
        </a:lnSpc>
        <a:spcBef>
          <a:spcPts val="0"/>
        </a:spcBef>
        <a:spcAft>
          <a:spcPts val="0"/>
        </a:spcAft>
        <a:buFont typeface="+mj-lt"/>
        <a:buAutoNum type="romanLcPeriod"/>
        <a:defRPr lang="en-GB" sz="971" kern="1200" baseline="0" noProof="0" dirty="0" smtClean="0">
          <a:solidFill>
            <a:schemeClr val="tx1"/>
          </a:solidFill>
          <a:latin typeface="Georgia" pitchFamily="18" charset="0"/>
          <a:ea typeface="+mn-ea"/>
          <a:cs typeface="+mn-cs"/>
        </a:defRPr>
      </a:lvl8pPr>
      <a:lvl9pPr marL="0" indent="0" algn="l" defTabSz="899010" rtl="0" eaLnBrk="1" latinLnBrk="0" hangingPunct="1">
        <a:lnSpc>
          <a:spcPct val="100000"/>
        </a:lnSpc>
        <a:spcBef>
          <a:spcPts val="0"/>
        </a:spcBef>
        <a:spcAft>
          <a:spcPts val="529"/>
        </a:spcAft>
        <a:buFont typeface="Arial" pitchFamily="34" charset="0"/>
        <a:buNone/>
        <a:defRPr lang="en-GB" sz="971" b="1" kern="1200" baseline="0" noProof="0" dirty="0" smtClean="0">
          <a:solidFill>
            <a:schemeClr val="tx2"/>
          </a:solidFill>
          <a:latin typeface="Georgia" pitchFamily="18" charset="0"/>
          <a:ea typeface="+mn-ea"/>
          <a:cs typeface="+mn-cs"/>
        </a:defRPr>
      </a:lvl9pPr>
    </p:bodyStyle>
    <p:otherStyle>
      <a:defPPr>
        <a:defRPr lang="en-US"/>
      </a:defPPr>
      <a:lvl1pPr marL="0" algn="l" defTabSz="899010" rtl="0" eaLnBrk="1" latinLnBrk="0" hangingPunct="1">
        <a:defRPr sz="1765" kern="1200">
          <a:solidFill>
            <a:schemeClr val="tx1"/>
          </a:solidFill>
          <a:latin typeface="+mn-lt"/>
          <a:ea typeface="+mn-ea"/>
          <a:cs typeface="+mn-cs"/>
        </a:defRPr>
      </a:lvl1pPr>
      <a:lvl2pPr marL="449505" algn="l" defTabSz="899010" rtl="0" eaLnBrk="1" latinLnBrk="0" hangingPunct="1">
        <a:defRPr sz="1765" kern="1200">
          <a:solidFill>
            <a:schemeClr val="tx1"/>
          </a:solidFill>
          <a:latin typeface="+mn-lt"/>
          <a:ea typeface="+mn-ea"/>
          <a:cs typeface="+mn-cs"/>
        </a:defRPr>
      </a:lvl2pPr>
      <a:lvl3pPr marL="899010" algn="l" defTabSz="899010" rtl="0" eaLnBrk="1" latinLnBrk="0" hangingPunct="1">
        <a:defRPr sz="1765" kern="1200">
          <a:solidFill>
            <a:schemeClr val="tx1"/>
          </a:solidFill>
          <a:latin typeface="+mn-lt"/>
          <a:ea typeface="+mn-ea"/>
          <a:cs typeface="+mn-cs"/>
        </a:defRPr>
      </a:lvl3pPr>
      <a:lvl4pPr marL="1348516" algn="l" defTabSz="899010" rtl="0" eaLnBrk="1" latinLnBrk="0" hangingPunct="1">
        <a:defRPr sz="1765" kern="1200">
          <a:solidFill>
            <a:schemeClr val="tx1"/>
          </a:solidFill>
          <a:latin typeface="+mn-lt"/>
          <a:ea typeface="+mn-ea"/>
          <a:cs typeface="+mn-cs"/>
        </a:defRPr>
      </a:lvl4pPr>
      <a:lvl5pPr marL="1798021" algn="l" defTabSz="899010" rtl="0" eaLnBrk="1" latinLnBrk="0" hangingPunct="1">
        <a:defRPr sz="1765" kern="1200">
          <a:solidFill>
            <a:schemeClr val="tx1"/>
          </a:solidFill>
          <a:latin typeface="+mn-lt"/>
          <a:ea typeface="+mn-ea"/>
          <a:cs typeface="+mn-cs"/>
        </a:defRPr>
      </a:lvl5pPr>
      <a:lvl6pPr marL="2247527" algn="l" defTabSz="899010" rtl="0" eaLnBrk="1" latinLnBrk="0" hangingPunct="1">
        <a:defRPr sz="1765" kern="1200">
          <a:solidFill>
            <a:schemeClr val="tx1"/>
          </a:solidFill>
          <a:latin typeface="+mn-lt"/>
          <a:ea typeface="+mn-ea"/>
          <a:cs typeface="+mn-cs"/>
        </a:defRPr>
      </a:lvl6pPr>
      <a:lvl7pPr marL="2697032" algn="l" defTabSz="899010" rtl="0" eaLnBrk="1" latinLnBrk="0" hangingPunct="1">
        <a:defRPr sz="1765" kern="1200">
          <a:solidFill>
            <a:schemeClr val="tx1"/>
          </a:solidFill>
          <a:latin typeface="+mn-lt"/>
          <a:ea typeface="+mn-ea"/>
          <a:cs typeface="+mn-cs"/>
        </a:defRPr>
      </a:lvl7pPr>
      <a:lvl8pPr marL="3146538" algn="l" defTabSz="899010" rtl="0" eaLnBrk="1" latinLnBrk="0" hangingPunct="1">
        <a:defRPr sz="1765" kern="1200">
          <a:solidFill>
            <a:schemeClr val="tx1"/>
          </a:solidFill>
          <a:latin typeface="+mn-lt"/>
          <a:ea typeface="+mn-ea"/>
          <a:cs typeface="+mn-cs"/>
        </a:defRPr>
      </a:lvl8pPr>
      <a:lvl9pPr marL="3596043" algn="l" defTabSz="899010" rtl="0" eaLnBrk="1" latinLnBrk="0" hangingPunct="1">
        <a:defRPr sz="1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tags" Target="../tags/tag196.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image" Target="../media/image3.jpeg"/><Relationship Id="rId11" Type="http://schemas.openxmlformats.org/officeDocument/2006/relationships/image" Target="../media/image8.png"/><Relationship Id="rId5" Type="http://schemas.openxmlformats.org/officeDocument/2006/relationships/notesSlide" Target="../notesSlides/notesSlide1.xml"/><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slideLayout" Target="../slideLayouts/slideLayout23.xml"/><Relationship Id="rId9" Type="http://schemas.openxmlformats.org/officeDocument/2006/relationships/image" Target="../media/image6.png"/><Relationship Id="rId1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hyperlink" Target="https://mahitikanaja.karnataka.gov.in/" TargetMode="External"/><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7.png"/><Relationship Id="rId1" Type="http://schemas.openxmlformats.org/officeDocument/2006/relationships/slideLayout" Target="../slideLayouts/slideLayout44.xml"/><Relationship Id="rId5" Type="http://schemas.openxmlformats.org/officeDocument/2006/relationships/image" Target="../media/image17.pn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hyperlink" Target="https://sevasindhu.karnataka.gov.in/Sevasindhu/English" TargetMode="Externa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image" Target="../media/image13.png"/><Relationship Id="rId5" Type="http://schemas.openxmlformats.org/officeDocument/2006/relationships/notesSlide" Target="../notesSlides/notesSlide6.xml"/><Relationship Id="rId4"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5.jpeg"/><Relationship Id="rId5" Type="http://schemas.openxmlformats.org/officeDocument/2006/relationships/image" Target="../media/image13.pn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0.jpe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9.jpeg"/><Relationship Id="rId5" Type="http://schemas.openxmlformats.org/officeDocument/2006/relationships/image" Target="../media/image13.png"/><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1.bin"/><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0.png"/><Relationship Id="rId1" Type="http://schemas.openxmlformats.org/officeDocument/2006/relationships/slideLayout" Target="../slideLayouts/slideLayout13.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video" Target="file:///D:\Grama%20one%20Videos\Grama%20one%20english%20title.mp4"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13.png"/><Relationship Id="rId1" Type="http://schemas.openxmlformats.org/officeDocument/2006/relationships/slideLayout" Target="../slideLayouts/slideLayout13.xml"/><Relationship Id="rId5" Type="http://schemas.openxmlformats.org/officeDocument/2006/relationships/image" Target="../media/image41.jpeg"/><Relationship Id="rId4" Type="http://schemas.openxmlformats.org/officeDocument/2006/relationships/image" Target="../media/image40.jpeg"/></Relationships>
</file>

<file path=ppt/slides/_rels/slide2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3.jpeg"/><Relationship Id="rId7" Type="http://schemas.openxmlformats.org/officeDocument/2006/relationships/image" Target="../media/image47.jpeg"/><Relationship Id="rId2" Type="http://schemas.openxmlformats.org/officeDocument/2006/relationships/image" Target="../media/image42.jpeg"/><Relationship Id="rId1" Type="http://schemas.openxmlformats.org/officeDocument/2006/relationships/slideLayout" Target="../slideLayouts/slideLayout13.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27.xml.rels><?xml version="1.0" encoding="UTF-8" standalone="yes"?>
<Relationships xmlns="http://schemas.openxmlformats.org/package/2006/relationships"><Relationship Id="rId3" Type="http://schemas.openxmlformats.org/officeDocument/2006/relationships/image" Target="../media/image49.jpeg"/><Relationship Id="rId7" Type="http://schemas.openxmlformats.org/officeDocument/2006/relationships/image" Target="../media/image53.jpeg"/><Relationship Id="rId2" Type="http://schemas.openxmlformats.org/officeDocument/2006/relationships/image" Target="../media/image48.jpeg"/><Relationship Id="rId1" Type="http://schemas.openxmlformats.org/officeDocument/2006/relationships/slideLayout" Target="../slideLayouts/slideLayout13.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video" Target="file:///C:\Users\Admin\Downloads\1%20MIN%20DOCUMENTARY_ENGLISH.mp4"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98"/>
          <p:cNvSpPr txBox="1">
            <a:spLocks noChangeArrowheads="1"/>
          </p:cNvSpPr>
          <p:nvPr/>
        </p:nvSpPr>
        <p:spPr bwMode="auto">
          <a:xfrm>
            <a:off x="990600" y="2209800"/>
            <a:ext cx="7086600" cy="3062596"/>
          </a:xfrm>
          <a:prstGeom prst="rect">
            <a:avLst/>
          </a:prstGeom>
          <a:solidFill>
            <a:srgbClr val="FFFFFF"/>
          </a:solidFill>
          <a:ln w="28575">
            <a:solidFill>
              <a:srgbClr val="000000"/>
            </a:solidFill>
            <a:prstDash val="sysDot"/>
            <a:miter lim="800000"/>
            <a:headEnd/>
            <a:tailEnd/>
          </a:ln>
        </p:spPr>
        <p:txBody>
          <a:bodyPr rot="0" vert="horz" wrap="square" lIns="91440" tIns="45720" rIns="91440" bIns="45720" anchor="t" anchorCtr="0" upright="1">
            <a:noAutofit/>
          </a:bodyPr>
          <a:lstStyle/>
          <a:p>
            <a:pPr algn="ctr">
              <a:lnSpc>
                <a:spcPts val="1200"/>
              </a:lnSpc>
              <a:spcAft>
                <a:spcPts val="1200"/>
              </a:spcAft>
            </a:pPr>
            <a:endParaRPr lang="en-US" sz="3400" dirty="0">
              <a:latin typeface="Georgia" panose="02040502050405020303" pitchFamily="18" charset="0"/>
              <a:ea typeface="Times New Roman" panose="02020603050405020304" pitchFamily="18" charset="0"/>
              <a:cs typeface="Times New Roman" panose="02020603050405020304" pitchFamily="18" charset="0"/>
            </a:endParaRPr>
          </a:p>
          <a:p>
            <a:pPr algn="ctr">
              <a:lnSpc>
                <a:spcPts val="1200"/>
              </a:lnSpc>
              <a:spcAft>
                <a:spcPts val="1200"/>
              </a:spcAft>
            </a:pPr>
            <a:endParaRPr lang="en-US" sz="4400" b="1" dirty="0">
              <a:latin typeface="+mj-lt"/>
              <a:ea typeface="Times New Roman" panose="02020603050405020304" pitchFamily="18" charset="0"/>
              <a:cs typeface="Times New Roman" panose="02020603050405020304" pitchFamily="18" charset="0"/>
            </a:endParaRPr>
          </a:p>
          <a:p>
            <a:pPr algn="ctr">
              <a:lnSpc>
                <a:spcPts val="1200"/>
              </a:lnSpc>
              <a:spcAft>
                <a:spcPts val="1200"/>
              </a:spcAft>
            </a:pPr>
            <a:r>
              <a:rPr lang="en-US" sz="4000" b="1" dirty="0">
                <a:latin typeface="+mj-lt"/>
                <a:ea typeface="Times New Roman" panose="02020603050405020304" pitchFamily="18" charset="0"/>
                <a:cs typeface="Times New Roman" panose="02020603050405020304" pitchFamily="18" charset="0"/>
              </a:rPr>
              <a:t> Seva Sindhu</a:t>
            </a:r>
            <a:endParaRPr lang="en-US" sz="1200" b="1" dirty="0">
              <a:latin typeface="+mj-lt"/>
              <a:ea typeface="Times New Roman" panose="02020603050405020304" pitchFamily="18" charset="0"/>
              <a:cs typeface="Times New Roman" panose="02020603050405020304" pitchFamily="18" charset="0"/>
            </a:endParaRPr>
          </a:p>
          <a:p>
            <a:pPr algn="ctr">
              <a:spcAft>
                <a:spcPts val="1200"/>
              </a:spcAft>
            </a:pPr>
            <a:endParaRPr lang="en-US" sz="1050" dirty="0">
              <a:latin typeface="+mj-lt"/>
              <a:ea typeface="Times New Roman" panose="02020603050405020304" pitchFamily="18" charset="0"/>
              <a:cs typeface="Times New Roman" panose="02020603050405020304" pitchFamily="18" charset="0"/>
            </a:endParaRPr>
          </a:p>
          <a:p>
            <a:pPr algn="ctr">
              <a:spcAft>
                <a:spcPts val="1200"/>
              </a:spcAft>
            </a:pPr>
            <a:endParaRPr lang="en-US" sz="1050" dirty="0">
              <a:latin typeface="+mj-lt"/>
              <a:ea typeface="Times New Roman" panose="02020603050405020304" pitchFamily="18" charset="0"/>
              <a:cs typeface="Times New Roman" panose="02020603050405020304" pitchFamily="18" charset="0"/>
            </a:endParaRPr>
          </a:p>
          <a:p>
            <a:pPr algn="ctr">
              <a:lnSpc>
                <a:spcPts val="1200"/>
              </a:lnSpc>
              <a:spcAft>
                <a:spcPts val="1200"/>
              </a:spcAft>
            </a:pPr>
            <a:r>
              <a:rPr kumimoji="0" lang="en-US" altLang="en-US" sz="3600" b="0" i="0" u="none" strike="noStrike" cap="none" normalizeH="0" baseline="0" dirty="0">
                <a:ln>
                  <a:noFill/>
                </a:ln>
                <a:solidFill>
                  <a:srgbClr val="202124"/>
                </a:solidFill>
                <a:effectLst/>
                <a:latin typeface="+mj-lt"/>
              </a:rPr>
              <a:t>“One platform, many services”</a:t>
            </a:r>
            <a:endParaRPr kumimoji="0" lang="en-US" altLang="en-US" sz="2800" b="0" i="0" u="none" strike="noStrike" cap="none" normalizeH="0" baseline="0" dirty="0">
              <a:ln>
                <a:noFill/>
              </a:ln>
              <a:solidFill>
                <a:schemeClr val="tx1"/>
              </a:solidFill>
              <a:effectLst/>
              <a:latin typeface="+mj-lt"/>
            </a:endParaRPr>
          </a:p>
          <a:p>
            <a:pPr algn="ctr">
              <a:lnSpc>
                <a:spcPts val="1200"/>
              </a:lnSpc>
              <a:spcAft>
                <a:spcPts val="1200"/>
              </a:spcAft>
            </a:pPr>
            <a:r>
              <a:rPr lang="en-US" sz="2000" dirty="0">
                <a:latin typeface="+mj-lt"/>
                <a:ea typeface="Times New Roman" panose="02020603050405020304" pitchFamily="18" charset="0"/>
                <a:cs typeface="Times New Roman" panose="02020603050405020304" pitchFamily="18" charset="0"/>
              </a:rPr>
              <a:t> </a:t>
            </a:r>
            <a:endParaRPr lang="en-US" sz="1000" dirty="0">
              <a:latin typeface="+mj-lt"/>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7616827" y="6477000"/>
            <a:ext cx="1527175" cy="152400"/>
          </a:xfrm>
        </p:spPr>
        <p:txBody>
          <a:bodyPr/>
          <a:lstStyle/>
          <a:p>
            <a:fld id="{9EBD5762-3BDC-484D-9503-7EA6D5A9A8CE}" type="slidenum">
              <a:rPr lang="en-US" smtClean="0"/>
              <a:pPr/>
              <a:t>1</a:t>
            </a:fld>
            <a:endParaRPr lang="en-US" dirty="0"/>
          </a:p>
        </p:txBody>
      </p:sp>
      <p:pic>
        <p:nvPicPr>
          <p:cNvPr id="5" name="Picture 4"/>
          <p:cNvPicPr/>
          <p:nvPr/>
        </p:nvPicPr>
        <p:blipFill>
          <a:blip r:embed="rId2" cstate="print"/>
          <a:stretch>
            <a:fillRect/>
          </a:stretch>
        </p:blipFill>
        <p:spPr>
          <a:xfrm>
            <a:off x="7164227" y="228600"/>
            <a:ext cx="1752600" cy="1676400"/>
          </a:xfrm>
          <a:prstGeom prst="rect">
            <a:avLst/>
          </a:prstGeom>
        </p:spPr>
      </p:pic>
      <p:pic>
        <p:nvPicPr>
          <p:cNvPr id="3" name="Picture 2" descr="A picture containing text, sign, clipart, container&#10;&#10;Description automatically generated">
            <a:extLst>
              <a:ext uri="{FF2B5EF4-FFF2-40B4-BE49-F238E27FC236}">
                <a16:creationId xmlns:a16="http://schemas.microsoft.com/office/drawing/2014/main" id="{61398DBA-0A87-4486-A3F5-A470901B0E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752600" cy="1676400"/>
          </a:xfrm>
          <a:prstGeom prst="rect">
            <a:avLst/>
          </a:prstGeom>
        </p:spPr>
      </p:pic>
      <p:sp>
        <p:nvSpPr>
          <p:cNvPr id="2" name="Rectangle 1">
            <a:extLst>
              <a:ext uri="{FF2B5EF4-FFF2-40B4-BE49-F238E27FC236}">
                <a16:creationId xmlns:a16="http://schemas.microsoft.com/office/drawing/2014/main" id="{0032F066-7B61-47CB-81C6-0E27BE4645AB}"/>
              </a:ext>
            </a:extLst>
          </p:cNvPr>
          <p:cNvSpPr>
            <a:spLocks noChangeArrowheads="1"/>
          </p:cNvSpPr>
          <p:nvPr/>
        </p:nvSpPr>
        <p:spPr bwMode="auto">
          <a:xfrm>
            <a:off x="0" y="107728"/>
            <a:ext cx="65" cy="2417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386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Grid" hidden="1"/>
          <p:cNvGrpSpPr/>
          <p:nvPr>
            <p:custDataLst>
              <p:tags r:id="rId2"/>
            </p:custDataLst>
          </p:nvPr>
        </p:nvGrpSpPr>
        <p:grpSpPr>
          <a:xfrm>
            <a:off x="602428" y="540572"/>
            <a:ext cx="7939144" cy="6043108"/>
            <a:chOff x="530352" y="612648"/>
            <a:chExt cx="8997696" cy="6848856"/>
          </a:xfrm>
        </p:grpSpPr>
        <p:grpSp>
          <p:nvGrpSpPr>
            <p:cNvPr id="5" name="Group 4" hidden="1"/>
            <p:cNvGrpSpPr/>
            <p:nvPr/>
          </p:nvGrpSpPr>
          <p:grpSpPr>
            <a:xfrm>
              <a:off x="530352" y="7159752"/>
              <a:ext cx="8997696" cy="301752"/>
              <a:chOff x="530352" y="7159752"/>
              <a:chExt cx="8997696" cy="301752"/>
            </a:xfrm>
          </p:grpSpPr>
          <p:sp>
            <p:nvSpPr>
              <p:cNvPr id="52" name="Footer block" hidden="1"/>
              <p:cNvSpPr>
                <a:spLocks noChangeArrowheads="1"/>
              </p:cNvSpPr>
              <p:nvPr/>
            </p:nvSpPr>
            <p:spPr bwMode="gray">
              <a:xfrm>
                <a:off x="6629400"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805466">
                  <a:defRPr/>
                </a:pPr>
                <a:endParaRPr lang="en-GB" sz="1588" dirty="0"/>
              </a:p>
            </p:txBody>
          </p:sp>
          <p:sp>
            <p:nvSpPr>
              <p:cNvPr id="53" name="Footer block" hidden="1"/>
              <p:cNvSpPr>
                <a:spLocks noChangeArrowheads="1"/>
              </p:cNvSpPr>
              <p:nvPr/>
            </p:nvSpPr>
            <p:spPr bwMode="gray">
              <a:xfrm>
                <a:off x="3584448"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805466">
                  <a:defRPr/>
                </a:pPr>
                <a:endParaRPr lang="en-GB" sz="1588" dirty="0"/>
              </a:p>
            </p:txBody>
          </p:sp>
          <p:sp>
            <p:nvSpPr>
              <p:cNvPr id="54" name="Footer block" hidden="1"/>
              <p:cNvSpPr>
                <a:spLocks noChangeArrowheads="1"/>
              </p:cNvSpPr>
              <p:nvPr/>
            </p:nvSpPr>
            <p:spPr bwMode="gray">
              <a:xfrm>
                <a:off x="530352"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6" name="Group 5" hidden="1"/>
            <p:cNvGrpSpPr/>
            <p:nvPr/>
          </p:nvGrpSpPr>
          <p:grpSpPr>
            <a:xfrm>
              <a:off x="530352" y="1066800"/>
              <a:ext cx="8997696" cy="835152"/>
              <a:chOff x="530352" y="1066800"/>
              <a:chExt cx="8997696" cy="835152"/>
            </a:xfrm>
          </p:grpSpPr>
          <p:sp>
            <p:nvSpPr>
              <p:cNvPr id="50" name="Title block" hidden="1"/>
              <p:cNvSpPr>
                <a:spLocks noChangeArrowheads="1"/>
              </p:cNvSpPr>
              <p:nvPr/>
            </p:nvSpPr>
            <p:spPr bwMode="gray">
              <a:xfrm>
                <a:off x="5102352" y="1066800"/>
                <a:ext cx="4425696" cy="832104"/>
              </a:xfrm>
              <a:prstGeom prst="rect">
                <a:avLst/>
              </a:prstGeom>
              <a:solidFill>
                <a:srgbClr val="FCC3D7">
                  <a:alpha val="25000"/>
                </a:srgbClr>
              </a:solidFill>
              <a:ln w="6350" cap="rnd">
                <a:solidFill>
                  <a:srgbClr val="FCC3D7"/>
                </a:solidFill>
                <a:prstDash val="sysDot"/>
                <a:miter lim="800000"/>
                <a:headEnd/>
                <a:tailEnd/>
              </a:ln>
              <a:effectLst/>
            </p:spPr>
            <p:txBody>
              <a:bodyPr wrap="none" lIns="0" tIns="0" rIns="0" bIns="0" anchor="ctr"/>
              <a:lstStyle/>
              <a:p>
                <a:pPr algn="ctr" defTabSz="805466">
                  <a:defRPr/>
                </a:pPr>
                <a:endParaRPr lang="en-GB" sz="1588" dirty="0"/>
              </a:p>
            </p:txBody>
          </p:sp>
          <p:sp>
            <p:nvSpPr>
              <p:cNvPr id="51" name="Title block" hidden="1"/>
              <p:cNvSpPr>
                <a:spLocks noChangeArrowheads="1"/>
              </p:cNvSpPr>
              <p:nvPr/>
            </p:nvSpPr>
            <p:spPr bwMode="gray">
              <a:xfrm>
                <a:off x="530352" y="1069848"/>
                <a:ext cx="4425696" cy="832104"/>
              </a:xfrm>
              <a:prstGeom prst="rect">
                <a:avLst/>
              </a:prstGeom>
              <a:solidFill>
                <a:srgbClr val="FCC3D7">
                  <a:alpha val="25000"/>
                </a:srgbClr>
              </a:solidFill>
              <a:ln w="6350" cap="rnd">
                <a:solidFill>
                  <a:srgbClr val="FCC3D7"/>
                </a:solidFill>
                <a:prstDash val="sysDot"/>
                <a:miter lim="800000"/>
                <a:headEnd/>
                <a:tailEnd/>
              </a:ln>
              <a:effectLst/>
            </p:spPr>
            <p:txBody>
              <a:bodyPr wrap="none" lIns="0" tIns="0" rIns="0" bIns="0" anchor="ctr"/>
              <a:lstStyle/>
              <a:p>
                <a:pPr algn="ctr" defTabSz="805466">
                  <a:defRPr/>
                </a:pPr>
                <a:endParaRPr lang="en-GB" sz="1588" dirty="0"/>
              </a:p>
            </p:txBody>
          </p:sp>
        </p:grpSp>
        <p:sp>
          <p:nvSpPr>
            <p:cNvPr id="7" name="Header block" hidden="1"/>
            <p:cNvSpPr>
              <a:spLocks noChangeArrowheads="1"/>
            </p:cNvSpPr>
            <p:nvPr/>
          </p:nvSpPr>
          <p:spPr bwMode="gray">
            <a:xfrm>
              <a:off x="530352" y="612648"/>
              <a:ext cx="8988552" cy="228600"/>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707409">
                <a:buSzPct val="90000"/>
                <a:defRPr/>
              </a:pPr>
              <a:endParaRPr lang="en-GB" sz="1235" dirty="0">
                <a:solidFill>
                  <a:schemeClr val="folHlink"/>
                </a:solidFill>
                <a:cs typeface="Arial" charset="0"/>
              </a:endParaRPr>
            </a:p>
          </p:txBody>
        </p:sp>
        <p:grpSp>
          <p:nvGrpSpPr>
            <p:cNvPr id="8" name="Group 600" hidden="1"/>
            <p:cNvGrpSpPr/>
            <p:nvPr/>
          </p:nvGrpSpPr>
          <p:grpSpPr>
            <a:xfrm>
              <a:off x="533400" y="6245352"/>
              <a:ext cx="8994648" cy="688848"/>
              <a:chOff x="533400" y="6013704"/>
              <a:chExt cx="8994648" cy="688848"/>
            </a:xfrm>
          </p:grpSpPr>
          <p:sp>
            <p:nvSpPr>
              <p:cNvPr id="44" name="Content block 606" hidden="1"/>
              <p:cNvSpPr>
                <a:spLocks noChangeArrowheads="1"/>
              </p:cNvSpPr>
              <p:nvPr/>
            </p:nvSpPr>
            <p:spPr bwMode="gray">
              <a:xfrm>
                <a:off x="8156448" y="60137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5" name="Content block 605" hidden="1"/>
              <p:cNvSpPr>
                <a:spLocks noChangeArrowheads="1"/>
              </p:cNvSpPr>
              <p:nvPr/>
            </p:nvSpPr>
            <p:spPr bwMode="gray">
              <a:xfrm>
                <a:off x="6631840" y="60137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6" name="Content block 604" hidden="1"/>
              <p:cNvSpPr>
                <a:spLocks noChangeArrowheads="1"/>
              </p:cNvSpPr>
              <p:nvPr/>
            </p:nvSpPr>
            <p:spPr bwMode="gray">
              <a:xfrm>
                <a:off x="510723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7" name="Content block 603" hidden="1"/>
              <p:cNvSpPr>
                <a:spLocks noChangeArrowheads="1"/>
              </p:cNvSpPr>
              <p:nvPr/>
            </p:nvSpPr>
            <p:spPr bwMode="gray">
              <a:xfrm>
                <a:off x="358262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8" name="Content block 602" hidden="1"/>
              <p:cNvSpPr>
                <a:spLocks noChangeArrowheads="1"/>
              </p:cNvSpPr>
              <p:nvPr/>
            </p:nvSpPr>
            <p:spPr bwMode="gray">
              <a:xfrm>
                <a:off x="205801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9" name="Content block 601" hidden="1"/>
              <p:cNvSpPr>
                <a:spLocks noChangeArrowheads="1"/>
              </p:cNvSpPr>
              <p:nvPr/>
            </p:nvSpPr>
            <p:spPr bwMode="gray">
              <a:xfrm>
                <a:off x="53340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9" name="Group 500" hidden="1"/>
            <p:cNvGrpSpPr/>
            <p:nvPr/>
          </p:nvGrpSpPr>
          <p:grpSpPr>
            <a:xfrm>
              <a:off x="533400" y="5407152"/>
              <a:ext cx="8994648" cy="688848"/>
              <a:chOff x="533400" y="5026152"/>
              <a:chExt cx="8994648" cy="688848"/>
            </a:xfrm>
          </p:grpSpPr>
          <p:sp>
            <p:nvSpPr>
              <p:cNvPr id="38" name="Content block 506" hidden="1"/>
              <p:cNvSpPr>
                <a:spLocks noChangeArrowheads="1"/>
              </p:cNvSpPr>
              <p:nvPr/>
            </p:nvSpPr>
            <p:spPr bwMode="gray">
              <a:xfrm>
                <a:off x="8156448" y="50261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9" name="Content block 505" hidden="1"/>
              <p:cNvSpPr>
                <a:spLocks noChangeArrowheads="1"/>
              </p:cNvSpPr>
              <p:nvPr/>
            </p:nvSpPr>
            <p:spPr bwMode="gray">
              <a:xfrm>
                <a:off x="6631840" y="50261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0" name="Content block 504" hidden="1"/>
              <p:cNvSpPr>
                <a:spLocks noChangeArrowheads="1"/>
              </p:cNvSpPr>
              <p:nvPr/>
            </p:nvSpPr>
            <p:spPr bwMode="gray">
              <a:xfrm>
                <a:off x="510723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1" name="Content block 503" hidden="1"/>
              <p:cNvSpPr>
                <a:spLocks noChangeArrowheads="1"/>
              </p:cNvSpPr>
              <p:nvPr/>
            </p:nvSpPr>
            <p:spPr bwMode="gray">
              <a:xfrm>
                <a:off x="358262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2" name="Content block 502" hidden="1"/>
              <p:cNvSpPr>
                <a:spLocks noChangeArrowheads="1"/>
              </p:cNvSpPr>
              <p:nvPr/>
            </p:nvSpPr>
            <p:spPr bwMode="gray">
              <a:xfrm>
                <a:off x="205801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43" name="Content block 501" hidden="1"/>
              <p:cNvSpPr>
                <a:spLocks noChangeArrowheads="1"/>
              </p:cNvSpPr>
              <p:nvPr/>
            </p:nvSpPr>
            <p:spPr bwMode="gray">
              <a:xfrm>
                <a:off x="53340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0" name="Group 400" hidden="1"/>
            <p:cNvGrpSpPr/>
            <p:nvPr/>
          </p:nvGrpSpPr>
          <p:grpSpPr>
            <a:xfrm>
              <a:off x="533400" y="4568952"/>
              <a:ext cx="8994648" cy="688848"/>
              <a:chOff x="533400" y="4038600"/>
              <a:chExt cx="8994648" cy="688848"/>
            </a:xfrm>
          </p:grpSpPr>
          <p:sp>
            <p:nvSpPr>
              <p:cNvPr id="32" name="Content block 406" hidden="1"/>
              <p:cNvSpPr>
                <a:spLocks noChangeArrowheads="1"/>
              </p:cNvSpPr>
              <p:nvPr/>
            </p:nvSpPr>
            <p:spPr bwMode="gray">
              <a:xfrm>
                <a:off x="8156448" y="40386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3" name="Content block 405" hidden="1"/>
              <p:cNvSpPr>
                <a:spLocks noChangeArrowheads="1"/>
              </p:cNvSpPr>
              <p:nvPr/>
            </p:nvSpPr>
            <p:spPr bwMode="gray">
              <a:xfrm>
                <a:off x="6631840" y="40386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4" name="Content block 404" hidden="1"/>
              <p:cNvSpPr>
                <a:spLocks noChangeArrowheads="1"/>
              </p:cNvSpPr>
              <p:nvPr/>
            </p:nvSpPr>
            <p:spPr bwMode="gray">
              <a:xfrm>
                <a:off x="510723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5" name="Content block 403" hidden="1"/>
              <p:cNvSpPr>
                <a:spLocks noChangeArrowheads="1"/>
              </p:cNvSpPr>
              <p:nvPr/>
            </p:nvSpPr>
            <p:spPr bwMode="gray">
              <a:xfrm>
                <a:off x="358262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6" name="Content block 402" hidden="1"/>
              <p:cNvSpPr>
                <a:spLocks noChangeArrowheads="1"/>
              </p:cNvSpPr>
              <p:nvPr/>
            </p:nvSpPr>
            <p:spPr bwMode="gray">
              <a:xfrm>
                <a:off x="205801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7" name="Content block 401" hidden="1"/>
              <p:cNvSpPr>
                <a:spLocks noChangeArrowheads="1"/>
              </p:cNvSpPr>
              <p:nvPr/>
            </p:nvSpPr>
            <p:spPr bwMode="gray">
              <a:xfrm>
                <a:off x="53340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1" name="Group 300" hidden="1"/>
            <p:cNvGrpSpPr/>
            <p:nvPr/>
          </p:nvGrpSpPr>
          <p:grpSpPr>
            <a:xfrm>
              <a:off x="533400" y="3730752"/>
              <a:ext cx="8994648" cy="688848"/>
              <a:chOff x="533400" y="3041904"/>
              <a:chExt cx="8994648" cy="688848"/>
            </a:xfrm>
          </p:grpSpPr>
          <p:sp>
            <p:nvSpPr>
              <p:cNvPr id="26" name="Content block 306" hidden="1"/>
              <p:cNvSpPr>
                <a:spLocks noChangeArrowheads="1"/>
              </p:cNvSpPr>
              <p:nvPr/>
            </p:nvSpPr>
            <p:spPr bwMode="gray">
              <a:xfrm>
                <a:off x="8156448" y="30419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7" name="Content block 305" hidden="1"/>
              <p:cNvSpPr>
                <a:spLocks noChangeArrowheads="1"/>
              </p:cNvSpPr>
              <p:nvPr/>
            </p:nvSpPr>
            <p:spPr bwMode="gray">
              <a:xfrm>
                <a:off x="6631840" y="30419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8" name="Content block 304" hidden="1"/>
              <p:cNvSpPr>
                <a:spLocks noChangeArrowheads="1"/>
              </p:cNvSpPr>
              <p:nvPr/>
            </p:nvSpPr>
            <p:spPr bwMode="gray">
              <a:xfrm>
                <a:off x="510723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9" name="Content block 303" hidden="1"/>
              <p:cNvSpPr>
                <a:spLocks noChangeArrowheads="1"/>
              </p:cNvSpPr>
              <p:nvPr/>
            </p:nvSpPr>
            <p:spPr bwMode="gray">
              <a:xfrm>
                <a:off x="358262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0" name="Content block 302" hidden="1"/>
              <p:cNvSpPr>
                <a:spLocks noChangeArrowheads="1"/>
              </p:cNvSpPr>
              <p:nvPr/>
            </p:nvSpPr>
            <p:spPr bwMode="gray">
              <a:xfrm>
                <a:off x="205801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31" name="Content block 301" hidden="1"/>
              <p:cNvSpPr>
                <a:spLocks noChangeArrowheads="1"/>
              </p:cNvSpPr>
              <p:nvPr/>
            </p:nvSpPr>
            <p:spPr bwMode="gray">
              <a:xfrm>
                <a:off x="53340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2" name="Group 200" hidden="1"/>
            <p:cNvGrpSpPr/>
            <p:nvPr/>
          </p:nvGrpSpPr>
          <p:grpSpPr>
            <a:xfrm>
              <a:off x="533400" y="2892552"/>
              <a:ext cx="8994648" cy="688848"/>
              <a:chOff x="533400" y="1066800"/>
              <a:chExt cx="8994648" cy="688848"/>
            </a:xfrm>
          </p:grpSpPr>
          <p:sp>
            <p:nvSpPr>
              <p:cNvPr id="20" name="Content block 206" hidden="1"/>
              <p:cNvSpPr>
                <a:spLocks noChangeArrowheads="1"/>
              </p:cNvSpPr>
              <p:nvPr/>
            </p:nvSpPr>
            <p:spPr bwMode="gray">
              <a:xfrm>
                <a:off x="8156448" y="10668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1" name="Content block 205" hidden="1"/>
              <p:cNvSpPr>
                <a:spLocks noChangeArrowheads="1"/>
              </p:cNvSpPr>
              <p:nvPr/>
            </p:nvSpPr>
            <p:spPr bwMode="gray">
              <a:xfrm>
                <a:off x="6631840" y="10668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2" name="Content block 204" hidden="1"/>
              <p:cNvSpPr>
                <a:spLocks noChangeArrowheads="1"/>
              </p:cNvSpPr>
              <p:nvPr/>
            </p:nvSpPr>
            <p:spPr bwMode="gray">
              <a:xfrm>
                <a:off x="510723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3" name="Content block 203" hidden="1"/>
              <p:cNvSpPr>
                <a:spLocks noChangeArrowheads="1"/>
              </p:cNvSpPr>
              <p:nvPr/>
            </p:nvSpPr>
            <p:spPr bwMode="gray">
              <a:xfrm>
                <a:off x="358262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4" name="Content block 202" hidden="1"/>
              <p:cNvSpPr>
                <a:spLocks noChangeArrowheads="1"/>
              </p:cNvSpPr>
              <p:nvPr/>
            </p:nvSpPr>
            <p:spPr bwMode="gray">
              <a:xfrm>
                <a:off x="205801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25" name="Content block 201" hidden="1"/>
              <p:cNvSpPr>
                <a:spLocks noChangeArrowheads="1"/>
              </p:cNvSpPr>
              <p:nvPr/>
            </p:nvSpPr>
            <p:spPr bwMode="gray">
              <a:xfrm>
                <a:off x="53340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nvGrpSpPr>
            <p:cNvPr id="13" name="Group 100" hidden="1"/>
            <p:cNvGrpSpPr/>
            <p:nvPr/>
          </p:nvGrpSpPr>
          <p:grpSpPr>
            <a:xfrm>
              <a:off x="533400" y="2054352"/>
              <a:ext cx="8994648" cy="688848"/>
              <a:chOff x="533400" y="2054352"/>
              <a:chExt cx="8994648" cy="688848"/>
            </a:xfrm>
          </p:grpSpPr>
          <p:sp>
            <p:nvSpPr>
              <p:cNvPr id="14" name="Content block 106" hidden="1"/>
              <p:cNvSpPr>
                <a:spLocks noChangeArrowheads="1"/>
              </p:cNvSpPr>
              <p:nvPr/>
            </p:nvSpPr>
            <p:spPr bwMode="gray">
              <a:xfrm>
                <a:off x="8156448" y="20543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15" name="Content block 105" hidden="1"/>
              <p:cNvSpPr>
                <a:spLocks noChangeArrowheads="1"/>
              </p:cNvSpPr>
              <p:nvPr/>
            </p:nvSpPr>
            <p:spPr bwMode="gray">
              <a:xfrm>
                <a:off x="6631840" y="20543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16" name="Content block 104" hidden="1"/>
              <p:cNvSpPr>
                <a:spLocks noChangeArrowheads="1"/>
              </p:cNvSpPr>
              <p:nvPr/>
            </p:nvSpPr>
            <p:spPr bwMode="gray">
              <a:xfrm>
                <a:off x="510723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17" name="Content block 103" hidden="1"/>
              <p:cNvSpPr>
                <a:spLocks noChangeArrowheads="1"/>
              </p:cNvSpPr>
              <p:nvPr/>
            </p:nvSpPr>
            <p:spPr bwMode="gray">
              <a:xfrm>
                <a:off x="358262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18" name="Content block 102" hidden="1"/>
              <p:cNvSpPr>
                <a:spLocks noChangeArrowheads="1"/>
              </p:cNvSpPr>
              <p:nvPr/>
            </p:nvSpPr>
            <p:spPr bwMode="gray">
              <a:xfrm>
                <a:off x="205801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sp>
            <p:nvSpPr>
              <p:cNvPr id="19" name="Content block 101" hidden="1"/>
              <p:cNvSpPr>
                <a:spLocks noChangeArrowheads="1"/>
              </p:cNvSpPr>
              <p:nvPr/>
            </p:nvSpPr>
            <p:spPr bwMode="gray">
              <a:xfrm>
                <a:off x="53340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805466">
                  <a:defRPr/>
                </a:pPr>
                <a:endParaRPr lang="en-GB" sz="1588" dirty="0"/>
              </a:p>
            </p:txBody>
          </p:sp>
        </p:grpSp>
      </p:grpSp>
      <p:sp>
        <p:nvSpPr>
          <p:cNvPr id="2" name="Title 1"/>
          <p:cNvSpPr>
            <a:spLocks noGrp="1"/>
          </p:cNvSpPr>
          <p:nvPr>
            <p:ph type="title" idx="4294967295"/>
          </p:nvPr>
        </p:nvSpPr>
        <p:spPr>
          <a:xfrm>
            <a:off x="341677" y="343972"/>
            <a:ext cx="8178800" cy="741362"/>
          </a:xfrm>
        </p:spPr>
        <p:txBody>
          <a:bodyPr/>
          <a:lstStyle/>
          <a:p>
            <a:r>
              <a:rPr lang="en-GB" sz="2000" dirty="0" err="1">
                <a:solidFill>
                  <a:schemeClr val="accent5">
                    <a:lumMod val="75000"/>
                  </a:schemeClr>
                </a:solidFill>
              </a:rPr>
              <a:t>Seva</a:t>
            </a:r>
            <a:r>
              <a:rPr lang="en-GB" sz="2000" dirty="0">
                <a:solidFill>
                  <a:schemeClr val="accent5">
                    <a:lumMod val="75000"/>
                  </a:schemeClr>
                </a:solidFill>
              </a:rPr>
              <a:t> </a:t>
            </a:r>
            <a:r>
              <a:rPr lang="en-GB" sz="2000" dirty="0">
                <a:solidFill>
                  <a:srgbClr val="7A1818"/>
                </a:solidFill>
              </a:rPr>
              <a:t>Sindhu</a:t>
            </a:r>
            <a:r>
              <a:rPr lang="en-GB" sz="2000" dirty="0">
                <a:solidFill>
                  <a:schemeClr val="accent5">
                    <a:lumMod val="75000"/>
                  </a:schemeClr>
                </a:solidFill>
              </a:rPr>
              <a:t> – Salient Features</a:t>
            </a:r>
          </a:p>
        </p:txBody>
      </p:sp>
      <p:sp>
        <p:nvSpPr>
          <p:cNvPr id="55" name="Section Header" hidden="1"/>
          <p:cNvSpPr txBox="1"/>
          <p:nvPr>
            <p:custDataLst>
              <p:tags r:id="rId3"/>
            </p:custDataLst>
          </p:nvPr>
        </p:nvSpPr>
        <p:spPr>
          <a:xfrm>
            <a:off x="602430" y="621254"/>
            <a:ext cx="2677393" cy="121024"/>
          </a:xfrm>
          <a:prstGeom prst="rect">
            <a:avLst/>
          </a:prstGeom>
          <a:noFill/>
        </p:spPr>
        <p:txBody>
          <a:bodyPr wrap="square" lIns="0" tIns="0" rIns="0" bIns="0" rtlCol="0" anchor="b" anchorCtr="0">
            <a:noAutofit/>
          </a:bodyPr>
          <a:lstStyle/>
          <a:p>
            <a:r>
              <a:rPr lang="en-GB" sz="794" noProof="1"/>
              <a:t> </a:t>
            </a:r>
          </a:p>
        </p:txBody>
      </p:sp>
      <p:sp>
        <p:nvSpPr>
          <p:cNvPr id="3" name="Rounded Rectangle 2"/>
          <p:cNvSpPr/>
          <p:nvPr/>
        </p:nvSpPr>
        <p:spPr bwMode="ltGray">
          <a:xfrm>
            <a:off x="137635" y="851656"/>
            <a:ext cx="8893282" cy="1637211"/>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285750" indent="-285750">
              <a:lnSpc>
                <a:spcPct val="150000"/>
              </a:lnSpc>
              <a:buFont typeface="Arial" panose="020B0604020202020204" pitchFamily="34" charset="0"/>
              <a:buChar char="•"/>
            </a:pPr>
            <a:r>
              <a:rPr lang="en-US" sz="1400" dirty="0">
                <a:latin typeface="Times New Roman" pitchFamily="18" charset="0"/>
                <a:cs typeface="Times New Roman" pitchFamily="18" charset="0"/>
              </a:rPr>
              <a:t>Single window agency delivering government services in a cashless, paperless, faceless manner </a:t>
            </a:r>
          </a:p>
          <a:p>
            <a:pPr marL="285750" indent="-285750">
              <a:lnSpc>
                <a:spcPct val="150000"/>
              </a:lnSpc>
              <a:buFont typeface="Arial" panose="020B0604020202020204" pitchFamily="34" charset="0"/>
              <a:buChar char="•"/>
            </a:pPr>
            <a:r>
              <a:rPr lang="en-US" sz="1400" b="1" dirty="0">
                <a:solidFill>
                  <a:schemeClr val="tx1"/>
                </a:solidFill>
                <a:latin typeface="Times New Roman" pitchFamily="18" charset="0"/>
                <a:cs typeface="Times New Roman" pitchFamily="18" charset="0"/>
              </a:rPr>
              <a:t>850 services from 80 departments available</a:t>
            </a:r>
            <a:endParaRPr lang="en-US" sz="1400" dirty="0">
              <a:solidFill>
                <a:schemeClr val="tx1"/>
              </a:solidFill>
              <a:latin typeface="Times New Roman" pitchFamily="18" charset="0"/>
              <a:cs typeface="Times New Roman" pitchFamily="18" charset="0"/>
            </a:endParaRPr>
          </a:p>
          <a:p>
            <a:pPr marL="285750" indent="-285750">
              <a:lnSpc>
                <a:spcPct val="150000"/>
              </a:lnSpc>
              <a:buFont typeface="Arial" panose="020B0604020202020204" pitchFamily="34" charset="0"/>
              <a:buChar char="•"/>
            </a:pPr>
            <a:r>
              <a:rPr lang="en-US" sz="1400" dirty="0">
                <a:solidFill>
                  <a:schemeClr val="tx1"/>
                </a:solidFill>
                <a:latin typeface="Times New Roman" pitchFamily="18" charset="0"/>
                <a:cs typeface="Times New Roman" pitchFamily="18" charset="0"/>
              </a:rPr>
              <a:t>Till now</a:t>
            </a:r>
            <a:r>
              <a:rPr lang="en-US" sz="1400" b="1" dirty="0">
                <a:solidFill>
                  <a:schemeClr val="tx1"/>
                </a:solidFill>
                <a:latin typeface="Times New Roman" pitchFamily="18" charset="0"/>
                <a:cs typeface="Times New Roman" pitchFamily="18" charset="0"/>
              </a:rPr>
              <a:t> </a:t>
            </a:r>
            <a:r>
              <a:rPr lang="en-US" sz="1400" b="1" dirty="0">
                <a:latin typeface="Times New Roman" pitchFamily="18" charset="0"/>
                <a:cs typeface="Times New Roman" pitchFamily="18" charset="0"/>
              </a:rPr>
              <a:t>2.83 </a:t>
            </a:r>
            <a:r>
              <a:rPr lang="en-US" sz="1400" b="1" dirty="0" err="1">
                <a:latin typeface="Times New Roman" pitchFamily="18" charset="0"/>
                <a:cs typeface="Times New Roman" pitchFamily="18" charset="0"/>
              </a:rPr>
              <a:t>crore</a:t>
            </a:r>
            <a:r>
              <a:rPr lang="en-US" sz="1400" b="1" dirty="0">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services </a:t>
            </a:r>
            <a:r>
              <a:rPr lang="en-US" sz="1400" dirty="0">
                <a:solidFill>
                  <a:schemeClr val="tx1"/>
                </a:solidFill>
                <a:latin typeface="Times New Roman" pitchFamily="18" charset="0"/>
                <a:cs typeface="Times New Roman" pitchFamily="18" charset="0"/>
              </a:rPr>
              <a:t>have been delivered th</a:t>
            </a:r>
            <a:r>
              <a:rPr lang="en-US" sz="1400" dirty="0">
                <a:latin typeface="Times New Roman" pitchFamily="18" charset="0"/>
                <a:cs typeface="Times New Roman" pitchFamily="18" charset="0"/>
              </a:rPr>
              <a:t>rough </a:t>
            </a:r>
            <a:r>
              <a:rPr lang="en-US" sz="1400" dirty="0" err="1">
                <a:latin typeface="Times New Roman" pitchFamily="18" charset="0"/>
                <a:cs typeface="Times New Roman" pitchFamily="18" charset="0"/>
              </a:rPr>
              <a:t>Seva</a:t>
            </a:r>
            <a:r>
              <a:rPr lang="en-US" sz="1400" dirty="0">
                <a:latin typeface="Times New Roman" pitchFamily="18" charset="0"/>
                <a:cs typeface="Times New Roman" pitchFamily="18" charset="0"/>
              </a:rPr>
              <a:t> Sindhu from Mar 2018 till date</a:t>
            </a:r>
          </a:p>
          <a:p>
            <a:pPr marL="285750" indent="-285750">
              <a:lnSpc>
                <a:spcPct val="150000"/>
              </a:lnSpc>
              <a:buFont typeface="Arial" panose="020B0604020202020204" pitchFamily="34" charset="0"/>
              <a:buChar char="•"/>
            </a:pPr>
            <a:r>
              <a:rPr lang="en-US" sz="1400" dirty="0">
                <a:latin typeface="Times New Roman" pitchFamily="18" charset="0"/>
                <a:cs typeface="Times New Roman" pitchFamily="18" charset="0"/>
              </a:rPr>
              <a:t>Covers entire spectrum of citizen services from application to delivery of service</a:t>
            </a:r>
          </a:p>
        </p:txBody>
      </p:sp>
      <p:sp>
        <p:nvSpPr>
          <p:cNvPr id="57" name="Rectangle 56"/>
          <p:cNvSpPr/>
          <p:nvPr/>
        </p:nvSpPr>
        <p:spPr bwMode="ltGray">
          <a:xfrm>
            <a:off x="1018696" y="2630613"/>
            <a:ext cx="3250217" cy="692421"/>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lgn="just">
              <a:buFont typeface="Wingdings" panose="05000000000000000000" pitchFamily="2" charset="2"/>
              <a:buChar char="ü"/>
            </a:pPr>
            <a:r>
              <a:rPr lang="en-US" sz="1200" b="1" dirty="0">
                <a:solidFill>
                  <a:schemeClr val="tx1"/>
                </a:solidFill>
                <a:latin typeface="Georgia" pitchFamily="18" charset="0"/>
              </a:rPr>
              <a:t>Aadhaar based authentication:      e-KYC - OTP and Biometric, </a:t>
            </a:r>
            <a:r>
              <a:rPr lang="en-US" sz="1200" b="1" dirty="0" err="1">
                <a:solidFill>
                  <a:schemeClr val="tx1"/>
                </a:solidFill>
                <a:latin typeface="Georgia" pitchFamily="18" charset="0"/>
              </a:rPr>
              <a:t>Aadhar</a:t>
            </a:r>
            <a:r>
              <a:rPr lang="en-US" sz="1200" b="1" dirty="0">
                <a:solidFill>
                  <a:schemeClr val="tx1"/>
                </a:solidFill>
                <a:latin typeface="Georgia" pitchFamily="18" charset="0"/>
              </a:rPr>
              <a:t> as financial address</a:t>
            </a:r>
          </a:p>
        </p:txBody>
      </p:sp>
      <p:sp>
        <p:nvSpPr>
          <p:cNvPr id="119" name="Rectangle 118"/>
          <p:cNvSpPr/>
          <p:nvPr/>
        </p:nvSpPr>
        <p:spPr bwMode="ltGray">
          <a:xfrm>
            <a:off x="1018696" y="4242803"/>
            <a:ext cx="3237775" cy="44773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r>
              <a:rPr lang="en-US" sz="1200" b="1" dirty="0">
                <a:solidFill>
                  <a:schemeClr val="tx1"/>
                </a:solidFill>
                <a:latin typeface="Georgia" pitchFamily="18" charset="0"/>
              </a:rPr>
              <a:t>Integration with DigiLocker for storing output certificates</a:t>
            </a:r>
          </a:p>
        </p:txBody>
      </p:sp>
      <p:sp>
        <p:nvSpPr>
          <p:cNvPr id="120" name="Rectangle 119"/>
          <p:cNvSpPr/>
          <p:nvPr/>
        </p:nvSpPr>
        <p:spPr bwMode="ltGray">
          <a:xfrm>
            <a:off x="1018697" y="5610302"/>
            <a:ext cx="3237774" cy="55742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r>
              <a:rPr lang="en-US" sz="1200" b="1" dirty="0">
                <a:solidFill>
                  <a:schemeClr val="tx1"/>
                </a:solidFill>
                <a:latin typeface="Georgia" pitchFamily="18" charset="0"/>
              </a:rPr>
              <a:t>Digitally signed QR code on output certificate for  enhanced security</a:t>
            </a:r>
          </a:p>
        </p:txBody>
      </p:sp>
      <p:sp>
        <p:nvSpPr>
          <p:cNvPr id="121" name="Rectangle 120"/>
          <p:cNvSpPr/>
          <p:nvPr/>
        </p:nvSpPr>
        <p:spPr bwMode="ltGray">
          <a:xfrm>
            <a:off x="5486400" y="3448197"/>
            <a:ext cx="3352800" cy="69082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r>
              <a:rPr lang="en-US" sz="1200" b="1" dirty="0">
                <a:solidFill>
                  <a:schemeClr val="tx1"/>
                </a:solidFill>
                <a:latin typeface="Georgia" pitchFamily="18" charset="0"/>
              </a:rPr>
              <a:t>Real time SMS and Email notification  on application status changes </a:t>
            </a:r>
          </a:p>
        </p:txBody>
      </p:sp>
      <p:sp>
        <p:nvSpPr>
          <p:cNvPr id="122" name="Rectangle 121"/>
          <p:cNvSpPr/>
          <p:nvPr/>
        </p:nvSpPr>
        <p:spPr bwMode="ltGray">
          <a:xfrm>
            <a:off x="5486400" y="2630612"/>
            <a:ext cx="3352800" cy="73751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lgn="just">
              <a:buFont typeface="Wingdings" panose="05000000000000000000" pitchFamily="2" charset="2"/>
              <a:buChar char="ü"/>
            </a:pPr>
            <a:r>
              <a:rPr lang="en-US" sz="1200" b="1" dirty="0">
                <a:solidFill>
                  <a:schemeClr val="tx1"/>
                </a:solidFill>
                <a:latin typeface="Georgia" pitchFamily="18" charset="0"/>
              </a:rPr>
              <a:t>Integration with SAKALA to ensure timely service delivery.            Provides online option of Appeal in case of delayed service delivery </a:t>
            </a:r>
          </a:p>
        </p:txBody>
      </p:sp>
      <p:sp>
        <p:nvSpPr>
          <p:cNvPr id="124" name="Rectangle 123"/>
          <p:cNvSpPr/>
          <p:nvPr/>
        </p:nvSpPr>
        <p:spPr bwMode="ltGray">
          <a:xfrm>
            <a:off x="5486400" y="4970693"/>
            <a:ext cx="3352800" cy="622951"/>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r>
              <a:rPr lang="en-US" sz="1200" b="1" dirty="0">
                <a:solidFill>
                  <a:schemeClr val="tx1"/>
                </a:solidFill>
                <a:latin typeface="Georgia" pitchFamily="18" charset="0"/>
              </a:rPr>
              <a:t>End-to-end development</a:t>
            </a:r>
          </a:p>
          <a:p>
            <a:pPr marL="285750" indent="-285750">
              <a:buFont typeface="Wingdings" panose="05000000000000000000" pitchFamily="2" charset="2"/>
              <a:buChar char="ü"/>
            </a:pPr>
            <a:r>
              <a:rPr lang="en-US" sz="1200" b="1" dirty="0">
                <a:solidFill>
                  <a:schemeClr val="tx1"/>
                </a:solidFill>
                <a:latin typeface="Georgia" pitchFamily="18" charset="0"/>
              </a:rPr>
              <a:t>Integrations with existing IT systems</a:t>
            </a:r>
          </a:p>
        </p:txBody>
      </p:sp>
      <p:sp>
        <p:nvSpPr>
          <p:cNvPr id="132" name="Rectangle 131"/>
          <p:cNvSpPr/>
          <p:nvPr/>
        </p:nvSpPr>
        <p:spPr bwMode="ltGray">
          <a:xfrm>
            <a:off x="1031137" y="3458859"/>
            <a:ext cx="3237775" cy="692421"/>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r>
              <a:rPr lang="en-US" sz="1200" b="1" dirty="0">
                <a:solidFill>
                  <a:schemeClr val="tx1"/>
                </a:solidFill>
                <a:latin typeface="Georgia" pitchFamily="18" charset="0"/>
              </a:rPr>
              <a:t>e-Sign for authentication by citizen &amp; officials</a:t>
            </a:r>
          </a:p>
        </p:txBody>
      </p:sp>
      <p:sp>
        <p:nvSpPr>
          <p:cNvPr id="133" name="Rectangle 132"/>
          <p:cNvSpPr/>
          <p:nvPr/>
        </p:nvSpPr>
        <p:spPr bwMode="ltGray">
          <a:xfrm>
            <a:off x="5486400" y="5683296"/>
            <a:ext cx="3338375" cy="56510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r>
              <a:rPr lang="en-US" sz="1200" b="1" dirty="0">
                <a:solidFill>
                  <a:schemeClr val="tx1"/>
                </a:solidFill>
                <a:latin typeface="Georgia" pitchFamily="18" charset="0"/>
              </a:rPr>
              <a:t>Automatic Geo-Location detection of user using KGIS data </a:t>
            </a:r>
          </a:p>
        </p:txBody>
      </p:sp>
      <p:pic>
        <p:nvPicPr>
          <p:cNvPr id="74" name="Picture 73"/>
          <p:cNvPicPr>
            <a:picLocks noChangeAspect="1"/>
          </p:cNvPicPr>
          <p:nvPr/>
        </p:nvPicPr>
        <p:blipFill>
          <a:blip r:embed="rId6" cstate="print"/>
          <a:stretch>
            <a:fillRect/>
          </a:stretch>
        </p:blipFill>
        <p:spPr>
          <a:xfrm>
            <a:off x="137634" y="2624137"/>
            <a:ext cx="881063" cy="576263"/>
          </a:xfrm>
          <a:prstGeom prst="rect">
            <a:avLst/>
          </a:prstGeom>
        </p:spPr>
      </p:pic>
      <p:grpSp>
        <p:nvGrpSpPr>
          <p:cNvPr id="140" name="Group 139"/>
          <p:cNvGrpSpPr/>
          <p:nvPr/>
        </p:nvGrpSpPr>
        <p:grpSpPr>
          <a:xfrm>
            <a:off x="291959" y="3429000"/>
            <a:ext cx="612000" cy="612000"/>
            <a:chOff x="7573215" y="3474401"/>
            <a:chExt cx="612000" cy="612000"/>
          </a:xfrm>
        </p:grpSpPr>
        <p:sp>
          <p:nvSpPr>
            <p:cNvPr id="141" name="Oval 140"/>
            <p:cNvSpPr/>
            <p:nvPr/>
          </p:nvSpPr>
          <p:spPr bwMode="ltGray">
            <a:xfrm>
              <a:off x="7573215" y="3474401"/>
              <a:ext cx="612000" cy="612000"/>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err="1">
                <a:solidFill>
                  <a:schemeClr val="bg1"/>
                </a:solidFill>
                <a:latin typeface="Georgia" pitchFamily="18" charset="0"/>
              </a:endParaRPr>
            </a:p>
          </p:txBody>
        </p:sp>
        <p:sp>
          <p:nvSpPr>
            <p:cNvPr id="142" name="Freeform 4992"/>
            <p:cNvSpPr>
              <a:spLocks noEditPoints="1"/>
            </p:cNvSpPr>
            <p:nvPr/>
          </p:nvSpPr>
          <p:spPr bwMode="auto">
            <a:xfrm>
              <a:off x="7695985" y="3601300"/>
              <a:ext cx="334377" cy="373145"/>
            </a:xfrm>
            <a:custGeom>
              <a:avLst/>
              <a:gdLst>
                <a:gd name="T0" fmla="*/ 14 w 276"/>
                <a:gd name="T1" fmla="*/ 26 h 308"/>
                <a:gd name="T2" fmla="*/ 36 w 276"/>
                <a:gd name="T3" fmla="*/ 30 h 308"/>
                <a:gd name="T4" fmla="*/ 2 w 276"/>
                <a:gd name="T5" fmla="*/ 52 h 308"/>
                <a:gd name="T6" fmla="*/ 6 w 276"/>
                <a:gd name="T7" fmla="*/ 30 h 308"/>
                <a:gd name="T8" fmla="*/ 176 w 276"/>
                <a:gd name="T9" fmla="*/ 202 h 308"/>
                <a:gd name="T10" fmla="*/ 174 w 276"/>
                <a:gd name="T11" fmla="*/ 194 h 308"/>
                <a:gd name="T12" fmla="*/ 100 w 276"/>
                <a:gd name="T13" fmla="*/ 132 h 308"/>
                <a:gd name="T14" fmla="*/ 50 w 276"/>
                <a:gd name="T15" fmla="*/ 80 h 308"/>
                <a:gd name="T16" fmla="*/ 30 w 276"/>
                <a:gd name="T17" fmla="*/ 58 h 308"/>
                <a:gd name="T18" fmla="*/ 22 w 276"/>
                <a:gd name="T19" fmla="*/ 64 h 308"/>
                <a:gd name="T20" fmla="*/ 42 w 276"/>
                <a:gd name="T21" fmla="*/ 88 h 308"/>
                <a:gd name="T22" fmla="*/ 92 w 276"/>
                <a:gd name="T23" fmla="*/ 140 h 308"/>
                <a:gd name="T24" fmla="*/ 168 w 276"/>
                <a:gd name="T25" fmla="*/ 204 h 308"/>
                <a:gd name="T26" fmla="*/ 172 w 276"/>
                <a:gd name="T27" fmla="*/ 206 h 308"/>
                <a:gd name="T28" fmla="*/ 176 w 276"/>
                <a:gd name="T29" fmla="*/ 202 h 308"/>
                <a:gd name="T30" fmla="*/ 276 w 276"/>
                <a:gd name="T31" fmla="*/ 292 h 308"/>
                <a:gd name="T32" fmla="*/ 266 w 276"/>
                <a:gd name="T33" fmla="*/ 308 h 308"/>
                <a:gd name="T34" fmla="*/ 62 w 276"/>
                <a:gd name="T35" fmla="*/ 308 h 308"/>
                <a:gd name="T36" fmla="*/ 46 w 276"/>
                <a:gd name="T37" fmla="*/ 298 h 308"/>
                <a:gd name="T38" fmla="*/ 46 w 276"/>
                <a:gd name="T39" fmla="*/ 112 h 308"/>
                <a:gd name="T40" fmla="*/ 88 w 276"/>
                <a:gd name="T41" fmla="*/ 156 h 308"/>
                <a:gd name="T42" fmla="*/ 168 w 276"/>
                <a:gd name="T43" fmla="*/ 220 h 308"/>
                <a:gd name="T44" fmla="*/ 182 w 276"/>
                <a:gd name="T45" fmla="*/ 214 h 308"/>
                <a:gd name="T46" fmla="*/ 200 w 276"/>
                <a:gd name="T47" fmla="*/ 196 h 308"/>
                <a:gd name="T48" fmla="*/ 204 w 276"/>
                <a:gd name="T49" fmla="*/ 182 h 308"/>
                <a:gd name="T50" fmla="*/ 136 w 276"/>
                <a:gd name="T51" fmla="*/ 106 h 308"/>
                <a:gd name="T52" fmla="*/ 86 w 276"/>
                <a:gd name="T53" fmla="*/ 62 h 308"/>
                <a:gd name="T54" fmla="*/ 62 w 276"/>
                <a:gd name="T55" fmla="*/ 34 h 308"/>
                <a:gd name="T56" fmla="*/ 116 w 276"/>
                <a:gd name="T57" fmla="*/ 68 h 308"/>
                <a:gd name="T58" fmla="*/ 150 w 276"/>
                <a:gd name="T59" fmla="*/ 106 h 308"/>
                <a:gd name="T60" fmla="*/ 162 w 276"/>
                <a:gd name="T61" fmla="*/ 126 h 308"/>
                <a:gd name="T62" fmla="*/ 168 w 276"/>
                <a:gd name="T63" fmla="*/ 126 h 308"/>
                <a:gd name="T64" fmla="*/ 170 w 276"/>
                <a:gd name="T65" fmla="*/ 118 h 308"/>
                <a:gd name="T66" fmla="*/ 144 w 276"/>
                <a:gd name="T67" fmla="*/ 80 h 308"/>
                <a:gd name="T68" fmla="*/ 102 w 276"/>
                <a:gd name="T69" fmla="*/ 40 h 308"/>
                <a:gd name="T70" fmla="*/ 62 w 276"/>
                <a:gd name="T71" fmla="*/ 20 h 308"/>
                <a:gd name="T72" fmla="*/ 46 w 276"/>
                <a:gd name="T73" fmla="*/ 16 h 308"/>
                <a:gd name="T74" fmla="*/ 50 w 276"/>
                <a:gd name="T75" fmla="*/ 4 h 308"/>
                <a:gd name="T76" fmla="*/ 194 w 276"/>
                <a:gd name="T77" fmla="*/ 0 h 308"/>
                <a:gd name="T78" fmla="*/ 276 w 276"/>
                <a:gd name="T79" fmla="*/ 82 h 308"/>
                <a:gd name="T80" fmla="*/ 220 w 276"/>
                <a:gd name="T81" fmla="*/ 206 h 308"/>
                <a:gd name="T82" fmla="*/ 220 w 276"/>
                <a:gd name="T83" fmla="*/ 206 h 308"/>
                <a:gd name="T84" fmla="*/ 202 w 276"/>
                <a:gd name="T85" fmla="*/ 214 h 308"/>
                <a:gd name="T86" fmla="*/ 194 w 276"/>
                <a:gd name="T87" fmla="*/ 226 h 308"/>
                <a:gd name="T88" fmla="*/ 240 w 276"/>
                <a:gd name="T89" fmla="*/ 272 h 308"/>
                <a:gd name="T90" fmla="*/ 238 w 276"/>
                <a:gd name="T91" fmla="*/ 266 h 308"/>
                <a:gd name="T92" fmla="*/ 88 w 276"/>
                <a:gd name="T93" fmla="*/ 264 h 308"/>
                <a:gd name="T94" fmla="*/ 84 w 276"/>
                <a:gd name="T95" fmla="*/ 266 h 308"/>
                <a:gd name="T96" fmla="*/ 80 w 276"/>
                <a:gd name="T97" fmla="*/ 272 h 308"/>
                <a:gd name="T98" fmla="*/ 86 w 276"/>
                <a:gd name="T99" fmla="*/ 280 h 308"/>
                <a:gd name="T100" fmla="*/ 232 w 276"/>
                <a:gd name="T101" fmla="*/ 280 h 308"/>
                <a:gd name="T102" fmla="*/ 240 w 276"/>
                <a:gd name="T103" fmla="*/ 274 h 308"/>
                <a:gd name="T104" fmla="*/ 262 w 276"/>
                <a:gd name="T105" fmla="*/ 84 h 308"/>
                <a:gd name="T106" fmla="*/ 220 w 276"/>
                <a:gd name="T107" fmla="*/ 42 h 308"/>
                <a:gd name="T108" fmla="*/ 262 w 276"/>
                <a:gd name="T109" fmla="*/ 8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6" h="308">
                  <a:moveTo>
                    <a:pt x="6" y="30"/>
                  </a:moveTo>
                  <a:lnTo>
                    <a:pt x="6" y="30"/>
                  </a:lnTo>
                  <a:lnTo>
                    <a:pt x="14" y="26"/>
                  </a:lnTo>
                  <a:lnTo>
                    <a:pt x="20" y="24"/>
                  </a:lnTo>
                  <a:lnTo>
                    <a:pt x="28" y="26"/>
                  </a:lnTo>
                  <a:lnTo>
                    <a:pt x="36" y="30"/>
                  </a:lnTo>
                  <a:lnTo>
                    <a:pt x="8" y="60"/>
                  </a:lnTo>
                  <a:lnTo>
                    <a:pt x="8" y="60"/>
                  </a:lnTo>
                  <a:lnTo>
                    <a:pt x="2" y="52"/>
                  </a:lnTo>
                  <a:lnTo>
                    <a:pt x="0" y="46"/>
                  </a:lnTo>
                  <a:lnTo>
                    <a:pt x="2" y="38"/>
                  </a:lnTo>
                  <a:lnTo>
                    <a:pt x="6" y="30"/>
                  </a:lnTo>
                  <a:lnTo>
                    <a:pt x="6" y="30"/>
                  </a:lnTo>
                  <a:close/>
                  <a:moveTo>
                    <a:pt x="176" y="202"/>
                  </a:moveTo>
                  <a:lnTo>
                    <a:pt x="176" y="202"/>
                  </a:lnTo>
                  <a:lnTo>
                    <a:pt x="176" y="198"/>
                  </a:lnTo>
                  <a:lnTo>
                    <a:pt x="174" y="194"/>
                  </a:lnTo>
                  <a:lnTo>
                    <a:pt x="174" y="194"/>
                  </a:lnTo>
                  <a:lnTo>
                    <a:pt x="154" y="178"/>
                  </a:lnTo>
                  <a:lnTo>
                    <a:pt x="130" y="158"/>
                  </a:lnTo>
                  <a:lnTo>
                    <a:pt x="100" y="132"/>
                  </a:lnTo>
                  <a:lnTo>
                    <a:pt x="100" y="132"/>
                  </a:lnTo>
                  <a:lnTo>
                    <a:pt x="70" y="102"/>
                  </a:lnTo>
                  <a:lnTo>
                    <a:pt x="50" y="80"/>
                  </a:lnTo>
                  <a:lnTo>
                    <a:pt x="32" y="60"/>
                  </a:lnTo>
                  <a:lnTo>
                    <a:pt x="32" y="60"/>
                  </a:lnTo>
                  <a:lnTo>
                    <a:pt x="30" y="58"/>
                  </a:lnTo>
                  <a:lnTo>
                    <a:pt x="24" y="60"/>
                  </a:lnTo>
                  <a:lnTo>
                    <a:pt x="24" y="60"/>
                  </a:lnTo>
                  <a:lnTo>
                    <a:pt x="22" y="64"/>
                  </a:lnTo>
                  <a:lnTo>
                    <a:pt x="24" y="68"/>
                  </a:lnTo>
                  <a:lnTo>
                    <a:pt x="24" y="68"/>
                  </a:lnTo>
                  <a:lnTo>
                    <a:pt x="42" y="88"/>
                  </a:lnTo>
                  <a:lnTo>
                    <a:pt x="62" y="110"/>
                  </a:lnTo>
                  <a:lnTo>
                    <a:pt x="92" y="140"/>
                  </a:lnTo>
                  <a:lnTo>
                    <a:pt x="92" y="140"/>
                  </a:lnTo>
                  <a:lnTo>
                    <a:pt x="122" y="168"/>
                  </a:lnTo>
                  <a:lnTo>
                    <a:pt x="146" y="188"/>
                  </a:lnTo>
                  <a:lnTo>
                    <a:pt x="168" y="204"/>
                  </a:lnTo>
                  <a:lnTo>
                    <a:pt x="168" y="204"/>
                  </a:lnTo>
                  <a:lnTo>
                    <a:pt x="172" y="206"/>
                  </a:lnTo>
                  <a:lnTo>
                    <a:pt x="172" y="206"/>
                  </a:lnTo>
                  <a:lnTo>
                    <a:pt x="174" y="204"/>
                  </a:lnTo>
                  <a:lnTo>
                    <a:pt x="176" y="202"/>
                  </a:lnTo>
                  <a:lnTo>
                    <a:pt x="176" y="202"/>
                  </a:lnTo>
                  <a:close/>
                  <a:moveTo>
                    <a:pt x="276" y="82"/>
                  </a:moveTo>
                  <a:lnTo>
                    <a:pt x="276" y="292"/>
                  </a:lnTo>
                  <a:lnTo>
                    <a:pt x="276" y="292"/>
                  </a:lnTo>
                  <a:lnTo>
                    <a:pt x="274" y="298"/>
                  </a:lnTo>
                  <a:lnTo>
                    <a:pt x="270" y="304"/>
                  </a:lnTo>
                  <a:lnTo>
                    <a:pt x="266" y="308"/>
                  </a:lnTo>
                  <a:lnTo>
                    <a:pt x="260" y="308"/>
                  </a:lnTo>
                  <a:lnTo>
                    <a:pt x="62" y="308"/>
                  </a:lnTo>
                  <a:lnTo>
                    <a:pt x="62" y="308"/>
                  </a:lnTo>
                  <a:lnTo>
                    <a:pt x="56" y="308"/>
                  </a:lnTo>
                  <a:lnTo>
                    <a:pt x="50" y="304"/>
                  </a:lnTo>
                  <a:lnTo>
                    <a:pt x="46" y="298"/>
                  </a:lnTo>
                  <a:lnTo>
                    <a:pt x="46" y="292"/>
                  </a:lnTo>
                  <a:lnTo>
                    <a:pt x="46" y="112"/>
                  </a:lnTo>
                  <a:lnTo>
                    <a:pt x="46" y="112"/>
                  </a:lnTo>
                  <a:lnTo>
                    <a:pt x="64" y="132"/>
                  </a:lnTo>
                  <a:lnTo>
                    <a:pt x="88" y="156"/>
                  </a:lnTo>
                  <a:lnTo>
                    <a:pt x="88" y="156"/>
                  </a:lnTo>
                  <a:lnTo>
                    <a:pt x="122" y="186"/>
                  </a:lnTo>
                  <a:lnTo>
                    <a:pt x="150" y="208"/>
                  </a:lnTo>
                  <a:lnTo>
                    <a:pt x="168" y="220"/>
                  </a:lnTo>
                  <a:lnTo>
                    <a:pt x="178" y="226"/>
                  </a:lnTo>
                  <a:lnTo>
                    <a:pt x="178" y="226"/>
                  </a:lnTo>
                  <a:lnTo>
                    <a:pt x="182" y="214"/>
                  </a:lnTo>
                  <a:lnTo>
                    <a:pt x="190" y="204"/>
                  </a:lnTo>
                  <a:lnTo>
                    <a:pt x="190" y="204"/>
                  </a:lnTo>
                  <a:lnTo>
                    <a:pt x="200" y="196"/>
                  </a:lnTo>
                  <a:lnTo>
                    <a:pt x="210" y="192"/>
                  </a:lnTo>
                  <a:lnTo>
                    <a:pt x="210" y="192"/>
                  </a:lnTo>
                  <a:lnTo>
                    <a:pt x="204" y="182"/>
                  </a:lnTo>
                  <a:lnTo>
                    <a:pt x="190" y="164"/>
                  </a:lnTo>
                  <a:lnTo>
                    <a:pt x="168" y="136"/>
                  </a:lnTo>
                  <a:lnTo>
                    <a:pt x="136" y="106"/>
                  </a:lnTo>
                  <a:lnTo>
                    <a:pt x="136" y="106"/>
                  </a:lnTo>
                  <a:lnTo>
                    <a:pt x="110" y="82"/>
                  </a:lnTo>
                  <a:lnTo>
                    <a:pt x="86" y="62"/>
                  </a:lnTo>
                  <a:lnTo>
                    <a:pt x="54" y="40"/>
                  </a:lnTo>
                  <a:lnTo>
                    <a:pt x="62" y="34"/>
                  </a:lnTo>
                  <a:lnTo>
                    <a:pt x="62" y="34"/>
                  </a:lnTo>
                  <a:lnTo>
                    <a:pt x="84" y="44"/>
                  </a:lnTo>
                  <a:lnTo>
                    <a:pt x="98" y="54"/>
                  </a:lnTo>
                  <a:lnTo>
                    <a:pt x="116" y="68"/>
                  </a:lnTo>
                  <a:lnTo>
                    <a:pt x="116" y="68"/>
                  </a:lnTo>
                  <a:lnTo>
                    <a:pt x="136" y="88"/>
                  </a:lnTo>
                  <a:lnTo>
                    <a:pt x="150" y="106"/>
                  </a:lnTo>
                  <a:lnTo>
                    <a:pt x="160" y="124"/>
                  </a:lnTo>
                  <a:lnTo>
                    <a:pt x="160" y="124"/>
                  </a:lnTo>
                  <a:lnTo>
                    <a:pt x="162" y="126"/>
                  </a:lnTo>
                  <a:lnTo>
                    <a:pt x="166" y="126"/>
                  </a:lnTo>
                  <a:lnTo>
                    <a:pt x="166" y="126"/>
                  </a:lnTo>
                  <a:lnTo>
                    <a:pt x="168" y="126"/>
                  </a:lnTo>
                  <a:lnTo>
                    <a:pt x="168" y="126"/>
                  </a:lnTo>
                  <a:lnTo>
                    <a:pt x="172" y="122"/>
                  </a:lnTo>
                  <a:lnTo>
                    <a:pt x="170" y="118"/>
                  </a:lnTo>
                  <a:lnTo>
                    <a:pt x="170" y="118"/>
                  </a:lnTo>
                  <a:lnTo>
                    <a:pt x="158" y="98"/>
                  </a:lnTo>
                  <a:lnTo>
                    <a:pt x="144" y="80"/>
                  </a:lnTo>
                  <a:lnTo>
                    <a:pt x="124" y="58"/>
                  </a:lnTo>
                  <a:lnTo>
                    <a:pt x="124" y="58"/>
                  </a:lnTo>
                  <a:lnTo>
                    <a:pt x="102" y="40"/>
                  </a:lnTo>
                  <a:lnTo>
                    <a:pt x="82" y="30"/>
                  </a:lnTo>
                  <a:lnTo>
                    <a:pt x="68" y="22"/>
                  </a:lnTo>
                  <a:lnTo>
                    <a:pt x="62" y="20"/>
                  </a:lnTo>
                  <a:lnTo>
                    <a:pt x="58" y="20"/>
                  </a:lnTo>
                  <a:lnTo>
                    <a:pt x="46" y="34"/>
                  </a:lnTo>
                  <a:lnTo>
                    <a:pt x="46" y="16"/>
                  </a:lnTo>
                  <a:lnTo>
                    <a:pt x="46" y="16"/>
                  </a:lnTo>
                  <a:lnTo>
                    <a:pt x="46" y="10"/>
                  </a:lnTo>
                  <a:lnTo>
                    <a:pt x="50" y="4"/>
                  </a:lnTo>
                  <a:lnTo>
                    <a:pt x="56" y="0"/>
                  </a:lnTo>
                  <a:lnTo>
                    <a:pt x="62" y="0"/>
                  </a:lnTo>
                  <a:lnTo>
                    <a:pt x="194" y="0"/>
                  </a:lnTo>
                  <a:lnTo>
                    <a:pt x="210" y="16"/>
                  </a:lnTo>
                  <a:lnTo>
                    <a:pt x="260" y="66"/>
                  </a:lnTo>
                  <a:lnTo>
                    <a:pt x="276" y="82"/>
                  </a:lnTo>
                  <a:close/>
                  <a:moveTo>
                    <a:pt x="194" y="234"/>
                  </a:moveTo>
                  <a:lnTo>
                    <a:pt x="234" y="246"/>
                  </a:lnTo>
                  <a:lnTo>
                    <a:pt x="220" y="206"/>
                  </a:lnTo>
                  <a:lnTo>
                    <a:pt x="220" y="206"/>
                  </a:lnTo>
                  <a:lnTo>
                    <a:pt x="220" y="206"/>
                  </a:lnTo>
                  <a:lnTo>
                    <a:pt x="220" y="206"/>
                  </a:lnTo>
                  <a:lnTo>
                    <a:pt x="212" y="208"/>
                  </a:lnTo>
                  <a:lnTo>
                    <a:pt x="206" y="210"/>
                  </a:lnTo>
                  <a:lnTo>
                    <a:pt x="202" y="214"/>
                  </a:lnTo>
                  <a:lnTo>
                    <a:pt x="202" y="214"/>
                  </a:lnTo>
                  <a:lnTo>
                    <a:pt x="198" y="220"/>
                  </a:lnTo>
                  <a:lnTo>
                    <a:pt x="194" y="226"/>
                  </a:lnTo>
                  <a:lnTo>
                    <a:pt x="194" y="234"/>
                  </a:lnTo>
                  <a:lnTo>
                    <a:pt x="194" y="234"/>
                  </a:lnTo>
                  <a:close/>
                  <a:moveTo>
                    <a:pt x="240" y="272"/>
                  </a:moveTo>
                  <a:lnTo>
                    <a:pt x="240" y="272"/>
                  </a:lnTo>
                  <a:lnTo>
                    <a:pt x="240" y="268"/>
                  </a:lnTo>
                  <a:lnTo>
                    <a:pt x="238" y="266"/>
                  </a:lnTo>
                  <a:lnTo>
                    <a:pt x="236" y="264"/>
                  </a:lnTo>
                  <a:lnTo>
                    <a:pt x="232" y="264"/>
                  </a:lnTo>
                  <a:lnTo>
                    <a:pt x="88" y="264"/>
                  </a:lnTo>
                  <a:lnTo>
                    <a:pt x="88" y="264"/>
                  </a:lnTo>
                  <a:lnTo>
                    <a:pt x="86" y="264"/>
                  </a:lnTo>
                  <a:lnTo>
                    <a:pt x="84" y="266"/>
                  </a:lnTo>
                  <a:lnTo>
                    <a:pt x="82" y="268"/>
                  </a:lnTo>
                  <a:lnTo>
                    <a:pt x="80" y="272"/>
                  </a:lnTo>
                  <a:lnTo>
                    <a:pt x="80" y="272"/>
                  </a:lnTo>
                  <a:lnTo>
                    <a:pt x="82" y="274"/>
                  </a:lnTo>
                  <a:lnTo>
                    <a:pt x="84" y="278"/>
                  </a:lnTo>
                  <a:lnTo>
                    <a:pt x="86" y="280"/>
                  </a:lnTo>
                  <a:lnTo>
                    <a:pt x="88" y="280"/>
                  </a:lnTo>
                  <a:lnTo>
                    <a:pt x="232" y="280"/>
                  </a:lnTo>
                  <a:lnTo>
                    <a:pt x="232" y="280"/>
                  </a:lnTo>
                  <a:lnTo>
                    <a:pt x="236" y="280"/>
                  </a:lnTo>
                  <a:lnTo>
                    <a:pt x="238" y="278"/>
                  </a:lnTo>
                  <a:lnTo>
                    <a:pt x="240" y="274"/>
                  </a:lnTo>
                  <a:lnTo>
                    <a:pt x="240" y="272"/>
                  </a:lnTo>
                  <a:lnTo>
                    <a:pt x="240" y="272"/>
                  </a:lnTo>
                  <a:close/>
                  <a:moveTo>
                    <a:pt x="262" y="84"/>
                  </a:moveTo>
                  <a:lnTo>
                    <a:pt x="244" y="66"/>
                  </a:lnTo>
                  <a:lnTo>
                    <a:pt x="220" y="66"/>
                  </a:lnTo>
                  <a:lnTo>
                    <a:pt x="220" y="42"/>
                  </a:lnTo>
                  <a:lnTo>
                    <a:pt x="202" y="24"/>
                  </a:lnTo>
                  <a:lnTo>
                    <a:pt x="202" y="84"/>
                  </a:lnTo>
                  <a:lnTo>
                    <a:pt x="262" y="8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75" name="Picture 74"/>
          <p:cNvPicPr>
            <a:picLocks noChangeAspect="1"/>
          </p:cNvPicPr>
          <p:nvPr/>
        </p:nvPicPr>
        <p:blipFill>
          <a:blip r:embed="rId7" cstate="print"/>
          <a:stretch>
            <a:fillRect/>
          </a:stretch>
        </p:blipFill>
        <p:spPr>
          <a:xfrm>
            <a:off x="197164" y="4139017"/>
            <a:ext cx="801590" cy="497257"/>
          </a:xfrm>
          <a:prstGeom prst="rect">
            <a:avLst/>
          </a:prstGeom>
        </p:spPr>
      </p:pic>
      <p:pic>
        <p:nvPicPr>
          <p:cNvPr id="77" name="Picture 76"/>
          <p:cNvPicPr>
            <a:picLocks noChangeAspect="1"/>
          </p:cNvPicPr>
          <p:nvPr/>
        </p:nvPicPr>
        <p:blipFill>
          <a:blip r:embed="rId8" cstate="print"/>
          <a:stretch>
            <a:fillRect/>
          </a:stretch>
        </p:blipFill>
        <p:spPr>
          <a:xfrm>
            <a:off x="243025" y="5436248"/>
            <a:ext cx="714375" cy="714375"/>
          </a:xfrm>
          <a:prstGeom prst="rect">
            <a:avLst/>
          </a:prstGeom>
        </p:spPr>
      </p:pic>
      <p:pic>
        <p:nvPicPr>
          <p:cNvPr id="79" name="Picture 78"/>
          <p:cNvPicPr>
            <a:picLocks noChangeAspect="1"/>
          </p:cNvPicPr>
          <p:nvPr/>
        </p:nvPicPr>
        <p:blipFill>
          <a:blip r:embed="rId9" cstate="print"/>
          <a:stretch>
            <a:fillRect/>
          </a:stretch>
        </p:blipFill>
        <p:spPr>
          <a:xfrm>
            <a:off x="4495069" y="2604080"/>
            <a:ext cx="800100" cy="790575"/>
          </a:xfrm>
          <a:prstGeom prst="rect">
            <a:avLst/>
          </a:prstGeom>
        </p:spPr>
      </p:pic>
      <p:pic>
        <p:nvPicPr>
          <p:cNvPr id="81" name="Picture 80">
            <a:extLst>
              <a:ext uri="{FF2B5EF4-FFF2-40B4-BE49-F238E27FC236}">
                <a16:creationId xmlns:a16="http://schemas.microsoft.com/office/drawing/2014/main" id="{8021B9AE-73D9-414B-9179-E890749C2FED}"/>
              </a:ext>
            </a:extLst>
          </p:cNvPr>
          <p:cNvPicPr/>
          <p:nvPr/>
        </p:nvPicPr>
        <p:blipFill>
          <a:blip r:embed="rId10" cstate="print"/>
          <a:stretch>
            <a:fillRect/>
          </a:stretch>
        </p:blipFill>
        <p:spPr>
          <a:xfrm>
            <a:off x="8305800" y="94594"/>
            <a:ext cx="725116" cy="634427"/>
          </a:xfrm>
          <a:prstGeom prst="rect">
            <a:avLst/>
          </a:prstGeom>
        </p:spPr>
      </p:pic>
      <p:sp>
        <p:nvSpPr>
          <p:cNvPr id="76" name="Rectangle 75"/>
          <p:cNvSpPr/>
          <p:nvPr/>
        </p:nvSpPr>
        <p:spPr bwMode="ltGray">
          <a:xfrm>
            <a:off x="5486400" y="4185980"/>
            <a:ext cx="3352800" cy="69082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r>
              <a:rPr lang="en-US" sz="1200" b="1" dirty="0">
                <a:solidFill>
                  <a:schemeClr val="tx1"/>
                </a:solidFill>
                <a:latin typeface="Georgia" pitchFamily="18" charset="0"/>
              </a:rPr>
              <a:t>100% Digital  payments -  application fees as well as financial assistance </a:t>
            </a:r>
          </a:p>
        </p:txBody>
      </p:sp>
      <p:pic>
        <p:nvPicPr>
          <p:cNvPr id="56" name="Picture 55"/>
          <p:cNvPicPr>
            <a:picLocks noChangeAspect="1"/>
          </p:cNvPicPr>
          <p:nvPr/>
        </p:nvPicPr>
        <p:blipFill>
          <a:blip r:embed="rId11" cstate="print"/>
          <a:stretch>
            <a:fillRect/>
          </a:stretch>
        </p:blipFill>
        <p:spPr>
          <a:xfrm>
            <a:off x="4431077" y="4182837"/>
            <a:ext cx="750523" cy="623797"/>
          </a:xfrm>
          <a:prstGeom prst="rect">
            <a:avLst/>
          </a:prstGeom>
        </p:spPr>
      </p:pic>
      <p:sp>
        <p:nvSpPr>
          <p:cNvPr id="78" name="Rectangle 77"/>
          <p:cNvSpPr/>
          <p:nvPr/>
        </p:nvSpPr>
        <p:spPr bwMode="ltGray">
          <a:xfrm>
            <a:off x="990600" y="4783941"/>
            <a:ext cx="3237775" cy="772101"/>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ü"/>
            </a:pPr>
            <a:endParaRPr lang="en-US" sz="1200" b="1" dirty="0">
              <a:solidFill>
                <a:schemeClr val="tx1"/>
              </a:solidFill>
              <a:latin typeface="Georgia" pitchFamily="18" charset="0"/>
            </a:endParaRPr>
          </a:p>
          <a:p>
            <a:pPr marL="285750" indent="-285750">
              <a:buFont typeface="Wingdings" panose="05000000000000000000" pitchFamily="2" charset="2"/>
              <a:buChar char="ü"/>
            </a:pPr>
            <a:r>
              <a:rPr lang="en-US" sz="1200" b="1" dirty="0">
                <a:solidFill>
                  <a:schemeClr val="tx1"/>
                </a:solidFill>
                <a:latin typeface="Georgia" pitchFamily="18" charset="0"/>
              </a:rPr>
              <a:t>Detailed information disclosure of each service </a:t>
            </a:r>
          </a:p>
          <a:p>
            <a:pPr marL="285750" indent="-285750">
              <a:buFont typeface="Wingdings" panose="05000000000000000000" pitchFamily="2" charset="2"/>
              <a:buChar char="ü"/>
            </a:pPr>
            <a:r>
              <a:rPr lang="en-US" sz="1200" b="1" dirty="0" err="1">
                <a:solidFill>
                  <a:schemeClr val="tx1"/>
                </a:solidFill>
                <a:latin typeface="Georgia" pitchFamily="18" charset="0"/>
              </a:rPr>
              <a:t>Chatbot</a:t>
            </a:r>
            <a:r>
              <a:rPr lang="en-US" sz="1200" b="1" dirty="0">
                <a:solidFill>
                  <a:schemeClr val="tx1"/>
                </a:solidFill>
                <a:latin typeface="Georgia" pitchFamily="18" charset="0"/>
              </a:rPr>
              <a:t> for 24/7 support for citizen queries</a:t>
            </a:r>
          </a:p>
          <a:p>
            <a:pPr marL="285750" indent="-285750">
              <a:buFont typeface="Wingdings" panose="05000000000000000000" pitchFamily="2" charset="2"/>
              <a:buChar char="ü"/>
            </a:pPr>
            <a:endParaRPr lang="en-US" sz="1200" b="1" dirty="0">
              <a:solidFill>
                <a:schemeClr val="tx1"/>
              </a:solidFill>
              <a:latin typeface="Georgia" pitchFamily="18" charset="0"/>
            </a:endParaRPr>
          </a:p>
        </p:txBody>
      </p:sp>
      <p:pic>
        <p:nvPicPr>
          <p:cNvPr id="60" name="Picture 59"/>
          <p:cNvPicPr>
            <a:picLocks noChangeAspect="1"/>
          </p:cNvPicPr>
          <p:nvPr/>
        </p:nvPicPr>
        <p:blipFill>
          <a:blip r:embed="rId12" cstate="print"/>
          <a:stretch>
            <a:fillRect/>
          </a:stretch>
        </p:blipFill>
        <p:spPr>
          <a:xfrm>
            <a:off x="152400" y="4655261"/>
            <a:ext cx="805327" cy="754939"/>
          </a:xfrm>
          <a:prstGeom prst="rect">
            <a:avLst/>
          </a:prstGeom>
        </p:spPr>
      </p:pic>
      <p:pic>
        <p:nvPicPr>
          <p:cNvPr id="58" name="Picture 57"/>
          <p:cNvPicPr>
            <a:picLocks noChangeAspect="1"/>
          </p:cNvPicPr>
          <p:nvPr/>
        </p:nvPicPr>
        <p:blipFill>
          <a:blip r:embed="rId13" cstate="print"/>
          <a:stretch>
            <a:fillRect/>
          </a:stretch>
        </p:blipFill>
        <p:spPr>
          <a:xfrm>
            <a:off x="4476169" y="3380896"/>
            <a:ext cx="947737" cy="782746"/>
          </a:xfrm>
          <a:prstGeom prst="rect">
            <a:avLst/>
          </a:prstGeom>
        </p:spPr>
      </p:pic>
      <p:pic>
        <p:nvPicPr>
          <p:cNvPr id="63" name="Picture 62"/>
          <p:cNvPicPr>
            <a:picLocks noChangeAspect="1"/>
          </p:cNvPicPr>
          <p:nvPr/>
        </p:nvPicPr>
        <p:blipFill>
          <a:blip r:embed="rId14" cstate="print"/>
          <a:stretch>
            <a:fillRect/>
          </a:stretch>
        </p:blipFill>
        <p:spPr>
          <a:xfrm>
            <a:off x="4533175" y="4959633"/>
            <a:ext cx="648425" cy="648425"/>
          </a:xfrm>
          <a:prstGeom prst="rect">
            <a:avLst/>
          </a:prstGeom>
        </p:spPr>
      </p:pic>
      <p:pic>
        <p:nvPicPr>
          <p:cNvPr id="2052" name="Picture 4" descr="Geolocation Vector SVG Icon - SVG Repo">
            <a:extLst>
              <a:ext uri="{FF2B5EF4-FFF2-40B4-BE49-F238E27FC236}">
                <a16:creationId xmlns:a16="http://schemas.microsoft.com/office/drawing/2014/main" id="{A10E22BF-529F-4112-9F73-36CC1D50406E}"/>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626405" y="5658033"/>
            <a:ext cx="555195" cy="55519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32490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762000" y="451354"/>
            <a:ext cx="6134100" cy="55602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a:defRPr/>
            </a:pPr>
            <a:r>
              <a:rPr lang="en-GB" sz="2000" dirty="0">
                <a:solidFill>
                  <a:srgbClr val="7A1818"/>
                </a:solidFill>
              </a:rPr>
              <a:t>Modes of Service On-boarding</a:t>
            </a:r>
          </a:p>
        </p:txBody>
      </p:sp>
      <p:sp>
        <p:nvSpPr>
          <p:cNvPr id="2" name="Rectangle 1"/>
          <p:cNvSpPr/>
          <p:nvPr/>
        </p:nvSpPr>
        <p:spPr>
          <a:xfrm>
            <a:off x="1085371" y="1772417"/>
            <a:ext cx="3343031" cy="4685047"/>
          </a:xfrm>
          <a:prstGeom prst="rect">
            <a:avLst/>
          </a:prstGeom>
          <a:ln/>
        </p:spPr>
        <p:style>
          <a:lnRef idx="2">
            <a:schemeClr val="dk1"/>
          </a:lnRef>
          <a:fillRef idx="1">
            <a:schemeClr val="lt1"/>
          </a:fillRef>
          <a:effectRef idx="0">
            <a:schemeClr val="dk1"/>
          </a:effectRef>
          <a:fontRef idx="minor">
            <a:schemeClr val="dk1"/>
          </a:fontRef>
        </p:style>
        <p:txBody>
          <a:bodyPr vert="horz" wrap="square" lIns="68580" tIns="34290" rIns="68580" bIns="34290" rtlCol="0" anchor="ctr">
            <a:noAutofit/>
          </a:bodyPr>
          <a:lstStyle/>
          <a:p>
            <a:pPr algn="ctr"/>
            <a:endParaRPr lang="en-US" sz="1350" dirty="0"/>
          </a:p>
        </p:txBody>
      </p:sp>
      <p:sp>
        <p:nvSpPr>
          <p:cNvPr id="5" name="TextBox 4"/>
          <p:cNvSpPr txBox="1"/>
          <p:nvPr/>
        </p:nvSpPr>
        <p:spPr>
          <a:xfrm>
            <a:off x="1526101" y="2091063"/>
            <a:ext cx="2457450" cy="207749"/>
          </a:xfrm>
          <a:prstGeom prst="rect">
            <a:avLst/>
          </a:prstGeom>
          <a:noFill/>
          <a:ln>
            <a:noFill/>
          </a:ln>
        </p:spPr>
        <p:txBody>
          <a:bodyPr wrap="square" lIns="0" tIns="0" rIns="0" bIns="0" rtlCol="0">
            <a:spAutoFit/>
          </a:bodyPr>
          <a:lstStyle/>
          <a:p>
            <a:pPr algn="ctr"/>
            <a:r>
              <a:rPr lang="en-US" sz="1350" b="1" dirty="0">
                <a:latin typeface="+mj-lt"/>
                <a:cs typeface="Arial" pitchFamily="34" charset="0"/>
              </a:rPr>
              <a:t>End-to-End</a:t>
            </a:r>
          </a:p>
        </p:txBody>
      </p:sp>
      <p:sp>
        <p:nvSpPr>
          <p:cNvPr id="8" name="Rectangle 7"/>
          <p:cNvSpPr/>
          <p:nvPr/>
        </p:nvSpPr>
        <p:spPr>
          <a:xfrm>
            <a:off x="4562383" y="1772416"/>
            <a:ext cx="3733800" cy="4685048"/>
          </a:xfrm>
          <a:prstGeom prst="rect">
            <a:avLst/>
          </a:prstGeom>
          <a:ln/>
        </p:spPr>
        <p:style>
          <a:lnRef idx="2">
            <a:schemeClr val="dk1"/>
          </a:lnRef>
          <a:fillRef idx="1">
            <a:schemeClr val="lt1"/>
          </a:fillRef>
          <a:effectRef idx="0">
            <a:schemeClr val="dk1"/>
          </a:effectRef>
          <a:fontRef idx="minor">
            <a:schemeClr val="dk1"/>
          </a:fontRef>
        </p:style>
        <p:txBody>
          <a:bodyPr vert="horz" wrap="square" lIns="68580" tIns="34290" rIns="68580" bIns="34290" rtlCol="0" anchor="ctr">
            <a:noAutofit/>
          </a:bodyPr>
          <a:lstStyle/>
          <a:p>
            <a:pPr algn="ctr"/>
            <a:endParaRPr lang="en-US" sz="1350" dirty="0"/>
          </a:p>
        </p:txBody>
      </p:sp>
      <p:sp>
        <p:nvSpPr>
          <p:cNvPr id="7" name="TextBox 6"/>
          <p:cNvSpPr txBox="1"/>
          <p:nvPr/>
        </p:nvSpPr>
        <p:spPr>
          <a:xfrm>
            <a:off x="1219352" y="2438400"/>
            <a:ext cx="3070948" cy="3854901"/>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marL="214308" indent="-214308">
              <a:buFont typeface="Wingdings" panose="05000000000000000000" pitchFamily="2" charset="2"/>
              <a:buChar char="Ø"/>
            </a:pPr>
            <a:endParaRPr lang="en-US" sz="1050" dirty="0">
              <a:latin typeface="+mj-lt"/>
              <a:cs typeface="Arial" pitchFamily="34" charset="0"/>
            </a:endParaRPr>
          </a:p>
          <a:p>
            <a:pPr marL="214308" indent="-214308">
              <a:buFont typeface="Wingdings" panose="05000000000000000000" pitchFamily="2" charset="2"/>
              <a:buChar char="Ø"/>
            </a:pPr>
            <a:r>
              <a:rPr lang="en-US" sz="1200" dirty="0">
                <a:latin typeface="+mj-lt"/>
                <a:cs typeface="Arial" pitchFamily="34" charset="0"/>
              </a:rPr>
              <a:t>Applicable to Department services which are manually delivered as on today. </a:t>
            </a:r>
          </a:p>
          <a:p>
            <a:pPr marL="214308" indent="-214308">
              <a:buFont typeface="Wingdings" panose="05000000000000000000" pitchFamily="2" charset="2"/>
              <a:buChar char="Ø"/>
            </a:pPr>
            <a:endParaRPr lang="en-US" sz="1200" dirty="0">
              <a:latin typeface="+mj-lt"/>
              <a:cs typeface="Arial" pitchFamily="34" charset="0"/>
            </a:endParaRPr>
          </a:p>
          <a:p>
            <a:pPr marL="214308" indent="-214308">
              <a:buFont typeface="Wingdings" panose="05000000000000000000" pitchFamily="2" charset="2"/>
              <a:buChar char="Ø"/>
            </a:pPr>
            <a:r>
              <a:rPr lang="en-US" sz="1200" dirty="0">
                <a:latin typeface="+mj-lt"/>
                <a:cs typeface="Arial" pitchFamily="34" charset="0"/>
              </a:rPr>
              <a:t>Application submission by the citizen  &amp; subsequent processing by Department officers are done on Seva Sindhu system</a:t>
            </a:r>
          </a:p>
          <a:p>
            <a:pPr marL="214308" indent="-214308">
              <a:buFont typeface="Wingdings" panose="05000000000000000000" pitchFamily="2" charset="2"/>
              <a:buChar char="Ø"/>
            </a:pPr>
            <a:endParaRPr lang="en-US" sz="1200" dirty="0">
              <a:latin typeface="+mj-lt"/>
              <a:cs typeface="Arial" pitchFamily="34" charset="0"/>
            </a:endParaRPr>
          </a:p>
          <a:p>
            <a:pPr marL="214308" indent="-214308">
              <a:buFont typeface="Wingdings" panose="05000000000000000000" pitchFamily="2" charset="2"/>
              <a:buChar char="Ø"/>
            </a:pPr>
            <a:r>
              <a:rPr lang="en-US" sz="1200" dirty="0">
                <a:latin typeface="+mj-lt"/>
                <a:cs typeface="Arial" pitchFamily="34" charset="0"/>
              </a:rPr>
              <a:t>Database is maintained by Seva Sindhu</a:t>
            </a:r>
          </a:p>
          <a:p>
            <a:endParaRPr lang="en-US" sz="1200" b="1" i="1" dirty="0">
              <a:latin typeface="+mj-lt"/>
              <a:cs typeface="Arial" pitchFamily="34" charset="0"/>
            </a:endParaRPr>
          </a:p>
          <a:p>
            <a:r>
              <a:rPr lang="en-US" sz="1200" b="1" i="1" dirty="0">
                <a:latin typeface="+mj-lt"/>
                <a:cs typeface="Arial" pitchFamily="34" charset="0"/>
              </a:rPr>
              <a:t>Advantages</a:t>
            </a:r>
          </a:p>
          <a:p>
            <a:pPr marL="214308" indent="-214308">
              <a:buFont typeface="Wingdings" panose="05000000000000000000" pitchFamily="2" charset="2"/>
              <a:buChar char="Ø"/>
            </a:pPr>
            <a:r>
              <a:rPr lang="en-US" sz="1200" dirty="0">
                <a:latin typeface="+mj-lt"/>
                <a:cs typeface="Arial" pitchFamily="34" charset="0"/>
              </a:rPr>
              <a:t>Departments which have been unable to deliver services online can now use a completely online system</a:t>
            </a:r>
          </a:p>
          <a:p>
            <a:pPr marL="214308" indent="-214308">
              <a:buFont typeface="Wingdings" panose="05000000000000000000" pitchFamily="2" charset="2"/>
              <a:buChar char="Ø"/>
            </a:pPr>
            <a:endParaRPr lang="en-US" sz="1200" dirty="0">
              <a:latin typeface="+mj-lt"/>
              <a:cs typeface="Arial" pitchFamily="34" charset="0"/>
            </a:endParaRPr>
          </a:p>
          <a:p>
            <a:pPr marL="214308" indent="-214308">
              <a:buFont typeface="Wingdings" panose="05000000000000000000" pitchFamily="2" charset="2"/>
              <a:buChar char="Ø"/>
            </a:pPr>
            <a:r>
              <a:rPr lang="en-US" sz="1200" dirty="0">
                <a:latin typeface="+mj-lt"/>
                <a:cs typeface="Arial" pitchFamily="34" charset="0"/>
              </a:rPr>
              <a:t>There is no financial burden to Department </a:t>
            </a:r>
          </a:p>
          <a:p>
            <a:pPr marL="214308" indent="-214308">
              <a:buFont typeface="Wingdings" panose="05000000000000000000" pitchFamily="2" charset="2"/>
              <a:buChar char="Ø"/>
            </a:pPr>
            <a:endParaRPr lang="en-US" sz="1200" dirty="0">
              <a:latin typeface="+mj-lt"/>
              <a:cs typeface="Arial" pitchFamily="34" charset="0"/>
            </a:endParaRPr>
          </a:p>
          <a:p>
            <a:pPr marL="214308" indent="-214308">
              <a:buFont typeface="Wingdings" panose="05000000000000000000" pitchFamily="2" charset="2"/>
              <a:buChar char="Ø"/>
            </a:pPr>
            <a:r>
              <a:rPr lang="en-US" sz="1200" dirty="0">
                <a:latin typeface="+mj-lt"/>
                <a:cs typeface="Arial" pitchFamily="34" charset="0"/>
              </a:rPr>
              <a:t>Changes in the software are smoother due to complete ownership by the Government.</a:t>
            </a:r>
          </a:p>
        </p:txBody>
      </p:sp>
      <p:sp>
        <p:nvSpPr>
          <p:cNvPr id="10" name="TextBox 9"/>
          <p:cNvSpPr txBox="1"/>
          <p:nvPr/>
        </p:nvSpPr>
        <p:spPr>
          <a:xfrm>
            <a:off x="4895636" y="2043404"/>
            <a:ext cx="2457450" cy="207749"/>
          </a:xfrm>
          <a:prstGeom prst="rect">
            <a:avLst/>
          </a:prstGeom>
          <a:noFill/>
          <a:ln>
            <a:noFill/>
          </a:ln>
        </p:spPr>
        <p:txBody>
          <a:bodyPr wrap="square" lIns="0" tIns="0" rIns="0" bIns="0" rtlCol="0">
            <a:spAutoFit/>
          </a:bodyPr>
          <a:lstStyle/>
          <a:p>
            <a:pPr algn="ctr"/>
            <a:r>
              <a:rPr lang="en-US" sz="1350" b="1" dirty="0">
                <a:latin typeface="+mj-lt"/>
                <a:cs typeface="Arial" pitchFamily="34" charset="0"/>
              </a:rPr>
              <a:t>Integration</a:t>
            </a:r>
          </a:p>
        </p:txBody>
      </p:sp>
      <p:sp>
        <p:nvSpPr>
          <p:cNvPr id="11" name="TextBox 10"/>
          <p:cNvSpPr txBox="1"/>
          <p:nvPr/>
        </p:nvSpPr>
        <p:spPr>
          <a:xfrm>
            <a:off x="4627453" y="2415316"/>
            <a:ext cx="3469679" cy="3877985"/>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marL="214308" indent="-214308">
              <a:buFont typeface="Wingdings" panose="05000000000000000000" pitchFamily="2" charset="2"/>
              <a:buChar char="Ø"/>
            </a:pPr>
            <a:r>
              <a:rPr lang="en-US" sz="1200" dirty="0">
                <a:latin typeface="+mj-lt"/>
                <a:cs typeface="Arial" pitchFamily="34" charset="0"/>
              </a:rPr>
              <a:t>Applicable to services which are already delivered online by the Department.</a:t>
            </a:r>
          </a:p>
          <a:p>
            <a:pPr marL="214308" indent="-214308">
              <a:buFont typeface="Wingdings" panose="05000000000000000000" pitchFamily="2" charset="2"/>
              <a:buChar char="Ø"/>
            </a:pPr>
            <a:r>
              <a:rPr lang="en-US" sz="1200" dirty="0">
                <a:latin typeface="+mj-lt"/>
                <a:cs typeface="Arial" pitchFamily="34" charset="0"/>
              </a:rPr>
              <a:t>Application submission by the citizens can be done on Seva Sindhu or on Department’s portal, while the processing happens on department’s application </a:t>
            </a:r>
          </a:p>
          <a:p>
            <a:pPr marL="214308" indent="-214308">
              <a:buFont typeface="Wingdings" panose="05000000000000000000" pitchFamily="2" charset="2"/>
              <a:buChar char="Ø"/>
            </a:pPr>
            <a:r>
              <a:rPr lang="en-US" sz="1200" dirty="0">
                <a:latin typeface="+mj-lt"/>
                <a:cs typeface="Arial" pitchFamily="34" charset="0"/>
              </a:rPr>
              <a:t>Database is maintained by the respective departments</a:t>
            </a:r>
          </a:p>
          <a:p>
            <a:pPr marL="214308" indent="-214308">
              <a:buFont typeface="Wingdings" panose="05000000000000000000" pitchFamily="2" charset="2"/>
              <a:buChar char="Ø"/>
            </a:pPr>
            <a:r>
              <a:rPr lang="en-US" sz="1200" dirty="0">
                <a:latin typeface="+mj-lt"/>
                <a:cs typeface="Arial" pitchFamily="34" charset="0"/>
              </a:rPr>
              <a:t>Web services are used for integration with the department application</a:t>
            </a:r>
          </a:p>
          <a:p>
            <a:endParaRPr lang="en-US" sz="1200" b="1" i="1" dirty="0">
              <a:latin typeface="+mj-lt"/>
              <a:cs typeface="Arial" pitchFamily="34" charset="0"/>
            </a:endParaRPr>
          </a:p>
          <a:p>
            <a:r>
              <a:rPr lang="en-US" sz="1200" b="1" i="1" dirty="0">
                <a:latin typeface="+mj-lt"/>
                <a:cs typeface="Arial" pitchFamily="34" charset="0"/>
              </a:rPr>
              <a:t>Advantages</a:t>
            </a:r>
          </a:p>
          <a:p>
            <a:pPr marL="214313" indent="-214313">
              <a:buFont typeface="Wingdings" panose="05000000000000000000" pitchFamily="2" charset="2"/>
              <a:buChar char="Ø"/>
            </a:pPr>
            <a:r>
              <a:rPr lang="en-US" sz="1200" dirty="0">
                <a:latin typeface="+mj-lt"/>
                <a:cs typeface="Arial" pitchFamily="34" charset="0"/>
              </a:rPr>
              <a:t>Presence of all services on a single platform helps the citizens more modes to avail department’s services.</a:t>
            </a:r>
          </a:p>
          <a:p>
            <a:pPr marL="214313" indent="-214313">
              <a:buFont typeface="Wingdings" panose="05000000000000000000" pitchFamily="2" charset="2"/>
              <a:buChar char="Ø"/>
            </a:pPr>
            <a:r>
              <a:rPr lang="en-US" sz="1200" dirty="0">
                <a:latin typeface="+mj-lt"/>
                <a:cs typeface="Arial" pitchFamily="34" charset="0"/>
              </a:rPr>
              <a:t>Department can implement back-end changes in processes without affecting citizen facing application. </a:t>
            </a:r>
          </a:p>
          <a:p>
            <a:pPr marL="214313" indent="-214313">
              <a:buFont typeface="Wingdings" panose="05000000000000000000" pitchFamily="2" charset="2"/>
              <a:buChar char="Ø"/>
            </a:pPr>
            <a:r>
              <a:rPr lang="en-US" sz="1200" dirty="0">
                <a:latin typeface="+mj-lt"/>
                <a:cs typeface="Arial" pitchFamily="34" charset="0"/>
              </a:rPr>
              <a:t>Citizens can now avail services through assisted mode and department need not invest on the same. </a:t>
            </a:r>
          </a:p>
        </p:txBody>
      </p:sp>
      <p:pic>
        <p:nvPicPr>
          <p:cNvPr id="12" name="Picture 11">
            <a:extLst>
              <a:ext uri="{FF2B5EF4-FFF2-40B4-BE49-F238E27FC236}">
                <a16:creationId xmlns:a16="http://schemas.microsoft.com/office/drawing/2014/main" id="{B338A1D6-B5B8-4034-97A1-DEA6F5B995ED}"/>
              </a:ext>
            </a:extLst>
          </p:cNvPr>
          <p:cNvPicPr/>
          <p:nvPr/>
        </p:nvPicPr>
        <p:blipFill>
          <a:blip r:embed="rId3" cstate="print"/>
          <a:stretch>
            <a:fillRect/>
          </a:stretch>
        </p:blipFill>
        <p:spPr>
          <a:xfrm>
            <a:off x="7656951" y="228600"/>
            <a:ext cx="543837" cy="475820"/>
          </a:xfrm>
          <a:prstGeom prst="rect">
            <a:avLst/>
          </a:prstGeom>
        </p:spPr>
      </p:pic>
      <p:sp>
        <p:nvSpPr>
          <p:cNvPr id="13" name="Title 1">
            <a:extLst>
              <a:ext uri="{FF2B5EF4-FFF2-40B4-BE49-F238E27FC236}">
                <a16:creationId xmlns:a16="http://schemas.microsoft.com/office/drawing/2014/main" id="{2AE50CAF-41FB-4130-8DCE-E7A7120560DF}"/>
              </a:ext>
            </a:extLst>
          </p:cNvPr>
          <p:cNvSpPr txBox="1">
            <a:spLocks/>
          </p:cNvSpPr>
          <p:nvPr/>
        </p:nvSpPr>
        <p:spPr>
          <a:xfrm>
            <a:off x="1032403" y="943971"/>
            <a:ext cx="7486076" cy="55602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marL="285750" indent="-285750">
              <a:buFont typeface="Arial" panose="020B0604020202020204" pitchFamily="34" charset="0"/>
              <a:buChar char="•"/>
              <a:defRPr/>
            </a:pPr>
            <a:r>
              <a:rPr lang="en-GB" sz="1600" b="0" i="0" dirty="0"/>
              <a:t>Seva Sindhu runs on Service Plus Platform of NIC.</a:t>
            </a:r>
          </a:p>
          <a:p>
            <a:pPr marL="285750" indent="-285750">
              <a:buFont typeface="Arial" panose="020B0604020202020204" pitchFamily="34" charset="0"/>
              <a:buChar char="•"/>
              <a:defRPr/>
            </a:pPr>
            <a:r>
              <a:rPr lang="en-GB" sz="1600" b="0" i="0" dirty="0"/>
              <a:t>Services are onboarded in the following 2 methods</a:t>
            </a:r>
          </a:p>
          <a:p>
            <a:pPr>
              <a:defRPr/>
            </a:pPr>
            <a:endParaRPr lang="en-GB" sz="1600" dirty="0"/>
          </a:p>
        </p:txBody>
      </p:sp>
    </p:spTree>
    <p:extLst>
      <p:ext uri="{BB962C8B-B14F-4D97-AF65-F5344CB8AC3E}">
        <p14:creationId xmlns:p14="http://schemas.microsoft.com/office/powerpoint/2010/main" val="3985192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92482" y="392051"/>
            <a:ext cx="8178800" cy="74136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000" b="1" i="1" u="none" strike="noStrike" kern="1200" cap="none" spc="0" normalizeH="0" baseline="0" noProof="0" dirty="0">
                <a:ln>
                  <a:noFill/>
                </a:ln>
                <a:solidFill>
                  <a:srgbClr val="7A1818"/>
                </a:solidFill>
                <a:effectLst/>
                <a:uLnTx/>
                <a:uFillTx/>
                <a:latin typeface="Georgia"/>
                <a:ea typeface="+mj-ea"/>
                <a:cs typeface="+mj-cs"/>
              </a:rPr>
              <a:t>Features of </a:t>
            </a:r>
            <a:r>
              <a:rPr kumimoji="0" lang="en-GB" sz="2000" b="1" i="1" u="none" strike="noStrike" kern="1200" cap="none" spc="0" normalizeH="0" baseline="0" noProof="0" dirty="0" err="1">
                <a:ln>
                  <a:noFill/>
                </a:ln>
                <a:solidFill>
                  <a:srgbClr val="7A1818"/>
                </a:solidFill>
                <a:effectLst/>
                <a:uLnTx/>
                <a:uFillTx/>
                <a:latin typeface="Georgia"/>
                <a:ea typeface="+mj-ea"/>
                <a:cs typeface="+mj-cs"/>
              </a:rPr>
              <a:t>Seva</a:t>
            </a:r>
            <a:r>
              <a:rPr kumimoji="0" lang="en-GB" sz="2000" b="1" i="1" u="none" strike="noStrike" kern="1200" cap="none" spc="0" normalizeH="0" baseline="0" noProof="0" dirty="0">
                <a:ln>
                  <a:noFill/>
                </a:ln>
                <a:solidFill>
                  <a:srgbClr val="7A1818"/>
                </a:solidFill>
                <a:effectLst/>
                <a:uLnTx/>
                <a:uFillTx/>
                <a:latin typeface="Georgia"/>
                <a:ea typeface="+mj-ea"/>
                <a:cs typeface="+mj-cs"/>
              </a:rPr>
              <a:t> Sindhu</a:t>
            </a:r>
          </a:p>
        </p:txBody>
      </p:sp>
      <p:sp>
        <p:nvSpPr>
          <p:cNvPr id="2" name="Rectangle 1"/>
          <p:cNvSpPr/>
          <p:nvPr/>
        </p:nvSpPr>
        <p:spPr>
          <a:xfrm>
            <a:off x="292482" y="838200"/>
            <a:ext cx="8468464" cy="541020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t" anchorCtr="0">
            <a:noAutofit/>
          </a:bodyPr>
          <a:lstStyle/>
          <a:p>
            <a:pPr marL="342900" marR="74295" lvl="0" indent="-342900" algn="just">
              <a:spcBef>
                <a:spcPts val="1200"/>
              </a:spcBef>
              <a:spcAft>
                <a:spcPts val="25"/>
              </a:spcAft>
              <a:buFont typeface="Symbol" panose="05050102010706020507" pitchFamily="18" charset="2"/>
              <a:buChar char=""/>
            </a:pPr>
            <a:endParaRPr lang="en-US" sz="1600" dirty="0">
              <a:solidFill>
                <a:srgbClr val="333333"/>
              </a:solidFill>
              <a:effectLst/>
              <a:latin typeface="+mj-lt"/>
              <a:ea typeface="Calibri" panose="020F0502020204030204" pitchFamily="34" charset="0"/>
              <a:cs typeface="Tunga" panose="020B0502040204020203" pitchFamily="34" charset="0"/>
            </a:endParaRPr>
          </a:p>
          <a:p>
            <a:pPr marL="342900" marR="74295" lvl="0" indent="-342900" algn="just">
              <a:spcBef>
                <a:spcPts val="1200"/>
              </a:spcBef>
              <a:spcAft>
                <a:spcPts val="25"/>
              </a:spcAft>
              <a:buFont typeface="Symbol" panose="05050102010706020507" pitchFamily="18" charset="2"/>
              <a:buChar char=""/>
            </a:pPr>
            <a:r>
              <a:rPr lang="en-US" sz="1600" dirty="0">
                <a:latin typeface="+mj-lt"/>
                <a:ea typeface="Calibri" panose="020F0502020204030204" pitchFamily="34" charset="0"/>
                <a:cs typeface="Tunga" panose="020B0502040204020203" pitchFamily="34" charset="0"/>
              </a:rPr>
              <a:t>Integrated with ‘Mahiti Kanaja’ portal (</a:t>
            </a:r>
            <a:r>
              <a:rPr lang="en-US" sz="1600" dirty="0">
                <a:solidFill>
                  <a:srgbClr val="821A1A"/>
                </a:solidFill>
                <a:latin typeface="+mj-lt"/>
                <a:ea typeface="Calibri" panose="020F0502020204030204" pitchFamily="34" charset="0"/>
                <a:cs typeface="Tunga" panose="020B0502040204020203" pitchFamily="34" charset="0"/>
                <a:hlinkClick r:id="rId3">
                  <a:extLst>
                    <a:ext uri="{A12FA001-AC4F-418D-AE19-62706E023703}">
                      <ahyp:hlinkClr xmlns:ahyp="http://schemas.microsoft.com/office/drawing/2018/hyperlinkcolor" val="tx"/>
                    </a:ext>
                  </a:extLst>
                </a:hlinkClick>
              </a:rPr>
              <a:t>https://mahitikanaja.karnataka.gov.in</a:t>
            </a:r>
            <a:r>
              <a:rPr lang="en-US" sz="1600" dirty="0">
                <a:latin typeface="+mj-lt"/>
                <a:ea typeface="Calibri" panose="020F0502020204030204" pitchFamily="34" charset="0"/>
                <a:cs typeface="Tunga" panose="020B0502040204020203" pitchFamily="34" charset="0"/>
                <a:hlinkClick r:id="rId3">
                  <a:extLst>
                    <a:ext uri="{A12FA001-AC4F-418D-AE19-62706E023703}">
                      <ahyp:hlinkClr xmlns:ahyp="http://schemas.microsoft.com/office/drawing/2018/hyperlinkcolor" val="tx"/>
                    </a:ext>
                  </a:extLst>
                </a:hlinkClick>
              </a:rPr>
              <a:t>/</a:t>
            </a:r>
            <a:r>
              <a:rPr lang="en-US" sz="1600" dirty="0">
                <a:latin typeface="+mj-lt"/>
                <a:ea typeface="Calibri" panose="020F0502020204030204" pitchFamily="34" charset="0"/>
                <a:cs typeface="Tunga" panose="020B0502040204020203" pitchFamily="34" charset="0"/>
              </a:rPr>
              <a:t>) for </a:t>
            </a:r>
            <a:r>
              <a:rPr lang="en-US" sz="1600" u="sng" dirty="0">
                <a:latin typeface="+mj-lt"/>
                <a:ea typeface="Calibri" panose="020F0502020204030204" pitchFamily="34" charset="0"/>
                <a:cs typeface="Tunga" panose="020B0502040204020203" pitchFamily="34" charset="0"/>
              </a:rPr>
              <a:t>proactive information dissemination</a:t>
            </a:r>
            <a:r>
              <a:rPr lang="en-US" sz="1600" dirty="0">
                <a:latin typeface="+mj-lt"/>
                <a:ea typeface="Calibri" panose="020F0502020204030204" pitchFamily="34" charset="0"/>
                <a:cs typeface="Tunga" panose="020B0502040204020203" pitchFamily="34" charset="0"/>
              </a:rPr>
              <a:t>. </a:t>
            </a:r>
          </a:p>
          <a:p>
            <a:pPr marL="342900" marR="74295" indent="-342900" algn="just">
              <a:spcBef>
                <a:spcPts val="1200"/>
              </a:spcBef>
              <a:spcAft>
                <a:spcPts val="25"/>
              </a:spcAft>
              <a:buFont typeface="Symbol" panose="05050102010706020507" pitchFamily="18" charset="2"/>
              <a:buChar char=""/>
            </a:pPr>
            <a:r>
              <a:rPr lang="en-US" sz="1600" dirty="0">
                <a:latin typeface="+mj-lt"/>
                <a:ea typeface="Calibri" panose="020F0502020204030204" pitchFamily="34" charset="0"/>
                <a:cs typeface="Tunga" panose="020B0502040204020203" pitchFamily="34" charset="0"/>
              </a:rPr>
              <a:t>Integrated with Sakala (</a:t>
            </a:r>
            <a:r>
              <a:rPr lang="en-US" sz="1600" dirty="0">
                <a:latin typeface="+mj-lt"/>
              </a:rPr>
              <a:t>Karnataka Guarantee of Services to Citizens (KGSC))</a:t>
            </a:r>
            <a:endParaRPr lang="en-US" sz="1600" dirty="0">
              <a:latin typeface="+mj-lt"/>
              <a:ea typeface="Calibri" panose="020F0502020204030204" pitchFamily="34" charset="0"/>
              <a:cs typeface="Tunga" panose="020B0502040204020203" pitchFamily="34" charset="0"/>
            </a:endParaRPr>
          </a:p>
          <a:p>
            <a:pPr marL="800100" marR="74295" lvl="1" indent="-342900" algn="just">
              <a:spcBef>
                <a:spcPts val="1200"/>
              </a:spcBef>
              <a:spcAft>
                <a:spcPts val="25"/>
              </a:spcAft>
              <a:buFont typeface="Symbol" panose="05050102010706020507" pitchFamily="18" charset="2"/>
              <a:buChar char=""/>
            </a:pPr>
            <a:r>
              <a:rPr lang="en-US" sz="1600" dirty="0" err="1">
                <a:latin typeface="+mj-lt"/>
                <a:ea typeface="Calibri" panose="020F0502020204030204" pitchFamily="34" charset="0"/>
                <a:cs typeface="Tunga" panose="020B0502040204020203" pitchFamily="34" charset="0"/>
              </a:rPr>
              <a:t>Sakala</a:t>
            </a:r>
            <a:r>
              <a:rPr lang="en-US" sz="1600" dirty="0">
                <a:latin typeface="+mj-lt"/>
                <a:ea typeface="Calibri" panose="020F0502020204030204" pitchFamily="34" charset="0"/>
                <a:cs typeface="Tunga" panose="020B0502040204020203" pitchFamily="34" charset="0"/>
              </a:rPr>
              <a:t> Mission sets service delivery timeline  </a:t>
            </a:r>
          </a:p>
          <a:p>
            <a:pPr marL="800100" marR="74295" lvl="1" indent="-342900" algn="just">
              <a:spcBef>
                <a:spcPts val="1200"/>
              </a:spcBef>
              <a:spcAft>
                <a:spcPts val="25"/>
              </a:spcAft>
              <a:buFont typeface="Symbol" panose="05050102010706020507" pitchFamily="18" charset="2"/>
              <a:buChar char=""/>
            </a:pPr>
            <a:r>
              <a:rPr lang="en-US" sz="1600" dirty="0">
                <a:latin typeface="+mj-lt"/>
                <a:ea typeface="Calibri" panose="020F0502020204030204" pitchFamily="34" charset="0"/>
                <a:cs typeface="Tunga" panose="020B0502040204020203" pitchFamily="34" charset="0"/>
              </a:rPr>
              <a:t>Performance monitoring of disposals within prescribed time limit</a:t>
            </a:r>
          </a:p>
          <a:p>
            <a:pPr marL="342900" marR="74295" indent="-342900" algn="just">
              <a:spcBef>
                <a:spcPts val="1200"/>
              </a:spcBef>
              <a:spcAft>
                <a:spcPts val="25"/>
              </a:spcAft>
              <a:buFont typeface="Arial" panose="020B0604020202020204" pitchFamily="34" charset="0"/>
              <a:buChar char="•"/>
            </a:pPr>
            <a:r>
              <a:rPr lang="en-US" sz="1600" dirty="0">
                <a:latin typeface="+mj-lt"/>
                <a:ea typeface="Calibri" panose="020F0502020204030204" pitchFamily="34" charset="0"/>
                <a:cs typeface="Tunga" panose="020B0502040204020203" pitchFamily="34" charset="0"/>
              </a:rPr>
              <a:t>Integration with DBT platform for payments using </a:t>
            </a:r>
            <a:r>
              <a:rPr lang="en-US" sz="1600" dirty="0" err="1">
                <a:latin typeface="+mj-lt"/>
                <a:ea typeface="Calibri" panose="020F0502020204030204" pitchFamily="34" charset="0"/>
                <a:cs typeface="Tunga" panose="020B0502040204020203" pitchFamily="34" charset="0"/>
              </a:rPr>
              <a:t>Aadhar</a:t>
            </a:r>
            <a:r>
              <a:rPr lang="en-US" sz="1600" dirty="0">
                <a:latin typeface="+mj-lt"/>
                <a:ea typeface="Calibri" panose="020F0502020204030204" pitchFamily="34" charset="0"/>
                <a:cs typeface="Tunga" panose="020B0502040204020203" pitchFamily="34" charset="0"/>
              </a:rPr>
              <a:t> as financial address</a:t>
            </a:r>
          </a:p>
          <a:p>
            <a:pPr marL="342900" marR="74295" lvl="0" indent="-342900" algn="just">
              <a:spcBef>
                <a:spcPts val="1200"/>
              </a:spcBef>
              <a:spcAft>
                <a:spcPts val="25"/>
              </a:spcAft>
              <a:buFont typeface="Symbol" panose="05050102010706020507" pitchFamily="18" charset="2"/>
              <a:buChar char=""/>
            </a:pPr>
            <a:r>
              <a:rPr lang="en-US" sz="1600" dirty="0">
                <a:solidFill>
                  <a:srgbClr val="000000"/>
                </a:solidFill>
                <a:latin typeface="Georgia"/>
                <a:cs typeface="Tunga" panose="020B0502040204020203" pitchFamily="34" charset="0"/>
              </a:rPr>
              <a:t>Comprehensive MIS with Dashboards for the decision makers </a:t>
            </a:r>
          </a:p>
          <a:p>
            <a:pPr marL="342900" marR="74295" lvl="0" indent="-342900" algn="just">
              <a:spcBef>
                <a:spcPts val="1200"/>
              </a:spcBef>
              <a:spcAft>
                <a:spcPts val="25"/>
              </a:spcAft>
              <a:buFont typeface="Symbol" panose="05050102010706020507" pitchFamily="18" charset="2"/>
              <a:buChar char=""/>
            </a:pPr>
            <a:r>
              <a:rPr lang="en-US" sz="1600" dirty="0">
                <a:solidFill>
                  <a:srgbClr val="000000"/>
                </a:solidFill>
                <a:latin typeface="Georgia"/>
                <a:cs typeface="Tunga" panose="020B0502040204020203" pitchFamily="34" charset="0"/>
              </a:rPr>
              <a:t>SMS and Email notification to the applicant on real time basis regarding application status changes (Submission, Clarification, Make Payment, Approved/Rejected, </a:t>
            </a:r>
            <a:r>
              <a:rPr lang="en-US" sz="1600" dirty="0" err="1">
                <a:solidFill>
                  <a:srgbClr val="000000"/>
                </a:solidFill>
                <a:latin typeface="Georgia"/>
                <a:cs typeface="Tunga" panose="020B0502040204020203" pitchFamily="34" charset="0"/>
              </a:rPr>
              <a:t>etc</a:t>
            </a:r>
            <a:r>
              <a:rPr lang="en-US" sz="1600" dirty="0">
                <a:solidFill>
                  <a:srgbClr val="000000"/>
                </a:solidFill>
                <a:latin typeface="Georgia"/>
                <a:cs typeface="Tunga" panose="020B0502040204020203" pitchFamily="34" charset="0"/>
              </a:rPr>
              <a:t>)</a:t>
            </a:r>
          </a:p>
          <a:p>
            <a:pPr marL="342900" marR="74295" indent="-342900" algn="just">
              <a:spcBef>
                <a:spcPts val="1200"/>
              </a:spcBef>
              <a:spcAft>
                <a:spcPts val="25"/>
              </a:spcAft>
              <a:buFont typeface="Symbol" panose="05050102010706020507" pitchFamily="18" charset="2"/>
              <a:buChar char=""/>
            </a:pPr>
            <a:r>
              <a:rPr lang="en-US" sz="1600" dirty="0">
                <a:effectLst/>
                <a:latin typeface="+mj-lt"/>
                <a:ea typeface="Calibri" panose="020F0502020204030204" pitchFamily="34" charset="0"/>
                <a:cs typeface="Tunga" panose="020B0502040204020203" pitchFamily="34" charset="0"/>
              </a:rPr>
              <a:t>Feedback mechanism on the services availed by citizens in the portal, that are </a:t>
            </a:r>
            <a:r>
              <a:rPr lang="en-US" sz="1600" dirty="0" err="1">
                <a:effectLst/>
                <a:latin typeface="+mj-lt"/>
                <a:ea typeface="Calibri" panose="020F0502020204030204" pitchFamily="34" charset="0"/>
                <a:cs typeface="Tunga" panose="020B0502040204020203" pitchFamily="34" charset="0"/>
              </a:rPr>
              <a:t>analysed</a:t>
            </a:r>
            <a:r>
              <a:rPr lang="en-US" sz="1600" dirty="0">
                <a:effectLst/>
                <a:latin typeface="+mj-lt"/>
                <a:ea typeface="Calibri" panose="020F0502020204030204" pitchFamily="34" charset="0"/>
                <a:cs typeface="Tunga" panose="020B0502040204020203" pitchFamily="34" charset="0"/>
              </a:rPr>
              <a:t> for improving the system</a:t>
            </a:r>
          </a:p>
          <a:p>
            <a:pPr marL="342900" marR="74295" lvl="0" indent="-342900" algn="just">
              <a:spcBef>
                <a:spcPts val="1200"/>
              </a:spcBef>
              <a:spcAft>
                <a:spcPts val="25"/>
              </a:spcAft>
              <a:buFont typeface="Symbol" panose="05050102010706020507" pitchFamily="18" charset="2"/>
              <a:buChar char=""/>
            </a:pPr>
            <a:r>
              <a:rPr lang="en-US" sz="1600" dirty="0">
                <a:solidFill>
                  <a:srgbClr val="000000"/>
                </a:solidFill>
                <a:latin typeface="Georgia"/>
              </a:rPr>
              <a:t>Seva Sindhu has integrated </a:t>
            </a:r>
            <a:r>
              <a:rPr lang="en-US" sz="1600" dirty="0" err="1">
                <a:solidFill>
                  <a:srgbClr val="000000"/>
                </a:solidFill>
                <a:latin typeface="Georgia"/>
              </a:rPr>
              <a:t>ChatBot</a:t>
            </a:r>
            <a:r>
              <a:rPr lang="en-US" sz="1600" dirty="0">
                <a:solidFill>
                  <a:srgbClr val="000000"/>
                </a:solidFill>
                <a:latin typeface="Georgia"/>
              </a:rPr>
              <a:t> for 24/7 support for citizen queries</a:t>
            </a:r>
          </a:p>
          <a:p>
            <a:pPr marL="342900" marR="74295" lvl="0" indent="-342900" algn="just">
              <a:spcBef>
                <a:spcPts val="1200"/>
              </a:spcBef>
              <a:spcAft>
                <a:spcPts val="25"/>
              </a:spcAft>
              <a:buFont typeface="Symbol" panose="05050102010706020507" pitchFamily="18" charset="2"/>
              <a:buChar char=""/>
            </a:pPr>
            <a:endParaRPr lang="en-US" sz="1600" dirty="0">
              <a:solidFill>
                <a:srgbClr val="000000"/>
              </a:solidFill>
              <a:latin typeface="Georgia"/>
              <a:cs typeface="Tunga" panose="020B0502040204020203" pitchFamily="34" charset="0"/>
            </a:endParaRPr>
          </a:p>
          <a:p>
            <a:pPr marL="342900" marR="74295" indent="-342900" algn="just">
              <a:spcBef>
                <a:spcPts val="1200"/>
              </a:spcBef>
              <a:spcAft>
                <a:spcPts val="25"/>
              </a:spcAft>
              <a:buFont typeface="Arial" panose="020B0604020202020204" pitchFamily="34" charset="0"/>
              <a:buChar char="•"/>
            </a:pPr>
            <a:endParaRPr lang="en-US" sz="1600" dirty="0">
              <a:latin typeface="+mj-lt"/>
              <a:ea typeface="Calibri" panose="020F0502020204030204" pitchFamily="34" charset="0"/>
              <a:cs typeface="Tunga" panose="020B0502040204020203" pitchFamily="34" charset="0"/>
            </a:endParaRPr>
          </a:p>
          <a:p>
            <a:pPr marL="800100" marR="74295" lvl="1" indent="-342900" algn="just">
              <a:spcBef>
                <a:spcPts val="1200"/>
              </a:spcBef>
              <a:spcAft>
                <a:spcPts val="25"/>
              </a:spcAft>
              <a:buFont typeface="Symbol" panose="05050102010706020507" pitchFamily="18" charset="2"/>
              <a:buChar char=""/>
            </a:pPr>
            <a:endParaRPr lang="en-US" sz="1600" dirty="0">
              <a:latin typeface="+mj-lt"/>
              <a:ea typeface="Calibri" panose="020F0502020204030204" pitchFamily="34" charset="0"/>
              <a:cs typeface="Tunga" panose="020B0502040204020203" pitchFamily="34" charset="0"/>
            </a:endParaRPr>
          </a:p>
          <a:p>
            <a:pPr marL="342900" marR="74295" lvl="0" indent="-342900" algn="just">
              <a:spcBef>
                <a:spcPts val="1200"/>
              </a:spcBef>
              <a:spcAft>
                <a:spcPts val="25"/>
              </a:spcAft>
              <a:buFont typeface="Symbol" panose="05050102010706020507" pitchFamily="18" charset="2"/>
              <a:buChar char=""/>
            </a:pPr>
            <a:endParaRPr lang="en-US" dirty="0"/>
          </a:p>
        </p:txBody>
      </p:sp>
      <p:pic>
        <p:nvPicPr>
          <p:cNvPr id="12" name="Picture 11">
            <a:extLst>
              <a:ext uri="{FF2B5EF4-FFF2-40B4-BE49-F238E27FC236}">
                <a16:creationId xmlns:a16="http://schemas.microsoft.com/office/drawing/2014/main" id="{B338A1D6-B5B8-4034-97A1-DEA6F5B995ED}"/>
              </a:ext>
            </a:extLst>
          </p:cNvPr>
          <p:cNvPicPr/>
          <p:nvPr/>
        </p:nvPicPr>
        <p:blipFill>
          <a:blip r:embed="rId4" cstate="print"/>
          <a:stretch>
            <a:fillRect/>
          </a:stretch>
        </p:blipFill>
        <p:spPr>
          <a:xfrm>
            <a:off x="8305800" y="94594"/>
            <a:ext cx="725116" cy="634427"/>
          </a:xfrm>
          <a:prstGeom prst="rect">
            <a:avLst/>
          </a:prstGeom>
        </p:spPr>
      </p:pic>
    </p:spTree>
    <p:extLst>
      <p:ext uri="{BB962C8B-B14F-4D97-AF65-F5344CB8AC3E}">
        <p14:creationId xmlns:p14="http://schemas.microsoft.com/office/powerpoint/2010/main" val="3660425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04800" y="397696"/>
            <a:ext cx="8178800" cy="74136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000" b="1" i="1" u="none" strike="noStrike" kern="1200" cap="none" spc="0" normalizeH="0" baseline="0" noProof="0" dirty="0">
                <a:ln>
                  <a:noFill/>
                </a:ln>
                <a:solidFill>
                  <a:srgbClr val="7A1818"/>
                </a:solidFill>
                <a:effectLst/>
                <a:uLnTx/>
                <a:uFillTx/>
                <a:latin typeface="Georgia"/>
                <a:ea typeface="+mj-ea"/>
                <a:cs typeface="+mj-cs"/>
              </a:rPr>
              <a:t>Features of </a:t>
            </a:r>
            <a:r>
              <a:rPr kumimoji="0" lang="en-GB" sz="2000" b="1" i="1" u="none" strike="noStrike" kern="1200" cap="none" spc="0" normalizeH="0" baseline="0" noProof="0" dirty="0" err="1">
                <a:ln>
                  <a:noFill/>
                </a:ln>
                <a:solidFill>
                  <a:srgbClr val="7A1818"/>
                </a:solidFill>
                <a:effectLst/>
                <a:uLnTx/>
                <a:uFillTx/>
                <a:latin typeface="Georgia"/>
                <a:ea typeface="+mj-ea"/>
                <a:cs typeface="+mj-cs"/>
              </a:rPr>
              <a:t>Seva</a:t>
            </a:r>
            <a:r>
              <a:rPr kumimoji="0" lang="en-GB" sz="2000" b="1" i="1" u="none" strike="noStrike" kern="1200" cap="none" spc="0" normalizeH="0" baseline="0" noProof="0" dirty="0">
                <a:ln>
                  <a:noFill/>
                </a:ln>
                <a:solidFill>
                  <a:srgbClr val="7A1818"/>
                </a:solidFill>
                <a:effectLst/>
                <a:uLnTx/>
                <a:uFillTx/>
                <a:latin typeface="Georgia"/>
                <a:ea typeface="+mj-ea"/>
                <a:cs typeface="+mj-cs"/>
              </a:rPr>
              <a:t> Sindhu</a:t>
            </a:r>
          </a:p>
        </p:txBody>
      </p:sp>
      <p:pic>
        <p:nvPicPr>
          <p:cNvPr id="12" name="Picture 11">
            <a:extLst>
              <a:ext uri="{FF2B5EF4-FFF2-40B4-BE49-F238E27FC236}">
                <a16:creationId xmlns:a16="http://schemas.microsoft.com/office/drawing/2014/main" id="{B338A1D6-B5B8-4034-97A1-DEA6F5B995ED}"/>
              </a:ext>
            </a:extLst>
          </p:cNvPr>
          <p:cNvPicPr/>
          <p:nvPr/>
        </p:nvPicPr>
        <p:blipFill>
          <a:blip r:embed="rId3" cstate="print"/>
          <a:stretch>
            <a:fillRect/>
          </a:stretch>
        </p:blipFill>
        <p:spPr>
          <a:xfrm>
            <a:off x="8305800" y="94594"/>
            <a:ext cx="725116" cy="634427"/>
          </a:xfrm>
          <a:prstGeom prst="rect">
            <a:avLst/>
          </a:prstGeom>
        </p:spPr>
      </p:pic>
      <p:sp>
        <p:nvSpPr>
          <p:cNvPr id="5" name="Rectangle 4"/>
          <p:cNvSpPr/>
          <p:nvPr/>
        </p:nvSpPr>
        <p:spPr>
          <a:xfrm>
            <a:off x="370736" y="838200"/>
            <a:ext cx="8468464" cy="502920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rtlCol="0" anchor="t" anchorCtr="0">
            <a:noAutofit/>
          </a:bodyPr>
          <a:lstStyle/>
          <a:p>
            <a:pPr marL="342900" marR="74295" indent="-342900">
              <a:spcBef>
                <a:spcPts val="1200"/>
              </a:spcBef>
              <a:spcAft>
                <a:spcPts val="25"/>
              </a:spcAft>
              <a:buFont typeface="Symbol" panose="05050102010706020507" pitchFamily="18" charset="2"/>
              <a:buChar char=""/>
            </a:pPr>
            <a:endParaRPr lang="en-US" sz="1500" dirty="0">
              <a:solidFill>
                <a:srgbClr val="333333"/>
              </a:solidFill>
              <a:latin typeface="+mj-lt"/>
              <a:ea typeface="Times New Roman" panose="02020603050405020304" pitchFamily="18" charset="0"/>
              <a:cs typeface="Tunga" panose="020B0502040204020203" pitchFamily="34" charset="0"/>
            </a:endParaRPr>
          </a:p>
          <a:p>
            <a:pPr marL="342900" marR="74295" indent="-342900" algn="just">
              <a:spcBef>
                <a:spcPts val="1200"/>
              </a:spcBef>
              <a:spcAft>
                <a:spcPts val="25"/>
              </a:spcAft>
              <a:buFont typeface="Symbol" panose="05050102010706020507" pitchFamily="18" charset="2"/>
              <a:buChar char=""/>
            </a:pPr>
            <a:r>
              <a:rPr lang="en-US" sz="1600" dirty="0">
                <a:latin typeface="+mj-lt"/>
                <a:ea typeface="Times New Roman" panose="02020603050405020304" pitchFamily="18" charset="0"/>
                <a:cs typeface="Tunga" panose="020B0502040204020203" pitchFamily="34" charset="0"/>
              </a:rPr>
              <a:t>Versatile &amp; agile platform, thus enabling onboarding of emergency services during crisis. For Ex: Disbursal of COVID related Financial packages (Construction </a:t>
            </a:r>
            <a:r>
              <a:rPr lang="en-US" sz="1600" dirty="0" err="1">
                <a:latin typeface="+mj-lt"/>
                <a:ea typeface="Times New Roman" panose="02020603050405020304" pitchFamily="18" charset="0"/>
                <a:cs typeface="Tunga" panose="020B0502040204020203" pitchFamily="34" charset="0"/>
              </a:rPr>
              <a:t>labour</a:t>
            </a:r>
            <a:r>
              <a:rPr lang="en-US" sz="1600" dirty="0">
                <a:latin typeface="+mj-lt"/>
                <a:ea typeface="Times New Roman" panose="02020603050405020304" pitchFamily="18" charset="0"/>
                <a:cs typeface="Tunga" panose="020B0502040204020203" pitchFamily="34" charset="0"/>
              </a:rPr>
              <a:t>, Street Vendors etc.)</a:t>
            </a:r>
            <a:endParaRPr lang="en-US" sz="1600" dirty="0">
              <a:latin typeface="+mj-lt"/>
              <a:ea typeface="Calibri" panose="020F0502020204030204" pitchFamily="34" charset="0"/>
              <a:cs typeface="Tunga" panose="020B0502040204020203" pitchFamily="34" charset="0"/>
            </a:endParaRPr>
          </a:p>
          <a:p>
            <a:pPr marL="342900" marR="74295" lvl="0" indent="-342900" algn="just">
              <a:spcBef>
                <a:spcPts val="1200"/>
              </a:spcBef>
              <a:spcAft>
                <a:spcPts val="25"/>
              </a:spcAft>
              <a:buFont typeface="Symbol" panose="05050102010706020507" pitchFamily="18" charset="2"/>
              <a:buChar char=""/>
            </a:pPr>
            <a:r>
              <a:rPr lang="en-US" sz="1600" dirty="0">
                <a:latin typeface="+mj-lt"/>
                <a:ea typeface="Times New Roman" panose="02020603050405020304" pitchFamily="18" charset="0"/>
                <a:cs typeface="Tunga" panose="020B0502040204020203" pitchFamily="34" charset="0"/>
              </a:rPr>
              <a:t>Integration with other Government data sources (FRUITS, SATS, SSLC, PUC, AJSK etc.) </a:t>
            </a:r>
          </a:p>
          <a:p>
            <a:pPr marL="800100" marR="74295" lvl="1" indent="-342900" algn="just">
              <a:spcBef>
                <a:spcPts val="1200"/>
              </a:spcBef>
              <a:spcAft>
                <a:spcPts val="25"/>
              </a:spcAft>
              <a:buFont typeface="Symbol" panose="05050102010706020507" pitchFamily="18" charset="2"/>
              <a:buChar char=""/>
            </a:pPr>
            <a:r>
              <a:rPr lang="en-US" sz="1600" dirty="0">
                <a:latin typeface="+mj-lt"/>
                <a:ea typeface="Times New Roman" panose="02020603050405020304" pitchFamily="18" charset="0"/>
                <a:cs typeface="Tunga" panose="020B0502040204020203" pitchFamily="34" charset="0"/>
              </a:rPr>
              <a:t>Auto population of most of the form fields, thus, reducing number of document uploads and data entry.</a:t>
            </a:r>
          </a:p>
          <a:p>
            <a:pPr marL="800100" marR="74295" lvl="1" indent="-342900" algn="just">
              <a:spcBef>
                <a:spcPts val="1200"/>
              </a:spcBef>
              <a:spcAft>
                <a:spcPts val="25"/>
              </a:spcAft>
              <a:buFont typeface="Symbol" panose="05050102010706020507" pitchFamily="18" charset="2"/>
              <a:buChar char=""/>
            </a:pPr>
            <a:r>
              <a:rPr lang="en-US" sz="1600" dirty="0">
                <a:latin typeface="+mj-lt"/>
                <a:ea typeface="Times New Roman" panose="02020603050405020304" pitchFamily="18" charset="0"/>
                <a:cs typeface="Tunga" panose="020B0502040204020203" pitchFamily="34" charset="0"/>
              </a:rPr>
              <a:t>Efficient processing by departments</a:t>
            </a:r>
          </a:p>
          <a:p>
            <a:pPr marL="342900" marR="74295" lvl="0" indent="-342900" algn="just">
              <a:spcBef>
                <a:spcPts val="1200"/>
              </a:spcBef>
              <a:spcAft>
                <a:spcPts val="25"/>
              </a:spcAft>
              <a:buFont typeface="Symbol" panose="05050102010706020507" pitchFamily="18" charset="2"/>
              <a:buChar char=""/>
            </a:pPr>
            <a:r>
              <a:rPr lang="en-US" sz="1600" dirty="0">
                <a:latin typeface="+mj-lt"/>
                <a:ea typeface="Times New Roman" panose="02020603050405020304" pitchFamily="18" charset="0"/>
                <a:cs typeface="Tunga" panose="020B0502040204020203" pitchFamily="34" charset="0"/>
              </a:rPr>
              <a:t>W3C, GIGW, </a:t>
            </a:r>
            <a:r>
              <a:rPr lang="en-US" sz="1600" dirty="0" err="1">
                <a:latin typeface="+mj-lt"/>
                <a:ea typeface="Times New Roman" panose="02020603050405020304" pitchFamily="18" charset="0"/>
                <a:cs typeface="Tunga" panose="020B0502040204020203" pitchFamily="34" charset="0"/>
              </a:rPr>
              <a:t>NeSDA</a:t>
            </a:r>
            <a:r>
              <a:rPr lang="en-US" sz="1600" dirty="0">
                <a:latin typeface="+mj-lt"/>
                <a:ea typeface="Times New Roman" panose="02020603050405020304" pitchFamily="18" charset="0"/>
                <a:cs typeface="Tunga" panose="020B0502040204020203" pitchFamily="34" charset="0"/>
              </a:rPr>
              <a:t> Compliant</a:t>
            </a:r>
          </a:p>
          <a:p>
            <a:pPr marL="342900" marR="74295" lvl="0" indent="-342900" algn="just">
              <a:spcBef>
                <a:spcPts val="1200"/>
              </a:spcBef>
              <a:spcAft>
                <a:spcPts val="25"/>
              </a:spcAft>
              <a:buFont typeface="Symbol" panose="05050102010706020507" pitchFamily="18" charset="2"/>
              <a:buChar char=""/>
            </a:pPr>
            <a:r>
              <a:rPr lang="en-US" sz="1600" dirty="0">
                <a:latin typeface="+mj-lt"/>
                <a:ea typeface="Calibri" panose="020F0502020204030204" pitchFamily="34" charset="0"/>
                <a:cs typeface="Tunga" panose="020B0502040204020203" pitchFamily="34" charset="0"/>
              </a:rPr>
              <a:t>Integrated with </a:t>
            </a:r>
            <a:r>
              <a:rPr lang="en-US" sz="1600" dirty="0" err="1">
                <a:latin typeface="+mj-lt"/>
                <a:ea typeface="Calibri" panose="020F0502020204030204" pitchFamily="34" charset="0"/>
                <a:cs typeface="Tunga" panose="020B0502040204020203" pitchFamily="34" charset="0"/>
              </a:rPr>
              <a:t>Kutumba</a:t>
            </a:r>
            <a:r>
              <a:rPr lang="en-US" sz="1600" dirty="0">
                <a:latin typeface="+mj-lt"/>
                <a:ea typeface="Calibri" panose="020F0502020204030204" pitchFamily="34" charset="0"/>
                <a:cs typeface="Tunga" panose="020B0502040204020203" pitchFamily="34" charset="0"/>
              </a:rPr>
              <a:t> - an Entitlement Management and Integrated Social Information System which consists of a social registry, integrated beneficiary management systems, beneficiary registry. 5.5 crore citizens enrolled.</a:t>
            </a:r>
          </a:p>
          <a:p>
            <a:pPr marL="342900" marR="74295" lvl="0" indent="-342900" algn="just">
              <a:spcBef>
                <a:spcPts val="1200"/>
              </a:spcBef>
              <a:spcAft>
                <a:spcPts val="25"/>
              </a:spcAft>
              <a:buFont typeface="Symbol" panose="05050102010706020507" pitchFamily="18" charset="2"/>
              <a:buChar char=""/>
            </a:pPr>
            <a:r>
              <a:rPr lang="en-US" sz="1600" dirty="0">
                <a:latin typeface="+mj-lt"/>
                <a:ea typeface="Calibri" panose="020F0502020204030204" pitchFamily="34" charset="0"/>
                <a:cs typeface="Tunga" panose="020B0502040204020203" pitchFamily="34" charset="0"/>
              </a:rPr>
              <a:t>Integrated with centralized grievance redressal system.</a:t>
            </a:r>
          </a:p>
          <a:p>
            <a:pPr marL="342900" marR="74295" lvl="0" indent="-342900">
              <a:spcBef>
                <a:spcPts val="1200"/>
              </a:spcBef>
              <a:spcAft>
                <a:spcPts val="25"/>
              </a:spcAft>
              <a:buFont typeface="Symbol" panose="05050102010706020507" pitchFamily="18" charset="2"/>
              <a:buChar char=""/>
            </a:pPr>
            <a:endParaRPr lang="en-US" sz="1500" dirty="0">
              <a:latin typeface="+mj-lt"/>
              <a:ea typeface="Times New Roman" panose="02020603050405020304" pitchFamily="18" charset="0"/>
              <a:cs typeface="Tunga" panose="020B0502040204020203" pitchFamily="34" charset="0"/>
            </a:endParaRPr>
          </a:p>
          <a:p>
            <a:pPr marL="342900" marR="74295" lvl="0" indent="-342900" algn="just">
              <a:spcBef>
                <a:spcPts val="1200"/>
              </a:spcBef>
              <a:spcAft>
                <a:spcPts val="25"/>
              </a:spcAft>
              <a:buFont typeface="Symbol" panose="05050102010706020507" pitchFamily="18" charset="2"/>
              <a:buChar char=""/>
            </a:pPr>
            <a:endParaRPr lang="en-US" sz="1500" dirty="0">
              <a:solidFill>
                <a:srgbClr val="333333"/>
              </a:solidFill>
              <a:latin typeface="+mj-lt"/>
              <a:ea typeface="Calibri" panose="020F0502020204030204" pitchFamily="34" charset="0"/>
              <a:cs typeface="Tunga" panose="020B0502040204020203" pitchFamily="34" charset="0"/>
            </a:endParaRPr>
          </a:p>
          <a:p>
            <a:pPr marL="342900" marR="74295" lvl="0" indent="-342900">
              <a:spcBef>
                <a:spcPts val="1200"/>
              </a:spcBef>
              <a:spcAft>
                <a:spcPts val="25"/>
              </a:spcAft>
              <a:buFont typeface="Symbol" panose="05050102010706020507" pitchFamily="18" charset="2"/>
              <a:buChar char=""/>
            </a:pPr>
            <a:endParaRPr lang="en-US" sz="1500" dirty="0">
              <a:solidFill>
                <a:srgbClr val="333333"/>
              </a:solidFill>
              <a:latin typeface="+mj-lt"/>
              <a:ea typeface="Times New Roman" panose="02020603050405020304" pitchFamily="18" charset="0"/>
              <a:cs typeface="Tunga" panose="020B0502040204020203" pitchFamily="34" charset="0"/>
            </a:endParaRPr>
          </a:p>
          <a:p>
            <a:pPr marL="342900" marR="74295" lvl="0" indent="-342900">
              <a:spcBef>
                <a:spcPts val="1200"/>
              </a:spcBef>
              <a:spcAft>
                <a:spcPts val="25"/>
              </a:spcAft>
              <a:buFont typeface="Symbol" panose="05050102010706020507" pitchFamily="18" charset="2"/>
              <a:buChar char=""/>
            </a:pPr>
            <a:endParaRPr lang="en-US" sz="1500" dirty="0">
              <a:solidFill>
                <a:srgbClr val="333333"/>
              </a:solidFill>
              <a:latin typeface="+mj-lt"/>
              <a:ea typeface="Times New Roman" panose="02020603050405020304" pitchFamily="18" charset="0"/>
              <a:cs typeface="Tunga" panose="020B0502040204020203" pitchFamily="34" charset="0"/>
            </a:endParaRPr>
          </a:p>
          <a:p>
            <a:pPr marR="74295" lvl="0">
              <a:spcBef>
                <a:spcPts val="1200"/>
              </a:spcBef>
              <a:spcAft>
                <a:spcPts val="25"/>
              </a:spcAft>
            </a:pPr>
            <a:endParaRPr lang="en-US" sz="1500" dirty="0">
              <a:latin typeface="+mj-lt"/>
            </a:endParaRPr>
          </a:p>
        </p:txBody>
      </p:sp>
    </p:spTree>
    <p:extLst>
      <p:ext uri="{BB962C8B-B14F-4D97-AF65-F5344CB8AC3E}">
        <p14:creationId xmlns:p14="http://schemas.microsoft.com/office/powerpoint/2010/main" val="1664020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23528" y="332656"/>
            <a:ext cx="8280920" cy="55602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lvl="0" algn="ctr">
              <a:defRPr/>
            </a:pPr>
            <a:r>
              <a:rPr lang="en-US" sz="3200" i="0" dirty="0">
                <a:latin typeface="+mn-lt"/>
              </a:rPr>
              <a:t>Bird’s eye view of sectoral coverage</a:t>
            </a:r>
            <a:endParaRPr lang="en-GB" sz="3200" i="0" dirty="0">
              <a:latin typeface="+mn-lt"/>
            </a:endParaRPr>
          </a:p>
        </p:txBody>
      </p:sp>
      <p:grpSp>
        <p:nvGrpSpPr>
          <p:cNvPr id="3" name="Group 19">
            <a:extLst>
              <a:ext uri="{FF2B5EF4-FFF2-40B4-BE49-F238E27FC236}">
                <a16:creationId xmlns:a16="http://schemas.microsoft.com/office/drawing/2014/main" id="{C448A332-B6FD-459B-8DFF-5837277D9FF9}"/>
              </a:ext>
            </a:extLst>
          </p:cNvPr>
          <p:cNvGrpSpPr/>
          <p:nvPr/>
        </p:nvGrpSpPr>
        <p:grpSpPr>
          <a:xfrm>
            <a:off x="395536" y="908721"/>
            <a:ext cx="8208912" cy="5534284"/>
            <a:chOff x="519019" y="898181"/>
            <a:chExt cx="11613234" cy="6590231"/>
          </a:xfrm>
        </p:grpSpPr>
        <p:grpSp>
          <p:nvGrpSpPr>
            <p:cNvPr id="6" name="Group 20">
              <a:extLst>
                <a:ext uri="{FF2B5EF4-FFF2-40B4-BE49-F238E27FC236}">
                  <a16:creationId xmlns:a16="http://schemas.microsoft.com/office/drawing/2014/main" id="{39B893A3-C109-4F50-8F77-EC36489CC74D}"/>
                </a:ext>
              </a:extLst>
            </p:cNvPr>
            <p:cNvGrpSpPr/>
            <p:nvPr/>
          </p:nvGrpSpPr>
          <p:grpSpPr>
            <a:xfrm>
              <a:off x="4383700" y="1743602"/>
              <a:ext cx="3606404" cy="3177236"/>
              <a:chOff x="4383700" y="1743602"/>
              <a:chExt cx="3606404" cy="3177236"/>
            </a:xfrm>
          </p:grpSpPr>
          <p:grpSp>
            <p:nvGrpSpPr>
              <p:cNvPr id="7" name="Group 42">
                <a:extLst>
                  <a:ext uri="{FF2B5EF4-FFF2-40B4-BE49-F238E27FC236}">
                    <a16:creationId xmlns:a16="http://schemas.microsoft.com/office/drawing/2014/main" id="{F7EE6314-A225-49ED-926F-5216C5D9EC31}"/>
                  </a:ext>
                </a:extLst>
              </p:cNvPr>
              <p:cNvGrpSpPr>
                <a:grpSpLocks noChangeAspect="1"/>
              </p:cNvGrpSpPr>
              <p:nvPr/>
            </p:nvGrpSpPr>
            <p:grpSpPr bwMode="auto">
              <a:xfrm>
                <a:off x="4383700" y="1743602"/>
                <a:ext cx="3606404" cy="3177236"/>
                <a:chOff x="2772" y="2242"/>
                <a:chExt cx="1094" cy="1068"/>
              </a:xfrm>
              <a:solidFill>
                <a:srgbClr val="C0BAA7"/>
              </a:solidFill>
            </p:grpSpPr>
            <p:sp>
              <p:nvSpPr>
                <p:cNvPr id="111" name="Freeform 43">
                  <a:extLst>
                    <a:ext uri="{FF2B5EF4-FFF2-40B4-BE49-F238E27FC236}">
                      <a16:creationId xmlns:a16="http://schemas.microsoft.com/office/drawing/2014/main" id="{1D2401FD-B11C-4705-99A6-C01E77BBC4D6}"/>
                    </a:ext>
                  </a:extLst>
                </p:cNvPr>
                <p:cNvSpPr>
                  <a:spLocks/>
                </p:cNvSpPr>
                <p:nvPr/>
              </p:nvSpPr>
              <p:spPr bwMode="auto">
                <a:xfrm>
                  <a:off x="3319" y="2242"/>
                  <a:ext cx="411" cy="525"/>
                </a:xfrm>
                <a:custGeom>
                  <a:avLst/>
                  <a:gdLst/>
                  <a:ahLst/>
                  <a:cxnLst>
                    <a:cxn ang="0">
                      <a:pos x="1095" y="528"/>
                    </a:cxn>
                    <a:cxn ang="0">
                      <a:pos x="0" y="0"/>
                    </a:cxn>
                    <a:cxn ang="0">
                      <a:pos x="0" y="1400"/>
                    </a:cxn>
                    <a:cxn ang="0">
                      <a:pos x="1095" y="528"/>
                    </a:cxn>
                  </a:cxnLst>
                  <a:rect l="0" t="0" r="r" b="b"/>
                  <a:pathLst>
                    <a:path w="1095" h="1400">
                      <a:moveTo>
                        <a:pt x="1095" y="528"/>
                      </a:moveTo>
                      <a:cubicBezTo>
                        <a:pt x="829" y="194"/>
                        <a:pt x="427" y="0"/>
                        <a:pt x="0" y="0"/>
                      </a:cubicBezTo>
                      <a:lnTo>
                        <a:pt x="0" y="1400"/>
                      </a:lnTo>
                      <a:lnTo>
                        <a:pt x="1095" y="528"/>
                      </a:lnTo>
                      <a:close/>
                    </a:path>
                  </a:pathLst>
                </a:custGeom>
                <a:solidFill>
                  <a:srgbClr val="EB8C00"/>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12" name="Freeform 44">
                  <a:extLst>
                    <a:ext uri="{FF2B5EF4-FFF2-40B4-BE49-F238E27FC236}">
                      <a16:creationId xmlns:a16="http://schemas.microsoft.com/office/drawing/2014/main" id="{E11782CD-2115-4E28-9DB1-DF6874368120}"/>
                    </a:ext>
                  </a:extLst>
                </p:cNvPr>
                <p:cNvSpPr>
                  <a:spLocks/>
                </p:cNvSpPr>
                <p:nvPr/>
              </p:nvSpPr>
              <p:spPr bwMode="auto">
                <a:xfrm>
                  <a:off x="3319" y="2440"/>
                  <a:ext cx="547" cy="444"/>
                </a:xfrm>
                <a:custGeom>
                  <a:avLst/>
                  <a:gdLst/>
                  <a:ahLst/>
                  <a:cxnLst>
                    <a:cxn ang="0">
                      <a:pos x="1365" y="1184"/>
                    </a:cxn>
                    <a:cxn ang="0">
                      <a:pos x="1095" y="0"/>
                    </a:cxn>
                    <a:cxn ang="0">
                      <a:pos x="0" y="872"/>
                    </a:cxn>
                    <a:cxn ang="0">
                      <a:pos x="1365" y="1184"/>
                    </a:cxn>
                  </a:cxnLst>
                  <a:rect l="0" t="0" r="r" b="b"/>
                  <a:pathLst>
                    <a:path w="1460" h="1184">
                      <a:moveTo>
                        <a:pt x="1365" y="1184"/>
                      </a:moveTo>
                      <a:cubicBezTo>
                        <a:pt x="1460" y="769"/>
                        <a:pt x="1361" y="333"/>
                        <a:pt x="1095" y="0"/>
                      </a:cubicBezTo>
                      <a:lnTo>
                        <a:pt x="0" y="872"/>
                      </a:lnTo>
                      <a:lnTo>
                        <a:pt x="1365" y="1184"/>
                      </a:lnTo>
                      <a:close/>
                    </a:path>
                  </a:pathLst>
                </a:custGeom>
                <a:solidFill>
                  <a:srgbClr val="FFB600"/>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13" name="Freeform 45">
                  <a:extLst>
                    <a:ext uri="{FF2B5EF4-FFF2-40B4-BE49-F238E27FC236}">
                      <a16:creationId xmlns:a16="http://schemas.microsoft.com/office/drawing/2014/main" id="{C8A42AEC-DF70-4EC9-A062-F7DD07D25A84}"/>
                    </a:ext>
                  </a:extLst>
                </p:cNvPr>
                <p:cNvSpPr>
                  <a:spLocks/>
                </p:cNvSpPr>
                <p:nvPr/>
              </p:nvSpPr>
              <p:spPr bwMode="auto">
                <a:xfrm>
                  <a:off x="3319" y="2767"/>
                  <a:ext cx="512" cy="473"/>
                </a:xfrm>
                <a:custGeom>
                  <a:avLst/>
                  <a:gdLst/>
                  <a:ahLst/>
                  <a:cxnLst>
                    <a:cxn ang="0">
                      <a:pos x="608" y="1262"/>
                    </a:cxn>
                    <a:cxn ang="0">
                      <a:pos x="1365" y="312"/>
                    </a:cxn>
                    <a:cxn ang="0">
                      <a:pos x="0" y="0"/>
                    </a:cxn>
                    <a:cxn ang="0">
                      <a:pos x="608" y="1262"/>
                    </a:cxn>
                  </a:cxnLst>
                  <a:rect l="0" t="0" r="r" b="b"/>
                  <a:pathLst>
                    <a:path w="1365" h="1262">
                      <a:moveTo>
                        <a:pt x="608" y="1262"/>
                      </a:moveTo>
                      <a:cubicBezTo>
                        <a:pt x="992" y="1077"/>
                        <a:pt x="1271" y="727"/>
                        <a:pt x="1365" y="312"/>
                      </a:cubicBezTo>
                      <a:lnTo>
                        <a:pt x="0" y="0"/>
                      </a:lnTo>
                      <a:lnTo>
                        <a:pt x="608" y="1262"/>
                      </a:lnTo>
                      <a:close/>
                    </a:path>
                  </a:pathLst>
                </a:custGeom>
                <a:solidFill>
                  <a:srgbClr val="7D7D7D"/>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14" name="Freeform 46">
                  <a:extLst>
                    <a:ext uri="{FF2B5EF4-FFF2-40B4-BE49-F238E27FC236}">
                      <a16:creationId xmlns:a16="http://schemas.microsoft.com/office/drawing/2014/main" id="{2FA0FE6E-7C38-4215-B3A8-EF09300D88AC}"/>
                    </a:ext>
                  </a:extLst>
                </p:cNvPr>
                <p:cNvSpPr>
                  <a:spLocks/>
                </p:cNvSpPr>
                <p:nvPr/>
              </p:nvSpPr>
              <p:spPr bwMode="auto">
                <a:xfrm>
                  <a:off x="3091" y="2767"/>
                  <a:ext cx="456" cy="543"/>
                </a:xfrm>
                <a:custGeom>
                  <a:avLst/>
                  <a:gdLst/>
                  <a:ahLst/>
                  <a:cxnLst>
                    <a:cxn ang="0">
                      <a:pos x="0" y="1262"/>
                    </a:cxn>
                    <a:cxn ang="0">
                      <a:pos x="1215" y="1262"/>
                    </a:cxn>
                    <a:cxn ang="0">
                      <a:pos x="607" y="0"/>
                    </a:cxn>
                    <a:cxn ang="0">
                      <a:pos x="0" y="1262"/>
                    </a:cxn>
                  </a:cxnLst>
                  <a:rect l="0" t="0" r="r" b="b"/>
                  <a:pathLst>
                    <a:path w="1215" h="1447">
                      <a:moveTo>
                        <a:pt x="0" y="1262"/>
                      </a:moveTo>
                      <a:cubicBezTo>
                        <a:pt x="384" y="1447"/>
                        <a:pt x="831" y="1447"/>
                        <a:pt x="1215" y="1262"/>
                      </a:cubicBezTo>
                      <a:lnTo>
                        <a:pt x="607" y="0"/>
                      </a:lnTo>
                      <a:lnTo>
                        <a:pt x="0" y="1262"/>
                      </a:lnTo>
                      <a:close/>
                    </a:path>
                  </a:pathLst>
                </a:custGeom>
                <a:solidFill>
                  <a:srgbClr val="464646"/>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15" name="Freeform 47">
                  <a:extLst>
                    <a:ext uri="{FF2B5EF4-FFF2-40B4-BE49-F238E27FC236}">
                      <a16:creationId xmlns:a16="http://schemas.microsoft.com/office/drawing/2014/main" id="{B37EACC3-CBA0-4AC5-9561-63A5CC87CC9E}"/>
                    </a:ext>
                  </a:extLst>
                </p:cNvPr>
                <p:cNvSpPr>
                  <a:spLocks/>
                </p:cNvSpPr>
                <p:nvPr/>
              </p:nvSpPr>
              <p:spPr bwMode="auto">
                <a:xfrm>
                  <a:off x="2807" y="2767"/>
                  <a:ext cx="512" cy="473"/>
                </a:xfrm>
                <a:custGeom>
                  <a:avLst/>
                  <a:gdLst/>
                  <a:ahLst/>
                  <a:cxnLst>
                    <a:cxn ang="0">
                      <a:pos x="0" y="312"/>
                    </a:cxn>
                    <a:cxn ang="0">
                      <a:pos x="757" y="1262"/>
                    </a:cxn>
                    <a:cxn ang="0">
                      <a:pos x="1364" y="0"/>
                    </a:cxn>
                    <a:cxn ang="0">
                      <a:pos x="0" y="312"/>
                    </a:cxn>
                  </a:cxnLst>
                  <a:rect l="0" t="0" r="r" b="b"/>
                  <a:pathLst>
                    <a:path w="1364" h="1262">
                      <a:moveTo>
                        <a:pt x="0" y="312"/>
                      </a:moveTo>
                      <a:cubicBezTo>
                        <a:pt x="94" y="727"/>
                        <a:pt x="373" y="1077"/>
                        <a:pt x="757" y="1262"/>
                      </a:cubicBezTo>
                      <a:lnTo>
                        <a:pt x="1364" y="0"/>
                      </a:lnTo>
                      <a:lnTo>
                        <a:pt x="0" y="312"/>
                      </a:lnTo>
                      <a:close/>
                    </a:path>
                  </a:pathLst>
                </a:custGeom>
                <a:solidFill>
                  <a:srgbClr val="E0301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16" name="Freeform 48">
                  <a:extLst>
                    <a:ext uri="{FF2B5EF4-FFF2-40B4-BE49-F238E27FC236}">
                      <a16:creationId xmlns:a16="http://schemas.microsoft.com/office/drawing/2014/main" id="{1F6A10FD-DFE4-4907-810D-1DF256761CF0}"/>
                    </a:ext>
                  </a:extLst>
                </p:cNvPr>
                <p:cNvSpPr>
                  <a:spLocks/>
                </p:cNvSpPr>
                <p:nvPr/>
              </p:nvSpPr>
              <p:spPr bwMode="auto">
                <a:xfrm>
                  <a:off x="2772" y="2440"/>
                  <a:ext cx="547" cy="444"/>
                </a:xfrm>
                <a:custGeom>
                  <a:avLst/>
                  <a:gdLst/>
                  <a:ahLst/>
                  <a:cxnLst>
                    <a:cxn ang="0">
                      <a:pos x="365" y="0"/>
                    </a:cxn>
                    <a:cxn ang="0">
                      <a:pos x="95" y="1184"/>
                    </a:cxn>
                    <a:cxn ang="0">
                      <a:pos x="1459" y="872"/>
                    </a:cxn>
                    <a:cxn ang="0">
                      <a:pos x="365" y="0"/>
                    </a:cxn>
                  </a:cxnLst>
                  <a:rect l="0" t="0" r="r" b="b"/>
                  <a:pathLst>
                    <a:path w="1459" h="1184">
                      <a:moveTo>
                        <a:pt x="365" y="0"/>
                      </a:moveTo>
                      <a:cubicBezTo>
                        <a:pt x="99" y="333"/>
                        <a:pt x="0" y="769"/>
                        <a:pt x="95" y="1184"/>
                      </a:cubicBezTo>
                      <a:lnTo>
                        <a:pt x="1459" y="872"/>
                      </a:lnTo>
                      <a:lnTo>
                        <a:pt x="365" y="0"/>
                      </a:lnTo>
                      <a:close/>
                    </a:path>
                  </a:pathLst>
                </a:custGeom>
                <a:solidFill>
                  <a:srgbClr val="DB536A"/>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17" name="Freeform 49">
                  <a:extLst>
                    <a:ext uri="{FF2B5EF4-FFF2-40B4-BE49-F238E27FC236}">
                      <a16:creationId xmlns:a16="http://schemas.microsoft.com/office/drawing/2014/main" id="{92505942-AD61-4B18-A018-469B93F674F5}"/>
                    </a:ext>
                  </a:extLst>
                </p:cNvPr>
                <p:cNvSpPr>
                  <a:spLocks/>
                </p:cNvSpPr>
                <p:nvPr/>
              </p:nvSpPr>
              <p:spPr bwMode="auto">
                <a:xfrm>
                  <a:off x="2909" y="2242"/>
                  <a:ext cx="410" cy="525"/>
                </a:xfrm>
                <a:custGeom>
                  <a:avLst/>
                  <a:gdLst/>
                  <a:ahLst/>
                  <a:cxnLst>
                    <a:cxn ang="0">
                      <a:pos x="1094" y="0"/>
                    </a:cxn>
                    <a:cxn ang="0">
                      <a:pos x="0" y="528"/>
                    </a:cxn>
                    <a:cxn ang="0">
                      <a:pos x="1094" y="1400"/>
                    </a:cxn>
                    <a:cxn ang="0">
                      <a:pos x="1094" y="0"/>
                    </a:cxn>
                  </a:cxnLst>
                  <a:rect l="0" t="0" r="r" b="b"/>
                  <a:pathLst>
                    <a:path w="1094" h="1400">
                      <a:moveTo>
                        <a:pt x="1094" y="0"/>
                      </a:moveTo>
                      <a:cubicBezTo>
                        <a:pt x="668" y="0"/>
                        <a:pt x="266" y="194"/>
                        <a:pt x="0" y="528"/>
                      </a:cubicBezTo>
                      <a:lnTo>
                        <a:pt x="1094" y="1400"/>
                      </a:lnTo>
                      <a:lnTo>
                        <a:pt x="1094" y="0"/>
                      </a:lnTo>
                      <a:close/>
                    </a:path>
                  </a:pathLst>
                </a:custGeom>
                <a:solidFill>
                  <a:srgbClr val="D04A02"/>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grpSp>
          <p:sp>
            <p:nvSpPr>
              <p:cNvPr id="92" name="Oval 91">
                <a:extLst>
                  <a:ext uri="{FF2B5EF4-FFF2-40B4-BE49-F238E27FC236}">
                    <a16:creationId xmlns:a16="http://schemas.microsoft.com/office/drawing/2014/main" id="{C4E3B274-7344-497A-A0E5-C89F6556016B}"/>
                  </a:ext>
                </a:extLst>
              </p:cNvPr>
              <p:cNvSpPr/>
              <p:nvPr/>
            </p:nvSpPr>
            <p:spPr bwMode="ltGray">
              <a:xfrm>
                <a:off x="4644441" y="1940232"/>
                <a:ext cx="3084923" cy="2783976"/>
              </a:xfrm>
              <a:prstGeom prst="ellipse">
                <a:avLst/>
              </a:prstGeom>
              <a:solidFill>
                <a:srgbClr val="FFFFFF"/>
              </a:solidFill>
              <a:ln w="3175" cap="sq" cmpd="sng" algn="ctr">
                <a:solidFill>
                  <a:srgbClr val="FFFFFF"/>
                </a:solidFill>
                <a:prstDash val="solid"/>
              </a:ln>
              <a:effectLst/>
            </p:spPr>
            <p:txBody>
              <a:bodyPr rtlCol="0" anchor="ctr"/>
              <a:lstStyle/>
              <a:p>
                <a:pPr algn="ctr">
                  <a:defRPr/>
                </a:pPr>
                <a:endParaRPr lang="en-GB" sz="545" kern="0" dirty="0">
                  <a:solidFill>
                    <a:srgbClr val="FFFFFF"/>
                  </a:solidFill>
                  <a:latin typeface="Arial"/>
                </a:endParaRPr>
              </a:p>
            </p:txBody>
          </p:sp>
          <p:grpSp>
            <p:nvGrpSpPr>
              <p:cNvPr id="8" name="Group 42">
                <a:extLst>
                  <a:ext uri="{FF2B5EF4-FFF2-40B4-BE49-F238E27FC236}">
                    <a16:creationId xmlns:a16="http://schemas.microsoft.com/office/drawing/2014/main" id="{F84F66B1-7D7B-4E00-B42D-BDAFB73B6508}"/>
                  </a:ext>
                </a:extLst>
              </p:cNvPr>
              <p:cNvGrpSpPr>
                <a:grpSpLocks noChangeAspect="1"/>
              </p:cNvGrpSpPr>
              <p:nvPr/>
            </p:nvGrpSpPr>
            <p:grpSpPr bwMode="auto">
              <a:xfrm>
                <a:off x="4691050" y="2014377"/>
                <a:ext cx="2991705" cy="2635687"/>
                <a:chOff x="2772" y="2242"/>
                <a:chExt cx="1094" cy="1068"/>
              </a:xfrm>
              <a:solidFill>
                <a:srgbClr val="C0BAA7"/>
              </a:solidFill>
            </p:grpSpPr>
            <p:sp>
              <p:nvSpPr>
                <p:cNvPr id="104" name="Freeform 43">
                  <a:extLst>
                    <a:ext uri="{FF2B5EF4-FFF2-40B4-BE49-F238E27FC236}">
                      <a16:creationId xmlns:a16="http://schemas.microsoft.com/office/drawing/2014/main" id="{61365ECC-6490-4914-B2C4-7683434C6BF2}"/>
                    </a:ext>
                  </a:extLst>
                </p:cNvPr>
                <p:cNvSpPr>
                  <a:spLocks/>
                </p:cNvSpPr>
                <p:nvPr/>
              </p:nvSpPr>
              <p:spPr bwMode="auto">
                <a:xfrm>
                  <a:off x="3319" y="2242"/>
                  <a:ext cx="411" cy="525"/>
                </a:xfrm>
                <a:custGeom>
                  <a:avLst/>
                  <a:gdLst/>
                  <a:ahLst/>
                  <a:cxnLst>
                    <a:cxn ang="0">
                      <a:pos x="1095" y="528"/>
                    </a:cxn>
                    <a:cxn ang="0">
                      <a:pos x="0" y="0"/>
                    </a:cxn>
                    <a:cxn ang="0">
                      <a:pos x="0" y="1400"/>
                    </a:cxn>
                    <a:cxn ang="0">
                      <a:pos x="1095" y="528"/>
                    </a:cxn>
                  </a:cxnLst>
                  <a:rect l="0" t="0" r="r" b="b"/>
                  <a:pathLst>
                    <a:path w="1095" h="1400">
                      <a:moveTo>
                        <a:pt x="1095" y="528"/>
                      </a:moveTo>
                      <a:cubicBezTo>
                        <a:pt x="829" y="194"/>
                        <a:pt x="427" y="0"/>
                        <a:pt x="0" y="0"/>
                      </a:cubicBezTo>
                      <a:lnTo>
                        <a:pt x="0" y="1400"/>
                      </a:lnTo>
                      <a:lnTo>
                        <a:pt x="1095" y="528"/>
                      </a:lnTo>
                      <a:close/>
                    </a:path>
                  </a:pathLst>
                </a:custGeom>
                <a:solidFill>
                  <a:srgbClr val="DEDED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750" kern="0" dirty="0">
                    <a:solidFill>
                      <a:srgbClr val="000000"/>
                    </a:solidFill>
                    <a:latin typeface="Arial"/>
                  </a:endParaRPr>
                </a:p>
              </p:txBody>
            </p:sp>
            <p:sp>
              <p:nvSpPr>
                <p:cNvPr id="105" name="Freeform 44">
                  <a:extLst>
                    <a:ext uri="{FF2B5EF4-FFF2-40B4-BE49-F238E27FC236}">
                      <a16:creationId xmlns:a16="http://schemas.microsoft.com/office/drawing/2014/main" id="{16032D53-373D-4D63-BBA2-CD01C99889E6}"/>
                    </a:ext>
                  </a:extLst>
                </p:cNvPr>
                <p:cNvSpPr>
                  <a:spLocks/>
                </p:cNvSpPr>
                <p:nvPr/>
              </p:nvSpPr>
              <p:spPr bwMode="auto">
                <a:xfrm>
                  <a:off x="3319" y="2440"/>
                  <a:ext cx="547" cy="444"/>
                </a:xfrm>
                <a:custGeom>
                  <a:avLst/>
                  <a:gdLst/>
                  <a:ahLst/>
                  <a:cxnLst>
                    <a:cxn ang="0">
                      <a:pos x="1365" y="1184"/>
                    </a:cxn>
                    <a:cxn ang="0">
                      <a:pos x="1095" y="0"/>
                    </a:cxn>
                    <a:cxn ang="0">
                      <a:pos x="0" y="872"/>
                    </a:cxn>
                    <a:cxn ang="0">
                      <a:pos x="1365" y="1184"/>
                    </a:cxn>
                  </a:cxnLst>
                  <a:rect l="0" t="0" r="r" b="b"/>
                  <a:pathLst>
                    <a:path w="1460" h="1184">
                      <a:moveTo>
                        <a:pt x="1365" y="1184"/>
                      </a:moveTo>
                      <a:cubicBezTo>
                        <a:pt x="1460" y="769"/>
                        <a:pt x="1361" y="333"/>
                        <a:pt x="1095" y="0"/>
                      </a:cubicBezTo>
                      <a:lnTo>
                        <a:pt x="0" y="872"/>
                      </a:lnTo>
                      <a:lnTo>
                        <a:pt x="1365" y="1184"/>
                      </a:lnTo>
                      <a:close/>
                    </a:path>
                  </a:pathLst>
                </a:custGeom>
                <a:solidFill>
                  <a:srgbClr val="DEDED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06" name="Freeform 45">
                  <a:extLst>
                    <a:ext uri="{FF2B5EF4-FFF2-40B4-BE49-F238E27FC236}">
                      <a16:creationId xmlns:a16="http://schemas.microsoft.com/office/drawing/2014/main" id="{4B879EBD-89BB-4D25-9297-CA17F8C9F3CE}"/>
                    </a:ext>
                  </a:extLst>
                </p:cNvPr>
                <p:cNvSpPr>
                  <a:spLocks/>
                </p:cNvSpPr>
                <p:nvPr/>
              </p:nvSpPr>
              <p:spPr bwMode="auto">
                <a:xfrm>
                  <a:off x="3319" y="2767"/>
                  <a:ext cx="512" cy="473"/>
                </a:xfrm>
                <a:custGeom>
                  <a:avLst/>
                  <a:gdLst/>
                  <a:ahLst/>
                  <a:cxnLst>
                    <a:cxn ang="0">
                      <a:pos x="608" y="1262"/>
                    </a:cxn>
                    <a:cxn ang="0">
                      <a:pos x="1365" y="312"/>
                    </a:cxn>
                    <a:cxn ang="0">
                      <a:pos x="0" y="0"/>
                    </a:cxn>
                    <a:cxn ang="0">
                      <a:pos x="608" y="1262"/>
                    </a:cxn>
                  </a:cxnLst>
                  <a:rect l="0" t="0" r="r" b="b"/>
                  <a:pathLst>
                    <a:path w="1365" h="1262">
                      <a:moveTo>
                        <a:pt x="608" y="1262"/>
                      </a:moveTo>
                      <a:cubicBezTo>
                        <a:pt x="992" y="1077"/>
                        <a:pt x="1271" y="727"/>
                        <a:pt x="1365" y="312"/>
                      </a:cubicBezTo>
                      <a:lnTo>
                        <a:pt x="0" y="0"/>
                      </a:lnTo>
                      <a:lnTo>
                        <a:pt x="608" y="1262"/>
                      </a:lnTo>
                      <a:close/>
                    </a:path>
                  </a:pathLst>
                </a:custGeom>
                <a:solidFill>
                  <a:srgbClr val="DEDED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07" name="Freeform 46">
                  <a:extLst>
                    <a:ext uri="{FF2B5EF4-FFF2-40B4-BE49-F238E27FC236}">
                      <a16:creationId xmlns:a16="http://schemas.microsoft.com/office/drawing/2014/main" id="{C758434F-B410-4EDE-BE3D-7723BFD5FA69}"/>
                    </a:ext>
                  </a:extLst>
                </p:cNvPr>
                <p:cNvSpPr>
                  <a:spLocks/>
                </p:cNvSpPr>
                <p:nvPr/>
              </p:nvSpPr>
              <p:spPr bwMode="auto">
                <a:xfrm>
                  <a:off x="3091" y="2767"/>
                  <a:ext cx="456" cy="543"/>
                </a:xfrm>
                <a:custGeom>
                  <a:avLst/>
                  <a:gdLst/>
                  <a:ahLst/>
                  <a:cxnLst>
                    <a:cxn ang="0">
                      <a:pos x="0" y="1262"/>
                    </a:cxn>
                    <a:cxn ang="0">
                      <a:pos x="1215" y="1262"/>
                    </a:cxn>
                    <a:cxn ang="0">
                      <a:pos x="607" y="0"/>
                    </a:cxn>
                    <a:cxn ang="0">
                      <a:pos x="0" y="1262"/>
                    </a:cxn>
                  </a:cxnLst>
                  <a:rect l="0" t="0" r="r" b="b"/>
                  <a:pathLst>
                    <a:path w="1215" h="1447">
                      <a:moveTo>
                        <a:pt x="0" y="1262"/>
                      </a:moveTo>
                      <a:cubicBezTo>
                        <a:pt x="384" y="1447"/>
                        <a:pt x="831" y="1447"/>
                        <a:pt x="1215" y="1262"/>
                      </a:cubicBezTo>
                      <a:lnTo>
                        <a:pt x="607" y="0"/>
                      </a:lnTo>
                      <a:lnTo>
                        <a:pt x="0" y="1262"/>
                      </a:lnTo>
                      <a:close/>
                    </a:path>
                  </a:pathLst>
                </a:custGeom>
                <a:solidFill>
                  <a:srgbClr val="DEDED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08" name="Freeform 47">
                  <a:extLst>
                    <a:ext uri="{FF2B5EF4-FFF2-40B4-BE49-F238E27FC236}">
                      <a16:creationId xmlns:a16="http://schemas.microsoft.com/office/drawing/2014/main" id="{B4860F22-A22E-431B-AF13-AFA7D669E0FB}"/>
                    </a:ext>
                  </a:extLst>
                </p:cNvPr>
                <p:cNvSpPr>
                  <a:spLocks/>
                </p:cNvSpPr>
                <p:nvPr/>
              </p:nvSpPr>
              <p:spPr bwMode="auto">
                <a:xfrm>
                  <a:off x="2807" y="2767"/>
                  <a:ext cx="512" cy="473"/>
                </a:xfrm>
                <a:custGeom>
                  <a:avLst/>
                  <a:gdLst/>
                  <a:ahLst/>
                  <a:cxnLst>
                    <a:cxn ang="0">
                      <a:pos x="0" y="312"/>
                    </a:cxn>
                    <a:cxn ang="0">
                      <a:pos x="757" y="1262"/>
                    </a:cxn>
                    <a:cxn ang="0">
                      <a:pos x="1364" y="0"/>
                    </a:cxn>
                    <a:cxn ang="0">
                      <a:pos x="0" y="312"/>
                    </a:cxn>
                  </a:cxnLst>
                  <a:rect l="0" t="0" r="r" b="b"/>
                  <a:pathLst>
                    <a:path w="1364" h="1262">
                      <a:moveTo>
                        <a:pt x="0" y="312"/>
                      </a:moveTo>
                      <a:cubicBezTo>
                        <a:pt x="94" y="727"/>
                        <a:pt x="373" y="1077"/>
                        <a:pt x="757" y="1262"/>
                      </a:cubicBezTo>
                      <a:lnTo>
                        <a:pt x="1364" y="0"/>
                      </a:lnTo>
                      <a:lnTo>
                        <a:pt x="0" y="312"/>
                      </a:lnTo>
                      <a:close/>
                    </a:path>
                  </a:pathLst>
                </a:custGeom>
                <a:solidFill>
                  <a:srgbClr val="DEDED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sp>
              <p:nvSpPr>
                <p:cNvPr id="109" name="Freeform 48">
                  <a:extLst>
                    <a:ext uri="{FF2B5EF4-FFF2-40B4-BE49-F238E27FC236}">
                      <a16:creationId xmlns:a16="http://schemas.microsoft.com/office/drawing/2014/main" id="{23310558-070B-4A6A-9A46-71C407A60E64}"/>
                    </a:ext>
                  </a:extLst>
                </p:cNvPr>
                <p:cNvSpPr>
                  <a:spLocks/>
                </p:cNvSpPr>
                <p:nvPr/>
              </p:nvSpPr>
              <p:spPr bwMode="auto">
                <a:xfrm>
                  <a:off x="2772" y="2440"/>
                  <a:ext cx="547" cy="444"/>
                </a:xfrm>
                <a:custGeom>
                  <a:avLst/>
                  <a:gdLst/>
                  <a:ahLst/>
                  <a:cxnLst>
                    <a:cxn ang="0">
                      <a:pos x="365" y="0"/>
                    </a:cxn>
                    <a:cxn ang="0">
                      <a:pos x="95" y="1184"/>
                    </a:cxn>
                    <a:cxn ang="0">
                      <a:pos x="1459" y="872"/>
                    </a:cxn>
                    <a:cxn ang="0">
                      <a:pos x="365" y="0"/>
                    </a:cxn>
                  </a:cxnLst>
                  <a:rect l="0" t="0" r="r" b="b"/>
                  <a:pathLst>
                    <a:path w="1459" h="1184">
                      <a:moveTo>
                        <a:pt x="365" y="0"/>
                      </a:moveTo>
                      <a:cubicBezTo>
                        <a:pt x="99" y="333"/>
                        <a:pt x="0" y="769"/>
                        <a:pt x="95" y="1184"/>
                      </a:cubicBezTo>
                      <a:lnTo>
                        <a:pt x="1459" y="872"/>
                      </a:lnTo>
                      <a:lnTo>
                        <a:pt x="365" y="0"/>
                      </a:lnTo>
                      <a:close/>
                    </a:path>
                  </a:pathLst>
                </a:custGeom>
                <a:solidFill>
                  <a:srgbClr val="DEDED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750" kern="0" dirty="0">
                    <a:solidFill>
                      <a:srgbClr val="000000"/>
                    </a:solidFill>
                    <a:latin typeface="Arial"/>
                  </a:endParaRPr>
                </a:p>
              </p:txBody>
            </p:sp>
            <p:sp>
              <p:nvSpPr>
                <p:cNvPr id="110" name="Freeform 49">
                  <a:extLst>
                    <a:ext uri="{FF2B5EF4-FFF2-40B4-BE49-F238E27FC236}">
                      <a16:creationId xmlns:a16="http://schemas.microsoft.com/office/drawing/2014/main" id="{5B6674E9-13AC-45B0-8A0C-507002C1E549}"/>
                    </a:ext>
                  </a:extLst>
                </p:cNvPr>
                <p:cNvSpPr>
                  <a:spLocks/>
                </p:cNvSpPr>
                <p:nvPr/>
              </p:nvSpPr>
              <p:spPr bwMode="auto">
                <a:xfrm>
                  <a:off x="2909" y="2242"/>
                  <a:ext cx="410" cy="525"/>
                </a:xfrm>
                <a:custGeom>
                  <a:avLst/>
                  <a:gdLst/>
                  <a:ahLst/>
                  <a:cxnLst>
                    <a:cxn ang="0">
                      <a:pos x="1094" y="0"/>
                    </a:cxn>
                    <a:cxn ang="0">
                      <a:pos x="0" y="528"/>
                    </a:cxn>
                    <a:cxn ang="0">
                      <a:pos x="1094" y="1400"/>
                    </a:cxn>
                    <a:cxn ang="0">
                      <a:pos x="1094" y="0"/>
                    </a:cxn>
                  </a:cxnLst>
                  <a:rect l="0" t="0" r="r" b="b"/>
                  <a:pathLst>
                    <a:path w="1094" h="1400">
                      <a:moveTo>
                        <a:pt x="1094" y="0"/>
                      </a:moveTo>
                      <a:cubicBezTo>
                        <a:pt x="668" y="0"/>
                        <a:pt x="266" y="194"/>
                        <a:pt x="0" y="528"/>
                      </a:cubicBezTo>
                      <a:lnTo>
                        <a:pt x="1094" y="1400"/>
                      </a:lnTo>
                      <a:lnTo>
                        <a:pt x="1094" y="0"/>
                      </a:lnTo>
                      <a:close/>
                    </a:path>
                  </a:pathLst>
                </a:custGeom>
                <a:solidFill>
                  <a:srgbClr val="DEDEDE"/>
                </a:solidFill>
                <a:ln w="38100">
                  <a:solidFill>
                    <a:srgbClr val="FFFFFF"/>
                  </a:solidFill>
                  <a:prstDash val="solid"/>
                  <a:round/>
                  <a:headEnd/>
                  <a:tailEnd/>
                </a:ln>
              </p:spPr>
              <p:txBody>
                <a:bodyPr vert="horz" wrap="square" lIns="40599" tIns="20300" rIns="40599" bIns="20300" numCol="1" anchor="t" anchorCtr="0" compatLnSpc="1">
                  <a:prstTxWarp prst="textNoShape">
                    <a:avLst/>
                  </a:prstTxWarp>
                </a:bodyPr>
                <a:lstStyle/>
                <a:p>
                  <a:pPr>
                    <a:defRPr/>
                  </a:pPr>
                  <a:endParaRPr lang="en-GB" sz="545" kern="0" dirty="0">
                    <a:solidFill>
                      <a:srgbClr val="000000"/>
                    </a:solidFill>
                    <a:latin typeface="Arial"/>
                  </a:endParaRPr>
                </a:p>
              </p:txBody>
            </p:sp>
          </p:grpSp>
          <p:sp>
            <p:nvSpPr>
              <p:cNvPr id="94" name="Oval 93">
                <a:extLst>
                  <a:ext uri="{FF2B5EF4-FFF2-40B4-BE49-F238E27FC236}">
                    <a16:creationId xmlns:a16="http://schemas.microsoft.com/office/drawing/2014/main" id="{55C602BE-7E80-4874-9FEA-AB3E5D69D1FE}"/>
                  </a:ext>
                </a:extLst>
              </p:cNvPr>
              <p:cNvSpPr/>
              <p:nvPr/>
            </p:nvSpPr>
            <p:spPr bwMode="ltGray">
              <a:xfrm>
                <a:off x="5361493" y="2587333"/>
                <a:ext cx="1650818" cy="1489774"/>
              </a:xfrm>
              <a:prstGeom prst="ellipse">
                <a:avLst/>
              </a:prstGeom>
              <a:solidFill>
                <a:srgbClr val="FFFFFF"/>
              </a:solidFill>
              <a:ln w="3175" cap="sq" cmpd="sng" algn="ctr">
                <a:solidFill>
                  <a:srgbClr val="FFFFFF"/>
                </a:solidFill>
                <a:prstDash val="solid"/>
              </a:ln>
              <a:effectLst/>
            </p:spPr>
            <p:txBody>
              <a:bodyPr rtlCol="0" anchor="ctr"/>
              <a:lstStyle/>
              <a:p>
                <a:pPr algn="ctr">
                  <a:defRPr/>
                </a:pPr>
                <a:endParaRPr lang="en-GB" sz="545" kern="0" dirty="0">
                  <a:solidFill>
                    <a:srgbClr val="FFFFFF"/>
                  </a:solidFill>
                  <a:latin typeface="Arial"/>
                </a:endParaRPr>
              </a:p>
            </p:txBody>
          </p:sp>
          <p:sp>
            <p:nvSpPr>
              <p:cNvPr id="95" name="TextBox 94">
                <a:extLst>
                  <a:ext uri="{FF2B5EF4-FFF2-40B4-BE49-F238E27FC236}">
                    <a16:creationId xmlns:a16="http://schemas.microsoft.com/office/drawing/2014/main" id="{4CB550DC-576B-435F-84CC-6999660E3594}"/>
                  </a:ext>
                </a:extLst>
              </p:cNvPr>
              <p:cNvSpPr txBox="1"/>
              <p:nvPr/>
            </p:nvSpPr>
            <p:spPr>
              <a:xfrm rot="20033497">
                <a:off x="5370738" y="2551136"/>
                <a:ext cx="1184113" cy="456684"/>
              </a:xfrm>
              <a:prstGeom prst="rect">
                <a:avLst/>
              </a:prstGeom>
              <a:noFill/>
              <a:ln w="38100">
                <a:noFill/>
              </a:ln>
            </p:spPr>
            <p:txBody>
              <a:bodyPr spcFirstLastPara="1" vert="horz" wrap="square" lIns="0" tIns="0" rIns="0" bIns="0" numCol="1" rtlCol="0">
                <a:prstTxWarp prst="textArchUp">
                  <a:avLst/>
                </a:prstTxWarp>
                <a:noAutofit/>
              </a:bodyPr>
              <a:lstStyle/>
              <a:p>
                <a:pPr indent="-121785" algn="ctr">
                  <a:spcAft>
                    <a:spcPts val="400"/>
                  </a:spcAft>
                  <a:defRPr/>
                </a:pPr>
                <a:r>
                  <a:rPr lang="en-GB" sz="788" b="1" kern="0" dirty="0">
                    <a:solidFill>
                      <a:srgbClr val="000000"/>
                    </a:solidFill>
                    <a:latin typeface="Arial"/>
                  </a:rPr>
                  <a:t>Senior </a:t>
                </a:r>
              </a:p>
              <a:p>
                <a:pPr indent="-121785" algn="ctr">
                  <a:spcAft>
                    <a:spcPts val="400"/>
                  </a:spcAft>
                  <a:defRPr/>
                </a:pPr>
                <a:r>
                  <a:rPr lang="en-GB" sz="788" b="1" kern="0" dirty="0">
                    <a:solidFill>
                      <a:srgbClr val="000000"/>
                    </a:solidFill>
                    <a:latin typeface="Arial"/>
                  </a:rPr>
                  <a:t>Citizen </a:t>
                </a:r>
              </a:p>
            </p:txBody>
          </p:sp>
          <p:sp>
            <p:nvSpPr>
              <p:cNvPr id="97" name="TextBox 96">
                <a:extLst>
                  <a:ext uri="{FF2B5EF4-FFF2-40B4-BE49-F238E27FC236}">
                    <a16:creationId xmlns:a16="http://schemas.microsoft.com/office/drawing/2014/main" id="{10498747-6684-47D5-A1AF-18FB66079815}"/>
                  </a:ext>
                </a:extLst>
              </p:cNvPr>
              <p:cNvSpPr txBox="1"/>
              <p:nvPr/>
            </p:nvSpPr>
            <p:spPr>
              <a:xfrm rot="16994364">
                <a:off x="4771010" y="2899663"/>
                <a:ext cx="1085718" cy="506052"/>
              </a:xfrm>
              <a:prstGeom prst="rect">
                <a:avLst/>
              </a:prstGeom>
              <a:noFill/>
              <a:ln w="38100">
                <a:noFill/>
              </a:ln>
            </p:spPr>
            <p:txBody>
              <a:bodyPr spcFirstLastPara="1" vert="horz" wrap="square" lIns="0" tIns="0" rIns="0" bIns="0" numCol="1" rtlCol="0">
                <a:prstTxWarp prst="textArchUp">
                  <a:avLst/>
                </a:prstTxWarp>
                <a:noAutofit/>
              </a:bodyPr>
              <a:lstStyle/>
              <a:p>
                <a:pPr indent="-121785" algn="ctr">
                  <a:spcAft>
                    <a:spcPts val="400"/>
                  </a:spcAft>
                  <a:defRPr/>
                </a:pPr>
                <a:r>
                  <a:rPr lang="en-GB" sz="900" b="1" kern="0" dirty="0">
                    <a:solidFill>
                      <a:srgbClr val="000000"/>
                    </a:solidFill>
                    <a:latin typeface="Arial"/>
                  </a:rPr>
                  <a:t>Labour</a:t>
                </a:r>
                <a:endParaRPr lang="en-GB" sz="750" b="1" kern="0" dirty="0">
                  <a:solidFill>
                    <a:srgbClr val="000000"/>
                  </a:solidFill>
                  <a:latin typeface="Arial"/>
                </a:endParaRPr>
              </a:p>
            </p:txBody>
          </p:sp>
          <p:sp>
            <p:nvSpPr>
              <p:cNvPr id="98" name="TextBox 97">
                <a:extLst>
                  <a:ext uri="{FF2B5EF4-FFF2-40B4-BE49-F238E27FC236}">
                    <a16:creationId xmlns:a16="http://schemas.microsoft.com/office/drawing/2014/main" id="{09E4909C-33DF-4DDC-A207-0AB3CA87D056}"/>
                  </a:ext>
                </a:extLst>
              </p:cNvPr>
              <p:cNvSpPr txBox="1"/>
              <p:nvPr/>
            </p:nvSpPr>
            <p:spPr>
              <a:xfrm rot="4552513">
                <a:off x="6543707" y="2884119"/>
                <a:ext cx="1085718" cy="506052"/>
              </a:xfrm>
              <a:prstGeom prst="rect">
                <a:avLst/>
              </a:prstGeom>
              <a:noFill/>
              <a:ln w="38100">
                <a:noFill/>
              </a:ln>
            </p:spPr>
            <p:txBody>
              <a:bodyPr spcFirstLastPara="1" vert="horz" wrap="square" lIns="0" tIns="0" rIns="0" bIns="0" numCol="1" rtlCol="0">
                <a:prstTxWarp prst="textArchUp">
                  <a:avLst/>
                </a:prstTxWarp>
                <a:noAutofit/>
              </a:bodyPr>
              <a:lstStyle/>
              <a:p>
                <a:pPr indent="-121785" algn="ctr">
                  <a:spcAft>
                    <a:spcPts val="400"/>
                  </a:spcAft>
                  <a:defRPr/>
                </a:pPr>
                <a:r>
                  <a:rPr lang="en-GB" sz="900" b="1" kern="0" dirty="0">
                    <a:solidFill>
                      <a:srgbClr val="000000"/>
                    </a:solidFill>
                    <a:latin typeface="Arial"/>
                  </a:rPr>
                  <a:t>Youth </a:t>
                </a:r>
              </a:p>
            </p:txBody>
          </p:sp>
          <p:sp>
            <p:nvSpPr>
              <p:cNvPr id="99" name="TextBox 98">
                <a:extLst>
                  <a:ext uri="{FF2B5EF4-FFF2-40B4-BE49-F238E27FC236}">
                    <a16:creationId xmlns:a16="http://schemas.microsoft.com/office/drawing/2014/main" id="{FFAB7A50-A02F-4DC5-8006-2FB0F07927D0}"/>
                  </a:ext>
                </a:extLst>
              </p:cNvPr>
              <p:cNvSpPr txBox="1"/>
              <p:nvPr/>
            </p:nvSpPr>
            <p:spPr>
              <a:xfrm rot="3139567">
                <a:off x="4844256" y="3691752"/>
                <a:ext cx="1085718" cy="506052"/>
              </a:xfrm>
              <a:prstGeom prst="rect">
                <a:avLst/>
              </a:prstGeom>
              <a:noFill/>
              <a:ln w="38100">
                <a:noFill/>
              </a:ln>
            </p:spPr>
            <p:txBody>
              <a:bodyPr spcFirstLastPara="1" vert="horz" wrap="square" lIns="0" tIns="0" rIns="0" bIns="0" numCol="1" rtlCol="0">
                <a:prstTxWarp prst="textArchDown">
                  <a:avLst/>
                </a:prstTxWarp>
                <a:noAutofit/>
              </a:bodyPr>
              <a:lstStyle/>
              <a:p>
                <a:pPr indent="-121785" algn="ctr">
                  <a:spcAft>
                    <a:spcPts val="400"/>
                  </a:spcAft>
                  <a:defRPr/>
                </a:pPr>
                <a:r>
                  <a:rPr lang="en-GB" sz="900" b="1" kern="0" dirty="0">
                    <a:solidFill>
                      <a:srgbClr val="000000"/>
                    </a:solidFill>
                    <a:latin typeface="Arial"/>
                  </a:rPr>
                  <a:t>Women</a:t>
                </a:r>
              </a:p>
            </p:txBody>
          </p:sp>
          <p:sp>
            <p:nvSpPr>
              <p:cNvPr id="101" name="TextBox 100">
                <a:extLst>
                  <a:ext uri="{FF2B5EF4-FFF2-40B4-BE49-F238E27FC236}">
                    <a16:creationId xmlns:a16="http://schemas.microsoft.com/office/drawing/2014/main" id="{C6634813-354A-4762-9C02-D391AD122351}"/>
                  </a:ext>
                </a:extLst>
              </p:cNvPr>
              <p:cNvSpPr txBox="1"/>
              <p:nvPr/>
            </p:nvSpPr>
            <p:spPr>
              <a:xfrm rot="18630318">
                <a:off x="6471429" y="3683595"/>
                <a:ext cx="1085718" cy="506052"/>
              </a:xfrm>
              <a:prstGeom prst="rect">
                <a:avLst/>
              </a:prstGeom>
              <a:noFill/>
              <a:ln w="38100">
                <a:noFill/>
              </a:ln>
            </p:spPr>
            <p:txBody>
              <a:bodyPr spcFirstLastPara="1" vert="horz" wrap="square" lIns="0" tIns="0" rIns="0" bIns="0" numCol="1" rtlCol="0">
                <a:prstTxWarp prst="textArchDown">
                  <a:avLst/>
                </a:prstTxWarp>
                <a:noAutofit/>
              </a:bodyPr>
              <a:lstStyle/>
              <a:p>
                <a:pPr indent="-121785" algn="ctr">
                  <a:spcAft>
                    <a:spcPts val="400"/>
                  </a:spcAft>
                  <a:defRPr/>
                </a:pPr>
                <a:r>
                  <a:rPr lang="en-GB" sz="900" b="1" kern="0" dirty="0">
                    <a:solidFill>
                      <a:srgbClr val="000000"/>
                    </a:solidFill>
                    <a:latin typeface="Arial"/>
                  </a:rPr>
                  <a:t>Farmers</a:t>
                </a:r>
              </a:p>
            </p:txBody>
          </p:sp>
          <p:sp>
            <p:nvSpPr>
              <p:cNvPr id="102" name="7-Point Star 118">
                <a:extLst>
                  <a:ext uri="{FF2B5EF4-FFF2-40B4-BE49-F238E27FC236}">
                    <a16:creationId xmlns:a16="http://schemas.microsoft.com/office/drawing/2014/main" id="{F25878BE-82F0-436D-874C-9AD22F5B4AA1}"/>
                  </a:ext>
                </a:extLst>
              </p:cNvPr>
              <p:cNvSpPr/>
              <p:nvPr/>
            </p:nvSpPr>
            <p:spPr bwMode="ltGray">
              <a:xfrm rot="1505041">
                <a:off x="5473590" y="2623873"/>
                <a:ext cx="1479376" cy="1352365"/>
              </a:xfrm>
              <a:prstGeom prst="star7">
                <a:avLst>
                  <a:gd name="adj" fmla="val 28443"/>
                  <a:gd name="hf" fmla="val 102572"/>
                  <a:gd name="vf" fmla="val 105210"/>
                </a:avLst>
              </a:prstGeom>
              <a:solidFill>
                <a:srgbClr val="7D7D7D">
                  <a:lumMod val="40000"/>
                  <a:lumOff val="60000"/>
                </a:srgbClr>
              </a:solidFill>
              <a:ln w="3175" cap="sq" cmpd="sng" algn="ctr">
                <a:noFill/>
                <a:prstDash val="solid"/>
              </a:ln>
              <a:effectLst/>
            </p:spPr>
            <p:txBody>
              <a:bodyPr rtlCol="0" anchor="ctr"/>
              <a:lstStyle/>
              <a:p>
                <a:pPr algn="ctr">
                  <a:defRPr/>
                </a:pPr>
                <a:endParaRPr lang="en-GB" sz="545" kern="0" dirty="0">
                  <a:solidFill>
                    <a:srgbClr val="FFFFFF"/>
                  </a:solidFill>
                  <a:latin typeface="Arial"/>
                </a:endParaRPr>
              </a:p>
            </p:txBody>
          </p:sp>
          <p:sp>
            <p:nvSpPr>
              <p:cNvPr id="103" name="Oval 102">
                <a:extLst>
                  <a:ext uri="{FF2B5EF4-FFF2-40B4-BE49-F238E27FC236}">
                    <a16:creationId xmlns:a16="http://schemas.microsoft.com/office/drawing/2014/main" id="{945AFACA-CA73-4524-9603-1A3A00856A82}"/>
                  </a:ext>
                </a:extLst>
              </p:cNvPr>
              <p:cNvSpPr/>
              <p:nvPr/>
            </p:nvSpPr>
            <p:spPr bwMode="ltGray">
              <a:xfrm>
                <a:off x="5574101" y="2779199"/>
                <a:ext cx="1225604" cy="1106041"/>
              </a:xfrm>
              <a:prstGeom prst="ellipse">
                <a:avLst/>
              </a:prstGeom>
              <a:solidFill>
                <a:srgbClr val="7D7D7D">
                  <a:lumMod val="60000"/>
                  <a:lumOff val="40000"/>
                </a:srgbClr>
              </a:solidFill>
              <a:ln w="57150" cap="sq" cmpd="sng" algn="ctr">
                <a:noFill/>
                <a:prstDash val="solid"/>
              </a:ln>
              <a:effectLst/>
            </p:spPr>
            <p:txBody>
              <a:bodyPr lIns="0" rIns="0" rtlCol="0" anchor="ctr"/>
              <a:lstStyle/>
              <a:p>
                <a:pPr algn="ctr">
                  <a:defRPr/>
                </a:pPr>
                <a:r>
                  <a:rPr lang="en-GB" sz="1454" b="1" i="1" kern="0" dirty="0">
                    <a:solidFill>
                      <a:srgbClr val="C00000"/>
                    </a:solidFill>
                    <a:latin typeface="Georgia" panose="02040502050405020303" pitchFamily="18" charset="0"/>
                  </a:rPr>
                  <a:t>850</a:t>
                </a:r>
                <a:endParaRPr lang="en-GB" sz="727" b="1" kern="0" dirty="0">
                  <a:solidFill>
                    <a:srgbClr val="877E62">
                      <a:lumMod val="50000"/>
                    </a:srgbClr>
                  </a:solidFill>
                  <a:latin typeface="Arial"/>
                </a:endParaRPr>
              </a:p>
              <a:p>
                <a:pPr algn="ctr">
                  <a:defRPr/>
                </a:pPr>
                <a:r>
                  <a:rPr lang="en-GB" sz="750" b="1" i="1" kern="0" dirty="0">
                    <a:solidFill>
                      <a:srgbClr val="877E62">
                        <a:lumMod val="50000"/>
                      </a:srgbClr>
                    </a:solidFill>
                    <a:latin typeface="Arial"/>
                  </a:rPr>
                  <a:t>Live Services</a:t>
                </a:r>
              </a:p>
              <a:p>
                <a:pPr algn="ctr">
                  <a:defRPr/>
                </a:pPr>
                <a:endParaRPr lang="en-GB" sz="545" i="1" kern="0" dirty="0">
                  <a:solidFill>
                    <a:srgbClr val="FFFFFF"/>
                  </a:solidFill>
                  <a:latin typeface="Arial"/>
                </a:endParaRPr>
              </a:p>
            </p:txBody>
          </p:sp>
        </p:grpSp>
        <p:grpSp>
          <p:nvGrpSpPr>
            <p:cNvPr id="9" name="Group 21">
              <a:extLst>
                <a:ext uri="{FF2B5EF4-FFF2-40B4-BE49-F238E27FC236}">
                  <a16:creationId xmlns:a16="http://schemas.microsoft.com/office/drawing/2014/main" id="{6A45599E-0DE5-464F-B0B1-9F3CF0C453A5}"/>
                </a:ext>
              </a:extLst>
            </p:cNvPr>
            <p:cNvGrpSpPr/>
            <p:nvPr/>
          </p:nvGrpSpPr>
          <p:grpSpPr>
            <a:xfrm>
              <a:off x="519019" y="1318177"/>
              <a:ext cx="3431756" cy="5835985"/>
              <a:chOff x="519019" y="1318177"/>
              <a:chExt cx="3431756" cy="5835985"/>
            </a:xfrm>
          </p:grpSpPr>
          <p:sp>
            <p:nvSpPr>
              <p:cNvPr id="81" name="AutoShape 3">
                <a:extLst>
                  <a:ext uri="{FF2B5EF4-FFF2-40B4-BE49-F238E27FC236}">
                    <a16:creationId xmlns:a16="http://schemas.microsoft.com/office/drawing/2014/main" id="{DD103A22-EFE3-458C-806E-69949CDBB4AA}"/>
                  </a:ext>
                </a:extLst>
              </p:cNvPr>
              <p:cNvSpPr>
                <a:spLocks noChangeArrowheads="1"/>
              </p:cNvSpPr>
              <p:nvPr/>
            </p:nvSpPr>
            <p:spPr bwMode="auto">
              <a:xfrm rot="16200000" flipH="1">
                <a:off x="2044765" y="-194008"/>
                <a:ext cx="237744" cy="3262114"/>
              </a:xfrm>
              <a:prstGeom prst="rect">
                <a:avLst/>
              </a:prstGeom>
              <a:solidFill>
                <a:srgbClr val="D04A02"/>
              </a:solidFill>
              <a:ln w="12700">
                <a:solidFill>
                  <a:srgbClr val="D04A02"/>
                </a:solidFill>
                <a:miter lim="800000"/>
                <a:headEnd/>
                <a:tailEnd/>
              </a:ln>
            </p:spPr>
            <p:txBody>
              <a:bodyPr vert="eaVert" lIns="23156" tIns="23156" rIns="23156" bIns="23156" anchor="ctr">
                <a:noAutofit/>
              </a:bodyPr>
              <a:lstStyle/>
              <a:p>
                <a:pPr algn="ctr" defTabSz="463035" eaLnBrk="0" hangingPunct="0">
                  <a:spcAft>
                    <a:spcPts val="178"/>
                  </a:spcAft>
                  <a:defRPr/>
                </a:pPr>
                <a:r>
                  <a:rPr lang="en-GB" sz="825" b="1" kern="0" dirty="0">
                    <a:solidFill>
                      <a:srgbClr val="FFFFFF"/>
                    </a:solidFill>
                    <a:latin typeface="Arial"/>
                    <a:cs typeface="Arial" pitchFamily="34" charset="0"/>
                  </a:rPr>
                  <a:t>Senior Citizen Welfare Services</a:t>
                </a:r>
              </a:p>
            </p:txBody>
          </p:sp>
          <p:grpSp>
            <p:nvGrpSpPr>
              <p:cNvPr id="10" name="Group 81">
                <a:extLst>
                  <a:ext uri="{FF2B5EF4-FFF2-40B4-BE49-F238E27FC236}">
                    <a16:creationId xmlns:a16="http://schemas.microsoft.com/office/drawing/2014/main" id="{2364809B-A4D7-4D74-BCA7-DABB2828EA66}"/>
                  </a:ext>
                </a:extLst>
              </p:cNvPr>
              <p:cNvGrpSpPr/>
              <p:nvPr/>
            </p:nvGrpSpPr>
            <p:grpSpPr>
              <a:xfrm>
                <a:off x="519019" y="1546829"/>
                <a:ext cx="3431756" cy="5607333"/>
                <a:chOff x="533282" y="1363949"/>
                <a:chExt cx="3431756" cy="5607333"/>
              </a:xfrm>
            </p:grpSpPr>
            <p:sp>
              <p:nvSpPr>
                <p:cNvPr id="83" name="AutoShape 3">
                  <a:extLst>
                    <a:ext uri="{FF2B5EF4-FFF2-40B4-BE49-F238E27FC236}">
                      <a16:creationId xmlns:a16="http://schemas.microsoft.com/office/drawing/2014/main" id="{AF31191E-2AA7-46C1-AE53-B50BF5AA2482}"/>
                    </a:ext>
                  </a:extLst>
                </p:cNvPr>
                <p:cNvSpPr>
                  <a:spLocks noChangeArrowheads="1"/>
                </p:cNvSpPr>
                <p:nvPr/>
              </p:nvSpPr>
              <p:spPr bwMode="auto">
                <a:xfrm rot="16200000" flipH="1">
                  <a:off x="2057016" y="1518287"/>
                  <a:ext cx="237744" cy="3285206"/>
                </a:xfrm>
                <a:prstGeom prst="rect">
                  <a:avLst/>
                </a:prstGeom>
                <a:solidFill>
                  <a:srgbClr val="DB536A"/>
                </a:solidFill>
                <a:ln w="12700">
                  <a:solidFill>
                    <a:srgbClr val="DB536A"/>
                  </a:solidFill>
                  <a:miter lim="800000"/>
                  <a:headEnd/>
                  <a:tailEnd/>
                </a:ln>
              </p:spPr>
              <p:txBody>
                <a:bodyPr vert="eaVert" lIns="23156" tIns="23156" rIns="23156" bIns="23156" anchor="ctr">
                  <a:noAutofit/>
                </a:bodyPr>
                <a:lstStyle/>
                <a:p>
                  <a:pPr algn="ctr" defTabSz="463035" eaLnBrk="0" hangingPunct="0">
                    <a:spcAft>
                      <a:spcPts val="178"/>
                    </a:spcAft>
                    <a:defRPr/>
                  </a:pPr>
                  <a:r>
                    <a:rPr lang="en-GB" sz="825" b="1" kern="0" dirty="0">
                      <a:solidFill>
                        <a:srgbClr val="FFFFFF"/>
                      </a:solidFill>
                      <a:latin typeface="Arial"/>
                      <a:cs typeface="Arial" pitchFamily="34" charset="0"/>
                    </a:rPr>
                    <a:t>Labour Centric Services</a:t>
                  </a:r>
                </a:p>
              </p:txBody>
            </p:sp>
            <p:sp>
              <p:nvSpPr>
                <p:cNvPr id="84" name="Chevron 3">
                  <a:extLst>
                    <a:ext uri="{FF2B5EF4-FFF2-40B4-BE49-F238E27FC236}">
                      <a16:creationId xmlns:a16="http://schemas.microsoft.com/office/drawing/2014/main" id="{DE3A8912-0AE0-4A0A-9400-6138FD2C39FB}"/>
                    </a:ext>
                  </a:extLst>
                </p:cNvPr>
                <p:cNvSpPr/>
                <p:nvPr/>
              </p:nvSpPr>
              <p:spPr>
                <a:xfrm rot="16200000" flipH="1">
                  <a:off x="1361106" y="2451939"/>
                  <a:ext cx="1629560" cy="3285207"/>
                </a:xfrm>
                <a:prstGeom prst="rect">
                  <a:avLst/>
                </a:prstGeom>
                <a:noFill/>
                <a:ln w="12700">
                  <a:solidFill>
                    <a:srgbClr val="DB536A"/>
                  </a:solidFill>
                </a:ln>
                <a:effectLst/>
              </p:spPr>
              <p:txBody>
                <a:bodyPr rtlCol="0" anchor="ctr"/>
                <a:lstStyle/>
                <a:p>
                  <a:pPr algn="ctr">
                    <a:defRPr/>
                  </a:pPr>
                  <a:endParaRPr lang="en-US" sz="623" kern="0" dirty="0">
                    <a:solidFill>
                      <a:srgbClr val="000000"/>
                    </a:solidFill>
                    <a:latin typeface="Arial"/>
                  </a:endParaRPr>
                </a:p>
              </p:txBody>
            </p:sp>
            <p:sp>
              <p:nvSpPr>
                <p:cNvPr id="85" name="Rectangle 11">
                  <a:extLst>
                    <a:ext uri="{FF2B5EF4-FFF2-40B4-BE49-F238E27FC236}">
                      <a16:creationId xmlns:a16="http://schemas.microsoft.com/office/drawing/2014/main" id="{8773F9D6-4CDD-41D5-8906-3CBC4E2216FB}"/>
                    </a:ext>
                  </a:extLst>
                </p:cNvPr>
                <p:cNvSpPr>
                  <a:spLocks noChangeArrowheads="1"/>
                </p:cNvSpPr>
                <p:nvPr/>
              </p:nvSpPr>
              <p:spPr bwMode="auto">
                <a:xfrm>
                  <a:off x="623758" y="3335974"/>
                  <a:ext cx="3341280" cy="1539604"/>
                </a:xfrm>
                <a:prstGeom prst="rect">
                  <a:avLst/>
                </a:prstGeom>
                <a:noFill/>
                <a:ln w="12700">
                  <a:noFill/>
                  <a:miter lim="800000"/>
                  <a:headEnd/>
                  <a:tailEnd/>
                </a:ln>
                <a:effectLst/>
              </p:spPr>
              <p:txBody>
                <a:bodyPr lIns="0" tIns="0" rIns="0" bIns="0">
                  <a:noAutofit/>
                </a:bodyPr>
                <a:lstStyle/>
                <a:p>
                  <a:pPr marL="89021" indent="-89021" defTabSz="441892">
                    <a:spcAft>
                      <a:spcPts val="178"/>
                    </a:spcAft>
                    <a:buFont typeface="Arial" panose="020B0604020202020204" pitchFamily="34" charset="0"/>
                    <a:buChar char="•"/>
                    <a:defRPr/>
                  </a:pPr>
                  <a:r>
                    <a:rPr lang="en-US" sz="825" b="1" kern="0" dirty="0">
                      <a:solidFill>
                        <a:srgbClr val="DB536A"/>
                      </a:solidFill>
                      <a:latin typeface="Arial"/>
                      <a:cs typeface="Arial" pitchFamily="34" charset="0"/>
                    </a:rPr>
                    <a:t>Assistances to </a:t>
                  </a:r>
                  <a:r>
                    <a:rPr lang="en-US" sz="825" b="1" kern="0" dirty="0" err="1">
                      <a:solidFill>
                        <a:srgbClr val="DB536A"/>
                      </a:solidFill>
                      <a:latin typeface="Arial"/>
                      <a:cs typeface="Arial" pitchFamily="34" charset="0"/>
                    </a:rPr>
                    <a:t>labourers</a:t>
                  </a:r>
                  <a:r>
                    <a:rPr lang="en-US" sz="825" b="1" kern="0" dirty="0">
                      <a:solidFill>
                        <a:srgbClr val="DB536A"/>
                      </a:solidFill>
                      <a:latin typeface="Arial"/>
                      <a:cs typeface="Arial" pitchFamily="34" charset="0"/>
                    </a:rPr>
                    <a:t> for education, funeral, accident, marriage etc.</a:t>
                  </a:r>
                </a:p>
                <a:p>
                  <a:pPr marL="89021" indent="-89021" defTabSz="441892">
                    <a:spcAft>
                      <a:spcPts val="178"/>
                    </a:spcAft>
                    <a:buFont typeface="Arial" panose="020B0604020202020204" pitchFamily="34" charset="0"/>
                    <a:buChar char="•"/>
                    <a:defRPr/>
                  </a:pPr>
                  <a:r>
                    <a:rPr lang="en-US" sz="825" b="1" kern="0" dirty="0">
                      <a:solidFill>
                        <a:srgbClr val="DB536A"/>
                      </a:solidFill>
                      <a:latin typeface="Arial"/>
                      <a:cs typeface="Arial" pitchFamily="34" charset="0"/>
                    </a:rPr>
                    <a:t>Pension schemes </a:t>
                  </a:r>
                </a:p>
                <a:p>
                  <a:pPr marL="89021" indent="-89021" defTabSz="441892">
                    <a:spcAft>
                      <a:spcPts val="178"/>
                    </a:spcAft>
                    <a:buFont typeface="Arial" panose="020B0604020202020204" pitchFamily="34" charset="0"/>
                    <a:buChar char="•"/>
                    <a:defRPr/>
                  </a:pPr>
                  <a:r>
                    <a:rPr lang="en-US" sz="825" b="1" kern="0" dirty="0">
                      <a:solidFill>
                        <a:srgbClr val="DB536A"/>
                      </a:solidFill>
                      <a:latin typeface="Arial"/>
                      <a:cs typeface="Arial" pitchFamily="34" charset="0"/>
                    </a:rPr>
                    <a:t>Issue of duplicate identity card</a:t>
                  </a:r>
                </a:p>
                <a:p>
                  <a:pPr marL="89021" indent="-89021" defTabSz="441892">
                    <a:spcAft>
                      <a:spcPts val="178"/>
                    </a:spcAft>
                    <a:buFont typeface="Arial" panose="020B0604020202020204" pitchFamily="34" charset="0"/>
                    <a:buChar char="•"/>
                    <a:defRPr/>
                  </a:pPr>
                  <a:r>
                    <a:rPr lang="en-US" sz="825" b="1" kern="0" dirty="0">
                      <a:solidFill>
                        <a:srgbClr val="DB536A"/>
                      </a:solidFill>
                      <a:latin typeface="Arial"/>
                      <a:cs typeface="Arial" pitchFamily="34" charset="0"/>
                    </a:rPr>
                    <a:t>Taayii Magu sahaya hastha</a:t>
                  </a:r>
                </a:p>
              </p:txBody>
            </p:sp>
            <p:sp>
              <p:nvSpPr>
                <p:cNvPr id="86" name="Chevron 3">
                  <a:extLst>
                    <a:ext uri="{FF2B5EF4-FFF2-40B4-BE49-F238E27FC236}">
                      <a16:creationId xmlns:a16="http://schemas.microsoft.com/office/drawing/2014/main" id="{C2ADECB6-91A4-4926-8DC5-933C11772EE2}"/>
                    </a:ext>
                  </a:extLst>
                </p:cNvPr>
                <p:cNvSpPr/>
                <p:nvPr/>
              </p:nvSpPr>
              <p:spPr>
                <a:xfrm rot="16200000" flipH="1">
                  <a:off x="1553562" y="357228"/>
                  <a:ext cx="1248671" cy="3262114"/>
                </a:xfrm>
                <a:prstGeom prst="rect">
                  <a:avLst/>
                </a:prstGeom>
                <a:noFill/>
                <a:ln w="12700">
                  <a:solidFill>
                    <a:srgbClr val="D04A02"/>
                  </a:solidFill>
                </a:ln>
                <a:effectLst/>
              </p:spPr>
              <p:txBody>
                <a:bodyPr rtlCol="0" anchor="ctr"/>
                <a:lstStyle/>
                <a:p>
                  <a:pPr algn="ctr">
                    <a:defRPr/>
                  </a:pPr>
                  <a:endParaRPr lang="en-US" sz="623" kern="0" dirty="0">
                    <a:solidFill>
                      <a:srgbClr val="000000"/>
                    </a:solidFill>
                    <a:latin typeface="Arial"/>
                  </a:endParaRPr>
                </a:p>
              </p:txBody>
            </p:sp>
            <p:sp>
              <p:nvSpPr>
                <p:cNvPr id="87" name="Rectangle 11">
                  <a:extLst>
                    <a:ext uri="{FF2B5EF4-FFF2-40B4-BE49-F238E27FC236}">
                      <a16:creationId xmlns:a16="http://schemas.microsoft.com/office/drawing/2014/main" id="{9EF4052F-18DF-430C-993B-487729D4E05E}"/>
                    </a:ext>
                  </a:extLst>
                </p:cNvPr>
                <p:cNvSpPr>
                  <a:spLocks noChangeArrowheads="1"/>
                </p:cNvSpPr>
                <p:nvPr/>
              </p:nvSpPr>
              <p:spPr bwMode="auto">
                <a:xfrm>
                  <a:off x="623756" y="1439787"/>
                  <a:ext cx="3137975" cy="1486069"/>
                </a:xfrm>
                <a:prstGeom prst="rect">
                  <a:avLst/>
                </a:prstGeom>
                <a:noFill/>
                <a:ln w="12700">
                  <a:noFill/>
                  <a:miter lim="800000"/>
                  <a:headEnd/>
                  <a:tailEnd/>
                </a:ln>
                <a:effectLst/>
              </p:spPr>
              <p:txBody>
                <a:bodyPr lIns="0" tIns="0" rIns="0" bIns="0">
                  <a:noAutofit/>
                </a:bodyPr>
                <a:lstStyle/>
                <a:p>
                  <a:pPr marL="89021" indent="-89021" defTabSz="441892">
                    <a:spcAft>
                      <a:spcPts val="178"/>
                    </a:spcAft>
                    <a:buFont typeface="Arial" panose="020B0604020202020204" pitchFamily="34" charset="0"/>
                    <a:buChar char="•"/>
                    <a:defRPr/>
                  </a:pPr>
                  <a:r>
                    <a:rPr lang="en-US" sz="825" b="1" kern="0" dirty="0">
                      <a:solidFill>
                        <a:srgbClr val="D04A02"/>
                      </a:solidFill>
                      <a:latin typeface="Arial"/>
                      <a:cs typeface="Arial" pitchFamily="34" charset="0"/>
                    </a:rPr>
                    <a:t>Issue of Senior Citizen Card</a:t>
                  </a:r>
                </a:p>
                <a:p>
                  <a:pPr marL="89021" indent="-89021" defTabSz="441892">
                    <a:spcAft>
                      <a:spcPts val="178"/>
                    </a:spcAft>
                    <a:buFont typeface="Arial" panose="020B0604020202020204" pitchFamily="34" charset="0"/>
                    <a:buChar char="•"/>
                    <a:defRPr/>
                  </a:pPr>
                  <a:r>
                    <a:rPr lang="en-US" sz="825" b="1" kern="0" dirty="0">
                      <a:solidFill>
                        <a:srgbClr val="D04A02"/>
                      </a:solidFill>
                      <a:latin typeface="Arial"/>
                      <a:cs typeface="Arial" pitchFamily="34" charset="0"/>
                    </a:rPr>
                    <a:t>Registration of NGOS which work for senior citizen welfare </a:t>
                  </a:r>
                </a:p>
                <a:p>
                  <a:pPr marL="89021" indent="-89021" defTabSz="441892">
                    <a:spcAft>
                      <a:spcPts val="178"/>
                    </a:spcAft>
                    <a:buFont typeface="Arial" panose="020B0604020202020204" pitchFamily="34" charset="0"/>
                    <a:buChar char="•"/>
                    <a:defRPr/>
                  </a:pPr>
                  <a:r>
                    <a:rPr lang="en-US" sz="825" b="1" kern="0" dirty="0">
                      <a:solidFill>
                        <a:srgbClr val="D04A02"/>
                      </a:solidFill>
                      <a:latin typeface="Arial"/>
                      <a:cs typeface="Arial" pitchFamily="34" charset="0"/>
                    </a:rPr>
                    <a:t>Indira Gandhi old age pension</a:t>
                  </a:r>
                </a:p>
              </p:txBody>
            </p:sp>
            <p:sp>
              <p:nvSpPr>
                <p:cNvPr id="88" name="AutoShape 3">
                  <a:extLst>
                    <a:ext uri="{FF2B5EF4-FFF2-40B4-BE49-F238E27FC236}">
                      <a16:creationId xmlns:a16="http://schemas.microsoft.com/office/drawing/2014/main" id="{9FDBF7B0-9F30-4EAC-904C-0D6067207F4B}"/>
                    </a:ext>
                  </a:extLst>
                </p:cNvPr>
                <p:cNvSpPr>
                  <a:spLocks noChangeArrowheads="1"/>
                </p:cNvSpPr>
                <p:nvPr/>
              </p:nvSpPr>
              <p:spPr bwMode="auto">
                <a:xfrm rot="16200000" flipH="1">
                  <a:off x="2063144" y="3833978"/>
                  <a:ext cx="237744" cy="3270354"/>
                </a:xfrm>
                <a:prstGeom prst="rect">
                  <a:avLst/>
                </a:prstGeom>
                <a:solidFill>
                  <a:srgbClr val="E0301E"/>
                </a:solidFill>
                <a:ln w="12700">
                  <a:solidFill>
                    <a:srgbClr val="E0301E"/>
                  </a:solidFill>
                  <a:miter lim="800000"/>
                  <a:headEnd/>
                  <a:tailEnd/>
                </a:ln>
              </p:spPr>
              <p:txBody>
                <a:bodyPr vert="eaVert" lIns="23156" tIns="23156" rIns="23156" bIns="23156" anchor="ctr">
                  <a:noAutofit/>
                </a:bodyPr>
                <a:lstStyle/>
                <a:p>
                  <a:pPr algn="ctr" defTabSz="463035" eaLnBrk="0" hangingPunct="0">
                    <a:spcAft>
                      <a:spcPts val="178"/>
                    </a:spcAft>
                    <a:defRPr/>
                  </a:pPr>
                  <a:r>
                    <a:rPr lang="en-GB" sz="825" b="1" kern="0" dirty="0">
                      <a:solidFill>
                        <a:srgbClr val="FFFFFF"/>
                      </a:solidFill>
                      <a:latin typeface="Arial"/>
                      <a:cs typeface="Arial" pitchFamily="34" charset="0"/>
                    </a:rPr>
                    <a:t>Women Centric Services</a:t>
                  </a:r>
                </a:p>
              </p:txBody>
            </p:sp>
            <p:sp>
              <p:nvSpPr>
                <p:cNvPr id="89" name="Chevron 3">
                  <a:extLst>
                    <a:ext uri="{FF2B5EF4-FFF2-40B4-BE49-F238E27FC236}">
                      <a16:creationId xmlns:a16="http://schemas.microsoft.com/office/drawing/2014/main" id="{DC3E3605-E15D-4510-AFA8-4C480C617653}"/>
                    </a:ext>
                  </a:extLst>
                </p:cNvPr>
                <p:cNvSpPr/>
                <p:nvPr/>
              </p:nvSpPr>
              <p:spPr>
                <a:xfrm rot="16200000" flipH="1">
                  <a:off x="1509607" y="4631163"/>
                  <a:ext cx="1344823" cy="3270355"/>
                </a:xfrm>
                <a:prstGeom prst="rect">
                  <a:avLst/>
                </a:prstGeom>
                <a:noFill/>
                <a:ln w="12700">
                  <a:solidFill>
                    <a:srgbClr val="E0301E"/>
                  </a:solidFill>
                </a:ln>
                <a:effectLst/>
              </p:spPr>
              <p:txBody>
                <a:bodyPr rtlCol="0" anchor="ctr"/>
                <a:lstStyle/>
                <a:p>
                  <a:pPr algn="ctr">
                    <a:defRPr/>
                  </a:pPr>
                  <a:endParaRPr lang="en-US" sz="623" kern="0" dirty="0">
                    <a:solidFill>
                      <a:srgbClr val="000000"/>
                    </a:solidFill>
                    <a:latin typeface="Arial"/>
                  </a:endParaRPr>
                </a:p>
              </p:txBody>
            </p:sp>
            <p:sp>
              <p:nvSpPr>
                <p:cNvPr id="90" name="Rectangle 11">
                  <a:extLst>
                    <a:ext uri="{FF2B5EF4-FFF2-40B4-BE49-F238E27FC236}">
                      <a16:creationId xmlns:a16="http://schemas.microsoft.com/office/drawing/2014/main" id="{0B30E9FB-F52E-4BC7-9D66-18AC154E217F}"/>
                    </a:ext>
                  </a:extLst>
                </p:cNvPr>
                <p:cNvSpPr>
                  <a:spLocks noChangeArrowheads="1"/>
                </p:cNvSpPr>
                <p:nvPr/>
              </p:nvSpPr>
              <p:spPr bwMode="auto">
                <a:xfrm>
                  <a:off x="604473" y="5627773"/>
                  <a:ext cx="3270355" cy="1343509"/>
                </a:xfrm>
                <a:prstGeom prst="rect">
                  <a:avLst/>
                </a:prstGeom>
                <a:noFill/>
                <a:ln w="12700">
                  <a:noFill/>
                  <a:miter lim="800000"/>
                  <a:headEnd/>
                  <a:tailEnd/>
                </a:ln>
                <a:effectLst/>
              </p:spPr>
              <p:txBody>
                <a:bodyPr lIns="0" tIns="0" rIns="0" bIns="0">
                  <a:noAutofit/>
                </a:bodyPr>
                <a:lstStyle/>
                <a:p>
                  <a:pPr marL="89021" indent="-89021" defTabSz="441892">
                    <a:spcAft>
                      <a:spcPts val="178"/>
                    </a:spcAft>
                    <a:buFont typeface="Arial" panose="020B0604020202020204" pitchFamily="34" charset="0"/>
                    <a:buChar char="•"/>
                    <a:defRPr/>
                  </a:pPr>
                  <a:r>
                    <a:rPr lang="en-US" sz="825" b="1" kern="0" dirty="0">
                      <a:solidFill>
                        <a:srgbClr val="E0301E"/>
                      </a:solidFill>
                      <a:latin typeface="Arial"/>
                      <a:cs typeface="Arial" pitchFamily="34" charset="0"/>
                    </a:rPr>
                    <a:t>Mathrushree Yojane</a:t>
                  </a:r>
                </a:p>
                <a:p>
                  <a:pPr marL="89021" indent="-89021" defTabSz="441892">
                    <a:spcAft>
                      <a:spcPts val="178"/>
                    </a:spcAft>
                    <a:buFont typeface="Arial" panose="020B0604020202020204" pitchFamily="34" charset="0"/>
                    <a:buChar char="•"/>
                    <a:defRPr/>
                  </a:pPr>
                  <a:r>
                    <a:rPr lang="en-US" sz="825" b="1" kern="0" dirty="0">
                      <a:solidFill>
                        <a:srgbClr val="E0301E"/>
                      </a:solidFill>
                      <a:latin typeface="Arial"/>
                      <a:cs typeface="Arial" pitchFamily="34" charset="0"/>
                    </a:rPr>
                    <a:t>Manaswini Yojane </a:t>
                  </a:r>
                </a:p>
                <a:p>
                  <a:pPr marL="89021" indent="-89021" defTabSz="441892">
                    <a:spcAft>
                      <a:spcPts val="178"/>
                    </a:spcAft>
                    <a:buFont typeface="Arial" panose="020B0604020202020204" pitchFamily="34" charset="0"/>
                    <a:buChar char="•"/>
                    <a:defRPr/>
                  </a:pPr>
                  <a:r>
                    <a:rPr lang="en-US" sz="825" b="1" kern="0" dirty="0">
                      <a:solidFill>
                        <a:srgbClr val="E0301E"/>
                      </a:solidFill>
                      <a:latin typeface="Arial"/>
                      <a:cs typeface="Arial" pitchFamily="34" charset="0"/>
                    </a:rPr>
                    <a:t>Widow Pension</a:t>
                  </a:r>
                </a:p>
                <a:p>
                  <a:pPr marL="89021" indent="-89021" defTabSz="441892">
                    <a:spcAft>
                      <a:spcPts val="178"/>
                    </a:spcAft>
                    <a:buFont typeface="Arial" panose="020B0604020202020204" pitchFamily="34" charset="0"/>
                    <a:buChar char="•"/>
                    <a:defRPr/>
                  </a:pPr>
                  <a:r>
                    <a:rPr lang="en-US" sz="825" b="1" kern="0" dirty="0">
                      <a:solidFill>
                        <a:srgbClr val="E0301E"/>
                      </a:solidFill>
                      <a:latin typeface="Arial"/>
                      <a:cs typeface="Arial" pitchFamily="34" charset="0"/>
                    </a:rPr>
                    <a:t>Acid Victim Pension</a:t>
                  </a:r>
                </a:p>
                <a:p>
                  <a:pPr marL="89021" indent="-89021" defTabSz="441892">
                    <a:spcAft>
                      <a:spcPts val="178"/>
                    </a:spcAft>
                    <a:buFont typeface="Arial" panose="020B0604020202020204" pitchFamily="34" charset="0"/>
                    <a:buChar char="•"/>
                    <a:defRPr/>
                  </a:pPr>
                  <a:r>
                    <a:rPr lang="en-US" sz="825" b="1" kern="0" dirty="0">
                      <a:solidFill>
                        <a:srgbClr val="E0301E"/>
                      </a:solidFill>
                      <a:latin typeface="Arial"/>
                      <a:cs typeface="Arial" pitchFamily="34" charset="0"/>
                    </a:rPr>
                    <a:t>Widow Bus Pass</a:t>
                  </a:r>
                </a:p>
              </p:txBody>
            </p:sp>
          </p:grpSp>
        </p:grpSp>
        <p:grpSp>
          <p:nvGrpSpPr>
            <p:cNvPr id="11" name="Group 22">
              <a:extLst>
                <a:ext uri="{FF2B5EF4-FFF2-40B4-BE49-F238E27FC236}">
                  <a16:creationId xmlns:a16="http://schemas.microsoft.com/office/drawing/2014/main" id="{DFBCBE91-DF78-47C2-9C0E-BB969D15FFB2}"/>
                </a:ext>
              </a:extLst>
            </p:cNvPr>
            <p:cNvGrpSpPr/>
            <p:nvPr/>
          </p:nvGrpSpPr>
          <p:grpSpPr>
            <a:xfrm>
              <a:off x="8483039" y="5167998"/>
              <a:ext cx="3639004" cy="2311033"/>
              <a:chOff x="8483039" y="5167998"/>
              <a:chExt cx="3639004" cy="2311033"/>
            </a:xfrm>
          </p:grpSpPr>
          <p:sp>
            <p:nvSpPr>
              <p:cNvPr id="78" name="AutoShape 3">
                <a:extLst>
                  <a:ext uri="{FF2B5EF4-FFF2-40B4-BE49-F238E27FC236}">
                    <a16:creationId xmlns:a16="http://schemas.microsoft.com/office/drawing/2014/main" id="{6C242A08-D973-40CB-A1DD-0FD8B16ACC57}"/>
                  </a:ext>
                </a:extLst>
              </p:cNvPr>
              <p:cNvSpPr>
                <a:spLocks noChangeArrowheads="1"/>
              </p:cNvSpPr>
              <p:nvPr/>
            </p:nvSpPr>
            <p:spPr bwMode="auto">
              <a:xfrm rot="16200000" flipH="1">
                <a:off x="10165002" y="3486634"/>
                <a:ext cx="237744" cy="3600472"/>
              </a:xfrm>
              <a:prstGeom prst="rect">
                <a:avLst/>
              </a:prstGeom>
              <a:solidFill>
                <a:schemeClr val="accent2">
                  <a:lumMod val="50000"/>
                </a:schemeClr>
              </a:solidFill>
              <a:ln w="12700">
                <a:solidFill>
                  <a:schemeClr val="accent2">
                    <a:lumMod val="50000"/>
                  </a:schemeClr>
                </a:solidFill>
                <a:miter lim="800000"/>
                <a:headEnd/>
                <a:tailEnd/>
              </a:ln>
            </p:spPr>
            <p:txBody>
              <a:bodyPr vert="eaVert" lIns="23156" tIns="23156" rIns="23156" bIns="23156" anchor="ctr">
                <a:noAutofit/>
              </a:bodyPr>
              <a:lstStyle/>
              <a:p>
                <a:pPr algn="ctr" defTabSz="463035" eaLnBrk="0" hangingPunct="0">
                  <a:spcAft>
                    <a:spcPts val="178"/>
                  </a:spcAft>
                  <a:defRPr/>
                </a:pPr>
                <a:r>
                  <a:rPr lang="en-GB" sz="825" b="1" kern="0" dirty="0">
                    <a:solidFill>
                      <a:srgbClr val="FFFFFF"/>
                    </a:solidFill>
                    <a:latin typeface="Arial"/>
                    <a:cs typeface="Arial" pitchFamily="34" charset="0"/>
                  </a:rPr>
                  <a:t>Farmer Centric Services</a:t>
                </a:r>
              </a:p>
            </p:txBody>
          </p:sp>
          <p:sp>
            <p:nvSpPr>
              <p:cNvPr id="79" name="Chevron 3">
                <a:extLst>
                  <a:ext uri="{FF2B5EF4-FFF2-40B4-BE49-F238E27FC236}">
                    <a16:creationId xmlns:a16="http://schemas.microsoft.com/office/drawing/2014/main" id="{D060921F-9228-4468-AA18-4C003A859733}"/>
                  </a:ext>
                </a:extLst>
              </p:cNvPr>
              <p:cNvSpPr/>
              <p:nvPr/>
            </p:nvSpPr>
            <p:spPr>
              <a:xfrm rot="16200000" flipH="1">
                <a:off x="9246630" y="4642151"/>
                <a:ext cx="2073289" cy="3600472"/>
              </a:xfrm>
              <a:prstGeom prst="rect">
                <a:avLst/>
              </a:prstGeom>
              <a:noFill/>
              <a:ln w="12700">
                <a:solidFill>
                  <a:srgbClr val="7D7D7D"/>
                </a:solidFill>
              </a:ln>
              <a:effectLst/>
            </p:spPr>
            <p:txBody>
              <a:bodyPr rtlCol="0" anchor="ctr"/>
              <a:lstStyle/>
              <a:p>
                <a:pPr algn="ctr">
                  <a:defRPr/>
                </a:pPr>
                <a:endParaRPr lang="en-US" sz="623" kern="0" dirty="0">
                  <a:solidFill>
                    <a:srgbClr val="000000"/>
                  </a:solidFill>
                  <a:latin typeface="Arial"/>
                </a:endParaRPr>
              </a:p>
            </p:txBody>
          </p:sp>
          <p:sp>
            <p:nvSpPr>
              <p:cNvPr id="80" name="Rectangle 11">
                <a:extLst>
                  <a:ext uri="{FF2B5EF4-FFF2-40B4-BE49-F238E27FC236}">
                    <a16:creationId xmlns:a16="http://schemas.microsoft.com/office/drawing/2014/main" id="{BE241B40-BE21-4B25-89FD-7BB1CC3B7EC3}"/>
                  </a:ext>
                </a:extLst>
              </p:cNvPr>
              <p:cNvSpPr>
                <a:spLocks noChangeArrowheads="1"/>
              </p:cNvSpPr>
              <p:nvPr/>
            </p:nvSpPr>
            <p:spPr bwMode="auto">
              <a:xfrm>
                <a:off x="8559676" y="5441660"/>
                <a:ext cx="3562367" cy="2027639"/>
              </a:xfrm>
              <a:prstGeom prst="rect">
                <a:avLst/>
              </a:prstGeom>
              <a:noFill/>
              <a:ln w="12700">
                <a:noFill/>
                <a:miter lim="800000"/>
                <a:headEnd/>
                <a:tailEnd/>
              </a:ln>
              <a:effectLst/>
            </p:spPr>
            <p:txBody>
              <a:bodyPr lIns="0" tIns="0" rIns="0" bIns="0">
                <a:noAutofit/>
              </a:bodyPr>
              <a:lstStyle/>
              <a:p>
                <a:pPr marL="89021" indent="-89021" defTabSz="441892">
                  <a:spcAft>
                    <a:spcPts val="178"/>
                  </a:spcAft>
                  <a:buFont typeface="Arial" panose="020B0604020202020204" pitchFamily="34" charset="0"/>
                  <a:buChar char="•"/>
                  <a:defRPr/>
                </a:pPr>
                <a:r>
                  <a:rPr lang="en-US" sz="825" b="1" kern="0" dirty="0" err="1">
                    <a:solidFill>
                      <a:schemeClr val="accent2">
                        <a:lumMod val="50000"/>
                      </a:schemeClr>
                    </a:solidFill>
                    <a:latin typeface="Arial"/>
                    <a:cs typeface="Arial" pitchFamily="34" charset="0"/>
                  </a:rPr>
                  <a:t>Endosulphan</a:t>
                </a:r>
                <a:r>
                  <a:rPr lang="en-US" sz="825" b="1" kern="0" dirty="0">
                    <a:solidFill>
                      <a:schemeClr val="accent2">
                        <a:lumMod val="50000"/>
                      </a:schemeClr>
                    </a:solidFill>
                    <a:latin typeface="Arial"/>
                    <a:cs typeface="Arial" pitchFamily="34" charset="0"/>
                  </a:rPr>
                  <a:t> Victim Pension</a:t>
                </a:r>
              </a:p>
              <a:p>
                <a:pPr marL="89021" indent="-89021" defTabSz="441892">
                  <a:spcAft>
                    <a:spcPts val="178"/>
                  </a:spcAft>
                  <a:buFont typeface="Arial" panose="020B0604020202020204" pitchFamily="34" charset="0"/>
                  <a:buChar char="•"/>
                  <a:defRPr/>
                </a:pPr>
                <a:r>
                  <a:rPr lang="en-US" sz="825" b="1" kern="0" dirty="0">
                    <a:solidFill>
                      <a:schemeClr val="accent2">
                        <a:lumMod val="50000"/>
                      </a:schemeClr>
                    </a:solidFill>
                    <a:latin typeface="Arial"/>
                    <a:cs typeface="Arial" pitchFamily="34" charset="0"/>
                  </a:rPr>
                  <a:t>Farmer Widow Pension</a:t>
                </a:r>
              </a:p>
              <a:p>
                <a:pPr marL="89021" indent="-89021" defTabSz="441892">
                  <a:spcAft>
                    <a:spcPts val="178"/>
                  </a:spcAft>
                  <a:buFont typeface="Arial" panose="020B0604020202020204" pitchFamily="34" charset="0"/>
                  <a:buChar char="•"/>
                  <a:defRPr/>
                </a:pPr>
                <a:r>
                  <a:rPr lang="en-US" sz="825" b="1" kern="0" dirty="0">
                    <a:solidFill>
                      <a:schemeClr val="accent2">
                        <a:lumMod val="50000"/>
                      </a:schemeClr>
                    </a:solidFill>
                    <a:latin typeface="Arial"/>
                    <a:cs typeface="Arial" pitchFamily="34" charset="0"/>
                  </a:rPr>
                  <a:t>Distress fishermen relief</a:t>
                </a:r>
              </a:p>
              <a:p>
                <a:pPr marL="89021" indent="-89021" defTabSz="441892">
                  <a:spcAft>
                    <a:spcPts val="178"/>
                  </a:spcAft>
                  <a:buFont typeface="Arial" panose="020B0604020202020204" pitchFamily="34" charset="0"/>
                  <a:buChar char="•"/>
                  <a:defRPr/>
                </a:pPr>
                <a:r>
                  <a:rPr lang="en-US" sz="825" b="1" kern="0" dirty="0">
                    <a:solidFill>
                      <a:schemeClr val="accent2">
                        <a:lumMod val="50000"/>
                      </a:schemeClr>
                    </a:solidFill>
                    <a:latin typeface="Arial"/>
                    <a:cs typeface="Arial" pitchFamily="34" charset="0"/>
                  </a:rPr>
                  <a:t>Certificate of Registration as Seed/Plant Grower of Horticulture crops</a:t>
                </a:r>
              </a:p>
              <a:p>
                <a:pPr marL="89021" indent="-89021" defTabSz="441892">
                  <a:spcAft>
                    <a:spcPts val="178"/>
                  </a:spcAft>
                  <a:buFont typeface="Arial" panose="020B0604020202020204" pitchFamily="34" charset="0"/>
                  <a:buChar char="•"/>
                  <a:defRPr/>
                </a:pPr>
                <a:r>
                  <a:rPr lang="en-US" sz="825" b="1" kern="0" dirty="0">
                    <a:solidFill>
                      <a:schemeClr val="accent2">
                        <a:lumMod val="50000"/>
                      </a:schemeClr>
                    </a:solidFill>
                    <a:latin typeface="Arial"/>
                    <a:cs typeface="Arial" pitchFamily="34" charset="0"/>
                  </a:rPr>
                  <a:t>Issue of Subsidy to Sericulturists for Drip Irrigation</a:t>
                </a:r>
              </a:p>
            </p:txBody>
          </p:sp>
        </p:grpSp>
        <p:grpSp>
          <p:nvGrpSpPr>
            <p:cNvPr id="12" name="Group 23">
              <a:extLst>
                <a:ext uri="{FF2B5EF4-FFF2-40B4-BE49-F238E27FC236}">
                  <a16:creationId xmlns:a16="http://schemas.microsoft.com/office/drawing/2014/main" id="{C3398F03-7157-41B6-B076-F2949A8C2751}"/>
                </a:ext>
              </a:extLst>
            </p:cNvPr>
            <p:cNvGrpSpPr/>
            <p:nvPr/>
          </p:nvGrpSpPr>
          <p:grpSpPr>
            <a:xfrm>
              <a:off x="4441939" y="1154829"/>
              <a:ext cx="7690314" cy="6098696"/>
              <a:chOff x="4441939" y="1154829"/>
              <a:chExt cx="7690314" cy="6098696"/>
            </a:xfrm>
          </p:grpSpPr>
          <p:sp>
            <p:nvSpPr>
              <p:cNvPr id="75" name="Rectangle 11">
                <a:extLst>
                  <a:ext uri="{FF2B5EF4-FFF2-40B4-BE49-F238E27FC236}">
                    <a16:creationId xmlns:a16="http://schemas.microsoft.com/office/drawing/2014/main" id="{94528EBD-016D-403B-A814-567572BB707A}"/>
                  </a:ext>
                </a:extLst>
              </p:cNvPr>
              <p:cNvSpPr>
                <a:spLocks noChangeArrowheads="1"/>
              </p:cNvSpPr>
              <p:nvPr/>
            </p:nvSpPr>
            <p:spPr bwMode="auto">
              <a:xfrm>
                <a:off x="4505478" y="5991882"/>
                <a:ext cx="3624513" cy="1261643"/>
              </a:xfrm>
              <a:prstGeom prst="rect">
                <a:avLst/>
              </a:prstGeom>
              <a:noFill/>
              <a:ln w="12700">
                <a:noFill/>
                <a:miter lim="800000"/>
                <a:headEnd/>
                <a:tailEnd/>
              </a:ln>
              <a:effectLst/>
            </p:spPr>
            <p:txBody>
              <a:bodyPr lIns="0" tIns="0" rIns="0" bIns="0">
                <a:noAutofit/>
              </a:bodyPr>
              <a:lstStyle/>
              <a:p>
                <a:pPr marL="89021" indent="-89021" defTabSz="441892">
                  <a:spcAft>
                    <a:spcPts val="178"/>
                  </a:spcAft>
                  <a:buFont typeface="Arial" panose="020B0604020202020204" pitchFamily="34" charset="0"/>
                  <a:buChar char="•"/>
                  <a:defRPr/>
                </a:pPr>
                <a:r>
                  <a:rPr lang="en-US" sz="825" b="1" kern="0" dirty="0">
                    <a:solidFill>
                      <a:schemeClr val="accent6">
                        <a:lumMod val="75000"/>
                      </a:schemeClr>
                    </a:solidFill>
                    <a:latin typeface="Arial"/>
                    <a:cs typeface="Arial" pitchFamily="34" charset="0"/>
                  </a:rPr>
                  <a:t>Registration of IT/BT companies and Parks</a:t>
                </a:r>
              </a:p>
              <a:p>
                <a:pPr marL="89021" indent="-89021" defTabSz="441892">
                  <a:spcAft>
                    <a:spcPts val="178"/>
                  </a:spcAft>
                  <a:buFont typeface="Arial" panose="020B0604020202020204" pitchFamily="34" charset="0"/>
                  <a:buChar char="•"/>
                  <a:defRPr/>
                </a:pPr>
                <a:r>
                  <a:rPr lang="en-US" sz="825" b="1" kern="0" dirty="0" err="1">
                    <a:solidFill>
                      <a:schemeClr val="accent6">
                        <a:lumMod val="75000"/>
                      </a:schemeClr>
                    </a:solidFill>
                    <a:latin typeface="Arial"/>
                    <a:cs typeface="Arial" pitchFamily="34" charset="0"/>
                  </a:rPr>
                  <a:t>NoC</a:t>
                </a:r>
                <a:r>
                  <a:rPr lang="en-US" sz="825" b="1" kern="0" dirty="0">
                    <a:solidFill>
                      <a:schemeClr val="accent6">
                        <a:lumMod val="75000"/>
                      </a:schemeClr>
                    </a:solidFill>
                    <a:latin typeface="Arial"/>
                    <a:cs typeface="Arial" pitchFamily="34" charset="0"/>
                  </a:rPr>
                  <a:t> in </a:t>
                </a:r>
                <a:r>
                  <a:rPr lang="en-US" sz="825" b="1" kern="0" dirty="0" err="1">
                    <a:solidFill>
                      <a:schemeClr val="accent6">
                        <a:lumMod val="75000"/>
                      </a:schemeClr>
                    </a:solidFill>
                    <a:latin typeface="Arial"/>
                    <a:cs typeface="Arial" pitchFamily="34" charset="0"/>
                  </a:rPr>
                  <a:t>favour</a:t>
                </a:r>
                <a:r>
                  <a:rPr lang="en-US" sz="825" b="1" kern="0" dirty="0">
                    <a:solidFill>
                      <a:schemeClr val="accent6">
                        <a:lumMod val="75000"/>
                      </a:schemeClr>
                    </a:solidFill>
                    <a:latin typeface="Arial"/>
                    <a:cs typeface="Arial" pitchFamily="34" charset="0"/>
                  </a:rPr>
                  <a:t> of KPTCL/ESCOMs</a:t>
                </a:r>
                <a:endParaRPr lang="en-US" sz="825" kern="0" dirty="0">
                  <a:solidFill>
                    <a:schemeClr val="accent6">
                      <a:lumMod val="75000"/>
                    </a:schemeClr>
                  </a:solidFill>
                  <a:latin typeface="Arial"/>
                  <a:cs typeface="Arial" pitchFamily="34" charset="0"/>
                </a:endParaRPr>
              </a:p>
              <a:p>
                <a:pPr marL="89021" indent="-89021" defTabSz="441892">
                  <a:spcAft>
                    <a:spcPts val="178"/>
                  </a:spcAft>
                  <a:buFont typeface="Arial" panose="020B0604020202020204" pitchFamily="34" charset="0"/>
                  <a:buChar char="•"/>
                  <a:defRPr/>
                </a:pPr>
                <a:r>
                  <a:rPr lang="en-US" sz="825" b="1" kern="0" dirty="0">
                    <a:solidFill>
                      <a:schemeClr val="accent6">
                        <a:lumMod val="75000"/>
                      </a:schemeClr>
                    </a:solidFill>
                    <a:latin typeface="Arial"/>
                    <a:cs typeface="Arial" pitchFamily="34" charset="0"/>
                  </a:rPr>
                  <a:t>Grant of license to manufacture insecticides, fertilizers and NPK</a:t>
                </a:r>
              </a:p>
            </p:txBody>
          </p:sp>
          <p:sp>
            <p:nvSpPr>
              <p:cNvPr id="76" name="AutoShape 3">
                <a:extLst>
                  <a:ext uri="{FF2B5EF4-FFF2-40B4-BE49-F238E27FC236}">
                    <a16:creationId xmlns:a16="http://schemas.microsoft.com/office/drawing/2014/main" id="{1D279378-FC7B-47C1-A1D5-9E6C97196018}"/>
                  </a:ext>
                </a:extLst>
              </p:cNvPr>
              <p:cNvSpPr>
                <a:spLocks noChangeArrowheads="1"/>
              </p:cNvSpPr>
              <p:nvPr/>
            </p:nvSpPr>
            <p:spPr bwMode="auto">
              <a:xfrm rot="16200000" flipH="1">
                <a:off x="6135355" y="3891671"/>
                <a:ext cx="237744" cy="3624575"/>
              </a:xfrm>
              <a:prstGeom prst="rect">
                <a:avLst/>
              </a:prstGeom>
              <a:solidFill>
                <a:schemeClr val="accent6">
                  <a:lumMod val="75000"/>
                </a:schemeClr>
              </a:solidFill>
              <a:ln w="12700">
                <a:solidFill>
                  <a:schemeClr val="accent6">
                    <a:lumMod val="75000"/>
                  </a:schemeClr>
                </a:solidFill>
                <a:miter lim="800000"/>
                <a:headEnd/>
                <a:tailEnd/>
              </a:ln>
            </p:spPr>
            <p:txBody>
              <a:bodyPr vert="eaVert" lIns="23156" tIns="23156" rIns="23156" bIns="23156" anchor="ctr">
                <a:noAutofit/>
              </a:bodyPr>
              <a:lstStyle/>
              <a:p>
                <a:pPr algn="ctr" defTabSz="463035" eaLnBrk="0" hangingPunct="0">
                  <a:spcAft>
                    <a:spcPts val="178"/>
                  </a:spcAft>
                  <a:defRPr/>
                </a:pPr>
                <a:r>
                  <a:rPr lang="en-GB" sz="825" b="1" kern="0" dirty="0">
                    <a:solidFill>
                      <a:schemeClr val="bg1"/>
                    </a:solidFill>
                    <a:latin typeface="Arial"/>
                    <a:cs typeface="Arial" pitchFamily="34" charset="0"/>
                  </a:rPr>
                  <a:t>Industry Centric Services </a:t>
                </a:r>
              </a:p>
            </p:txBody>
          </p:sp>
          <p:sp>
            <p:nvSpPr>
              <p:cNvPr id="77" name="Chevron 3">
                <a:extLst>
                  <a:ext uri="{FF2B5EF4-FFF2-40B4-BE49-F238E27FC236}">
                    <a16:creationId xmlns:a16="http://schemas.microsoft.com/office/drawing/2014/main" id="{03443F42-D12A-4515-86B5-3CE09924C5EE}"/>
                  </a:ext>
                </a:extLst>
              </p:cNvPr>
              <p:cNvSpPr/>
              <p:nvPr/>
            </p:nvSpPr>
            <p:spPr>
              <a:xfrm rot="16200000" flipH="1">
                <a:off x="9516202" y="146303"/>
                <a:ext cx="1607526" cy="3624577"/>
              </a:xfrm>
              <a:prstGeom prst="rect">
                <a:avLst/>
              </a:prstGeom>
              <a:noFill/>
              <a:ln w="12700">
                <a:solidFill>
                  <a:srgbClr val="EB8C00"/>
                </a:solidFill>
              </a:ln>
              <a:effectLst/>
            </p:spPr>
            <p:txBody>
              <a:bodyPr rtlCol="0" anchor="ctr"/>
              <a:lstStyle/>
              <a:p>
                <a:pPr algn="ctr">
                  <a:defRPr/>
                </a:pPr>
                <a:endParaRPr lang="en-US" sz="623" kern="0" dirty="0">
                  <a:solidFill>
                    <a:srgbClr val="000000"/>
                  </a:solidFill>
                  <a:latin typeface="Arial"/>
                </a:endParaRPr>
              </a:p>
            </p:txBody>
          </p:sp>
        </p:grpSp>
        <p:grpSp>
          <p:nvGrpSpPr>
            <p:cNvPr id="13" name="Group 24">
              <a:extLst>
                <a:ext uri="{FF2B5EF4-FFF2-40B4-BE49-F238E27FC236}">
                  <a16:creationId xmlns:a16="http://schemas.microsoft.com/office/drawing/2014/main" id="{BDC3D61F-22BA-466F-8DAF-21136C5899FD}"/>
                </a:ext>
              </a:extLst>
            </p:cNvPr>
            <p:cNvGrpSpPr/>
            <p:nvPr/>
          </p:nvGrpSpPr>
          <p:grpSpPr>
            <a:xfrm>
              <a:off x="8483037" y="3121108"/>
              <a:ext cx="3607007" cy="1973598"/>
              <a:chOff x="8483037" y="3121108"/>
              <a:chExt cx="3607007" cy="1973598"/>
            </a:xfrm>
          </p:grpSpPr>
          <p:sp>
            <p:nvSpPr>
              <p:cNvPr id="72" name="AutoShape 3">
                <a:extLst>
                  <a:ext uri="{FF2B5EF4-FFF2-40B4-BE49-F238E27FC236}">
                    <a16:creationId xmlns:a16="http://schemas.microsoft.com/office/drawing/2014/main" id="{2724B067-2BD5-4B34-88AF-D0CB57A92BA1}"/>
                  </a:ext>
                </a:extLst>
              </p:cNvPr>
              <p:cNvSpPr>
                <a:spLocks noChangeArrowheads="1"/>
              </p:cNvSpPr>
              <p:nvPr/>
            </p:nvSpPr>
            <p:spPr bwMode="auto">
              <a:xfrm rot="16200000" flipH="1">
                <a:off x="10167970" y="1436778"/>
                <a:ext cx="237744" cy="3606404"/>
              </a:xfrm>
              <a:prstGeom prst="rect">
                <a:avLst/>
              </a:prstGeom>
              <a:solidFill>
                <a:schemeClr val="accent4">
                  <a:lumMod val="50000"/>
                </a:schemeClr>
              </a:solidFill>
              <a:ln w="12700">
                <a:solidFill>
                  <a:schemeClr val="accent4">
                    <a:lumMod val="50000"/>
                  </a:schemeClr>
                </a:solidFill>
                <a:miter lim="800000"/>
                <a:headEnd/>
                <a:tailEnd/>
              </a:ln>
            </p:spPr>
            <p:txBody>
              <a:bodyPr vert="eaVert" lIns="23156" tIns="23156" rIns="23156" bIns="23156" anchor="ctr">
                <a:noAutofit/>
              </a:bodyPr>
              <a:lstStyle/>
              <a:p>
                <a:pPr algn="ctr" defTabSz="463035" eaLnBrk="0" hangingPunct="0">
                  <a:spcAft>
                    <a:spcPts val="178"/>
                  </a:spcAft>
                  <a:defRPr/>
                </a:pPr>
                <a:r>
                  <a:rPr lang="en-GB" sz="825" b="1" kern="0" dirty="0">
                    <a:solidFill>
                      <a:srgbClr val="FFFFFF"/>
                    </a:solidFill>
                    <a:latin typeface="Arial"/>
                    <a:cs typeface="Arial" pitchFamily="34" charset="0"/>
                  </a:rPr>
                  <a:t>Youth Centric Services</a:t>
                </a:r>
              </a:p>
            </p:txBody>
          </p:sp>
          <p:sp>
            <p:nvSpPr>
              <p:cNvPr id="73" name="Chevron 3">
                <a:extLst>
                  <a:ext uri="{FF2B5EF4-FFF2-40B4-BE49-F238E27FC236}">
                    <a16:creationId xmlns:a16="http://schemas.microsoft.com/office/drawing/2014/main" id="{9ADE8EF3-0275-4BD8-B525-1E581BFF30F6}"/>
                  </a:ext>
                </a:extLst>
              </p:cNvPr>
              <p:cNvSpPr/>
              <p:nvPr/>
            </p:nvSpPr>
            <p:spPr>
              <a:xfrm rot="16200000" flipH="1">
                <a:off x="9426183" y="2431448"/>
                <a:ext cx="1720112" cy="3606404"/>
              </a:xfrm>
              <a:prstGeom prst="rect">
                <a:avLst/>
              </a:prstGeom>
              <a:noFill/>
              <a:ln w="12700">
                <a:solidFill>
                  <a:srgbClr val="FFB600"/>
                </a:solidFill>
              </a:ln>
              <a:effectLst/>
            </p:spPr>
            <p:txBody>
              <a:bodyPr rtlCol="0" anchor="ctr"/>
              <a:lstStyle/>
              <a:p>
                <a:pPr algn="ctr">
                  <a:defRPr/>
                </a:pPr>
                <a:endParaRPr lang="en-US" sz="623" kern="0" dirty="0">
                  <a:solidFill>
                    <a:srgbClr val="000000"/>
                  </a:solidFill>
                  <a:latin typeface="Arial"/>
                </a:endParaRPr>
              </a:p>
            </p:txBody>
          </p:sp>
          <p:sp>
            <p:nvSpPr>
              <p:cNvPr id="74" name="Rectangle 11">
                <a:extLst>
                  <a:ext uri="{FF2B5EF4-FFF2-40B4-BE49-F238E27FC236}">
                    <a16:creationId xmlns:a16="http://schemas.microsoft.com/office/drawing/2014/main" id="{F6E8401B-266F-4DBA-8B9C-14865B73B8BE}"/>
                  </a:ext>
                </a:extLst>
              </p:cNvPr>
              <p:cNvSpPr>
                <a:spLocks noChangeArrowheads="1"/>
              </p:cNvSpPr>
              <p:nvPr/>
            </p:nvSpPr>
            <p:spPr bwMode="auto">
              <a:xfrm>
                <a:off x="8528931" y="3372088"/>
                <a:ext cx="3561113" cy="1720115"/>
              </a:xfrm>
              <a:prstGeom prst="rect">
                <a:avLst/>
              </a:prstGeom>
              <a:noFill/>
              <a:ln w="12700">
                <a:noFill/>
                <a:miter lim="800000"/>
                <a:headEnd/>
                <a:tailEnd/>
              </a:ln>
              <a:effectLst/>
            </p:spPr>
            <p:txBody>
              <a:bodyPr lIns="0" tIns="0" rIns="0" bIns="0">
                <a:noAutofit/>
              </a:bodyPr>
              <a:lstStyle/>
              <a:p>
                <a:pPr marL="89021" indent="-89021" defTabSz="441892">
                  <a:spcAft>
                    <a:spcPts val="178"/>
                  </a:spcAft>
                  <a:buFont typeface="Arial" panose="020B0604020202020204" pitchFamily="34" charset="0"/>
                  <a:buChar char="•"/>
                  <a:defRPr/>
                </a:pPr>
                <a:r>
                  <a:rPr lang="en-US" sz="825" b="1" kern="0" dirty="0">
                    <a:solidFill>
                      <a:schemeClr val="accent4">
                        <a:lumMod val="50000"/>
                      </a:schemeClr>
                    </a:solidFill>
                    <a:latin typeface="Arial"/>
                    <a:cs typeface="Arial" pitchFamily="34" charset="0"/>
                  </a:rPr>
                  <a:t>Application for admission, diploma certificate, migration certificate</a:t>
                </a:r>
              </a:p>
              <a:p>
                <a:pPr marL="89021" indent="-89021" defTabSz="441892">
                  <a:spcAft>
                    <a:spcPts val="178"/>
                  </a:spcAft>
                  <a:buFont typeface="Arial" panose="020B0604020202020204" pitchFamily="34" charset="0"/>
                  <a:buChar char="•"/>
                  <a:defRPr/>
                </a:pPr>
                <a:r>
                  <a:rPr lang="en-US" sz="825" b="1" kern="0" dirty="0">
                    <a:solidFill>
                      <a:schemeClr val="accent4">
                        <a:lumMod val="50000"/>
                      </a:schemeClr>
                    </a:solidFill>
                    <a:latin typeface="Arial"/>
                    <a:cs typeface="Arial" pitchFamily="34" charset="0"/>
                  </a:rPr>
                  <a:t>Internship application , sports Scholarship, lifetime achievement spots award Kranti Kreeda Ratna</a:t>
                </a:r>
              </a:p>
              <a:p>
                <a:pPr marL="89021" indent="-89021" defTabSz="441892">
                  <a:spcAft>
                    <a:spcPts val="178"/>
                  </a:spcAft>
                  <a:buFont typeface="Arial" panose="020B0604020202020204" pitchFamily="34" charset="0"/>
                  <a:buChar char="•"/>
                  <a:defRPr/>
                </a:pPr>
                <a:r>
                  <a:rPr lang="en-US" sz="825" b="1" kern="0" dirty="0">
                    <a:solidFill>
                      <a:schemeClr val="accent4">
                        <a:lumMod val="50000"/>
                      </a:schemeClr>
                    </a:solidFill>
                    <a:latin typeface="Arial"/>
                    <a:cs typeface="Arial" pitchFamily="34" charset="0"/>
                  </a:rPr>
                  <a:t>Stadium booking</a:t>
                </a:r>
              </a:p>
              <a:p>
                <a:pPr marL="80344" lvl="1" indent="-80344" defTabSz="441892" eaLnBrk="0" hangingPunct="0">
                  <a:buSzPct val="100000"/>
                  <a:buFont typeface="Arial" pitchFamily="34" charset="0"/>
                  <a:buChar char="•"/>
                  <a:defRPr/>
                </a:pPr>
                <a:endParaRPr lang="en-US" sz="825" kern="0" dirty="0">
                  <a:solidFill>
                    <a:srgbClr val="E36A00"/>
                  </a:solidFill>
                  <a:latin typeface="Arial"/>
                  <a:cs typeface="Arial" pitchFamily="34" charset="0"/>
                </a:endParaRPr>
              </a:p>
            </p:txBody>
          </p:sp>
        </p:grpSp>
        <p:grpSp>
          <p:nvGrpSpPr>
            <p:cNvPr id="14" name="Group 25">
              <a:extLst>
                <a:ext uri="{FF2B5EF4-FFF2-40B4-BE49-F238E27FC236}">
                  <a16:creationId xmlns:a16="http://schemas.microsoft.com/office/drawing/2014/main" id="{C6B78167-F757-4FC5-81D2-3475834AAB66}"/>
                </a:ext>
              </a:extLst>
            </p:cNvPr>
            <p:cNvGrpSpPr/>
            <p:nvPr/>
          </p:nvGrpSpPr>
          <p:grpSpPr>
            <a:xfrm>
              <a:off x="4441945" y="898181"/>
              <a:ext cx="7678822" cy="6590231"/>
              <a:chOff x="4441945" y="898181"/>
              <a:chExt cx="7678822" cy="6590231"/>
            </a:xfrm>
          </p:grpSpPr>
          <p:sp>
            <p:nvSpPr>
              <p:cNvPr id="69" name="AutoShape 3">
                <a:extLst>
                  <a:ext uri="{FF2B5EF4-FFF2-40B4-BE49-F238E27FC236}">
                    <a16:creationId xmlns:a16="http://schemas.microsoft.com/office/drawing/2014/main" id="{53CBD553-F53B-4BE6-9C13-8505349C4F68}"/>
                  </a:ext>
                </a:extLst>
              </p:cNvPr>
              <p:cNvSpPr>
                <a:spLocks noChangeArrowheads="1"/>
              </p:cNvSpPr>
              <p:nvPr/>
            </p:nvSpPr>
            <p:spPr bwMode="auto">
              <a:xfrm rot="16200000" flipH="1">
                <a:off x="10193769" y="-787912"/>
                <a:ext cx="240906" cy="3613091"/>
              </a:xfrm>
              <a:prstGeom prst="rect">
                <a:avLst/>
              </a:prstGeom>
              <a:solidFill>
                <a:srgbClr val="464646"/>
              </a:solidFill>
              <a:ln w="12700">
                <a:solidFill>
                  <a:srgbClr val="464646"/>
                </a:solidFill>
                <a:miter lim="800000"/>
                <a:headEnd/>
                <a:tailEnd/>
              </a:ln>
            </p:spPr>
            <p:txBody>
              <a:bodyPr vert="eaVert" lIns="23156" tIns="23156" rIns="23156" bIns="23156" anchor="ctr">
                <a:noAutofit/>
              </a:bodyPr>
              <a:lstStyle/>
              <a:p>
                <a:pPr algn="ctr" defTabSz="463035" eaLnBrk="0" hangingPunct="0">
                  <a:spcAft>
                    <a:spcPts val="178"/>
                  </a:spcAft>
                  <a:defRPr/>
                </a:pPr>
                <a:r>
                  <a:rPr lang="en-GB" sz="825" b="1" kern="0" dirty="0">
                    <a:solidFill>
                      <a:srgbClr val="FFFFFF"/>
                    </a:solidFill>
                    <a:latin typeface="Arial"/>
                    <a:cs typeface="Arial" pitchFamily="34" charset="0"/>
                  </a:rPr>
                  <a:t>Health Centric Services </a:t>
                </a:r>
              </a:p>
            </p:txBody>
          </p:sp>
          <p:sp>
            <p:nvSpPr>
              <p:cNvPr id="70" name="Chevron 3">
                <a:extLst>
                  <a:ext uri="{FF2B5EF4-FFF2-40B4-BE49-F238E27FC236}">
                    <a16:creationId xmlns:a16="http://schemas.microsoft.com/office/drawing/2014/main" id="{CFBFA5E4-2096-4A65-BC4A-5F6BF0FC81CD}"/>
                  </a:ext>
                </a:extLst>
              </p:cNvPr>
              <p:cNvSpPr/>
              <p:nvPr/>
            </p:nvSpPr>
            <p:spPr>
              <a:xfrm rot="16200000" flipH="1">
                <a:off x="5420106" y="4839339"/>
                <a:ext cx="1670912" cy="3627234"/>
              </a:xfrm>
              <a:prstGeom prst="rect">
                <a:avLst/>
              </a:prstGeom>
              <a:noFill/>
              <a:ln w="12700">
                <a:solidFill>
                  <a:srgbClr val="464646"/>
                </a:solidFill>
              </a:ln>
              <a:effectLst/>
            </p:spPr>
            <p:txBody>
              <a:bodyPr rtlCol="0" anchor="ctr"/>
              <a:lstStyle/>
              <a:p>
                <a:pPr algn="ctr">
                  <a:defRPr/>
                </a:pPr>
                <a:endParaRPr lang="en-US" sz="623" kern="0" dirty="0">
                  <a:solidFill>
                    <a:srgbClr val="000000"/>
                  </a:solidFill>
                  <a:latin typeface="Arial"/>
                </a:endParaRPr>
              </a:p>
            </p:txBody>
          </p:sp>
          <p:sp>
            <p:nvSpPr>
              <p:cNvPr id="71" name="Rectangle 11">
                <a:extLst>
                  <a:ext uri="{FF2B5EF4-FFF2-40B4-BE49-F238E27FC236}">
                    <a16:creationId xmlns:a16="http://schemas.microsoft.com/office/drawing/2014/main" id="{7B1A44AE-C655-44F4-A516-B96C83BDCCF9}"/>
                  </a:ext>
                </a:extLst>
              </p:cNvPr>
              <p:cNvSpPr>
                <a:spLocks noChangeArrowheads="1"/>
              </p:cNvSpPr>
              <p:nvPr/>
            </p:nvSpPr>
            <p:spPr bwMode="auto">
              <a:xfrm>
                <a:off x="8676920" y="1154827"/>
                <a:ext cx="3351434" cy="1420132"/>
              </a:xfrm>
              <a:prstGeom prst="rect">
                <a:avLst/>
              </a:prstGeom>
              <a:noFill/>
              <a:ln w="12700">
                <a:noFill/>
                <a:miter lim="800000"/>
                <a:headEnd/>
                <a:tailEnd/>
              </a:ln>
              <a:effectLst/>
            </p:spPr>
            <p:txBody>
              <a:bodyPr lIns="0" tIns="0" rIns="0" bIns="0">
                <a:noAutofit/>
              </a:bodyPr>
              <a:lstStyle/>
              <a:p>
                <a:pPr marL="89021" indent="-89021" defTabSz="441892">
                  <a:spcAft>
                    <a:spcPts val="178"/>
                  </a:spcAft>
                  <a:buFont typeface="Arial" panose="020B0604020202020204" pitchFamily="34" charset="0"/>
                  <a:buChar char="•"/>
                  <a:defRPr/>
                </a:pPr>
                <a:r>
                  <a:rPr lang="en-US" sz="825" b="1" kern="0" dirty="0">
                    <a:solidFill>
                      <a:srgbClr val="464646"/>
                    </a:solidFill>
                    <a:latin typeface="Arial"/>
                    <a:cs typeface="Arial" pitchFamily="34" charset="0"/>
                  </a:rPr>
                  <a:t>Ayushmann Bharat- Arogya Karnataka ID Cards</a:t>
                </a:r>
              </a:p>
              <a:p>
                <a:pPr marL="89021" indent="-89021" defTabSz="441892">
                  <a:spcAft>
                    <a:spcPts val="178"/>
                  </a:spcAft>
                  <a:buFont typeface="Arial" panose="020B0604020202020204" pitchFamily="34" charset="0"/>
                  <a:buChar char="•"/>
                  <a:defRPr/>
                </a:pPr>
                <a:r>
                  <a:rPr lang="en-US" sz="825" b="1" kern="0" dirty="0">
                    <a:solidFill>
                      <a:srgbClr val="464646"/>
                    </a:solidFill>
                    <a:latin typeface="Arial"/>
                    <a:cs typeface="Arial" pitchFamily="34" charset="0"/>
                  </a:rPr>
                  <a:t>Issue of certificates like age, male and female sterilization</a:t>
                </a:r>
              </a:p>
              <a:p>
                <a:pPr marL="89021" indent="-89021" defTabSz="441892">
                  <a:spcAft>
                    <a:spcPts val="178"/>
                  </a:spcAft>
                  <a:buFont typeface="Arial" panose="020B0604020202020204" pitchFamily="34" charset="0"/>
                  <a:buChar char="•"/>
                  <a:defRPr/>
                </a:pPr>
                <a:r>
                  <a:rPr lang="en-US" sz="825" b="1" kern="0" dirty="0">
                    <a:solidFill>
                      <a:srgbClr val="464646"/>
                    </a:solidFill>
                    <a:latin typeface="Arial"/>
                    <a:cs typeface="Arial" pitchFamily="34" charset="0"/>
                  </a:rPr>
                  <a:t>Birth and Death Registration</a:t>
                </a:r>
              </a:p>
              <a:p>
                <a:pPr marL="89021" indent="-89021" defTabSz="441892">
                  <a:spcAft>
                    <a:spcPts val="178"/>
                  </a:spcAft>
                  <a:buFont typeface="Arial" panose="020B0604020202020204" pitchFamily="34" charset="0"/>
                  <a:buChar char="•"/>
                  <a:defRPr/>
                </a:pPr>
                <a:r>
                  <a:rPr lang="en-US" sz="825" b="1" kern="0" dirty="0">
                    <a:solidFill>
                      <a:srgbClr val="464646"/>
                    </a:solidFill>
                    <a:latin typeface="Arial"/>
                    <a:cs typeface="Arial" pitchFamily="34" charset="0"/>
                  </a:rPr>
                  <a:t>Birth and Death Certificate</a:t>
                </a:r>
              </a:p>
            </p:txBody>
          </p:sp>
        </p:grpSp>
        <p:grpSp>
          <p:nvGrpSpPr>
            <p:cNvPr id="15" name="Group 26">
              <a:extLst>
                <a:ext uri="{FF2B5EF4-FFF2-40B4-BE49-F238E27FC236}">
                  <a16:creationId xmlns:a16="http://schemas.microsoft.com/office/drawing/2014/main" id="{C7B92905-D271-42EC-8CFE-C113DE3E4596}"/>
                </a:ext>
              </a:extLst>
            </p:cNvPr>
            <p:cNvGrpSpPr/>
            <p:nvPr/>
          </p:nvGrpSpPr>
          <p:grpSpPr>
            <a:xfrm>
              <a:off x="4886932" y="1329153"/>
              <a:ext cx="642673" cy="555782"/>
              <a:chOff x="4886932" y="1329153"/>
              <a:chExt cx="642673" cy="555782"/>
            </a:xfrm>
          </p:grpSpPr>
          <p:sp>
            <p:nvSpPr>
              <p:cNvPr id="62" name="Oval 61">
                <a:extLst>
                  <a:ext uri="{FF2B5EF4-FFF2-40B4-BE49-F238E27FC236}">
                    <a16:creationId xmlns:a16="http://schemas.microsoft.com/office/drawing/2014/main" id="{09EFD3E2-0F43-4E8F-99CB-71142AAAD2FF}"/>
                  </a:ext>
                </a:extLst>
              </p:cNvPr>
              <p:cNvSpPr/>
              <p:nvPr/>
            </p:nvSpPr>
            <p:spPr bwMode="ltGray">
              <a:xfrm>
                <a:off x="4886932" y="1329153"/>
                <a:ext cx="642673" cy="555782"/>
              </a:xfrm>
              <a:prstGeom prst="ellipse">
                <a:avLst/>
              </a:prstGeom>
              <a:solidFill>
                <a:srgbClr val="D04A02"/>
              </a:solidFill>
              <a:ln w="3175" cap="flat" cmpd="sng" algn="ctr">
                <a:solidFill>
                  <a:srgbClr val="D04A02"/>
                </a:solidFill>
                <a:prstDash val="solid"/>
              </a:ln>
              <a:effectLst/>
            </p:spPr>
            <p:txBody>
              <a:bodyPr rtlCol="0" anchor="ctr"/>
              <a:lstStyle/>
              <a:p>
                <a:pPr algn="ctr">
                  <a:defRPr/>
                </a:pPr>
                <a:endParaRPr lang="en-GB" sz="848" kern="0" dirty="0">
                  <a:solidFill>
                    <a:srgbClr val="FFFFFF"/>
                  </a:solidFill>
                  <a:latin typeface="Georgia" pitchFamily="18" charset="0"/>
                </a:endParaRPr>
              </a:p>
            </p:txBody>
          </p:sp>
          <p:grpSp>
            <p:nvGrpSpPr>
              <p:cNvPr id="16" name="Group 62">
                <a:extLst>
                  <a:ext uri="{FF2B5EF4-FFF2-40B4-BE49-F238E27FC236}">
                    <a16:creationId xmlns:a16="http://schemas.microsoft.com/office/drawing/2014/main" id="{5C99207E-E3EC-4EB2-AE77-83AF620C7CFB}"/>
                  </a:ext>
                </a:extLst>
              </p:cNvPr>
              <p:cNvGrpSpPr/>
              <p:nvPr/>
            </p:nvGrpSpPr>
            <p:grpSpPr>
              <a:xfrm>
                <a:off x="5148579" y="1373001"/>
                <a:ext cx="166824" cy="429483"/>
                <a:chOff x="1817688" y="465138"/>
                <a:chExt cx="298450" cy="768350"/>
              </a:xfrm>
            </p:grpSpPr>
            <p:sp>
              <p:nvSpPr>
                <p:cNvPr id="65" name="Freeform 18">
                  <a:extLst>
                    <a:ext uri="{FF2B5EF4-FFF2-40B4-BE49-F238E27FC236}">
                      <a16:creationId xmlns:a16="http://schemas.microsoft.com/office/drawing/2014/main" id="{083825DA-19CB-46FD-B581-5F960813FC65}"/>
                    </a:ext>
                  </a:extLst>
                </p:cNvPr>
                <p:cNvSpPr>
                  <a:spLocks/>
                </p:cNvSpPr>
                <p:nvPr/>
              </p:nvSpPr>
              <p:spPr bwMode="auto">
                <a:xfrm>
                  <a:off x="1903413" y="465138"/>
                  <a:ext cx="127000" cy="127000"/>
                </a:xfrm>
                <a:custGeom>
                  <a:avLst/>
                  <a:gdLst>
                    <a:gd name="T0" fmla="*/ 40 w 80"/>
                    <a:gd name="T1" fmla="*/ 80 h 80"/>
                    <a:gd name="T2" fmla="*/ 40 w 80"/>
                    <a:gd name="T3" fmla="*/ 80 h 80"/>
                    <a:gd name="T4" fmla="*/ 48 w 80"/>
                    <a:gd name="T5" fmla="*/ 78 h 80"/>
                    <a:gd name="T6" fmla="*/ 56 w 80"/>
                    <a:gd name="T7" fmla="*/ 76 h 80"/>
                    <a:gd name="T8" fmla="*/ 62 w 80"/>
                    <a:gd name="T9" fmla="*/ 72 h 80"/>
                    <a:gd name="T10" fmla="*/ 68 w 80"/>
                    <a:gd name="T11" fmla="*/ 68 h 80"/>
                    <a:gd name="T12" fmla="*/ 72 w 80"/>
                    <a:gd name="T13" fmla="*/ 62 h 80"/>
                    <a:gd name="T14" fmla="*/ 76 w 80"/>
                    <a:gd name="T15" fmla="*/ 56 h 80"/>
                    <a:gd name="T16" fmla="*/ 78 w 80"/>
                    <a:gd name="T17" fmla="*/ 48 h 80"/>
                    <a:gd name="T18" fmla="*/ 80 w 80"/>
                    <a:gd name="T19" fmla="*/ 40 h 80"/>
                    <a:gd name="T20" fmla="*/ 80 w 80"/>
                    <a:gd name="T21" fmla="*/ 40 h 80"/>
                    <a:gd name="T22" fmla="*/ 78 w 80"/>
                    <a:gd name="T23" fmla="*/ 32 h 80"/>
                    <a:gd name="T24" fmla="*/ 76 w 80"/>
                    <a:gd name="T25" fmla="*/ 24 h 80"/>
                    <a:gd name="T26" fmla="*/ 72 w 80"/>
                    <a:gd name="T27" fmla="*/ 18 h 80"/>
                    <a:gd name="T28" fmla="*/ 68 w 80"/>
                    <a:gd name="T29" fmla="*/ 12 h 80"/>
                    <a:gd name="T30" fmla="*/ 62 w 80"/>
                    <a:gd name="T31" fmla="*/ 6 h 80"/>
                    <a:gd name="T32" fmla="*/ 56 w 80"/>
                    <a:gd name="T33" fmla="*/ 2 h 80"/>
                    <a:gd name="T34" fmla="*/ 48 w 80"/>
                    <a:gd name="T35" fmla="*/ 0 h 80"/>
                    <a:gd name="T36" fmla="*/ 40 w 80"/>
                    <a:gd name="T37" fmla="*/ 0 h 80"/>
                    <a:gd name="T38" fmla="*/ 40 w 80"/>
                    <a:gd name="T39" fmla="*/ 0 h 80"/>
                    <a:gd name="T40" fmla="*/ 32 w 80"/>
                    <a:gd name="T41" fmla="*/ 0 h 80"/>
                    <a:gd name="T42" fmla="*/ 24 w 80"/>
                    <a:gd name="T43" fmla="*/ 2 h 80"/>
                    <a:gd name="T44" fmla="*/ 16 w 80"/>
                    <a:gd name="T45" fmla="*/ 6 h 80"/>
                    <a:gd name="T46" fmla="*/ 12 w 80"/>
                    <a:gd name="T47" fmla="*/ 12 h 80"/>
                    <a:gd name="T48" fmla="*/ 6 w 80"/>
                    <a:gd name="T49" fmla="*/ 18 h 80"/>
                    <a:gd name="T50" fmla="*/ 2 w 80"/>
                    <a:gd name="T51" fmla="*/ 24 h 80"/>
                    <a:gd name="T52" fmla="*/ 0 w 80"/>
                    <a:gd name="T53" fmla="*/ 32 h 80"/>
                    <a:gd name="T54" fmla="*/ 0 w 80"/>
                    <a:gd name="T55" fmla="*/ 40 h 80"/>
                    <a:gd name="T56" fmla="*/ 0 w 80"/>
                    <a:gd name="T57" fmla="*/ 40 h 80"/>
                    <a:gd name="T58" fmla="*/ 0 w 80"/>
                    <a:gd name="T59" fmla="*/ 48 h 80"/>
                    <a:gd name="T60" fmla="*/ 2 w 80"/>
                    <a:gd name="T61" fmla="*/ 56 h 80"/>
                    <a:gd name="T62" fmla="*/ 6 w 80"/>
                    <a:gd name="T63" fmla="*/ 62 h 80"/>
                    <a:gd name="T64" fmla="*/ 12 w 80"/>
                    <a:gd name="T65" fmla="*/ 68 h 80"/>
                    <a:gd name="T66" fmla="*/ 16 w 80"/>
                    <a:gd name="T67" fmla="*/ 72 h 80"/>
                    <a:gd name="T68" fmla="*/ 24 w 80"/>
                    <a:gd name="T69" fmla="*/ 76 h 80"/>
                    <a:gd name="T70" fmla="*/ 32 w 80"/>
                    <a:gd name="T71" fmla="*/ 78 h 80"/>
                    <a:gd name="T72" fmla="*/ 40 w 80"/>
                    <a:gd name="T73" fmla="*/ 80 h 80"/>
                    <a:gd name="T74" fmla="*/ 40 w 80"/>
                    <a:gd name="T75"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0">
                      <a:moveTo>
                        <a:pt x="40" y="80"/>
                      </a:moveTo>
                      <a:lnTo>
                        <a:pt x="40" y="80"/>
                      </a:lnTo>
                      <a:lnTo>
                        <a:pt x="48" y="78"/>
                      </a:lnTo>
                      <a:lnTo>
                        <a:pt x="56" y="76"/>
                      </a:lnTo>
                      <a:lnTo>
                        <a:pt x="62" y="72"/>
                      </a:lnTo>
                      <a:lnTo>
                        <a:pt x="68" y="68"/>
                      </a:lnTo>
                      <a:lnTo>
                        <a:pt x="72" y="62"/>
                      </a:lnTo>
                      <a:lnTo>
                        <a:pt x="76" y="56"/>
                      </a:lnTo>
                      <a:lnTo>
                        <a:pt x="78" y="48"/>
                      </a:lnTo>
                      <a:lnTo>
                        <a:pt x="80" y="40"/>
                      </a:lnTo>
                      <a:lnTo>
                        <a:pt x="80" y="40"/>
                      </a:lnTo>
                      <a:lnTo>
                        <a:pt x="78" y="32"/>
                      </a:lnTo>
                      <a:lnTo>
                        <a:pt x="76" y="24"/>
                      </a:lnTo>
                      <a:lnTo>
                        <a:pt x="72" y="18"/>
                      </a:lnTo>
                      <a:lnTo>
                        <a:pt x="68" y="12"/>
                      </a:lnTo>
                      <a:lnTo>
                        <a:pt x="62" y="6"/>
                      </a:lnTo>
                      <a:lnTo>
                        <a:pt x="56" y="2"/>
                      </a:lnTo>
                      <a:lnTo>
                        <a:pt x="48" y="0"/>
                      </a:lnTo>
                      <a:lnTo>
                        <a:pt x="40" y="0"/>
                      </a:lnTo>
                      <a:lnTo>
                        <a:pt x="40" y="0"/>
                      </a:lnTo>
                      <a:lnTo>
                        <a:pt x="32" y="0"/>
                      </a:lnTo>
                      <a:lnTo>
                        <a:pt x="24" y="2"/>
                      </a:lnTo>
                      <a:lnTo>
                        <a:pt x="16" y="6"/>
                      </a:lnTo>
                      <a:lnTo>
                        <a:pt x="12" y="12"/>
                      </a:lnTo>
                      <a:lnTo>
                        <a:pt x="6" y="18"/>
                      </a:lnTo>
                      <a:lnTo>
                        <a:pt x="2" y="24"/>
                      </a:lnTo>
                      <a:lnTo>
                        <a:pt x="0" y="32"/>
                      </a:lnTo>
                      <a:lnTo>
                        <a:pt x="0" y="40"/>
                      </a:lnTo>
                      <a:lnTo>
                        <a:pt x="0" y="40"/>
                      </a:lnTo>
                      <a:lnTo>
                        <a:pt x="0" y="48"/>
                      </a:lnTo>
                      <a:lnTo>
                        <a:pt x="2" y="56"/>
                      </a:lnTo>
                      <a:lnTo>
                        <a:pt x="6" y="62"/>
                      </a:lnTo>
                      <a:lnTo>
                        <a:pt x="12" y="68"/>
                      </a:lnTo>
                      <a:lnTo>
                        <a:pt x="16" y="72"/>
                      </a:lnTo>
                      <a:lnTo>
                        <a:pt x="24" y="76"/>
                      </a:lnTo>
                      <a:lnTo>
                        <a:pt x="32" y="78"/>
                      </a:lnTo>
                      <a:lnTo>
                        <a:pt x="40" y="80"/>
                      </a:lnTo>
                      <a:lnTo>
                        <a:pt x="40" y="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66" name="Line 19">
                  <a:extLst>
                    <a:ext uri="{FF2B5EF4-FFF2-40B4-BE49-F238E27FC236}">
                      <a16:creationId xmlns:a16="http://schemas.microsoft.com/office/drawing/2014/main" id="{8DD3ACBE-24A1-445C-8C42-EF9F3A6A9CCF}"/>
                    </a:ext>
                  </a:extLst>
                </p:cNvPr>
                <p:cNvSpPr>
                  <a:spLocks noChangeShapeType="1"/>
                </p:cNvSpPr>
                <p:nvPr/>
              </p:nvSpPr>
              <p:spPr bwMode="auto">
                <a:xfrm>
                  <a:off x="1966913" y="5286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67" name="Line 20">
                  <a:extLst>
                    <a:ext uri="{FF2B5EF4-FFF2-40B4-BE49-F238E27FC236}">
                      <a16:creationId xmlns:a16="http://schemas.microsoft.com/office/drawing/2014/main" id="{4CA62736-3A94-4E03-BD64-1B1CE890A8BA}"/>
                    </a:ext>
                  </a:extLst>
                </p:cNvPr>
                <p:cNvSpPr>
                  <a:spLocks noChangeShapeType="1"/>
                </p:cNvSpPr>
                <p:nvPr/>
              </p:nvSpPr>
              <p:spPr bwMode="auto">
                <a:xfrm>
                  <a:off x="1966913" y="5286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68" name="Freeform 21">
                  <a:extLst>
                    <a:ext uri="{FF2B5EF4-FFF2-40B4-BE49-F238E27FC236}">
                      <a16:creationId xmlns:a16="http://schemas.microsoft.com/office/drawing/2014/main" id="{60CC0E6A-9DD6-461B-BDB7-B8D1F4944A61}"/>
                    </a:ext>
                  </a:extLst>
                </p:cNvPr>
                <p:cNvSpPr>
                  <a:spLocks/>
                </p:cNvSpPr>
                <p:nvPr/>
              </p:nvSpPr>
              <p:spPr bwMode="auto">
                <a:xfrm>
                  <a:off x="1817688" y="604838"/>
                  <a:ext cx="298450" cy="628650"/>
                </a:xfrm>
                <a:custGeom>
                  <a:avLst/>
                  <a:gdLst>
                    <a:gd name="T0" fmla="*/ 50 w 188"/>
                    <a:gd name="T1" fmla="*/ 0 h 396"/>
                    <a:gd name="T2" fmla="*/ 30 w 188"/>
                    <a:gd name="T3" fmla="*/ 4 h 396"/>
                    <a:gd name="T4" fmla="*/ 14 w 188"/>
                    <a:gd name="T5" fmla="*/ 16 h 396"/>
                    <a:gd name="T6" fmla="*/ 4 w 188"/>
                    <a:gd name="T7" fmla="*/ 32 h 396"/>
                    <a:gd name="T8" fmla="*/ 0 w 188"/>
                    <a:gd name="T9" fmla="*/ 52 h 396"/>
                    <a:gd name="T10" fmla="*/ 0 w 188"/>
                    <a:gd name="T11" fmla="*/ 176 h 396"/>
                    <a:gd name="T12" fmla="*/ 4 w 188"/>
                    <a:gd name="T13" fmla="*/ 190 h 396"/>
                    <a:gd name="T14" fmla="*/ 16 w 188"/>
                    <a:gd name="T15" fmla="*/ 194 h 396"/>
                    <a:gd name="T16" fmla="*/ 28 w 188"/>
                    <a:gd name="T17" fmla="*/ 190 h 396"/>
                    <a:gd name="T18" fmla="*/ 34 w 188"/>
                    <a:gd name="T19" fmla="*/ 176 h 396"/>
                    <a:gd name="T20" fmla="*/ 42 w 188"/>
                    <a:gd name="T21" fmla="*/ 64 h 396"/>
                    <a:gd name="T22" fmla="*/ 42 w 188"/>
                    <a:gd name="T23" fmla="*/ 372 h 396"/>
                    <a:gd name="T24" fmla="*/ 50 w 188"/>
                    <a:gd name="T25" fmla="*/ 390 h 396"/>
                    <a:gd name="T26" fmla="*/ 66 w 188"/>
                    <a:gd name="T27" fmla="*/ 396 h 396"/>
                    <a:gd name="T28" fmla="*/ 82 w 188"/>
                    <a:gd name="T29" fmla="*/ 388 h 396"/>
                    <a:gd name="T30" fmla="*/ 90 w 188"/>
                    <a:gd name="T31" fmla="*/ 372 h 396"/>
                    <a:gd name="T32" fmla="*/ 98 w 188"/>
                    <a:gd name="T33" fmla="*/ 192 h 396"/>
                    <a:gd name="T34" fmla="*/ 98 w 188"/>
                    <a:gd name="T35" fmla="*/ 372 h 396"/>
                    <a:gd name="T36" fmla="*/ 104 w 188"/>
                    <a:gd name="T37" fmla="*/ 388 h 396"/>
                    <a:gd name="T38" fmla="*/ 120 w 188"/>
                    <a:gd name="T39" fmla="*/ 396 h 396"/>
                    <a:gd name="T40" fmla="*/ 136 w 188"/>
                    <a:gd name="T41" fmla="*/ 390 h 396"/>
                    <a:gd name="T42" fmla="*/ 144 w 188"/>
                    <a:gd name="T43" fmla="*/ 372 h 396"/>
                    <a:gd name="T44" fmla="*/ 152 w 188"/>
                    <a:gd name="T45" fmla="*/ 64 h 396"/>
                    <a:gd name="T46" fmla="*/ 152 w 188"/>
                    <a:gd name="T47" fmla="*/ 176 h 396"/>
                    <a:gd name="T48" fmla="*/ 158 w 188"/>
                    <a:gd name="T49" fmla="*/ 190 h 396"/>
                    <a:gd name="T50" fmla="*/ 170 w 188"/>
                    <a:gd name="T51" fmla="*/ 194 h 396"/>
                    <a:gd name="T52" fmla="*/ 182 w 188"/>
                    <a:gd name="T53" fmla="*/ 190 h 396"/>
                    <a:gd name="T54" fmla="*/ 188 w 188"/>
                    <a:gd name="T55" fmla="*/ 176 h 396"/>
                    <a:gd name="T56" fmla="*/ 188 w 188"/>
                    <a:gd name="T57" fmla="*/ 54 h 396"/>
                    <a:gd name="T58" fmla="*/ 184 w 188"/>
                    <a:gd name="T59" fmla="*/ 34 h 396"/>
                    <a:gd name="T60" fmla="*/ 172 w 188"/>
                    <a:gd name="T61" fmla="*/ 18 h 396"/>
                    <a:gd name="T62" fmla="*/ 156 w 188"/>
                    <a:gd name="T63" fmla="*/ 6 h 396"/>
                    <a:gd name="T64" fmla="*/ 136 w 188"/>
                    <a:gd name="T65" fmla="*/ 0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8" h="396">
                      <a:moveTo>
                        <a:pt x="50" y="0"/>
                      </a:moveTo>
                      <a:lnTo>
                        <a:pt x="50" y="0"/>
                      </a:lnTo>
                      <a:lnTo>
                        <a:pt x="40" y="2"/>
                      </a:lnTo>
                      <a:lnTo>
                        <a:pt x="30" y="4"/>
                      </a:lnTo>
                      <a:lnTo>
                        <a:pt x="22" y="10"/>
                      </a:lnTo>
                      <a:lnTo>
                        <a:pt x="14" y="16"/>
                      </a:lnTo>
                      <a:lnTo>
                        <a:pt x="8" y="24"/>
                      </a:lnTo>
                      <a:lnTo>
                        <a:pt x="4" y="32"/>
                      </a:lnTo>
                      <a:lnTo>
                        <a:pt x="0" y="42"/>
                      </a:lnTo>
                      <a:lnTo>
                        <a:pt x="0" y="52"/>
                      </a:lnTo>
                      <a:lnTo>
                        <a:pt x="0" y="176"/>
                      </a:lnTo>
                      <a:lnTo>
                        <a:pt x="0" y="176"/>
                      </a:lnTo>
                      <a:lnTo>
                        <a:pt x="0" y="184"/>
                      </a:lnTo>
                      <a:lnTo>
                        <a:pt x="4" y="190"/>
                      </a:lnTo>
                      <a:lnTo>
                        <a:pt x="10" y="192"/>
                      </a:lnTo>
                      <a:lnTo>
                        <a:pt x="16" y="194"/>
                      </a:lnTo>
                      <a:lnTo>
                        <a:pt x="24" y="192"/>
                      </a:lnTo>
                      <a:lnTo>
                        <a:pt x="28" y="190"/>
                      </a:lnTo>
                      <a:lnTo>
                        <a:pt x="32" y="184"/>
                      </a:lnTo>
                      <a:lnTo>
                        <a:pt x="34" y="176"/>
                      </a:lnTo>
                      <a:lnTo>
                        <a:pt x="34" y="64"/>
                      </a:lnTo>
                      <a:lnTo>
                        <a:pt x="42" y="64"/>
                      </a:lnTo>
                      <a:lnTo>
                        <a:pt x="42" y="372"/>
                      </a:lnTo>
                      <a:lnTo>
                        <a:pt x="42" y="372"/>
                      </a:lnTo>
                      <a:lnTo>
                        <a:pt x="44" y="382"/>
                      </a:lnTo>
                      <a:lnTo>
                        <a:pt x="50" y="390"/>
                      </a:lnTo>
                      <a:lnTo>
                        <a:pt x="58" y="394"/>
                      </a:lnTo>
                      <a:lnTo>
                        <a:pt x="66" y="396"/>
                      </a:lnTo>
                      <a:lnTo>
                        <a:pt x="74" y="394"/>
                      </a:lnTo>
                      <a:lnTo>
                        <a:pt x="82" y="388"/>
                      </a:lnTo>
                      <a:lnTo>
                        <a:pt x="88" y="382"/>
                      </a:lnTo>
                      <a:lnTo>
                        <a:pt x="90" y="372"/>
                      </a:lnTo>
                      <a:lnTo>
                        <a:pt x="90" y="192"/>
                      </a:lnTo>
                      <a:lnTo>
                        <a:pt x="98" y="192"/>
                      </a:lnTo>
                      <a:lnTo>
                        <a:pt x="98" y="372"/>
                      </a:lnTo>
                      <a:lnTo>
                        <a:pt x="98" y="372"/>
                      </a:lnTo>
                      <a:lnTo>
                        <a:pt x="100" y="382"/>
                      </a:lnTo>
                      <a:lnTo>
                        <a:pt x="104" y="388"/>
                      </a:lnTo>
                      <a:lnTo>
                        <a:pt x="112" y="394"/>
                      </a:lnTo>
                      <a:lnTo>
                        <a:pt x="120" y="396"/>
                      </a:lnTo>
                      <a:lnTo>
                        <a:pt x="130" y="394"/>
                      </a:lnTo>
                      <a:lnTo>
                        <a:pt x="136" y="390"/>
                      </a:lnTo>
                      <a:lnTo>
                        <a:pt x="142" y="382"/>
                      </a:lnTo>
                      <a:lnTo>
                        <a:pt x="144" y="372"/>
                      </a:lnTo>
                      <a:lnTo>
                        <a:pt x="144" y="64"/>
                      </a:lnTo>
                      <a:lnTo>
                        <a:pt x="152" y="64"/>
                      </a:lnTo>
                      <a:lnTo>
                        <a:pt x="152" y="176"/>
                      </a:lnTo>
                      <a:lnTo>
                        <a:pt x="152" y="176"/>
                      </a:lnTo>
                      <a:lnTo>
                        <a:pt x="154" y="184"/>
                      </a:lnTo>
                      <a:lnTo>
                        <a:pt x="158" y="190"/>
                      </a:lnTo>
                      <a:lnTo>
                        <a:pt x="164" y="192"/>
                      </a:lnTo>
                      <a:lnTo>
                        <a:pt x="170" y="194"/>
                      </a:lnTo>
                      <a:lnTo>
                        <a:pt x="176" y="192"/>
                      </a:lnTo>
                      <a:lnTo>
                        <a:pt x="182" y="190"/>
                      </a:lnTo>
                      <a:lnTo>
                        <a:pt x="186" y="184"/>
                      </a:lnTo>
                      <a:lnTo>
                        <a:pt x="188" y="176"/>
                      </a:lnTo>
                      <a:lnTo>
                        <a:pt x="188" y="54"/>
                      </a:lnTo>
                      <a:lnTo>
                        <a:pt x="188" y="54"/>
                      </a:lnTo>
                      <a:lnTo>
                        <a:pt x="186" y="44"/>
                      </a:lnTo>
                      <a:lnTo>
                        <a:pt x="184" y="34"/>
                      </a:lnTo>
                      <a:lnTo>
                        <a:pt x="178" y="24"/>
                      </a:lnTo>
                      <a:lnTo>
                        <a:pt x="172" y="18"/>
                      </a:lnTo>
                      <a:lnTo>
                        <a:pt x="166" y="10"/>
                      </a:lnTo>
                      <a:lnTo>
                        <a:pt x="156" y="6"/>
                      </a:lnTo>
                      <a:lnTo>
                        <a:pt x="146" y="2"/>
                      </a:lnTo>
                      <a:lnTo>
                        <a:pt x="136" y="0"/>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grpSp>
          <p:sp>
            <p:nvSpPr>
              <p:cNvPr id="64" name="Freeform 891">
                <a:extLst>
                  <a:ext uri="{FF2B5EF4-FFF2-40B4-BE49-F238E27FC236}">
                    <a16:creationId xmlns:a16="http://schemas.microsoft.com/office/drawing/2014/main" id="{42E674E9-2620-4F8A-9E2F-F15258875C61}"/>
                  </a:ext>
                </a:extLst>
              </p:cNvPr>
              <p:cNvSpPr/>
              <p:nvPr/>
            </p:nvSpPr>
            <p:spPr bwMode="ltGray">
              <a:xfrm>
                <a:off x="5084194" y="1527715"/>
                <a:ext cx="42823" cy="268291"/>
              </a:xfrm>
              <a:custGeom>
                <a:avLst/>
                <a:gdLst>
                  <a:gd name="connsiteX0" fmla="*/ 0 w 261257"/>
                  <a:gd name="connsiteY0" fmla="*/ 1518557 h 1518557"/>
                  <a:gd name="connsiteX1" fmla="*/ 0 w 261257"/>
                  <a:gd name="connsiteY1" fmla="*/ 0 h 1518557"/>
                  <a:gd name="connsiteX2" fmla="*/ 261257 w 261257"/>
                  <a:gd name="connsiteY2" fmla="*/ 0 h 1518557"/>
                  <a:gd name="connsiteX0" fmla="*/ 0 w 261257"/>
                  <a:gd name="connsiteY0" fmla="*/ 1518557 h 1518557"/>
                  <a:gd name="connsiteX1" fmla="*/ 0 w 261257"/>
                  <a:gd name="connsiteY1" fmla="*/ 0 h 1518557"/>
                  <a:gd name="connsiteX2" fmla="*/ 261257 w 261257"/>
                  <a:gd name="connsiteY2" fmla="*/ 0 h 1518557"/>
                  <a:gd name="connsiteX0" fmla="*/ 19352 w 280609"/>
                  <a:gd name="connsiteY0" fmla="*/ 1631042 h 1631042"/>
                  <a:gd name="connsiteX1" fmla="*/ 19352 w 280609"/>
                  <a:gd name="connsiteY1" fmla="*/ 112485 h 1631042"/>
                  <a:gd name="connsiteX2" fmla="*/ 280609 w 280609"/>
                  <a:gd name="connsiteY2" fmla="*/ 112485 h 1631042"/>
                  <a:gd name="connsiteX0" fmla="*/ 19352 w 280609"/>
                  <a:gd name="connsiteY0" fmla="*/ 1631042 h 1631042"/>
                  <a:gd name="connsiteX1" fmla="*/ 19352 w 280609"/>
                  <a:gd name="connsiteY1" fmla="*/ 112485 h 1631042"/>
                  <a:gd name="connsiteX2" fmla="*/ 280609 w 280609"/>
                  <a:gd name="connsiteY2" fmla="*/ 112485 h 1631042"/>
                  <a:gd name="connsiteX0" fmla="*/ 19352 w 280609"/>
                  <a:gd name="connsiteY0" fmla="*/ 1660940 h 1660940"/>
                  <a:gd name="connsiteX1" fmla="*/ 19352 w 280609"/>
                  <a:gd name="connsiteY1" fmla="*/ 142383 h 1660940"/>
                  <a:gd name="connsiteX2" fmla="*/ 280609 w 280609"/>
                  <a:gd name="connsiteY2" fmla="*/ 142383 h 1660940"/>
                  <a:gd name="connsiteX0" fmla="*/ 96 w 261353"/>
                  <a:gd name="connsiteY0" fmla="*/ 1653997 h 1653997"/>
                  <a:gd name="connsiteX1" fmla="*/ 96 w 261353"/>
                  <a:gd name="connsiteY1" fmla="*/ 135440 h 1653997"/>
                  <a:gd name="connsiteX2" fmla="*/ 261353 w 261353"/>
                  <a:gd name="connsiteY2" fmla="*/ 135440 h 1653997"/>
                  <a:gd name="connsiteX0" fmla="*/ 75 w 263112"/>
                  <a:gd name="connsiteY0" fmla="*/ 1678287 h 1678287"/>
                  <a:gd name="connsiteX1" fmla="*/ 75 w 263112"/>
                  <a:gd name="connsiteY1" fmla="*/ 159730 h 1678287"/>
                  <a:gd name="connsiteX2" fmla="*/ 261332 w 263112"/>
                  <a:gd name="connsiteY2" fmla="*/ 159730 h 1678287"/>
                </a:gdLst>
                <a:ahLst/>
                <a:cxnLst>
                  <a:cxn ang="0">
                    <a:pos x="connsiteX0" y="connsiteY0"/>
                  </a:cxn>
                  <a:cxn ang="0">
                    <a:pos x="connsiteX1" y="connsiteY1"/>
                  </a:cxn>
                  <a:cxn ang="0">
                    <a:pos x="connsiteX2" y="connsiteY2"/>
                  </a:cxn>
                </a:cxnLst>
                <a:rect l="l" t="t" r="r" b="b"/>
                <a:pathLst>
                  <a:path w="263112" h="1678287">
                    <a:moveTo>
                      <a:pt x="75" y="1678287"/>
                    </a:moveTo>
                    <a:cubicBezTo>
                      <a:pt x="75" y="1172101"/>
                      <a:pt x="5518" y="396495"/>
                      <a:pt x="75" y="159730"/>
                    </a:cubicBezTo>
                    <a:cubicBezTo>
                      <a:pt x="-5368" y="-77035"/>
                      <a:pt x="288547" y="-28049"/>
                      <a:pt x="261332" y="159730"/>
                    </a:cubicBezTo>
                  </a:path>
                </a:pathLst>
              </a:custGeom>
              <a:noFill/>
              <a:ln w="22225" cap="rnd" cmpd="sng" algn="ctr">
                <a:solidFill>
                  <a:srgbClr val="FFFFFF"/>
                </a:solidFill>
                <a:prstDash val="solid"/>
              </a:ln>
              <a:effectLst/>
            </p:spPr>
            <p:txBody>
              <a:bodyPr rtlCol="0" anchor="ctr"/>
              <a:lstStyle/>
              <a:p>
                <a:pPr algn="ctr">
                  <a:defRPr/>
                </a:pPr>
                <a:endParaRPr lang="en-GB" sz="848" kern="0" dirty="0">
                  <a:solidFill>
                    <a:srgbClr val="FFFFFF"/>
                  </a:solidFill>
                  <a:latin typeface="Arial"/>
                </a:endParaRPr>
              </a:p>
            </p:txBody>
          </p:sp>
        </p:grpSp>
        <p:grpSp>
          <p:nvGrpSpPr>
            <p:cNvPr id="17" name="Group 27">
              <a:extLst>
                <a:ext uri="{FF2B5EF4-FFF2-40B4-BE49-F238E27FC236}">
                  <a16:creationId xmlns:a16="http://schemas.microsoft.com/office/drawing/2014/main" id="{C45E7AFC-41E3-40BB-AE18-AE9A4BD6CE58}"/>
                </a:ext>
              </a:extLst>
            </p:cNvPr>
            <p:cNvGrpSpPr/>
            <p:nvPr/>
          </p:nvGrpSpPr>
          <p:grpSpPr>
            <a:xfrm>
              <a:off x="4083672" y="4194697"/>
              <a:ext cx="630996" cy="555782"/>
              <a:chOff x="4083672" y="4194697"/>
              <a:chExt cx="630996" cy="555782"/>
            </a:xfrm>
          </p:grpSpPr>
          <p:sp>
            <p:nvSpPr>
              <p:cNvPr id="58" name="Oval 57">
                <a:extLst>
                  <a:ext uri="{FF2B5EF4-FFF2-40B4-BE49-F238E27FC236}">
                    <a16:creationId xmlns:a16="http://schemas.microsoft.com/office/drawing/2014/main" id="{3D34DA71-6943-4D97-913F-089D697040BC}"/>
                  </a:ext>
                </a:extLst>
              </p:cNvPr>
              <p:cNvSpPr/>
              <p:nvPr/>
            </p:nvSpPr>
            <p:spPr bwMode="ltGray">
              <a:xfrm>
                <a:off x="4083672" y="4194697"/>
                <a:ext cx="630996" cy="555782"/>
              </a:xfrm>
              <a:prstGeom prst="ellipse">
                <a:avLst/>
              </a:prstGeom>
              <a:solidFill>
                <a:srgbClr val="E0301E"/>
              </a:solidFill>
              <a:ln w="3175" cap="flat" cmpd="sng" algn="ctr">
                <a:solidFill>
                  <a:srgbClr val="E0301E"/>
                </a:solidFill>
                <a:prstDash val="solid"/>
              </a:ln>
              <a:effectLst/>
            </p:spPr>
            <p:txBody>
              <a:bodyPr rtlCol="0" anchor="ctr"/>
              <a:lstStyle/>
              <a:p>
                <a:pPr algn="ctr">
                  <a:defRPr/>
                </a:pPr>
                <a:endParaRPr lang="en-GB" sz="848" kern="0" dirty="0">
                  <a:solidFill>
                    <a:srgbClr val="FFFFFF"/>
                  </a:solidFill>
                  <a:latin typeface="Georgia" pitchFamily="18" charset="0"/>
                </a:endParaRPr>
              </a:p>
            </p:txBody>
          </p:sp>
          <p:grpSp>
            <p:nvGrpSpPr>
              <p:cNvPr id="18" name="Group 314">
                <a:extLst>
                  <a:ext uri="{FF2B5EF4-FFF2-40B4-BE49-F238E27FC236}">
                    <a16:creationId xmlns:a16="http://schemas.microsoft.com/office/drawing/2014/main" id="{0162222A-4BE8-4257-8658-0B03222EFFA8}"/>
                  </a:ext>
                </a:extLst>
              </p:cNvPr>
              <p:cNvGrpSpPr>
                <a:grpSpLocks/>
              </p:cNvGrpSpPr>
              <p:nvPr/>
            </p:nvGrpSpPr>
            <p:grpSpPr bwMode="auto">
              <a:xfrm>
                <a:off x="4329759" y="4280642"/>
                <a:ext cx="161309" cy="395754"/>
                <a:chOff x="2234" y="3893"/>
                <a:chExt cx="209" cy="513"/>
              </a:xfrm>
            </p:grpSpPr>
            <p:sp>
              <p:nvSpPr>
                <p:cNvPr id="60" name="Freeform 315">
                  <a:extLst>
                    <a:ext uri="{FF2B5EF4-FFF2-40B4-BE49-F238E27FC236}">
                      <a16:creationId xmlns:a16="http://schemas.microsoft.com/office/drawing/2014/main" id="{553E3456-3C46-46B3-A3BF-E4C2E1035BB7}"/>
                    </a:ext>
                  </a:extLst>
                </p:cNvPr>
                <p:cNvSpPr>
                  <a:spLocks/>
                </p:cNvSpPr>
                <p:nvPr/>
              </p:nvSpPr>
              <p:spPr bwMode="auto">
                <a:xfrm>
                  <a:off x="2245" y="3893"/>
                  <a:ext cx="185" cy="513"/>
                </a:xfrm>
                <a:custGeom>
                  <a:avLst/>
                  <a:gdLst>
                    <a:gd name="T0" fmla="*/ 4 w 6132"/>
                    <a:gd name="T1" fmla="*/ 3 h 16980"/>
                    <a:gd name="T2" fmla="*/ 4 w 6132"/>
                    <a:gd name="T3" fmla="*/ 3 h 16980"/>
                    <a:gd name="T4" fmla="*/ 5 w 6132"/>
                    <a:gd name="T5" fmla="*/ 4 h 16980"/>
                    <a:gd name="T6" fmla="*/ 5 w 6132"/>
                    <a:gd name="T7" fmla="*/ 4 h 16980"/>
                    <a:gd name="T8" fmla="*/ 5 w 6132"/>
                    <a:gd name="T9" fmla="*/ 4 h 16980"/>
                    <a:gd name="T10" fmla="*/ 5 w 6132"/>
                    <a:gd name="T11" fmla="*/ 5 h 16980"/>
                    <a:gd name="T12" fmla="*/ 6 w 6132"/>
                    <a:gd name="T13" fmla="*/ 5 h 16980"/>
                    <a:gd name="T14" fmla="*/ 6 w 6132"/>
                    <a:gd name="T15" fmla="*/ 9 h 16980"/>
                    <a:gd name="T16" fmla="*/ 6 w 6132"/>
                    <a:gd name="T17" fmla="*/ 9 h 16980"/>
                    <a:gd name="T18" fmla="*/ 5 w 6132"/>
                    <a:gd name="T19" fmla="*/ 9 h 16980"/>
                    <a:gd name="T20" fmla="*/ 5 w 6132"/>
                    <a:gd name="T21" fmla="*/ 10 h 16980"/>
                    <a:gd name="T22" fmla="*/ 5 w 6132"/>
                    <a:gd name="T23" fmla="*/ 10 h 16980"/>
                    <a:gd name="T24" fmla="*/ 5 w 6132"/>
                    <a:gd name="T25" fmla="*/ 10 h 16980"/>
                    <a:gd name="T26" fmla="*/ 4 w 6132"/>
                    <a:gd name="T27" fmla="*/ 10 h 16980"/>
                    <a:gd name="T28" fmla="*/ 1 w 6132"/>
                    <a:gd name="T29" fmla="*/ 10 h 16980"/>
                    <a:gd name="T30" fmla="*/ 1 w 6132"/>
                    <a:gd name="T31" fmla="*/ 10 h 16980"/>
                    <a:gd name="T32" fmla="*/ 1 w 6132"/>
                    <a:gd name="T33" fmla="*/ 10 h 16980"/>
                    <a:gd name="T34" fmla="*/ 0 w 6132"/>
                    <a:gd name="T35" fmla="*/ 10 h 16980"/>
                    <a:gd name="T36" fmla="*/ 0 w 6132"/>
                    <a:gd name="T37" fmla="*/ 10 h 16980"/>
                    <a:gd name="T38" fmla="*/ 0 w 6132"/>
                    <a:gd name="T39" fmla="*/ 9 h 16980"/>
                    <a:gd name="T40" fmla="*/ 0 w 6132"/>
                    <a:gd name="T41" fmla="*/ 9 h 16980"/>
                    <a:gd name="T42" fmla="*/ 0 w 6132"/>
                    <a:gd name="T43" fmla="*/ 5 h 16980"/>
                    <a:gd name="T44" fmla="*/ 0 w 6132"/>
                    <a:gd name="T45" fmla="*/ 5 h 16980"/>
                    <a:gd name="T46" fmla="*/ 0 w 6132"/>
                    <a:gd name="T47" fmla="*/ 4 h 16980"/>
                    <a:gd name="T48" fmla="*/ 0 w 6132"/>
                    <a:gd name="T49" fmla="*/ 4 h 16980"/>
                    <a:gd name="T50" fmla="*/ 1 w 6132"/>
                    <a:gd name="T51" fmla="*/ 4 h 16980"/>
                    <a:gd name="T52" fmla="*/ 1 w 6132"/>
                    <a:gd name="T53" fmla="*/ 3 h 16980"/>
                    <a:gd name="T54" fmla="*/ 2 w 6132"/>
                    <a:gd name="T55" fmla="*/ 3 h 16980"/>
                    <a:gd name="T56" fmla="*/ 2 w 6132"/>
                    <a:gd name="T57" fmla="*/ 3 h 16980"/>
                    <a:gd name="T58" fmla="*/ 2 w 6132"/>
                    <a:gd name="T59" fmla="*/ 3 h 16980"/>
                    <a:gd name="T60" fmla="*/ 2 w 6132"/>
                    <a:gd name="T61" fmla="*/ 3 h 16980"/>
                    <a:gd name="T62" fmla="*/ 2 w 6132"/>
                    <a:gd name="T63" fmla="*/ 3 h 16980"/>
                    <a:gd name="T64" fmla="*/ 2 w 6132"/>
                    <a:gd name="T65" fmla="*/ 3 h 16980"/>
                    <a:gd name="T66" fmla="*/ 2 w 6132"/>
                    <a:gd name="T67" fmla="*/ 3 h 16980"/>
                    <a:gd name="T68" fmla="*/ 2 w 6132"/>
                    <a:gd name="T69" fmla="*/ 3 h 16980"/>
                    <a:gd name="T70" fmla="*/ 2 w 6132"/>
                    <a:gd name="T71" fmla="*/ 2 h 16980"/>
                    <a:gd name="T72" fmla="*/ 1 w 6132"/>
                    <a:gd name="T73" fmla="*/ 2 h 16980"/>
                    <a:gd name="T74" fmla="*/ 1 w 6132"/>
                    <a:gd name="T75" fmla="*/ 2 h 16980"/>
                    <a:gd name="T76" fmla="*/ 1 w 6132"/>
                    <a:gd name="T77" fmla="*/ 2 h 16980"/>
                    <a:gd name="T78" fmla="*/ 1 w 6132"/>
                    <a:gd name="T79" fmla="*/ 1 h 16980"/>
                    <a:gd name="T80" fmla="*/ 1 w 6132"/>
                    <a:gd name="T81" fmla="*/ 1 h 16980"/>
                    <a:gd name="T82" fmla="*/ 2 w 6132"/>
                    <a:gd name="T83" fmla="*/ 1 h 16980"/>
                    <a:gd name="T84" fmla="*/ 2 w 6132"/>
                    <a:gd name="T85" fmla="*/ 0 h 16980"/>
                    <a:gd name="T86" fmla="*/ 2 w 6132"/>
                    <a:gd name="T87" fmla="*/ 0 h 16980"/>
                    <a:gd name="T88" fmla="*/ 2 w 6132"/>
                    <a:gd name="T89" fmla="*/ 0 h 16980"/>
                    <a:gd name="T90" fmla="*/ 3 w 6132"/>
                    <a:gd name="T91" fmla="*/ 0 h 16980"/>
                    <a:gd name="T92" fmla="*/ 3 w 6132"/>
                    <a:gd name="T93" fmla="*/ 0 h 16980"/>
                    <a:gd name="T94" fmla="*/ 3 w 6132"/>
                    <a:gd name="T95" fmla="*/ 0 h 16980"/>
                    <a:gd name="T96" fmla="*/ 4 w 6132"/>
                    <a:gd name="T97" fmla="*/ 0 h 16980"/>
                    <a:gd name="T98" fmla="*/ 4 w 6132"/>
                    <a:gd name="T99" fmla="*/ 0 h 16980"/>
                    <a:gd name="T100" fmla="*/ 4 w 6132"/>
                    <a:gd name="T101" fmla="*/ 1 h 16980"/>
                    <a:gd name="T102" fmla="*/ 4 w 6132"/>
                    <a:gd name="T103" fmla="*/ 1 h 16980"/>
                    <a:gd name="T104" fmla="*/ 4 w 6132"/>
                    <a:gd name="T105" fmla="*/ 1 h 16980"/>
                    <a:gd name="T106" fmla="*/ 4 w 6132"/>
                    <a:gd name="T107" fmla="*/ 2 h 16980"/>
                    <a:gd name="T108" fmla="*/ 4 w 6132"/>
                    <a:gd name="T109" fmla="*/ 2 h 16980"/>
                    <a:gd name="T110" fmla="*/ 4 w 6132"/>
                    <a:gd name="T111" fmla="*/ 2 h 16980"/>
                    <a:gd name="T112" fmla="*/ 4 w 6132"/>
                    <a:gd name="T113" fmla="*/ 3 h 16980"/>
                    <a:gd name="T114" fmla="*/ 4 w 6132"/>
                    <a:gd name="T115" fmla="*/ 3 h 16980"/>
                    <a:gd name="T116" fmla="*/ 4 w 6132"/>
                    <a:gd name="T117" fmla="*/ 3 h 16980"/>
                    <a:gd name="T118" fmla="*/ 3 w 6132"/>
                    <a:gd name="T119" fmla="*/ 3 h 16980"/>
                    <a:gd name="T120" fmla="*/ 3 w 6132"/>
                    <a:gd name="T121" fmla="*/ 3 h 169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132"/>
                    <a:gd name="T184" fmla="*/ 0 h 16980"/>
                    <a:gd name="T185" fmla="*/ 6132 w 6132"/>
                    <a:gd name="T186" fmla="*/ 16980 h 1698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132" h="16980">
                      <a:moveTo>
                        <a:pt x="3480" y="3522"/>
                      </a:moveTo>
                      <a:lnTo>
                        <a:pt x="4254" y="3522"/>
                      </a:lnTo>
                      <a:lnTo>
                        <a:pt x="4298" y="3522"/>
                      </a:lnTo>
                      <a:lnTo>
                        <a:pt x="4342" y="3524"/>
                      </a:lnTo>
                      <a:lnTo>
                        <a:pt x="4386" y="3527"/>
                      </a:lnTo>
                      <a:lnTo>
                        <a:pt x="4429" y="3531"/>
                      </a:lnTo>
                      <a:lnTo>
                        <a:pt x="4473" y="3536"/>
                      </a:lnTo>
                      <a:lnTo>
                        <a:pt x="4515" y="3543"/>
                      </a:lnTo>
                      <a:lnTo>
                        <a:pt x="4558" y="3551"/>
                      </a:lnTo>
                      <a:lnTo>
                        <a:pt x="4601" y="3560"/>
                      </a:lnTo>
                      <a:lnTo>
                        <a:pt x="4643" y="3570"/>
                      </a:lnTo>
                      <a:lnTo>
                        <a:pt x="4685" y="3582"/>
                      </a:lnTo>
                      <a:lnTo>
                        <a:pt x="4727" y="3595"/>
                      </a:lnTo>
                      <a:lnTo>
                        <a:pt x="4769" y="3609"/>
                      </a:lnTo>
                      <a:lnTo>
                        <a:pt x="4809" y="3624"/>
                      </a:lnTo>
                      <a:lnTo>
                        <a:pt x="4851" y="3640"/>
                      </a:lnTo>
                      <a:lnTo>
                        <a:pt x="4892" y="3658"/>
                      </a:lnTo>
                      <a:lnTo>
                        <a:pt x="4932" y="3676"/>
                      </a:lnTo>
                      <a:lnTo>
                        <a:pt x="4973" y="3696"/>
                      </a:lnTo>
                      <a:lnTo>
                        <a:pt x="5013" y="3717"/>
                      </a:lnTo>
                      <a:lnTo>
                        <a:pt x="5052" y="3739"/>
                      </a:lnTo>
                      <a:lnTo>
                        <a:pt x="5093" y="3763"/>
                      </a:lnTo>
                      <a:lnTo>
                        <a:pt x="5132" y="3788"/>
                      </a:lnTo>
                      <a:lnTo>
                        <a:pt x="5171" y="3814"/>
                      </a:lnTo>
                      <a:lnTo>
                        <a:pt x="5210" y="3842"/>
                      </a:lnTo>
                      <a:lnTo>
                        <a:pt x="5249" y="3870"/>
                      </a:lnTo>
                      <a:lnTo>
                        <a:pt x="5287" y="3900"/>
                      </a:lnTo>
                      <a:lnTo>
                        <a:pt x="5325" y="3931"/>
                      </a:lnTo>
                      <a:lnTo>
                        <a:pt x="5364" y="3963"/>
                      </a:lnTo>
                      <a:lnTo>
                        <a:pt x="5401" y="3997"/>
                      </a:lnTo>
                      <a:lnTo>
                        <a:pt x="5438" y="4031"/>
                      </a:lnTo>
                      <a:lnTo>
                        <a:pt x="5475" y="4067"/>
                      </a:lnTo>
                      <a:lnTo>
                        <a:pt x="5512" y="4104"/>
                      </a:lnTo>
                      <a:lnTo>
                        <a:pt x="5549" y="4142"/>
                      </a:lnTo>
                      <a:lnTo>
                        <a:pt x="5584" y="4181"/>
                      </a:lnTo>
                      <a:lnTo>
                        <a:pt x="5619" y="4220"/>
                      </a:lnTo>
                      <a:lnTo>
                        <a:pt x="5652" y="4260"/>
                      </a:lnTo>
                      <a:lnTo>
                        <a:pt x="5685" y="4300"/>
                      </a:lnTo>
                      <a:lnTo>
                        <a:pt x="5716" y="4339"/>
                      </a:lnTo>
                      <a:lnTo>
                        <a:pt x="5747" y="4379"/>
                      </a:lnTo>
                      <a:lnTo>
                        <a:pt x="5775" y="4420"/>
                      </a:lnTo>
                      <a:lnTo>
                        <a:pt x="5803" y="4460"/>
                      </a:lnTo>
                      <a:lnTo>
                        <a:pt x="5830" y="4502"/>
                      </a:lnTo>
                      <a:lnTo>
                        <a:pt x="5855" y="4543"/>
                      </a:lnTo>
                      <a:lnTo>
                        <a:pt x="5880" y="4585"/>
                      </a:lnTo>
                      <a:lnTo>
                        <a:pt x="5904" y="4626"/>
                      </a:lnTo>
                      <a:lnTo>
                        <a:pt x="5925" y="4667"/>
                      </a:lnTo>
                      <a:lnTo>
                        <a:pt x="5946" y="4710"/>
                      </a:lnTo>
                      <a:lnTo>
                        <a:pt x="5967" y="4752"/>
                      </a:lnTo>
                      <a:lnTo>
                        <a:pt x="5986" y="4795"/>
                      </a:lnTo>
                      <a:lnTo>
                        <a:pt x="6004" y="4838"/>
                      </a:lnTo>
                      <a:lnTo>
                        <a:pt x="6020" y="4880"/>
                      </a:lnTo>
                      <a:lnTo>
                        <a:pt x="6036" y="4924"/>
                      </a:lnTo>
                      <a:lnTo>
                        <a:pt x="6049" y="4967"/>
                      </a:lnTo>
                      <a:lnTo>
                        <a:pt x="6063" y="5011"/>
                      </a:lnTo>
                      <a:lnTo>
                        <a:pt x="6075" y="5055"/>
                      </a:lnTo>
                      <a:lnTo>
                        <a:pt x="6085" y="5100"/>
                      </a:lnTo>
                      <a:lnTo>
                        <a:pt x="6095" y="5144"/>
                      </a:lnTo>
                      <a:lnTo>
                        <a:pt x="6104" y="5189"/>
                      </a:lnTo>
                      <a:lnTo>
                        <a:pt x="6111" y="5234"/>
                      </a:lnTo>
                      <a:lnTo>
                        <a:pt x="6117" y="5280"/>
                      </a:lnTo>
                      <a:lnTo>
                        <a:pt x="6123" y="5324"/>
                      </a:lnTo>
                      <a:lnTo>
                        <a:pt x="6127" y="5370"/>
                      </a:lnTo>
                      <a:lnTo>
                        <a:pt x="6130" y="5417"/>
                      </a:lnTo>
                      <a:lnTo>
                        <a:pt x="6131" y="5463"/>
                      </a:lnTo>
                      <a:lnTo>
                        <a:pt x="6132" y="5509"/>
                      </a:lnTo>
                      <a:lnTo>
                        <a:pt x="6132" y="9605"/>
                      </a:lnTo>
                      <a:lnTo>
                        <a:pt x="6132" y="9643"/>
                      </a:lnTo>
                      <a:lnTo>
                        <a:pt x="6130" y="9682"/>
                      </a:lnTo>
                      <a:lnTo>
                        <a:pt x="6129" y="9719"/>
                      </a:lnTo>
                      <a:lnTo>
                        <a:pt x="6126" y="9756"/>
                      </a:lnTo>
                      <a:lnTo>
                        <a:pt x="6122" y="9793"/>
                      </a:lnTo>
                      <a:lnTo>
                        <a:pt x="6117" y="9829"/>
                      </a:lnTo>
                      <a:lnTo>
                        <a:pt x="6112" y="9866"/>
                      </a:lnTo>
                      <a:lnTo>
                        <a:pt x="6107" y="9901"/>
                      </a:lnTo>
                      <a:lnTo>
                        <a:pt x="6099" y="9937"/>
                      </a:lnTo>
                      <a:lnTo>
                        <a:pt x="6092" y="9972"/>
                      </a:lnTo>
                      <a:lnTo>
                        <a:pt x="6083" y="10007"/>
                      </a:lnTo>
                      <a:lnTo>
                        <a:pt x="6074" y="10041"/>
                      </a:lnTo>
                      <a:lnTo>
                        <a:pt x="6063" y="10075"/>
                      </a:lnTo>
                      <a:lnTo>
                        <a:pt x="6053" y="10109"/>
                      </a:lnTo>
                      <a:lnTo>
                        <a:pt x="6041" y="10142"/>
                      </a:lnTo>
                      <a:lnTo>
                        <a:pt x="6028" y="10175"/>
                      </a:lnTo>
                      <a:lnTo>
                        <a:pt x="6014" y="10208"/>
                      </a:lnTo>
                      <a:lnTo>
                        <a:pt x="6001" y="10241"/>
                      </a:lnTo>
                      <a:lnTo>
                        <a:pt x="5986" y="10273"/>
                      </a:lnTo>
                      <a:lnTo>
                        <a:pt x="5970" y="10305"/>
                      </a:lnTo>
                      <a:lnTo>
                        <a:pt x="5953" y="10335"/>
                      </a:lnTo>
                      <a:lnTo>
                        <a:pt x="5935" y="10366"/>
                      </a:lnTo>
                      <a:lnTo>
                        <a:pt x="5917" y="10397"/>
                      </a:lnTo>
                      <a:lnTo>
                        <a:pt x="5898" y="10428"/>
                      </a:lnTo>
                      <a:lnTo>
                        <a:pt x="5877" y="10458"/>
                      </a:lnTo>
                      <a:lnTo>
                        <a:pt x="5857" y="10487"/>
                      </a:lnTo>
                      <a:lnTo>
                        <a:pt x="5835" y="10517"/>
                      </a:lnTo>
                      <a:lnTo>
                        <a:pt x="5813" y="10546"/>
                      </a:lnTo>
                      <a:lnTo>
                        <a:pt x="5789" y="10575"/>
                      </a:lnTo>
                      <a:lnTo>
                        <a:pt x="5766" y="10603"/>
                      </a:lnTo>
                      <a:lnTo>
                        <a:pt x="5740" y="10632"/>
                      </a:lnTo>
                      <a:lnTo>
                        <a:pt x="5715" y="10660"/>
                      </a:lnTo>
                      <a:lnTo>
                        <a:pt x="5688" y="10687"/>
                      </a:lnTo>
                      <a:lnTo>
                        <a:pt x="5661" y="10714"/>
                      </a:lnTo>
                      <a:lnTo>
                        <a:pt x="5633" y="10739"/>
                      </a:lnTo>
                      <a:lnTo>
                        <a:pt x="5606" y="10765"/>
                      </a:lnTo>
                      <a:lnTo>
                        <a:pt x="5576" y="10790"/>
                      </a:lnTo>
                      <a:lnTo>
                        <a:pt x="5546" y="10814"/>
                      </a:lnTo>
                      <a:lnTo>
                        <a:pt x="5516" y="10838"/>
                      </a:lnTo>
                      <a:lnTo>
                        <a:pt x="5486" y="10860"/>
                      </a:lnTo>
                      <a:lnTo>
                        <a:pt x="5455" y="10883"/>
                      </a:lnTo>
                      <a:lnTo>
                        <a:pt x="5422" y="10905"/>
                      </a:lnTo>
                      <a:lnTo>
                        <a:pt x="5390" y="10925"/>
                      </a:lnTo>
                      <a:lnTo>
                        <a:pt x="5357" y="10947"/>
                      </a:lnTo>
                      <a:lnTo>
                        <a:pt x="5323" y="10966"/>
                      </a:lnTo>
                      <a:lnTo>
                        <a:pt x="5288" y="10985"/>
                      </a:lnTo>
                      <a:lnTo>
                        <a:pt x="5253" y="11004"/>
                      </a:lnTo>
                      <a:lnTo>
                        <a:pt x="5218" y="11022"/>
                      </a:lnTo>
                      <a:lnTo>
                        <a:pt x="5182" y="11039"/>
                      </a:lnTo>
                      <a:lnTo>
                        <a:pt x="5145" y="11056"/>
                      </a:lnTo>
                      <a:lnTo>
                        <a:pt x="5108" y="11072"/>
                      </a:lnTo>
                      <a:lnTo>
                        <a:pt x="5069" y="11087"/>
                      </a:lnTo>
                      <a:lnTo>
                        <a:pt x="5031" y="11102"/>
                      </a:lnTo>
                      <a:lnTo>
                        <a:pt x="4992" y="11117"/>
                      </a:lnTo>
                      <a:lnTo>
                        <a:pt x="4952" y="11130"/>
                      </a:lnTo>
                      <a:lnTo>
                        <a:pt x="4911" y="11143"/>
                      </a:lnTo>
                      <a:lnTo>
                        <a:pt x="4871" y="11155"/>
                      </a:lnTo>
                      <a:lnTo>
                        <a:pt x="4828" y="11167"/>
                      </a:lnTo>
                      <a:lnTo>
                        <a:pt x="4787" y="11178"/>
                      </a:lnTo>
                      <a:lnTo>
                        <a:pt x="4743" y="11189"/>
                      </a:lnTo>
                      <a:lnTo>
                        <a:pt x="4701" y="11199"/>
                      </a:lnTo>
                      <a:lnTo>
                        <a:pt x="4656" y="11208"/>
                      </a:lnTo>
                      <a:lnTo>
                        <a:pt x="4612" y="11217"/>
                      </a:lnTo>
                      <a:lnTo>
                        <a:pt x="4567" y="11225"/>
                      </a:lnTo>
                      <a:lnTo>
                        <a:pt x="4567" y="16980"/>
                      </a:lnTo>
                      <a:lnTo>
                        <a:pt x="1510" y="16980"/>
                      </a:lnTo>
                      <a:lnTo>
                        <a:pt x="1510" y="11225"/>
                      </a:lnTo>
                      <a:lnTo>
                        <a:pt x="1424" y="11201"/>
                      </a:lnTo>
                      <a:lnTo>
                        <a:pt x="1340" y="11175"/>
                      </a:lnTo>
                      <a:lnTo>
                        <a:pt x="1298" y="11161"/>
                      </a:lnTo>
                      <a:lnTo>
                        <a:pt x="1258" y="11148"/>
                      </a:lnTo>
                      <a:lnTo>
                        <a:pt x="1218" y="11134"/>
                      </a:lnTo>
                      <a:lnTo>
                        <a:pt x="1178" y="11120"/>
                      </a:lnTo>
                      <a:lnTo>
                        <a:pt x="1139" y="11105"/>
                      </a:lnTo>
                      <a:lnTo>
                        <a:pt x="1101" y="11089"/>
                      </a:lnTo>
                      <a:lnTo>
                        <a:pt x="1064" y="11074"/>
                      </a:lnTo>
                      <a:lnTo>
                        <a:pt x="1026" y="11058"/>
                      </a:lnTo>
                      <a:lnTo>
                        <a:pt x="990" y="11042"/>
                      </a:lnTo>
                      <a:lnTo>
                        <a:pt x="954" y="11025"/>
                      </a:lnTo>
                      <a:lnTo>
                        <a:pt x="918" y="11009"/>
                      </a:lnTo>
                      <a:lnTo>
                        <a:pt x="884" y="10991"/>
                      </a:lnTo>
                      <a:lnTo>
                        <a:pt x="849" y="10974"/>
                      </a:lnTo>
                      <a:lnTo>
                        <a:pt x="816" y="10956"/>
                      </a:lnTo>
                      <a:lnTo>
                        <a:pt x="782" y="10938"/>
                      </a:lnTo>
                      <a:lnTo>
                        <a:pt x="750" y="10920"/>
                      </a:lnTo>
                      <a:lnTo>
                        <a:pt x="719" y="10901"/>
                      </a:lnTo>
                      <a:lnTo>
                        <a:pt x="687" y="10882"/>
                      </a:lnTo>
                      <a:lnTo>
                        <a:pt x="656" y="10862"/>
                      </a:lnTo>
                      <a:lnTo>
                        <a:pt x="626" y="10841"/>
                      </a:lnTo>
                      <a:lnTo>
                        <a:pt x="596" y="10821"/>
                      </a:lnTo>
                      <a:lnTo>
                        <a:pt x="567" y="10801"/>
                      </a:lnTo>
                      <a:lnTo>
                        <a:pt x="539" y="10780"/>
                      </a:lnTo>
                      <a:lnTo>
                        <a:pt x="510" y="10758"/>
                      </a:lnTo>
                      <a:lnTo>
                        <a:pt x="484" y="10736"/>
                      </a:lnTo>
                      <a:lnTo>
                        <a:pt x="456" y="10714"/>
                      </a:lnTo>
                      <a:lnTo>
                        <a:pt x="431" y="10691"/>
                      </a:lnTo>
                      <a:lnTo>
                        <a:pt x="405" y="10668"/>
                      </a:lnTo>
                      <a:lnTo>
                        <a:pt x="380" y="10646"/>
                      </a:lnTo>
                      <a:lnTo>
                        <a:pt x="355" y="10622"/>
                      </a:lnTo>
                      <a:lnTo>
                        <a:pt x="332" y="10599"/>
                      </a:lnTo>
                      <a:lnTo>
                        <a:pt x="310" y="10576"/>
                      </a:lnTo>
                      <a:lnTo>
                        <a:pt x="289" y="10551"/>
                      </a:lnTo>
                      <a:lnTo>
                        <a:pt x="267" y="10528"/>
                      </a:lnTo>
                      <a:lnTo>
                        <a:pt x="247" y="10503"/>
                      </a:lnTo>
                      <a:lnTo>
                        <a:pt x="228" y="10480"/>
                      </a:lnTo>
                      <a:lnTo>
                        <a:pt x="209" y="10455"/>
                      </a:lnTo>
                      <a:lnTo>
                        <a:pt x="191" y="10431"/>
                      </a:lnTo>
                      <a:lnTo>
                        <a:pt x="174" y="10407"/>
                      </a:lnTo>
                      <a:lnTo>
                        <a:pt x="158" y="10382"/>
                      </a:lnTo>
                      <a:lnTo>
                        <a:pt x="142" y="10357"/>
                      </a:lnTo>
                      <a:lnTo>
                        <a:pt x="128" y="10332"/>
                      </a:lnTo>
                      <a:lnTo>
                        <a:pt x="114" y="10307"/>
                      </a:lnTo>
                      <a:lnTo>
                        <a:pt x="101" y="10281"/>
                      </a:lnTo>
                      <a:lnTo>
                        <a:pt x="89" y="10256"/>
                      </a:lnTo>
                      <a:lnTo>
                        <a:pt x="77" y="10230"/>
                      </a:lnTo>
                      <a:lnTo>
                        <a:pt x="67" y="10205"/>
                      </a:lnTo>
                      <a:lnTo>
                        <a:pt x="57" y="10179"/>
                      </a:lnTo>
                      <a:lnTo>
                        <a:pt x="48" y="10153"/>
                      </a:lnTo>
                      <a:lnTo>
                        <a:pt x="39" y="10127"/>
                      </a:lnTo>
                      <a:lnTo>
                        <a:pt x="32" y="10100"/>
                      </a:lnTo>
                      <a:lnTo>
                        <a:pt x="25" y="10074"/>
                      </a:lnTo>
                      <a:lnTo>
                        <a:pt x="19" y="10047"/>
                      </a:lnTo>
                      <a:lnTo>
                        <a:pt x="14" y="10021"/>
                      </a:lnTo>
                      <a:lnTo>
                        <a:pt x="9" y="9994"/>
                      </a:lnTo>
                      <a:lnTo>
                        <a:pt x="6" y="9967"/>
                      </a:lnTo>
                      <a:lnTo>
                        <a:pt x="3" y="9940"/>
                      </a:lnTo>
                      <a:lnTo>
                        <a:pt x="1" y="9912"/>
                      </a:lnTo>
                      <a:lnTo>
                        <a:pt x="0" y="9885"/>
                      </a:lnTo>
                      <a:lnTo>
                        <a:pt x="0" y="9857"/>
                      </a:lnTo>
                      <a:lnTo>
                        <a:pt x="0" y="5509"/>
                      </a:lnTo>
                      <a:lnTo>
                        <a:pt x="1" y="5453"/>
                      </a:lnTo>
                      <a:lnTo>
                        <a:pt x="2" y="5398"/>
                      </a:lnTo>
                      <a:lnTo>
                        <a:pt x="5" y="5342"/>
                      </a:lnTo>
                      <a:lnTo>
                        <a:pt x="9" y="5288"/>
                      </a:lnTo>
                      <a:lnTo>
                        <a:pt x="15" y="5235"/>
                      </a:lnTo>
                      <a:lnTo>
                        <a:pt x="21" y="5182"/>
                      </a:lnTo>
                      <a:lnTo>
                        <a:pt x="28" y="5130"/>
                      </a:lnTo>
                      <a:lnTo>
                        <a:pt x="37" y="5079"/>
                      </a:lnTo>
                      <a:lnTo>
                        <a:pt x="47" y="5028"/>
                      </a:lnTo>
                      <a:lnTo>
                        <a:pt x="57" y="4978"/>
                      </a:lnTo>
                      <a:lnTo>
                        <a:pt x="70" y="4929"/>
                      </a:lnTo>
                      <a:lnTo>
                        <a:pt x="83" y="4880"/>
                      </a:lnTo>
                      <a:lnTo>
                        <a:pt x="97" y="4832"/>
                      </a:lnTo>
                      <a:lnTo>
                        <a:pt x="112" y="4785"/>
                      </a:lnTo>
                      <a:lnTo>
                        <a:pt x="129" y="4739"/>
                      </a:lnTo>
                      <a:lnTo>
                        <a:pt x="147" y="4693"/>
                      </a:lnTo>
                      <a:lnTo>
                        <a:pt x="166" y="4648"/>
                      </a:lnTo>
                      <a:lnTo>
                        <a:pt x="187" y="4604"/>
                      </a:lnTo>
                      <a:lnTo>
                        <a:pt x="208" y="4560"/>
                      </a:lnTo>
                      <a:lnTo>
                        <a:pt x="230" y="4518"/>
                      </a:lnTo>
                      <a:lnTo>
                        <a:pt x="255" y="4476"/>
                      </a:lnTo>
                      <a:lnTo>
                        <a:pt x="279" y="4435"/>
                      </a:lnTo>
                      <a:lnTo>
                        <a:pt x="306" y="4393"/>
                      </a:lnTo>
                      <a:lnTo>
                        <a:pt x="332" y="4354"/>
                      </a:lnTo>
                      <a:lnTo>
                        <a:pt x="361" y="4315"/>
                      </a:lnTo>
                      <a:lnTo>
                        <a:pt x="391" y="4275"/>
                      </a:lnTo>
                      <a:lnTo>
                        <a:pt x="421" y="4238"/>
                      </a:lnTo>
                      <a:lnTo>
                        <a:pt x="453" y="4201"/>
                      </a:lnTo>
                      <a:lnTo>
                        <a:pt x="486" y="4165"/>
                      </a:lnTo>
                      <a:lnTo>
                        <a:pt x="520" y="4129"/>
                      </a:lnTo>
                      <a:lnTo>
                        <a:pt x="556" y="4093"/>
                      </a:lnTo>
                      <a:lnTo>
                        <a:pt x="592" y="4059"/>
                      </a:lnTo>
                      <a:lnTo>
                        <a:pt x="629" y="4025"/>
                      </a:lnTo>
                      <a:lnTo>
                        <a:pt x="668" y="3994"/>
                      </a:lnTo>
                      <a:lnTo>
                        <a:pt x="707" y="3963"/>
                      </a:lnTo>
                      <a:lnTo>
                        <a:pt x="747" y="3933"/>
                      </a:lnTo>
                      <a:lnTo>
                        <a:pt x="789" y="3904"/>
                      </a:lnTo>
                      <a:lnTo>
                        <a:pt x="830" y="3876"/>
                      </a:lnTo>
                      <a:lnTo>
                        <a:pt x="873" y="3849"/>
                      </a:lnTo>
                      <a:lnTo>
                        <a:pt x="916" y="3823"/>
                      </a:lnTo>
                      <a:lnTo>
                        <a:pt x="961" y="3799"/>
                      </a:lnTo>
                      <a:lnTo>
                        <a:pt x="1005" y="3775"/>
                      </a:lnTo>
                      <a:lnTo>
                        <a:pt x="1052" y="3752"/>
                      </a:lnTo>
                      <a:lnTo>
                        <a:pt x="1099" y="3731"/>
                      </a:lnTo>
                      <a:lnTo>
                        <a:pt x="1146" y="3711"/>
                      </a:lnTo>
                      <a:lnTo>
                        <a:pt x="1194" y="3691"/>
                      </a:lnTo>
                      <a:lnTo>
                        <a:pt x="1244" y="3672"/>
                      </a:lnTo>
                      <a:lnTo>
                        <a:pt x="1294" y="3655"/>
                      </a:lnTo>
                      <a:lnTo>
                        <a:pt x="1345" y="3640"/>
                      </a:lnTo>
                      <a:lnTo>
                        <a:pt x="1397" y="3624"/>
                      </a:lnTo>
                      <a:lnTo>
                        <a:pt x="1450" y="3610"/>
                      </a:lnTo>
                      <a:lnTo>
                        <a:pt x="1503" y="3597"/>
                      </a:lnTo>
                      <a:lnTo>
                        <a:pt x="1558" y="3584"/>
                      </a:lnTo>
                      <a:lnTo>
                        <a:pt x="1614" y="3574"/>
                      </a:lnTo>
                      <a:lnTo>
                        <a:pt x="1670" y="3564"/>
                      </a:lnTo>
                      <a:lnTo>
                        <a:pt x="1726" y="3554"/>
                      </a:lnTo>
                      <a:lnTo>
                        <a:pt x="1785" y="3547"/>
                      </a:lnTo>
                      <a:lnTo>
                        <a:pt x="1843" y="3540"/>
                      </a:lnTo>
                      <a:lnTo>
                        <a:pt x="1902" y="3534"/>
                      </a:lnTo>
                      <a:lnTo>
                        <a:pt x="1963" y="3530"/>
                      </a:lnTo>
                      <a:lnTo>
                        <a:pt x="2024" y="3526"/>
                      </a:lnTo>
                      <a:lnTo>
                        <a:pt x="2086" y="3524"/>
                      </a:lnTo>
                      <a:lnTo>
                        <a:pt x="2149" y="3522"/>
                      </a:lnTo>
                      <a:lnTo>
                        <a:pt x="2212" y="3522"/>
                      </a:lnTo>
                      <a:lnTo>
                        <a:pt x="2218" y="3517"/>
                      </a:lnTo>
                      <a:lnTo>
                        <a:pt x="2224" y="3514"/>
                      </a:lnTo>
                      <a:lnTo>
                        <a:pt x="2230" y="3513"/>
                      </a:lnTo>
                      <a:lnTo>
                        <a:pt x="2237" y="3512"/>
                      </a:lnTo>
                      <a:lnTo>
                        <a:pt x="2243" y="3512"/>
                      </a:lnTo>
                      <a:lnTo>
                        <a:pt x="2251" y="3512"/>
                      </a:lnTo>
                      <a:lnTo>
                        <a:pt x="2261" y="3512"/>
                      </a:lnTo>
                      <a:lnTo>
                        <a:pt x="2274" y="3512"/>
                      </a:lnTo>
                      <a:lnTo>
                        <a:pt x="2312" y="3514"/>
                      </a:lnTo>
                      <a:lnTo>
                        <a:pt x="2353" y="3516"/>
                      </a:lnTo>
                      <a:lnTo>
                        <a:pt x="2393" y="3517"/>
                      </a:lnTo>
                      <a:lnTo>
                        <a:pt x="2435" y="3519"/>
                      </a:lnTo>
                      <a:lnTo>
                        <a:pt x="2479" y="3520"/>
                      </a:lnTo>
                      <a:lnTo>
                        <a:pt x="2522" y="3520"/>
                      </a:lnTo>
                      <a:lnTo>
                        <a:pt x="2568" y="3522"/>
                      </a:lnTo>
                      <a:lnTo>
                        <a:pt x="2615" y="3522"/>
                      </a:lnTo>
                      <a:lnTo>
                        <a:pt x="2616" y="3516"/>
                      </a:lnTo>
                      <a:lnTo>
                        <a:pt x="2617" y="3511"/>
                      </a:lnTo>
                      <a:lnTo>
                        <a:pt x="2620" y="3505"/>
                      </a:lnTo>
                      <a:lnTo>
                        <a:pt x="2623" y="3498"/>
                      </a:lnTo>
                      <a:lnTo>
                        <a:pt x="2634" y="3483"/>
                      </a:lnTo>
                      <a:lnTo>
                        <a:pt x="2649" y="3466"/>
                      </a:lnTo>
                      <a:lnTo>
                        <a:pt x="2663" y="3450"/>
                      </a:lnTo>
                      <a:lnTo>
                        <a:pt x="2674" y="3439"/>
                      </a:lnTo>
                      <a:lnTo>
                        <a:pt x="2678" y="3434"/>
                      </a:lnTo>
                      <a:lnTo>
                        <a:pt x="2683" y="3431"/>
                      </a:lnTo>
                      <a:lnTo>
                        <a:pt x="2686" y="3430"/>
                      </a:lnTo>
                      <a:lnTo>
                        <a:pt x="2688" y="3429"/>
                      </a:lnTo>
                      <a:lnTo>
                        <a:pt x="2651" y="3417"/>
                      </a:lnTo>
                      <a:lnTo>
                        <a:pt x="2614" y="3406"/>
                      </a:lnTo>
                      <a:lnTo>
                        <a:pt x="2578" y="3393"/>
                      </a:lnTo>
                      <a:lnTo>
                        <a:pt x="2542" y="3380"/>
                      </a:lnTo>
                      <a:lnTo>
                        <a:pt x="2506" y="3366"/>
                      </a:lnTo>
                      <a:lnTo>
                        <a:pt x="2471" y="3351"/>
                      </a:lnTo>
                      <a:lnTo>
                        <a:pt x="2436" y="3337"/>
                      </a:lnTo>
                      <a:lnTo>
                        <a:pt x="2402" y="3322"/>
                      </a:lnTo>
                      <a:lnTo>
                        <a:pt x="2368" y="3306"/>
                      </a:lnTo>
                      <a:lnTo>
                        <a:pt x="2336" y="3289"/>
                      </a:lnTo>
                      <a:lnTo>
                        <a:pt x="2303" y="3272"/>
                      </a:lnTo>
                      <a:lnTo>
                        <a:pt x="2271" y="3255"/>
                      </a:lnTo>
                      <a:lnTo>
                        <a:pt x="2239" y="3237"/>
                      </a:lnTo>
                      <a:lnTo>
                        <a:pt x="2208" y="3218"/>
                      </a:lnTo>
                      <a:lnTo>
                        <a:pt x="2177" y="3198"/>
                      </a:lnTo>
                      <a:lnTo>
                        <a:pt x="2147" y="3178"/>
                      </a:lnTo>
                      <a:lnTo>
                        <a:pt x="2117" y="3158"/>
                      </a:lnTo>
                      <a:lnTo>
                        <a:pt x="2087" y="3137"/>
                      </a:lnTo>
                      <a:lnTo>
                        <a:pt x="2058" y="3115"/>
                      </a:lnTo>
                      <a:lnTo>
                        <a:pt x="2030" y="3093"/>
                      </a:lnTo>
                      <a:lnTo>
                        <a:pt x="2002" y="3071"/>
                      </a:lnTo>
                      <a:lnTo>
                        <a:pt x="1975" y="3047"/>
                      </a:lnTo>
                      <a:lnTo>
                        <a:pt x="1948" y="3024"/>
                      </a:lnTo>
                      <a:lnTo>
                        <a:pt x="1921" y="3000"/>
                      </a:lnTo>
                      <a:lnTo>
                        <a:pt x="1895" y="2975"/>
                      </a:lnTo>
                      <a:lnTo>
                        <a:pt x="1869" y="2950"/>
                      </a:lnTo>
                      <a:lnTo>
                        <a:pt x="1844" y="2924"/>
                      </a:lnTo>
                      <a:lnTo>
                        <a:pt x="1820" y="2898"/>
                      </a:lnTo>
                      <a:lnTo>
                        <a:pt x="1795" y="2871"/>
                      </a:lnTo>
                      <a:lnTo>
                        <a:pt x="1771" y="2843"/>
                      </a:lnTo>
                      <a:lnTo>
                        <a:pt x="1747" y="2816"/>
                      </a:lnTo>
                      <a:lnTo>
                        <a:pt x="1725" y="2787"/>
                      </a:lnTo>
                      <a:lnTo>
                        <a:pt x="1703" y="2757"/>
                      </a:lnTo>
                      <a:lnTo>
                        <a:pt x="1682" y="2729"/>
                      </a:lnTo>
                      <a:lnTo>
                        <a:pt x="1660" y="2699"/>
                      </a:lnTo>
                      <a:lnTo>
                        <a:pt x="1640" y="2669"/>
                      </a:lnTo>
                      <a:lnTo>
                        <a:pt x="1621" y="2638"/>
                      </a:lnTo>
                      <a:lnTo>
                        <a:pt x="1603" y="2608"/>
                      </a:lnTo>
                      <a:lnTo>
                        <a:pt x="1585" y="2578"/>
                      </a:lnTo>
                      <a:lnTo>
                        <a:pt x="1568" y="2547"/>
                      </a:lnTo>
                      <a:lnTo>
                        <a:pt x="1551" y="2516"/>
                      </a:lnTo>
                      <a:lnTo>
                        <a:pt x="1535" y="2484"/>
                      </a:lnTo>
                      <a:lnTo>
                        <a:pt x="1520" y="2452"/>
                      </a:lnTo>
                      <a:lnTo>
                        <a:pt x="1506" y="2420"/>
                      </a:lnTo>
                      <a:lnTo>
                        <a:pt x="1493" y="2388"/>
                      </a:lnTo>
                      <a:lnTo>
                        <a:pt x="1479" y="2356"/>
                      </a:lnTo>
                      <a:lnTo>
                        <a:pt x="1467" y="2324"/>
                      </a:lnTo>
                      <a:lnTo>
                        <a:pt x="1455" y="2291"/>
                      </a:lnTo>
                      <a:lnTo>
                        <a:pt x="1445" y="2258"/>
                      </a:lnTo>
                      <a:lnTo>
                        <a:pt x="1434" y="2225"/>
                      </a:lnTo>
                      <a:lnTo>
                        <a:pt x="1425" y="2191"/>
                      </a:lnTo>
                      <a:lnTo>
                        <a:pt x="1416" y="2157"/>
                      </a:lnTo>
                      <a:lnTo>
                        <a:pt x="1408" y="2123"/>
                      </a:lnTo>
                      <a:lnTo>
                        <a:pt x="1400" y="2089"/>
                      </a:lnTo>
                      <a:lnTo>
                        <a:pt x="1394" y="2054"/>
                      </a:lnTo>
                      <a:lnTo>
                        <a:pt x="1389" y="2018"/>
                      </a:lnTo>
                      <a:lnTo>
                        <a:pt x="1383" y="1983"/>
                      </a:lnTo>
                      <a:lnTo>
                        <a:pt x="1378" y="1948"/>
                      </a:lnTo>
                      <a:lnTo>
                        <a:pt x="1375" y="1912"/>
                      </a:lnTo>
                      <a:lnTo>
                        <a:pt x="1372" y="1876"/>
                      </a:lnTo>
                      <a:lnTo>
                        <a:pt x="1368" y="1840"/>
                      </a:lnTo>
                      <a:lnTo>
                        <a:pt x="1367" y="1804"/>
                      </a:lnTo>
                      <a:lnTo>
                        <a:pt x="1366" y="1767"/>
                      </a:lnTo>
                      <a:lnTo>
                        <a:pt x="1365" y="1729"/>
                      </a:lnTo>
                      <a:lnTo>
                        <a:pt x="1366" y="1686"/>
                      </a:lnTo>
                      <a:lnTo>
                        <a:pt x="1367" y="1641"/>
                      </a:lnTo>
                      <a:lnTo>
                        <a:pt x="1370" y="1598"/>
                      </a:lnTo>
                      <a:lnTo>
                        <a:pt x="1374" y="1555"/>
                      </a:lnTo>
                      <a:lnTo>
                        <a:pt x="1378" y="1511"/>
                      </a:lnTo>
                      <a:lnTo>
                        <a:pt x="1383" y="1469"/>
                      </a:lnTo>
                      <a:lnTo>
                        <a:pt x="1390" y="1427"/>
                      </a:lnTo>
                      <a:lnTo>
                        <a:pt x="1397" y="1386"/>
                      </a:lnTo>
                      <a:lnTo>
                        <a:pt x="1405" y="1345"/>
                      </a:lnTo>
                      <a:lnTo>
                        <a:pt x="1415" y="1304"/>
                      </a:lnTo>
                      <a:lnTo>
                        <a:pt x="1426" y="1264"/>
                      </a:lnTo>
                      <a:lnTo>
                        <a:pt x="1437" y="1223"/>
                      </a:lnTo>
                      <a:lnTo>
                        <a:pt x="1449" y="1184"/>
                      </a:lnTo>
                      <a:lnTo>
                        <a:pt x="1463" y="1145"/>
                      </a:lnTo>
                      <a:lnTo>
                        <a:pt x="1477" y="1106"/>
                      </a:lnTo>
                      <a:lnTo>
                        <a:pt x="1493" y="1068"/>
                      </a:lnTo>
                      <a:lnTo>
                        <a:pt x="1508" y="1030"/>
                      </a:lnTo>
                      <a:lnTo>
                        <a:pt x="1527" y="993"/>
                      </a:lnTo>
                      <a:lnTo>
                        <a:pt x="1545" y="955"/>
                      </a:lnTo>
                      <a:lnTo>
                        <a:pt x="1564" y="919"/>
                      </a:lnTo>
                      <a:lnTo>
                        <a:pt x="1585" y="883"/>
                      </a:lnTo>
                      <a:lnTo>
                        <a:pt x="1606" y="847"/>
                      </a:lnTo>
                      <a:lnTo>
                        <a:pt x="1628" y="811"/>
                      </a:lnTo>
                      <a:lnTo>
                        <a:pt x="1652" y="776"/>
                      </a:lnTo>
                      <a:lnTo>
                        <a:pt x="1676" y="742"/>
                      </a:lnTo>
                      <a:lnTo>
                        <a:pt x="1702" y="708"/>
                      </a:lnTo>
                      <a:lnTo>
                        <a:pt x="1728" y="674"/>
                      </a:lnTo>
                      <a:lnTo>
                        <a:pt x="1756" y="640"/>
                      </a:lnTo>
                      <a:lnTo>
                        <a:pt x="1783" y="607"/>
                      </a:lnTo>
                      <a:lnTo>
                        <a:pt x="1813" y="574"/>
                      </a:lnTo>
                      <a:lnTo>
                        <a:pt x="1844" y="542"/>
                      </a:lnTo>
                      <a:lnTo>
                        <a:pt x="1875" y="510"/>
                      </a:lnTo>
                      <a:lnTo>
                        <a:pt x="1907" y="478"/>
                      </a:lnTo>
                      <a:lnTo>
                        <a:pt x="1940" y="448"/>
                      </a:lnTo>
                      <a:lnTo>
                        <a:pt x="1971" y="419"/>
                      </a:lnTo>
                      <a:lnTo>
                        <a:pt x="2005" y="390"/>
                      </a:lnTo>
                      <a:lnTo>
                        <a:pt x="2038" y="362"/>
                      </a:lnTo>
                      <a:lnTo>
                        <a:pt x="2072" y="336"/>
                      </a:lnTo>
                      <a:lnTo>
                        <a:pt x="2106" y="311"/>
                      </a:lnTo>
                      <a:lnTo>
                        <a:pt x="2141" y="287"/>
                      </a:lnTo>
                      <a:lnTo>
                        <a:pt x="2176" y="263"/>
                      </a:lnTo>
                      <a:lnTo>
                        <a:pt x="2211" y="240"/>
                      </a:lnTo>
                      <a:lnTo>
                        <a:pt x="2247" y="219"/>
                      </a:lnTo>
                      <a:lnTo>
                        <a:pt x="2284" y="199"/>
                      </a:lnTo>
                      <a:lnTo>
                        <a:pt x="2320" y="179"/>
                      </a:lnTo>
                      <a:lnTo>
                        <a:pt x="2357" y="160"/>
                      </a:lnTo>
                      <a:lnTo>
                        <a:pt x="2395" y="143"/>
                      </a:lnTo>
                      <a:lnTo>
                        <a:pt x="2432" y="127"/>
                      </a:lnTo>
                      <a:lnTo>
                        <a:pt x="2470" y="111"/>
                      </a:lnTo>
                      <a:lnTo>
                        <a:pt x="2510" y="98"/>
                      </a:lnTo>
                      <a:lnTo>
                        <a:pt x="2549" y="84"/>
                      </a:lnTo>
                      <a:lnTo>
                        <a:pt x="2588" y="71"/>
                      </a:lnTo>
                      <a:lnTo>
                        <a:pt x="2628" y="60"/>
                      </a:lnTo>
                      <a:lnTo>
                        <a:pt x="2668" y="50"/>
                      </a:lnTo>
                      <a:lnTo>
                        <a:pt x="2709" y="40"/>
                      </a:lnTo>
                      <a:lnTo>
                        <a:pt x="2750" y="32"/>
                      </a:lnTo>
                      <a:lnTo>
                        <a:pt x="2791" y="24"/>
                      </a:lnTo>
                      <a:lnTo>
                        <a:pt x="2833" y="18"/>
                      </a:lnTo>
                      <a:lnTo>
                        <a:pt x="2876" y="13"/>
                      </a:lnTo>
                      <a:lnTo>
                        <a:pt x="2918" y="7"/>
                      </a:lnTo>
                      <a:lnTo>
                        <a:pt x="2962" y="4"/>
                      </a:lnTo>
                      <a:lnTo>
                        <a:pt x="3005" y="2"/>
                      </a:lnTo>
                      <a:lnTo>
                        <a:pt x="3049" y="1"/>
                      </a:lnTo>
                      <a:lnTo>
                        <a:pt x="3094" y="0"/>
                      </a:lnTo>
                      <a:lnTo>
                        <a:pt x="3138" y="1"/>
                      </a:lnTo>
                      <a:lnTo>
                        <a:pt x="3183" y="2"/>
                      </a:lnTo>
                      <a:lnTo>
                        <a:pt x="3226" y="4"/>
                      </a:lnTo>
                      <a:lnTo>
                        <a:pt x="3270" y="7"/>
                      </a:lnTo>
                      <a:lnTo>
                        <a:pt x="3312" y="13"/>
                      </a:lnTo>
                      <a:lnTo>
                        <a:pt x="3356" y="18"/>
                      </a:lnTo>
                      <a:lnTo>
                        <a:pt x="3397" y="24"/>
                      </a:lnTo>
                      <a:lnTo>
                        <a:pt x="3440" y="32"/>
                      </a:lnTo>
                      <a:lnTo>
                        <a:pt x="3481" y="40"/>
                      </a:lnTo>
                      <a:lnTo>
                        <a:pt x="3521" y="50"/>
                      </a:lnTo>
                      <a:lnTo>
                        <a:pt x="3563" y="60"/>
                      </a:lnTo>
                      <a:lnTo>
                        <a:pt x="3602" y="71"/>
                      </a:lnTo>
                      <a:lnTo>
                        <a:pt x="3643" y="84"/>
                      </a:lnTo>
                      <a:lnTo>
                        <a:pt x="3682" y="98"/>
                      </a:lnTo>
                      <a:lnTo>
                        <a:pt x="3721" y="111"/>
                      </a:lnTo>
                      <a:lnTo>
                        <a:pt x="3759" y="127"/>
                      </a:lnTo>
                      <a:lnTo>
                        <a:pt x="3798" y="143"/>
                      </a:lnTo>
                      <a:lnTo>
                        <a:pt x="3835" y="160"/>
                      </a:lnTo>
                      <a:lnTo>
                        <a:pt x="3873" y="179"/>
                      </a:lnTo>
                      <a:lnTo>
                        <a:pt x="3909" y="199"/>
                      </a:lnTo>
                      <a:lnTo>
                        <a:pt x="3946" y="219"/>
                      </a:lnTo>
                      <a:lnTo>
                        <a:pt x="3982" y="240"/>
                      </a:lnTo>
                      <a:lnTo>
                        <a:pt x="4017" y="263"/>
                      </a:lnTo>
                      <a:lnTo>
                        <a:pt x="4053" y="287"/>
                      </a:lnTo>
                      <a:lnTo>
                        <a:pt x="4088" y="311"/>
                      </a:lnTo>
                      <a:lnTo>
                        <a:pt x="4122" y="336"/>
                      </a:lnTo>
                      <a:lnTo>
                        <a:pt x="4156" y="362"/>
                      </a:lnTo>
                      <a:lnTo>
                        <a:pt x="4190" y="390"/>
                      </a:lnTo>
                      <a:lnTo>
                        <a:pt x="4223" y="419"/>
                      </a:lnTo>
                      <a:lnTo>
                        <a:pt x="4256" y="448"/>
                      </a:lnTo>
                      <a:lnTo>
                        <a:pt x="4289" y="478"/>
                      </a:lnTo>
                      <a:lnTo>
                        <a:pt x="4321" y="510"/>
                      </a:lnTo>
                      <a:lnTo>
                        <a:pt x="4353" y="542"/>
                      </a:lnTo>
                      <a:lnTo>
                        <a:pt x="4383" y="574"/>
                      </a:lnTo>
                      <a:lnTo>
                        <a:pt x="4412" y="607"/>
                      </a:lnTo>
                      <a:lnTo>
                        <a:pt x="4440" y="640"/>
                      </a:lnTo>
                      <a:lnTo>
                        <a:pt x="4467" y="674"/>
                      </a:lnTo>
                      <a:lnTo>
                        <a:pt x="4493" y="708"/>
                      </a:lnTo>
                      <a:lnTo>
                        <a:pt x="4518" y="742"/>
                      </a:lnTo>
                      <a:lnTo>
                        <a:pt x="4543" y="776"/>
                      </a:lnTo>
                      <a:lnTo>
                        <a:pt x="4566" y="811"/>
                      </a:lnTo>
                      <a:lnTo>
                        <a:pt x="4588" y="847"/>
                      </a:lnTo>
                      <a:lnTo>
                        <a:pt x="4610" y="883"/>
                      </a:lnTo>
                      <a:lnTo>
                        <a:pt x="4630" y="919"/>
                      </a:lnTo>
                      <a:lnTo>
                        <a:pt x="4649" y="955"/>
                      </a:lnTo>
                      <a:lnTo>
                        <a:pt x="4667" y="993"/>
                      </a:lnTo>
                      <a:lnTo>
                        <a:pt x="4685" y="1030"/>
                      </a:lnTo>
                      <a:lnTo>
                        <a:pt x="4701" y="1068"/>
                      </a:lnTo>
                      <a:lnTo>
                        <a:pt x="4716" y="1106"/>
                      </a:lnTo>
                      <a:lnTo>
                        <a:pt x="4731" y="1145"/>
                      </a:lnTo>
                      <a:lnTo>
                        <a:pt x="4745" y="1184"/>
                      </a:lnTo>
                      <a:lnTo>
                        <a:pt x="4756" y="1223"/>
                      </a:lnTo>
                      <a:lnTo>
                        <a:pt x="4768" y="1264"/>
                      </a:lnTo>
                      <a:lnTo>
                        <a:pt x="4779" y="1304"/>
                      </a:lnTo>
                      <a:lnTo>
                        <a:pt x="4788" y="1345"/>
                      </a:lnTo>
                      <a:lnTo>
                        <a:pt x="4797" y="1386"/>
                      </a:lnTo>
                      <a:lnTo>
                        <a:pt x="4803" y="1427"/>
                      </a:lnTo>
                      <a:lnTo>
                        <a:pt x="4810" y="1469"/>
                      </a:lnTo>
                      <a:lnTo>
                        <a:pt x="4816" y="1511"/>
                      </a:lnTo>
                      <a:lnTo>
                        <a:pt x="4820" y="1555"/>
                      </a:lnTo>
                      <a:lnTo>
                        <a:pt x="4823" y="1598"/>
                      </a:lnTo>
                      <a:lnTo>
                        <a:pt x="4825" y="1641"/>
                      </a:lnTo>
                      <a:lnTo>
                        <a:pt x="4827" y="1686"/>
                      </a:lnTo>
                      <a:lnTo>
                        <a:pt x="4827" y="1729"/>
                      </a:lnTo>
                      <a:lnTo>
                        <a:pt x="4827" y="1768"/>
                      </a:lnTo>
                      <a:lnTo>
                        <a:pt x="4826" y="1806"/>
                      </a:lnTo>
                      <a:lnTo>
                        <a:pt x="4824" y="1843"/>
                      </a:lnTo>
                      <a:lnTo>
                        <a:pt x="4822" y="1880"/>
                      </a:lnTo>
                      <a:lnTo>
                        <a:pt x="4818" y="1917"/>
                      </a:lnTo>
                      <a:lnTo>
                        <a:pt x="4814" y="1954"/>
                      </a:lnTo>
                      <a:lnTo>
                        <a:pt x="4808" y="1990"/>
                      </a:lnTo>
                      <a:lnTo>
                        <a:pt x="4803" y="2027"/>
                      </a:lnTo>
                      <a:lnTo>
                        <a:pt x="4797" y="2062"/>
                      </a:lnTo>
                      <a:lnTo>
                        <a:pt x="4789" y="2098"/>
                      </a:lnTo>
                      <a:lnTo>
                        <a:pt x="4781" y="2134"/>
                      </a:lnTo>
                      <a:lnTo>
                        <a:pt x="4772" y="2169"/>
                      </a:lnTo>
                      <a:lnTo>
                        <a:pt x="4763" y="2204"/>
                      </a:lnTo>
                      <a:lnTo>
                        <a:pt x="4752" y="2240"/>
                      </a:lnTo>
                      <a:lnTo>
                        <a:pt x="4740" y="2274"/>
                      </a:lnTo>
                      <a:lnTo>
                        <a:pt x="4729" y="2308"/>
                      </a:lnTo>
                      <a:lnTo>
                        <a:pt x="4716" y="2342"/>
                      </a:lnTo>
                      <a:lnTo>
                        <a:pt x="4702" y="2376"/>
                      </a:lnTo>
                      <a:lnTo>
                        <a:pt x="4688" y="2410"/>
                      </a:lnTo>
                      <a:lnTo>
                        <a:pt x="4673" y="2443"/>
                      </a:lnTo>
                      <a:lnTo>
                        <a:pt x="4657" y="2476"/>
                      </a:lnTo>
                      <a:lnTo>
                        <a:pt x="4641" y="2508"/>
                      </a:lnTo>
                      <a:lnTo>
                        <a:pt x="4624" y="2541"/>
                      </a:lnTo>
                      <a:lnTo>
                        <a:pt x="4605" y="2573"/>
                      </a:lnTo>
                      <a:lnTo>
                        <a:pt x="4586" y="2606"/>
                      </a:lnTo>
                      <a:lnTo>
                        <a:pt x="4566" y="2638"/>
                      </a:lnTo>
                      <a:lnTo>
                        <a:pt x="4546" y="2669"/>
                      </a:lnTo>
                      <a:lnTo>
                        <a:pt x="4525" y="2701"/>
                      </a:lnTo>
                      <a:lnTo>
                        <a:pt x="4502" y="2732"/>
                      </a:lnTo>
                      <a:lnTo>
                        <a:pt x="4480" y="2763"/>
                      </a:lnTo>
                      <a:lnTo>
                        <a:pt x="4456" y="2793"/>
                      </a:lnTo>
                      <a:lnTo>
                        <a:pt x="4431" y="2824"/>
                      </a:lnTo>
                      <a:lnTo>
                        <a:pt x="4407" y="2853"/>
                      </a:lnTo>
                      <a:lnTo>
                        <a:pt x="4381" y="2883"/>
                      </a:lnTo>
                      <a:lnTo>
                        <a:pt x="4356" y="2910"/>
                      </a:lnTo>
                      <a:lnTo>
                        <a:pt x="4329" y="2938"/>
                      </a:lnTo>
                      <a:lnTo>
                        <a:pt x="4303" y="2965"/>
                      </a:lnTo>
                      <a:lnTo>
                        <a:pt x="4276" y="2991"/>
                      </a:lnTo>
                      <a:lnTo>
                        <a:pt x="4249" y="3017"/>
                      </a:lnTo>
                      <a:lnTo>
                        <a:pt x="4220" y="3041"/>
                      </a:lnTo>
                      <a:lnTo>
                        <a:pt x="4192" y="3066"/>
                      </a:lnTo>
                      <a:lnTo>
                        <a:pt x="4164" y="3089"/>
                      </a:lnTo>
                      <a:lnTo>
                        <a:pt x="4134" y="3112"/>
                      </a:lnTo>
                      <a:lnTo>
                        <a:pt x="4105" y="3134"/>
                      </a:lnTo>
                      <a:lnTo>
                        <a:pt x="4075" y="3155"/>
                      </a:lnTo>
                      <a:lnTo>
                        <a:pt x="4045" y="3176"/>
                      </a:lnTo>
                      <a:lnTo>
                        <a:pt x="4014" y="3196"/>
                      </a:lnTo>
                      <a:lnTo>
                        <a:pt x="3982" y="3215"/>
                      </a:lnTo>
                      <a:lnTo>
                        <a:pt x="3950" y="3233"/>
                      </a:lnTo>
                      <a:lnTo>
                        <a:pt x="3919" y="3252"/>
                      </a:lnTo>
                      <a:lnTo>
                        <a:pt x="3887" y="3269"/>
                      </a:lnTo>
                      <a:lnTo>
                        <a:pt x="3854" y="3286"/>
                      </a:lnTo>
                      <a:lnTo>
                        <a:pt x="3820" y="3301"/>
                      </a:lnTo>
                      <a:lnTo>
                        <a:pt x="3786" y="3316"/>
                      </a:lnTo>
                      <a:lnTo>
                        <a:pt x="3752" y="3331"/>
                      </a:lnTo>
                      <a:lnTo>
                        <a:pt x="3718" y="3344"/>
                      </a:lnTo>
                      <a:lnTo>
                        <a:pt x="3683" y="3358"/>
                      </a:lnTo>
                      <a:lnTo>
                        <a:pt x="3647" y="3370"/>
                      </a:lnTo>
                      <a:lnTo>
                        <a:pt x="3611" y="3381"/>
                      </a:lnTo>
                      <a:lnTo>
                        <a:pt x="3575" y="3393"/>
                      </a:lnTo>
                      <a:lnTo>
                        <a:pt x="3538" y="3402"/>
                      </a:lnTo>
                      <a:lnTo>
                        <a:pt x="3500" y="3412"/>
                      </a:lnTo>
                      <a:lnTo>
                        <a:pt x="3463" y="3421"/>
                      </a:lnTo>
                      <a:lnTo>
                        <a:pt x="3425" y="3429"/>
                      </a:lnTo>
                      <a:lnTo>
                        <a:pt x="3438" y="3443"/>
                      </a:lnTo>
                      <a:lnTo>
                        <a:pt x="3449" y="3456"/>
                      </a:lnTo>
                      <a:lnTo>
                        <a:pt x="3459" y="3468"/>
                      </a:lnTo>
                      <a:lnTo>
                        <a:pt x="3466" y="3480"/>
                      </a:lnTo>
                      <a:lnTo>
                        <a:pt x="3473" y="3491"/>
                      </a:lnTo>
                      <a:lnTo>
                        <a:pt x="3477" y="3501"/>
                      </a:lnTo>
                      <a:lnTo>
                        <a:pt x="3479" y="3512"/>
                      </a:lnTo>
                      <a:lnTo>
                        <a:pt x="3480" y="3522"/>
                      </a:lnTo>
                      <a:close/>
                    </a:path>
                  </a:pathLst>
                </a:custGeom>
                <a:solidFill>
                  <a:srgbClr val="FFFFFF"/>
                </a:solidFill>
                <a:ln w="9525">
                  <a:noFill/>
                  <a:round/>
                  <a:headEnd/>
                  <a:tailEnd/>
                </a:ln>
              </p:spPr>
              <p:txBody>
                <a:bodyPr/>
                <a:lstStyle/>
                <a:p>
                  <a:pPr>
                    <a:defRPr/>
                  </a:pPr>
                  <a:endParaRPr lang="en-GB" sz="848" kern="0" dirty="0">
                    <a:solidFill>
                      <a:srgbClr val="000000"/>
                    </a:solidFill>
                    <a:latin typeface="Arial"/>
                  </a:endParaRPr>
                </a:p>
              </p:txBody>
            </p:sp>
            <p:sp>
              <p:nvSpPr>
                <p:cNvPr id="61" name="AutoShape 316">
                  <a:extLst>
                    <a:ext uri="{FF2B5EF4-FFF2-40B4-BE49-F238E27FC236}">
                      <a16:creationId xmlns:a16="http://schemas.microsoft.com/office/drawing/2014/main" id="{448FB07B-11A0-41D6-82B5-140239088685}"/>
                    </a:ext>
                  </a:extLst>
                </p:cNvPr>
                <p:cNvSpPr>
                  <a:spLocks noChangeArrowheads="1"/>
                </p:cNvSpPr>
                <p:nvPr/>
              </p:nvSpPr>
              <p:spPr bwMode="auto">
                <a:xfrm rot="10800000">
                  <a:off x="2234" y="4142"/>
                  <a:ext cx="209" cy="1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47 w 21600"/>
                    <a:gd name="T13" fmla="*/ 4582 h 21600"/>
                    <a:gd name="T14" fmla="*/ 17053 w 21600"/>
                    <a:gd name="T15" fmla="*/ 1718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9525">
                  <a:noFill/>
                  <a:miter lim="800000"/>
                  <a:headEnd/>
                  <a:tailEnd/>
                </a:ln>
              </p:spPr>
              <p:txBody>
                <a:bodyPr wrap="none" anchor="ctr"/>
                <a:lstStyle/>
                <a:p>
                  <a:pPr>
                    <a:defRPr/>
                  </a:pPr>
                  <a:endParaRPr lang="en-GB" sz="848" kern="0" dirty="0">
                    <a:solidFill>
                      <a:srgbClr val="000000"/>
                    </a:solidFill>
                    <a:latin typeface="Arial"/>
                  </a:endParaRPr>
                </a:p>
              </p:txBody>
            </p:sp>
          </p:grpSp>
        </p:grpSp>
        <p:grpSp>
          <p:nvGrpSpPr>
            <p:cNvPr id="19" name="Group 28">
              <a:extLst>
                <a:ext uri="{FF2B5EF4-FFF2-40B4-BE49-F238E27FC236}">
                  <a16:creationId xmlns:a16="http://schemas.microsoft.com/office/drawing/2014/main" id="{BECD816B-7306-4DE1-A9E5-D9FBE6980845}"/>
                </a:ext>
              </a:extLst>
            </p:cNvPr>
            <p:cNvGrpSpPr/>
            <p:nvPr/>
          </p:nvGrpSpPr>
          <p:grpSpPr>
            <a:xfrm>
              <a:off x="5874784" y="4890713"/>
              <a:ext cx="642673" cy="555078"/>
              <a:chOff x="5874784" y="4890713"/>
              <a:chExt cx="642673" cy="555078"/>
            </a:xfrm>
          </p:grpSpPr>
          <p:sp>
            <p:nvSpPr>
              <p:cNvPr id="56" name="Oval 55">
                <a:extLst>
                  <a:ext uri="{FF2B5EF4-FFF2-40B4-BE49-F238E27FC236}">
                    <a16:creationId xmlns:a16="http://schemas.microsoft.com/office/drawing/2014/main" id="{20DB1C67-7D25-4661-8A7E-DF079D8A2A48}"/>
                  </a:ext>
                </a:extLst>
              </p:cNvPr>
              <p:cNvSpPr/>
              <p:nvPr/>
            </p:nvSpPr>
            <p:spPr bwMode="ltGray">
              <a:xfrm>
                <a:off x="5874784" y="4890713"/>
                <a:ext cx="642673" cy="555078"/>
              </a:xfrm>
              <a:prstGeom prst="ellipse">
                <a:avLst/>
              </a:prstGeom>
              <a:solidFill>
                <a:schemeClr val="accent6">
                  <a:lumMod val="75000"/>
                </a:schemeClr>
              </a:solidFill>
              <a:ln w="3175" cap="flat" cmpd="sng" algn="ctr">
                <a:solidFill>
                  <a:schemeClr val="accent6">
                    <a:lumMod val="75000"/>
                  </a:schemeClr>
                </a:solidFill>
                <a:prstDash val="solid"/>
              </a:ln>
              <a:effectLst/>
            </p:spPr>
            <p:txBody>
              <a:bodyPr rtlCol="0" anchor="ctr"/>
              <a:lstStyle/>
              <a:p>
                <a:pPr algn="ctr">
                  <a:defRPr/>
                </a:pPr>
                <a:endParaRPr lang="en-GB" sz="848" kern="0" dirty="0">
                  <a:solidFill>
                    <a:srgbClr val="FFFFFF"/>
                  </a:solidFill>
                  <a:latin typeface="Georgia" pitchFamily="18" charset="0"/>
                </a:endParaRPr>
              </a:p>
            </p:txBody>
          </p:sp>
          <p:sp>
            <p:nvSpPr>
              <p:cNvPr id="57" name="Freeform 4949">
                <a:extLst>
                  <a:ext uri="{FF2B5EF4-FFF2-40B4-BE49-F238E27FC236}">
                    <a16:creationId xmlns:a16="http://schemas.microsoft.com/office/drawing/2014/main" id="{01E596FC-EA4D-49C0-83E0-76A5B5062029}"/>
                  </a:ext>
                </a:extLst>
              </p:cNvPr>
              <p:cNvSpPr>
                <a:spLocks noEditPoints="1"/>
              </p:cNvSpPr>
              <p:nvPr/>
            </p:nvSpPr>
            <p:spPr bwMode="auto">
              <a:xfrm>
                <a:off x="6012323" y="4960013"/>
                <a:ext cx="360532" cy="382382"/>
              </a:xfrm>
              <a:custGeom>
                <a:avLst/>
                <a:gdLst>
                  <a:gd name="T0" fmla="*/ 128 w 330"/>
                  <a:gd name="T1" fmla="*/ 144 h 350"/>
                  <a:gd name="T2" fmla="*/ 116 w 330"/>
                  <a:gd name="T3" fmla="*/ 138 h 350"/>
                  <a:gd name="T4" fmla="*/ 126 w 330"/>
                  <a:gd name="T5" fmla="*/ 90 h 350"/>
                  <a:gd name="T6" fmla="*/ 188 w 330"/>
                  <a:gd name="T7" fmla="*/ 52 h 350"/>
                  <a:gd name="T8" fmla="*/ 210 w 330"/>
                  <a:gd name="T9" fmla="*/ 14 h 350"/>
                  <a:gd name="T10" fmla="*/ 250 w 330"/>
                  <a:gd name="T11" fmla="*/ 0 h 350"/>
                  <a:gd name="T12" fmla="*/ 260 w 330"/>
                  <a:gd name="T13" fmla="*/ 10 h 350"/>
                  <a:gd name="T14" fmla="*/ 250 w 330"/>
                  <a:gd name="T15" fmla="*/ 20 h 350"/>
                  <a:gd name="T16" fmla="*/ 214 w 330"/>
                  <a:gd name="T17" fmla="*/ 38 h 350"/>
                  <a:gd name="T18" fmla="*/ 206 w 330"/>
                  <a:gd name="T19" fmla="*/ 66 h 350"/>
                  <a:gd name="T20" fmla="*/ 198 w 330"/>
                  <a:gd name="T21" fmla="*/ 72 h 350"/>
                  <a:gd name="T22" fmla="*/ 172 w 330"/>
                  <a:gd name="T23" fmla="*/ 76 h 350"/>
                  <a:gd name="T24" fmla="*/ 136 w 330"/>
                  <a:gd name="T25" fmla="*/ 122 h 350"/>
                  <a:gd name="T26" fmla="*/ 124 w 330"/>
                  <a:gd name="T27" fmla="*/ 6 h 350"/>
                  <a:gd name="T28" fmla="*/ 100 w 330"/>
                  <a:gd name="T29" fmla="*/ 0 h 350"/>
                  <a:gd name="T30" fmla="*/ 46 w 330"/>
                  <a:gd name="T31" fmla="*/ 44 h 350"/>
                  <a:gd name="T32" fmla="*/ 44 w 330"/>
                  <a:gd name="T33" fmla="*/ 80 h 350"/>
                  <a:gd name="T34" fmla="*/ 58 w 330"/>
                  <a:gd name="T35" fmla="*/ 80 h 350"/>
                  <a:gd name="T36" fmla="*/ 64 w 330"/>
                  <a:gd name="T37" fmla="*/ 52 h 350"/>
                  <a:gd name="T38" fmla="*/ 104 w 330"/>
                  <a:gd name="T39" fmla="*/ 20 h 350"/>
                  <a:gd name="T40" fmla="*/ 124 w 330"/>
                  <a:gd name="T41" fmla="*/ 14 h 350"/>
                  <a:gd name="T42" fmla="*/ 246 w 330"/>
                  <a:gd name="T43" fmla="*/ 34 h 350"/>
                  <a:gd name="T44" fmla="*/ 238 w 330"/>
                  <a:gd name="T45" fmla="*/ 54 h 350"/>
                  <a:gd name="T46" fmla="*/ 208 w 330"/>
                  <a:gd name="T47" fmla="*/ 92 h 350"/>
                  <a:gd name="T48" fmla="*/ 180 w 330"/>
                  <a:gd name="T49" fmla="*/ 98 h 350"/>
                  <a:gd name="T50" fmla="*/ 172 w 330"/>
                  <a:gd name="T51" fmla="*/ 118 h 350"/>
                  <a:gd name="T52" fmla="*/ 150 w 330"/>
                  <a:gd name="T53" fmla="*/ 128 h 350"/>
                  <a:gd name="T54" fmla="*/ 150 w 330"/>
                  <a:gd name="T55" fmla="*/ 142 h 350"/>
                  <a:gd name="T56" fmla="*/ 182 w 330"/>
                  <a:gd name="T57" fmla="*/ 136 h 350"/>
                  <a:gd name="T58" fmla="*/ 222 w 330"/>
                  <a:gd name="T59" fmla="*/ 106 h 350"/>
                  <a:gd name="T60" fmla="*/ 258 w 330"/>
                  <a:gd name="T61" fmla="*/ 56 h 350"/>
                  <a:gd name="T62" fmla="*/ 254 w 330"/>
                  <a:gd name="T63" fmla="*/ 34 h 350"/>
                  <a:gd name="T64" fmla="*/ 158 w 330"/>
                  <a:gd name="T65" fmla="*/ 6 h 350"/>
                  <a:gd name="T66" fmla="*/ 144 w 330"/>
                  <a:gd name="T67" fmla="*/ 0 h 350"/>
                  <a:gd name="T68" fmla="*/ 138 w 330"/>
                  <a:gd name="T69" fmla="*/ 16 h 350"/>
                  <a:gd name="T70" fmla="*/ 124 w 330"/>
                  <a:gd name="T71" fmla="*/ 36 h 350"/>
                  <a:gd name="T72" fmla="*/ 106 w 330"/>
                  <a:gd name="T73" fmla="*/ 42 h 350"/>
                  <a:gd name="T74" fmla="*/ 96 w 330"/>
                  <a:gd name="T75" fmla="*/ 52 h 350"/>
                  <a:gd name="T76" fmla="*/ 106 w 330"/>
                  <a:gd name="T77" fmla="*/ 62 h 350"/>
                  <a:gd name="T78" fmla="*/ 136 w 330"/>
                  <a:gd name="T79" fmla="*/ 52 h 350"/>
                  <a:gd name="T80" fmla="*/ 158 w 330"/>
                  <a:gd name="T81" fmla="*/ 20 h 350"/>
                  <a:gd name="T82" fmla="*/ 242 w 330"/>
                  <a:gd name="T83" fmla="*/ 258 h 350"/>
                  <a:gd name="T84" fmla="*/ 128 w 330"/>
                  <a:gd name="T85" fmla="*/ 252 h 350"/>
                  <a:gd name="T86" fmla="*/ 138 w 330"/>
                  <a:gd name="T87" fmla="*/ 164 h 350"/>
                  <a:gd name="T88" fmla="*/ 114 w 330"/>
                  <a:gd name="T89" fmla="*/ 162 h 350"/>
                  <a:gd name="T90" fmla="*/ 82 w 330"/>
                  <a:gd name="T91" fmla="*/ 258 h 350"/>
                  <a:gd name="T92" fmla="*/ 60 w 330"/>
                  <a:gd name="T93" fmla="*/ 102 h 350"/>
                  <a:gd name="T94" fmla="*/ 38 w 330"/>
                  <a:gd name="T95" fmla="*/ 104 h 350"/>
                  <a:gd name="T96" fmla="*/ 10 w 330"/>
                  <a:gd name="T97" fmla="*/ 258 h 350"/>
                  <a:gd name="T98" fmla="*/ 0 w 330"/>
                  <a:gd name="T99" fmla="*/ 340 h 350"/>
                  <a:gd name="T100" fmla="*/ 10 w 330"/>
                  <a:gd name="T101" fmla="*/ 350 h 350"/>
                  <a:gd name="T102" fmla="*/ 330 w 330"/>
                  <a:gd name="T103" fmla="*/ 344 h 350"/>
                  <a:gd name="T104" fmla="*/ 330 w 330"/>
                  <a:gd name="T105" fmla="*/ 268 h 350"/>
                  <a:gd name="T106" fmla="*/ 76 w 330"/>
                  <a:gd name="T107" fmla="*/ 314 h 350"/>
                  <a:gd name="T108" fmla="*/ 154 w 330"/>
                  <a:gd name="T109" fmla="*/ 314 h 350"/>
                  <a:gd name="T110" fmla="*/ 232 w 330"/>
                  <a:gd name="T111" fmla="*/ 314 h 350"/>
                  <a:gd name="T112" fmla="*/ 308 w 330"/>
                  <a:gd name="T113" fmla="*/ 314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0" h="350">
                    <a:moveTo>
                      <a:pt x="134" y="134"/>
                    </a:moveTo>
                    <a:lnTo>
                      <a:pt x="134" y="134"/>
                    </a:lnTo>
                    <a:lnTo>
                      <a:pt x="134" y="138"/>
                    </a:lnTo>
                    <a:lnTo>
                      <a:pt x="132" y="142"/>
                    </a:lnTo>
                    <a:lnTo>
                      <a:pt x="128" y="144"/>
                    </a:lnTo>
                    <a:lnTo>
                      <a:pt x="124" y="144"/>
                    </a:lnTo>
                    <a:lnTo>
                      <a:pt x="124" y="144"/>
                    </a:lnTo>
                    <a:lnTo>
                      <a:pt x="120" y="144"/>
                    </a:lnTo>
                    <a:lnTo>
                      <a:pt x="118" y="142"/>
                    </a:lnTo>
                    <a:lnTo>
                      <a:pt x="116" y="138"/>
                    </a:lnTo>
                    <a:lnTo>
                      <a:pt x="114" y="134"/>
                    </a:lnTo>
                    <a:lnTo>
                      <a:pt x="114" y="134"/>
                    </a:lnTo>
                    <a:lnTo>
                      <a:pt x="116" y="118"/>
                    </a:lnTo>
                    <a:lnTo>
                      <a:pt x="120" y="104"/>
                    </a:lnTo>
                    <a:lnTo>
                      <a:pt x="126" y="90"/>
                    </a:lnTo>
                    <a:lnTo>
                      <a:pt x="136" y="78"/>
                    </a:lnTo>
                    <a:lnTo>
                      <a:pt x="146" y="68"/>
                    </a:lnTo>
                    <a:lnTo>
                      <a:pt x="160" y="60"/>
                    </a:lnTo>
                    <a:lnTo>
                      <a:pt x="174" y="56"/>
                    </a:lnTo>
                    <a:lnTo>
                      <a:pt x="188" y="52"/>
                    </a:lnTo>
                    <a:lnTo>
                      <a:pt x="188" y="52"/>
                    </a:lnTo>
                    <a:lnTo>
                      <a:pt x="192" y="42"/>
                    </a:lnTo>
                    <a:lnTo>
                      <a:pt x="196" y="32"/>
                    </a:lnTo>
                    <a:lnTo>
                      <a:pt x="202" y="22"/>
                    </a:lnTo>
                    <a:lnTo>
                      <a:pt x="210" y="14"/>
                    </a:lnTo>
                    <a:lnTo>
                      <a:pt x="218" y="8"/>
                    </a:lnTo>
                    <a:lnTo>
                      <a:pt x="228" y="4"/>
                    </a:lnTo>
                    <a:lnTo>
                      <a:pt x="238" y="0"/>
                    </a:lnTo>
                    <a:lnTo>
                      <a:pt x="250" y="0"/>
                    </a:lnTo>
                    <a:lnTo>
                      <a:pt x="250" y="0"/>
                    </a:lnTo>
                    <a:lnTo>
                      <a:pt x="254" y="0"/>
                    </a:lnTo>
                    <a:lnTo>
                      <a:pt x="258" y="2"/>
                    </a:lnTo>
                    <a:lnTo>
                      <a:pt x="260" y="6"/>
                    </a:lnTo>
                    <a:lnTo>
                      <a:pt x="260" y="10"/>
                    </a:lnTo>
                    <a:lnTo>
                      <a:pt x="260" y="10"/>
                    </a:lnTo>
                    <a:lnTo>
                      <a:pt x="260" y="14"/>
                    </a:lnTo>
                    <a:lnTo>
                      <a:pt x="258" y="16"/>
                    </a:lnTo>
                    <a:lnTo>
                      <a:pt x="254" y="18"/>
                    </a:lnTo>
                    <a:lnTo>
                      <a:pt x="250" y="20"/>
                    </a:lnTo>
                    <a:lnTo>
                      <a:pt x="250" y="20"/>
                    </a:lnTo>
                    <a:lnTo>
                      <a:pt x="242" y="20"/>
                    </a:lnTo>
                    <a:lnTo>
                      <a:pt x="234" y="22"/>
                    </a:lnTo>
                    <a:lnTo>
                      <a:pt x="226" y="26"/>
                    </a:lnTo>
                    <a:lnTo>
                      <a:pt x="220" y="32"/>
                    </a:lnTo>
                    <a:lnTo>
                      <a:pt x="214" y="38"/>
                    </a:lnTo>
                    <a:lnTo>
                      <a:pt x="212" y="46"/>
                    </a:lnTo>
                    <a:lnTo>
                      <a:pt x="208" y="52"/>
                    </a:lnTo>
                    <a:lnTo>
                      <a:pt x="208" y="62"/>
                    </a:lnTo>
                    <a:lnTo>
                      <a:pt x="208" y="62"/>
                    </a:lnTo>
                    <a:lnTo>
                      <a:pt x="206" y="66"/>
                    </a:lnTo>
                    <a:lnTo>
                      <a:pt x="204" y="68"/>
                    </a:lnTo>
                    <a:lnTo>
                      <a:pt x="202" y="70"/>
                    </a:lnTo>
                    <a:lnTo>
                      <a:pt x="198" y="72"/>
                    </a:lnTo>
                    <a:lnTo>
                      <a:pt x="198" y="72"/>
                    </a:lnTo>
                    <a:lnTo>
                      <a:pt x="198" y="72"/>
                    </a:lnTo>
                    <a:lnTo>
                      <a:pt x="198" y="72"/>
                    </a:lnTo>
                    <a:lnTo>
                      <a:pt x="198" y="72"/>
                    </a:lnTo>
                    <a:lnTo>
                      <a:pt x="198" y="72"/>
                    </a:lnTo>
                    <a:lnTo>
                      <a:pt x="184" y="72"/>
                    </a:lnTo>
                    <a:lnTo>
                      <a:pt x="172" y="76"/>
                    </a:lnTo>
                    <a:lnTo>
                      <a:pt x="162" y="82"/>
                    </a:lnTo>
                    <a:lnTo>
                      <a:pt x="152" y="90"/>
                    </a:lnTo>
                    <a:lnTo>
                      <a:pt x="146" y="100"/>
                    </a:lnTo>
                    <a:lnTo>
                      <a:pt x="140" y="110"/>
                    </a:lnTo>
                    <a:lnTo>
                      <a:pt x="136" y="122"/>
                    </a:lnTo>
                    <a:lnTo>
                      <a:pt x="134" y="134"/>
                    </a:lnTo>
                    <a:lnTo>
                      <a:pt x="134" y="134"/>
                    </a:lnTo>
                    <a:close/>
                    <a:moveTo>
                      <a:pt x="124" y="10"/>
                    </a:moveTo>
                    <a:lnTo>
                      <a:pt x="124" y="10"/>
                    </a:lnTo>
                    <a:lnTo>
                      <a:pt x="124" y="6"/>
                    </a:lnTo>
                    <a:lnTo>
                      <a:pt x="122" y="2"/>
                    </a:lnTo>
                    <a:lnTo>
                      <a:pt x="118" y="0"/>
                    </a:lnTo>
                    <a:lnTo>
                      <a:pt x="114" y="0"/>
                    </a:lnTo>
                    <a:lnTo>
                      <a:pt x="114" y="0"/>
                    </a:lnTo>
                    <a:lnTo>
                      <a:pt x="100" y="0"/>
                    </a:lnTo>
                    <a:lnTo>
                      <a:pt x="86" y="6"/>
                    </a:lnTo>
                    <a:lnTo>
                      <a:pt x="72" y="12"/>
                    </a:lnTo>
                    <a:lnTo>
                      <a:pt x="62" y="20"/>
                    </a:lnTo>
                    <a:lnTo>
                      <a:pt x="52" y="32"/>
                    </a:lnTo>
                    <a:lnTo>
                      <a:pt x="46" y="44"/>
                    </a:lnTo>
                    <a:lnTo>
                      <a:pt x="42" y="58"/>
                    </a:lnTo>
                    <a:lnTo>
                      <a:pt x="40" y="74"/>
                    </a:lnTo>
                    <a:lnTo>
                      <a:pt x="40" y="74"/>
                    </a:lnTo>
                    <a:lnTo>
                      <a:pt x="40" y="78"/>
                    </a:lnTo>
                    <a:lnTo>
                      <a:pt x="44" y="80"/>
                    </a:lnTo>
                    <a:lnTo>
                      <a:pt x="46" y="82"/>
                    </a:lnTo>
                    <a:lnTo>
                      <a:pt x="50" y="84"/>
                    </a:lnTo>
                    <a:lnTo>
                      <a:pt x="50" y="84"/>
                    </a:lnTo>
                    <a:lnTo>
                      <a:pt x="54" y="82"/>
                    </a:lnTo>
                    <a:lnTo>
                      <a:pt x="58" y="80"/>
                    </a:lnTo>
                    <a:lnTo>
                      <a:pt x="60" y="78"/>
                    </a:lnTo>
                    <a:lnTo>
                      <a:pt x="60" y="74"/>
                    </a:lnTo>
                    <a:lnTo>
                      <a:pt x="60" y="74"/>
                    </a:lnTo>
                    <a:lnTo>
                      <a:pt x="62" y="62"/>
                    </a:lnTo>
                    <a:lnTo>
                      <a:pt x="64" y="52"/>
                    </a:lnTo>
                    <a:lnTo>
                      <a:pt x="70" y="44"/>
                    </a:lnTo>
                    <a:lnTo>
                      <a:pt x="76" y="36"/>
                    </a:lnTo>
                    <a:lnTo>
                      <a:pt x="84" y="28"/>
                    </a:lnTo>
                    <a:lnTo>
                      <a:pt x="94" y="24"/>
                    </a:lnTo>
                    <a:lnTo>
                      <a:pt x="104" y="20"/>
                    </a:lnTo>
                    <a:lnTo>
                      <a:pt x="114" y="20"/>
                    </a:lnTo>
                    <a:lnTo>
                      <a:pt x="114" y="20"/>
                    </a:lnTo>
                    <a:lnTo>
                      <a:pt x="118" y="18"/>
                    </a:lnTo>
                    <a:lnTo>
                      <a:pt x="122" y="16"/>
                    </a:lnTo>
                    <a:lnTo>
                      <a:pt x="124" y="14"/>
                    </a:lnTo>
                    <a:lnTo>
                      <a:pt x="124" y="10"/>
                    </a:lnTo>
                    <a:lnTo>
                      <a:pt x="124" y="10"/>
                    </a:lnTo>
                    <a:close/>
                    <a:moveTo>
                      <a:pt x="250" y="32"/>
                    </a:moveTo>
                    <a:lnTo>
                      <a:pt x="250" y="32"/>
                    </a:lnTo>
                    <a:lnTo>
                      <a:pt x="246" y="34"/>
                    </a:lnTo>
                    <a:lnTo>
                      <a:pt x="242" y="36"/>
                    </a:lnTo>
                    <a:lnTo>
                      <a:pt x="240" y="38"/>
                    </a:lnTo>
                    <a:lnTo>
                      <a:pt x="240" y="42"/>
                    </a:lnTo>
                    <a:lnTo>
                      <a:pt x="240" y="42"/>
                    </a:lnTo>
                    <a:lnTo>
                      <a:pt x="238" y="54"/>
                    </a:lnTo>
                    <a:lnTo>
                      <a:pt x="236" y="62"/>
                    </a:lnTo>
                    <a:lnTo>
                      <a:pt x="230" y="72"/>
                    </a:lnTo>
                    <a:lnTo>
                      <a:pt x="224" y="80"/>
                    </a:lnTo>
                    <a:lnTo>
                      <a:pt x="216" y="86"/>
                    </a:lnTo>
                    <a:lnTo>
                      <a:pt x="208" y="92"/>
                    </a:lnTo>
                    <a:lnTo>
                      <a:pt x="198" y="94"/>
                    </a:lnTo>
                    <a:lnTo>
                      <a:pt x="188" y="96"/>
                    </a:lnTo>
                    <a:lnTo>
                      <a:pt x="188" y="96"/>
                    </a:lnTo>
                    <a:lnTo>
                      <a:pt x="184" y="96"/>
                    </a:lnTo>
                    <a:lnTo>
                      <a:pt x="180" y="98"/>
                    </a:lnTo>
                    <a:lnTo>
                      <a:pt x="178" y="102"/>
                    </a:lnTo>
                    <a:lnTo>
                      <a:pt x="178" y="106"/>
                    </a:lnTo>
                    <a:lnTo>
                      <a:pt x="178" y="106"/>
                    </a:lnTo>
                    <a:lnTo>
                      <a:pt x="176" y="112"/>
                    </a:lnTo>
                    <a:lnTo>
                      <a:pt x="172" y="118"/>
                    </a:lnTo>
                    <a:lnTo>
                      <a:pt x="166" y="124"/>
                    </a:lnTo>
                    <a:lnTo>
                      <a:pt x="158" y="124"/>
                    </a:lnTo>
                    <a:lnTo>
                      <a:pt x="158" y="124"/>
                    </a:lnTo>
                    <a:lnTo>
                      <a:pt x="154" y="126"/>
                    </a:lnTo>
                    <a:lnTo>
                      <a:pt x="150" y="128"/>
                    </a:lnTo>
                    <a:lnTo>
                      <a:pt x="148" y="130"/>
                    </a:lnTo>
                    <a:lnTo>
                      <a:pt x="148" y="134"/>
                    </a:lnTo>
                    <a:lnTo>
                      <a:pt x="148" y="134"/>
                    </a:lnTo>
                    <a:lnTo>
                      <a:pt x="148" y="138"/>
                    </a:lnTo>
                    <a:lnTo>
                      <a:pt x="150" y="142"/>
                    </a:lnTo>
                    <a:lnTo>
                      <a:pt x="154" y="144"/>
                    </a:lnTo>
                    <a:lnTo>
                      <a:pt x="158" y="144"/>
                    </a:lnTo>
                    <a:lnTo>
                      <a:pt x="158" y="144"/>
                    </a:lnTo>
                    <a:lnTo>
                      <a:pt x="170" y="142"/>
                    </a:lnTo>
                    <a:lnTo>
                      <a:pt x="182" y="136"/>
                    </a:lnTo>
                    <a:lnTo>
                      <a:pt x="190" y="126"/>
                    </a:lnTo>
                    <a:lnTo>
                      <a:pt x="196" y="114"/>
                    </a:lnTo>
                    <a:lnTo>
                      <a:pt x="196" y="114"/>
                    </a:lnTo>
                    <a:lnTo>
                      <a:pt x="208" y="112"/>
                    </a:lnTo>
                    <a:lnTo>
                      <a:pt x="222" y="106"/>
                    </a:lnTo>
                    <a:lnTo>
                      <a:pt x="232" y="100"/>
                    </a:lnTo>
                    <a:lnTo>
                      <a:pt x="242" y="90"/>
                    </a:lnTo>
                    <a:lnTo>
                      <a:pt x="250" y="80"/>
                    </a:lnTo>
                    <a:lnTo>
                      <a:pt x="256" y="68"/>
                    </a:lnTo>
                    <a:lnTo>
                      <a:pt x="258" y="56"/>
                    </a:lnTo>
                    <a:lnTo>
                      <a:pt x="260" y="42"/>
                    </a:lnTo>
                    <a:lnTo>
                      <a:pt x="260" y="42"/>
                    </a:lnTo>
                    <a:lnTo>
                      <a:pt x="260" y="38"/>
                    </a:lnTo>
                    <a:lnTo>
                      <a:pt x="258" y="36"/>
                    </a:lnTo>
                    <a:lnTo>
                      <a:pt x="254" y="34"/>
                    </a:lnTo>
                    <a:lnTo>
                      <a:pt x="250" y="32"/>
                    </a:lnTo>
                    <a:lnTo>
                      <a:pt x="250" y="32"/>
                    </a:lnTo>
                    <a:close/>
                    <a:moveTo>
                      <a:pt x="158" y="10"/>
                    </a:moveTo>
                    <a:lnTo>
                      <a:pt x="158" y="10"/>
                    </a:lnTo>
                    <a:lnTo>
                      <a:pt x="158" y="6"/>
                    </a:lnTo>
                    <a:lnTo>
                      <a:pt x="156" y="2"/>
                    </a:lnTo>
                    <a:lnTo>
                      <a:pt x="152" y="0"/>
                    </a:lnTo>
                    <a:lnTo>
                      <a:pt x="148" y="0"/>
                    </a:lnTo>
                    <a:lnTo>
                      <a:pt x="148" y="0"/>
                    </a:lnTo>
                    <a:lnTo>
                      <a:pt x="144" y="0"/>
                    </a:lnTo>
                    <a:lnTo>
                      <a:pt x="142" y="2"/>
                    </a:lnTo>
                    <a:lnTo>
                      <a:pt x="138" y="6"/>
                    </a:lnTo>
                    <a:lnTo>
                      <a:pt x="138" y="10"/>
                    </a:lnTo>
                    <a:lnTo>
                      <a:pt x="138" y="10"/>
                    </a:lnTo>
                    <a:lnTo>
                      <a:pt x="138" y="16"/>
                    </a:lnTo>
                    <a:lnTo>
                      <a:pt x="136" y="22"/>
                    </a:lnTo>
                    <a:lnTo>
                      <a:pt x="132" y="26"/>
                    </a:lnTo>
                    <a:lnTo>
                      <a:pt x="128" y="32"/>
                    </a:lnTo>
                    <a:lnTo>
                      <a:pt x="128" y="32"/>
                    </a:lnTo>
                    <a:lnTo>
                      <a:pt x="124" y="36"/>
                    </a:lnTo>
                    <a:lnTo>
                      <a:pt x="118" y="38"/>
                    </a:lnTo>
                    <a:lnTo>
                      <a:pt x="112" y="40"/>
                    </a:lnTo>
                    <a:lnTo>
                      <a:pt x="106" y="42"/>
                    </a:lnTo>
                    <a:lnTo>
                      <a:pt x="106" y="42"/>
                    </a:lnTo>
                    <a:lnTo>
                      <a:pt x="106" y="42"/>
                    </a:lnTo>
                    <a:lnTo>
                      <a:pt x="102" y="42"/>
                    </a:lnTo>
                    <a:lnTo>
                      <a:pt x="100" y="44"/>
                    </a:lnTo>
                    <a:lnTo>
                      <a:pt x="98" y="48"/>
                    </a:lnTo>
                    <a:lnTo>
                      <a:pt x="96" y="52"/>
                    </a:lnTo>
                    <a:lnTo>
                      <a:pt x="96" y="52"/>
                    </a:lnTo>
                    <a:lnTo>
                      <a:pt x="98" y="56"/>
                    </a:lnTo>
                    <a:lnTo>
                      <a:pt x="100" y="58"/>
                    </a:lnTo>
                    <a:lnTo>
                      <a:pt x="102" y="60"/>
                    </a:lnTo>
                    <a:lnTo>
                      <a:pt x="106" y="62"/>
                    </a:lnTo>
                    <a:lnTo>
                      <a:pt x="106" y="62"/>
                    </a:lnTo>
                    <a:lnTo>
                      <a:pt x="106" y="62"/>
                    </a:lnTo>
                    <a:lnTo>
                      <a:pt x="106" y="62"/>
                    </a:lnTo>
                    <a:lnTo>
                      <a:pt x="116" y="60"/>
                    </a:lnTo>
                    <a:lnTo>
                      <a:pt x="126" y="58"/>
                    </a:lnTo>
                    <a:lnTo>
                      <a:pt x="136" y="52"/>
                    </a:lnTo>
                    <a:lnTo>
                      <a:pt x="142" y="46"/>
                    </a:lnTo>
                    <a:lnTo>
                      <a:pt x="142" y="46"/>
                    </a:lnTo>
                    <a:lnTo>
                      <a:pt x="150" y="38"/>
                    </a:lnTo>
                    <a:lnTo>
                      <a:pt x="154" y="30"/>
                    </a:lnTo>
                    <a:lnTo>
                      <a:pt x="158" y="20"/>
                    </a:lnTo>
                    <a:lnTo>
                      <a:pt x="158" y="10"/>
                    </a:lnTo>
                    <a:lnTo>
                      <a:pt x="158" y="10"/>
                    </a:lnTo>
                    <a:close/>
                    <a:moveTo>
                      <a:pt x="330" y="268"/>
                    </a:moveTo>
                    <a:lnTo>
                      <a:pt x="330" y="190"/>
                    </a:lnTo>
                    <a:lnTo>
                      <a:pt x="242" y="258"/>
                    </a:lnTo>
                    <a:lnTo>
                      <a:pt x="242" y="190"/>
                    </a:lnTo>
                    <a:lnTo>
                      <a:pt x="154" y="258"/>
                    </a:lnTo>
                    <a:lnTo>
                      <a:pt x="148" y="258"/>
                    </a:lnTo>
                    <a:lnTo>
                      <a:pt x="122" y="258"/>
                    </a:lnTo>
                    <a:lnTo>
                      <a:pt x="128" y="252"/>
                    </a:lnTo>
                    <a:lnTo>
                      <a:pt x="146" y="240"/>
                    </a:lnTo>
                    <a:lnTo>
                      <a:pt x="140" y="172"/>
                    </a:lnTo>
                    <a:lnTo>
                      <a:pt x="140" y="172"/>
                    </a:lnTo>
                    <a:lnTo>
                      <a:pt x="140" y="168"/>
                    </a:lnTo>
                    <a:lnTo>
                      <a:pt x="138" y="164"/>
                    </a:lnTo>
                    <a:lnTo>
                      <a:pt x="134" y="162"/>
                    </a:lnTo>
                    <a:lnTo>
                      <a:pt x="130" y="162"/>
                    </a:lnTo>
                    <a:lnTo>
                      <a:pt x="118" y="162"/>
                    </a:lnTo>
                    <a:lnTo>
                      <a:pt x="118" y="162"/>
                    </a:lnTo>
                    <a:lnTo>
                      <a:pt x="114" y="162"/>
                    </a:lnTo>
                    <a:lnTo>
                      <a:pt x="112" y="164"/>
                    </a:lnTo>
                    <a:lnTo>
                      <a:pt x="110" y="168"/>
                    </a:lnTo>
                    <a:lnTo>
                      <a:pt x="108" y="172"/>
                    </a:lnTo>
                    <a:lnTo>
                      <a:pt x="100" y="258"/>
                    </a:lnTo>
                    <a:lnTo>
                      <a:pt x="82" y="258"/>
                    </a:lnTo>
                    <a:lnTo>
                      <a:pt x="66" y="110"/>
                    </a:lnTo>
                    <a:lnTo>
                      <a:pt x="66" y="110"/>
                    </a:lnTo>
                    <a:lnTo>
                      <a:pt x="66" y="106"/>
                    </a:lnTo>
                    <a:lnTo>
                      <a:pt x="64" y="104"/>
                    </a:lnTo>
                    <a:lnTo>
                      <a:pt x="60" y="102"/>
                    </a:lnTo>
                    <a:lnTo>
                      <a:pt x="56" y="100"/>
                    </a:lnTo>
                    <a:lnTo>
                      <a:pt x="44" y="100"/>
                    </a:lnTo>
                    <a:lnTo>
                      <a:pt x="44" y="100"/>
                    </a:lnTo>
                    <a:lnTo>
                      <a:pt x="40" y="102"/>
                    </a:lnTo>
                    <a:lnTo>
                      <a:pt x="38" y="104"/>
                    </a:lnTo>
                    <a:lnTo>
                      <a:pt x="36" y="106"/>
                    </a:lnTo>
                    <a:lnTo>
                      <a:pt x="34" y="110"/>
                    </a:lnTo>
                    <a:lnTo>
                      <a:pt x="18" y="258"/>
                    </a:lnTo>
                    <a:lnTo>
                      <a:pt x="10" y="258"/>
                    </a:lnTo>
                    <a:lnTo>
                      <a:pt x="10" y="258"/>
                    </a:lnTo>
                    <a:lnTo>
                      <a:pt x="6" y="260"/>
                    </a:lnTo>
                    <a:lnTo>
                      <a:pt x="2" y="262"/>
                    </a:lnTo>
                    <a:lnTo>
                      <a:pt x="0" y="264"/>
                    </a:lnTo>
                    <a:lnTo>
                      <a:pt x="0" y="268"/>
                    </a:lnTo>
                    <a:lnTo>
                      <a:pt x="0" y="340"/>
                    </a:lnTo>
                    <a:lnTo>
                      <a:pt x="0" y="340"/>
                    </a:lnTo>
                    <a:lnTo>
                      <a:pt x="0" y="344"/>
                    </a:lnTo>
                    <a:lnTo>
                      <a:pt x="2" y="348"/>
                    </a:lnTo>
                    <a:lnTo>
                      <a:pt x="6" y="350"/>
                    </a:lnTo>
                    <a:lnTo>
                      <a:pt x="10" y="350"/>
                    </a:lnTo>
                    <a:lnTo>
                      <a:pt x="320" y="350"/>
                    </a:lnTo>
                    <a:lnTo>
                      <a:pt x="320" y="350"/>
                    </a:lnTo>
                    <a:lnTo>
                      <a:pt x="324" y="350"/>
                    </a:lnTo>
                    <a:lnTo>
                      <a:pt x="328" y="348"/>
                    </a:lnTo>
                    <a:lnTo>
                      <a:pt x="330" y="344"/>
                    </a:lnTo>
                    <a:lnTo>
                      <a:pt x="330" y="340"/>
                    </a:lnTo>
                    <a:lnTo>
                      <a:pt x="330" y="268"/>
                    </a:lnTo>
                    <a:lnTo>
                      <a:pt x="330" y="268"/>
                    </a:lnTo>
                    <a:lnTo>
                      <a:pt x="330" y="268"/>
                    </a:lnTo>
                    <a:lnTo>
                      <a:pt x="330" y="268"/>
                    </a:lnTo>
                    <a:close/>
                    <a:moveTo>
                      <a:pt x="76" y="314"/>
                    </a:moveTo>
                    <a:lnTo>
                      <a:pt x="22" y="314"/>
                    </a:lnTo>
                    <a:lnTo>
                      <a:pt x="22" y="288"/>
                    </a:lnTo>
                    <a:lnTo>
                      <a:pt x="76" y="288"/>
                    </a:lnTo>
                    <a:lnTo>
                      <a:pt x="76" y="314"/>
                    </a:lnTo>
                    <a:close/>
                    <a:moveTo>
                      <a:pt x="154" y="314"/>
                    </a:moveTo>
                    <a:lnTo>
                      <a:pt x="100" y="314"/>
                    </a:lnTo>
                    <a:lnTo>
                      <a:pt x="100" y="288"/>
                    </a:lnTo>
                    <a:lnTo>
                      <a:pt x="154" y="288"/>
                    </a:lnTo>
                    <a:lnTo>
                      <a:pt x="154" y="314"/>
                    </a:lnTo>
                    <a:close/>
                    <a:moveTo>
                      <a:pt x="232" y="314"/>
                    </a:moveTo>
                    <a:lnTo>
                      <a:pt x="176" y="314"/>
                    </a:lnTo>
                    <a:lnTo>
                      <a:pt x="176" y="288"/>
                    </a:lnTo>
                    <a:lnTo>
                      <a:pt x="232" y="288"/>
                    </a:lnTo>
                    <a:lnTo>
                      <a:pt x="232" y="314"/>
                    </a:lnTo>
                    <a:close/>
                    <a:moveTo>
                      <a:pt x="308" y="314"/>
                    </a:moveTo>
                    <a:lnTo>
                      <a:pt x="254" y="314"/>
                    </a:lnTo>
                    <a:lnTo>
                      <a:pt x="254" y="288"/>
                    </a:lnTo>
                    <a:lnTo>
                      <a:pt x="308" y="288"/>
                    </a:lnTo>
                    <a:lnTo>
                      <a:pt x="308" y="3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grpSp>
        <p:grpSp>
          <p:nvGrpSpPr>
            <p:cNvPr id="20" name="Group 29">
              <a:extLst>
                <a:ext uri="{FF2B5EF4-FFF2-40B4-BE49-F238E27FC236}">
                  <a16:creationId xmlns:a16="http://schemas.microsoft.com/office/drawing/2014/main" id="{FF9BE20E-0D25-4E80-90FC-3496A41C49DA}"/>
                </a:ext>
              </a:extLst>
            </p:cNvPr>
            <p:cNvGrpSpPr/>
            <p:nvPr/>
          </p:nvGrpSpPr>
          <p:grpSpPr>
            <a:xfrm>
              <a:off x="6978994" y="1378416"/>
              <a:ext cx="662257" cy="555078"/>
              <a:chOff x="6978994" y="1378416"/>
              <a:chExt cx="662257" cy="555078"/>
            </a:xfrm>
          </p:grpSpPr>
          <p:sp>
            <p:nvSpPr>
              <p:cNvPr id="54" name="Oval 53">
                <a:extLst>
                  <a:ext uri="{FF2B5EF4-FFF2-40B4-BE49-F238E27FC236}">
                    <a16:creationId xmlns:a16="http://schemas.microsoft.com/office/drawing/2014/main" id="{6AF9B01B-B10D-4272-83B6-B2CDCE53A862}"/>
                  </a:ext>
                </a:extLst>
              </p:cNvPr>
              <p:cNvSpPr/>
              <p:nvPr/>
            </p:nvSpPr>
            <p:spPr bwMode="ltGray">
              <a:xfrm>
                <a:off x="6978994" y="1378416"/>
                <a:ext cx="662257" cy="555078"/>
              </a:xfrm>
              <a:prstGeom prst="ellipse">
                <a:avLst/>
              </a:prstGeom>
              <a:solidFill>
                <a:srgbClr val="464646"/>
              </a:solidFill>
              <a:ln w="3175" cap="flat" cmpd="sng" algn="ctr">
                <a:solidFill>
                  <a:srgbClr val="821A1A"/>
                </a:solidFill>
                <a:prstDash val="solid"/>
              </a:ln>
              <a:effectLst/>
            </p:spPr>
            <p:txBody>
              <a:bodyPr rtlCol="0" anchor="ctr"/>
              <a:lstStyle/>
              <a:p>
                <a:pPr algn="ctr">
                  <a:defRPr/>
                </a:pPr>
                <a:endParaRPr lang="en-GB" sz="848" kern="0" dirty="0">
                  <a:solidFill>
                    <a:srgbClr val="FFFFFF"/>
                  </a:solidFill>
                  <a:latin typeface="Georgia" pitchFamily="18" charset="0"/>
                </a:endParaRPr>
              </a:p>
            </p:txBody>
          </p:sp>
          <p:sp>
            <p:nvSpPr>
              <p:cNvPr id="55" name="Freeform 4859">
                <a:extLst>
                  <a:ext uri="{FF2B5EF4-FFF2-40B4-BE49-F238E27FC236}">
                    <a16:creationId xmlns:a16="http://schemas.microsoft.com/office/drawing/2014/main" id="{E55DB690-0F5C-46DD-90EC-F814F7B2D372}"/>
                  </a:ext>
                </a:extLst>
              </p:cNvPr>
              <p:cNvSpPr>
                <a:spLocks noEditPoints="1"/>
              </p:cNvSpPr>
              <p:nvPr/>
            </p:nvSpPr>
            <p:spPr bwMode="auto">
              <a:xfrm>
                <a:off x="7150986" y="1451790"/>
                <a:ext cx="323056" cy="452718"/>
              </a:xfrm>
              <a:custGeom>
                <a:avLst/>
                <a:gdLst>
                  <a:gd name="T0" fmla="*/ 184 w 294"/>
                  <a:gd name="T1" fmla="*/ 408 h 412"/>
                  <a:gd name="T2" fmla="*/ 112 w 294"/>
                  <a:gd name="T3" fmla="*/ 410 h 412"/>
                  <a:gd name="T4" fmla="*/ 54 w 294"/>
                  <a:gd name="T5" fmla="*/ 390 h 412"/>
                  <a:gd name="T6" fmla="*/ 0 w 294"/>
                  <a:gd name="T7" fmla="*/ 350 h 412"/>
                  <a:gd name="T8" fmla="*/ 14 w 294"/>
                  <a:gd name="T9" fmla="*/ 202 h 412"/>
                  <a:gd name="T10" fmla="*/ 80 w 294"/>
                  <a:gd name="T11" fmla="*/ 166 h 412"/>
                  <a:gd name="T12" fmla="*/ 74 w 294"/>
                  <a:gd name="T13" fmla="*/ 210 h 412"/>
                  <a:gd name="T14" fmla="*/ 78 w 294"/>
                  <a:gd name="T15" fmla="*/ 240 h 412"/>
                  <a:gd name="T16" fmla="*/ 112 w 294"/>
                  <a:gd name="T17" fmla="*/ 240 h 412"/>
                  <a:gd name="T18" fmla="*/ 114 w 294"/>
                  <a:gd name="T19" fmla="*/ 210 h 412"/>
                  <a:gd name="T20" fmla="*/ 170 w 294"/>
                  <a:gd name="T21" fmla="*/ 166 h 412"/>
                  <a:gd name="T22" fmla="*/ 150 w 294"/>
                  <a:gd name="T23" fmla="*/ 226 h 412"/>
                  <a:gd name="T24" fmla="*/ 122 w 294"/>
                  <a:gd name="T25" fmla="*/ 266 h 412"/>
                  <a:gd name="T26" fmla="*/ 124 w 294"/>
                  <a:gd name="T27" fmla="*/ 340 h 412"/>
                  <a:gd name="T28" fmla="*/ 156 w 294"/>
                  <a:gd name="T29" fmla="*/ 344 h 412"/>
                  <a:gd name="T30" fmla="*/ 162 w 294"/>
                  <a:gd name="T31" fmla="*/ 328 h 412"/>
                  <a:gd name="T32" fmla="*/ 144 w 294"/>
                  <a:gd name="T33" fmla="*/ 276 h 412"/>
                  <a:gd name="T34" fmla="*/ 154 w 294"/>
                  <a:gd name="T35" fmla="*/ 250 h 412"/>
                  <a:gd name="T36" fmla="*/ 180 w 294"/>
                  <a:gd name="T37" fmla="*/ 240 h 412"/>
                  <a:gd name="T38" fmla="*/ 212 w 294"/>
                  <a:gd name="T39" fmla="*/ 256 h 412"/>
                  <a:gd name="T40" fmla="*/ 218 w 294"/>
                  <a:gd name="T41" fmla="*/ 322 h 412"/>
                  <a:gd name="T42" fmla="*/ 200 w 294"/>
                  <a:gd name="T43" fmla="*/ 328 h 412"/>
                  <a:gd name="T44" fmla="*/ 206 w 294"/>
                  <a:gd name="T45" fmla="*/ 344 h 412"/>
                  <a:gd name="T46" fmla="*/ 240 w 294"/>
                  <a:gd name="T47" fmla="*/ 390 h 412"/>
                  <a:gd name="T48" fmla="*/ 294 w 294"/>
                  <a:gd name="T49" fmla="*/ 250 h 412"/>
                  <a:gd name="T50" fmla="*/ 272 w 294"/>
                  <a:gd name="T51" fmla="*/ 192 h 412"/>
                  <a:gd name="T52" fmla="*/ 192 w 294"/>
                  <a:gd name="T53" fmla="*/ 166 h 412"/>
                  <a:gd name="T54" fmla="*/ 202 w 294"/>
                  <a:gd name="T55" fmla="*/ 222 h 412"/>
                  <a:gd name="T56" fmla="*/ 236 w 294"/>
                  <a:gd name="T57" fmla="*/ 256 h 412"/>
                  <a:gd name="T58" fmla="*/ 240 w 294"/>
                  <a:gd name="T59" fmla="*/ 334 h 412"/>
                  <a:gd name="T60" fmla="*/ 92 w 294"/>
                  <a:gd name="T61" fmla="*/ 122 h 412"/>
                  <a:gd name="T62" fmla="*/ 136 w 294"/>
                  <a:gd name="T63" fmla="*/ 146 h 412"/>
                  <a:gd name="T64" fmla="*/ 178 w 294"/>
                  <a:gd name="T65" fmla="*/ 140 h 412"/>
                  <a:gd name="T66" fmla="*/ 214 w 294"/>
                  <a:gd name="T67" fmla="*/ 106 h 412"/>
                  <a:gd name="T68" fmla="*/ 148 w 294"/>
                  <a:gd name="T69" fmla="*/ 84 h 412"/>
                  <a:gd name="T70" fmla="*/ 82 w 294"/>
                  <a:gd name="T71" fmla="*/ 106 h 412"/>
                  <a:gd name="T72" fmla="*/ 148 w 294"/>
                  <a:gd name="T73" fmla="*/ 0 h 412"/>
                  <a:gd name="T74" fmla="*/ 208 w 294"/>
                  <a:gd name="T75" fmla="*/ 32 h 412"/>
                  <a:gd name="T76" fmla="*/ 220 w 294"/>
                  <a:gd name="T77" fmla="*/ 90 h 412"/>
                  <a:gd name="T78" fmla="*/ 148 w 294"/>
                  <a:gd name="T79" fmla="*/ 68 h 412"/>
                  <a:gd name="T80" fmla="*/ 76 w 294"/>
                  <a:gd name="T81" fmla="*/ 90 h 412"/>
                  <a:gd name="T82" fmla="*/ 80 w 294"/>
                  <a:gd name="T83" fmla="*/ 44 h 412"/>
                  <a:gd name="T84" fmla="*/ 132 w 294"/>
                  <a:gd name="T85" fmla="*/ 2 h 412"/>
                  <a:gd name="T86" fmla="*/ 156 w 294"/>
                  <a:gd name="T87" fmla="*/ 18 h 412"/>
                  <a:gd name="T88" fmla="*/ 148 w 294"/>
                  <a:gd name="T89" fmla="*/ 10 h 412"/>
                  <a:gd name="T90" fmla="*/ 140 w 294"/>
                  <a:gd name="T91" fmla="*/ 28 h 412"/>
                  <a:gd name="T92" fmla="*/ 122 w 294"/>
                  <a:gd name="T93" fmla="*/ 34 h 412"/>
                  <a:gd name="T94" fmla="*/ 126 w 294"/>
                  <a:gd name="T95" fmla="*/ 44 h 412"/>
                  <a:gd name="T96" fmla="*/ 140 w 294"/>
                  <a:gd name="T97" fmla="*/ 58 h 412"/>
                  <a:gd name="T98" fmla="*/ 150 w 294"/>
                  <a:gd name="T99" fmla="*/ 62 h 412"/>
                  <a:gd name="T100" fmla="*/ 166 w 294"/>
                  <a:gd name="T101" fmla="*/ 44 h 412"/>
                  <a:gd name="T102" fmla="*/ 174 w 294"/>
                  <a:gd name="T103" fmla="*/ 36 h 412"/>
                  <a:gd name="T104" fmla="*/ 166 w 294"/>
                  <a:gd name="T105" fmla="*/ 28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4" h="412">
                    <a:moveTo>
                      <a:pt x="218" y="344"/>
                    </a:moveTo>
                    <a:lnTo>
                      <a:pt x="218" y="400"/>
                    </a:lnTo>
                    <a:lnTo>
                      <a:pt x="218" y="400"/>
                    </a:lnTo>
                    <a:lnTo>
                      <a:pt x="202" y="404"/>
                    </a:lnTo>
                    <a:lnTo>
                      <a:pt x="184" y="408"/>
                    </a:lnTo>
                    <a:lnTo>
                      <a:pt x="166" y="412"/>
                    </a:lnTo>
                    <a:lnTo>
                      <a:pt x="148" y="412"/>
                    </a:lnTo>
                    <a:lnTo>
                      <a:pt x="148" y="412"/>
                    </a:lnTo>
                    <a:lnTo>
                      <a:pt x="130" y="412"/>
                    </a:lnTo>
                    <a:lnTo>
                      <a:pt x="112" y="410"/>
                    </a:lnTo>
                    <a:lnTo>
                      <a:pt x="94" y="406"/>
                    </a:lnTo>
                    <a:lnTo>
                      <a:pt x="78" y="400"/>
                    </a:lnTo>
                    <a:lnTo>
                      <a:pt x="78" y="264"/>
                    </a:lnTo>
                    <a:lnTo>
                      <a:pt x="54" y="264"/>
                    </a:lnTo>
                    <a:lnTo>
                      <a:pt x="54" y="390"/>
                    </a:lnTo>
                    <a:lnTo>
                      <a:pt x="54" y="390"/>
                    </a:lnTo>
                    <a:lnTo>
                      <a:pt x="40" y="382"/>
                    </a:lnTo>
                    <a:lnTo>
                      <a:pt x="26" y="372"/>
                    </a:lnTo>
                    <a:lnTo>
                      <a:pt x="12" y="362"/>
                    </a:lnTo>
                    <a:lnTo>
                      <a:pt x="0" y="350"/>
                    </a:lnTo>
                    <a:lnTo>
                      <a:pt x="0" y="248"/>
                    </a:lnTo>
                    <a:lnTo>
                      <a:pt x="0" y="248"/>
                    </a:lnTo>
                    <a:lnTo>
                      <a:pt x="2" y="232"/>
                    </a:lnTo>
                    <a:lnTo>
                      <a:pt x="6" y="216"/>
                    </a:lnTo>
                    <a:lnTo>
                      <a:pt x="14" y="202"/>
                    </a:lnTo>
                    <a:lnTo>
                      <a:pt x="24" y="190"/>
                    </a:lnTo>
                    <a:lnTo>
                      <a:pt x="36" y="180"/>
                    </a:lnTo>
                    <a:lnTo>
                      <a:pt x="48" y="172"/>
                    </a:lnTo>
                    <a:lnTo>
                      <a:pt x="64" y="168"/>
                    </a:lnTo>
                    <a:lnTo>
                      <a:pt x="80" y="166"/>
                    </a:lnTo>
                    <a:lnTo>
                      <a:pt x="84" y="166"/>
                    </a:lnTo>
                    <a:lnTo>
                      <a:pt x="84" y="200"/>
                    </a:lnTo>
                    <a:lnTo>
                      <a:pt x="84" y="200"/>
                    </a:lnTo>
                    <a:lnTo>
                      <a:pt x="78" y="204"/>
                    </a:lnTo>
                    <a:lnTo>
                      <a:pt x="74" y="210"/>
                    </a:lnTo>
                    <a:lnTo>
                      <a:pt x="72" y="216"/>
                    </a:lnTo>
                    <a:lnTo>
                      <a:pt x="70" y="222"/>
                    </a:lnTo>
                    <a:lnTo>
                      <a:pt x="70" y="222"/>
                    </a:lnTo>
                    <a:lnTo>
                      <a:pt x="72" y="232"/>
                    </a:lnTo>
                    <a:lnTo>
                      <a:pt x="78" y="240"/>
                    </a:lnTo>
                    <a:lnTo>
                      <a:pt x="84" y="246"/>
                    </a:lnTo>
                    <a:lnTo>
                      <a:pt x="94" y="248"/>
                    </a:lnTo>
                    <a:lnTo>
                      <a:pt x="94" y="248"/>
                    </a:lnTo>
                    <a:lnTo>
                      <a:pt x="104" y="246"/>
                    </a:lnTo>
                    <a:lnTo>
                      <a:pt x="112" y="240"/>
                    </a:lnTo>
                    <a:lnTo>
                      <a:pt x="116" y="232"/>
                    </a:lnTo>
                    <a:lnTo>
                      <a:pt x="118" y="222"/>
                    </a:lnTo>
                    <a:lnTo>
                      <a:pt x="118" y="222"/>
                    </a:lnTo>
                    <a:lnTo>
                      <a:pt x="118" y="216"/>
                    </a:lnTo>
                    <a:lnTo>
                      <a:pt x="114" y="210"/>
                    </a:lnTo>
                    <a:lnTo>
                      <a:pt x="110" y="204"/>
                    </a:lnTo>
                    <a:lnTo>
                      <a:pt x="104" y="200"/>
                    </a:lnTo>
                    <a:lnTo>
                      <a:pt x="104" y="166"/>
                    </a:lnTo>
                    <a:lnTo>
                      <a:pt x="170" y="166"/>
                    </a:lnTo>
                    <a:lnTo>
                      <a:pt x="170" y="166"/>
                    </a:lnTo>
                    <a:lnTo>
                      <a:pt x="170" y="168"/>
                    </a:lnTo>
                    <a:lnTo>
                      <a:pt x="170" y="218"/>
                    </a:lnTo>
                    <a:lnTo>
                      <a:pt x="170" y="218"/>
                    </a:lnTo>
                    <a:lnTo>
                      <a:pt x="160" y="222"/>
                    </a:lnTo>
                    <a:lnTo>
                      <a:pt x="150" y="226"/>
                    </a:lnTo>
                    <a:lnTo>
                      <a:pt x="142" y="232"/>
                    </a:lnTo>
                    <a:lnTo>
                      <a:pt x="136" y="238"/>
                    </a:lnTo>
                    <a:lnTo>
                      <a:pt x="130" y="248"/>
                    </a:lnTo>
                    <a:lnTo>
                      <a:pt x="126" y="256"/>
                    </a:lnTo>
                    <a:lnTo>
                      <a:pt x="122" y="266"/>
                    </a:lnTo>
                    <a:lnTo>
                      <a:pt x="122" y="276"/>
                    </a:lnTo>
                    <a:lnTo>
                      <a:pt x="122" y="332"/>
                    </a:lnTo>
                    <a:lnTo>
                      <a:pt x="122" y="332"/>
                    </a:lnTo>
                    <a:lnTo>
                      <a:pt x="122" y="338"/>
                    </a:lnTo>
                    <a:lnTo>
                      <a:pt x="124" y="340"/>
                    </a:lnTo>
                    <a:lnTo>
                      <a:pt x="128" y="344"/>
                    </a:lnTo>
                    <a:lnTo>
                      <a:pt x="132" y="344"/>
                    </a:lnTo>
                    <a:lnTo>
                      <a:pt x="152" y="344"/>
                    </a:lnTo>
                    <a:lnTo>
                      <a:pt x="152" y="344"/>
                    </a:lnTo>
                    <a:lnTo>
                      <a:pt x="156" y="344"/>
                    </a:lnTo>
                    <a:lnTo>
                      <a:pt x="160" y="340"/>
                    </a:lnTo>
                    <a:lnTo>
                      <a:pt x="162" y="338"/>
                    </a:lnTo>
                    <a:lnTo>
                      <a:pt x="164" y="332"/>
                    </a:lnTo>
                    <a:lnTo>
                      <a:pt x="164" y="332"/>
                    </a:lnTo>
                    <a:lnTo>
                      <a:pt x="162" y="328"/>
                    </a:lnTo>
                    <a:lnTo>
                      <a:pt x="160" y="326"/>
                    </a:lnTo>
                    <a:lnTo>
                      <a:pt x="156" y="322"/>
                    </a:lnTo>
                    <a:lnTo>
                      <a:pt x="152" y="322"/>
                    </a:lnTo>
                    <a:lnTo>
                      <a:pt x="144" y="322"/>
                    </a:lnTo>
                    <a:lnTo>
                      <a:pt x="144" y="276"/>
                    </a:lnTo>
                    <a:lnTo>
                      <a:pt x="144" y="276"/>
                    </a:lnTo>
                    <a:lnTo>
                      <a:pt x="144" y="270"/>
                    </a:lnTo>
                    <a:lnTo>
                      <a:pt x="146" y="262"/>
                    </a:lnTo>
                    <a:lnTo>
                      <a:pt x="150" y="256"/>
                    </a:lnTo>
                    <a:lnTo>
                      <a:pt x="154" y="250"/>
                    </a:lnTo>
                    <a:lnTo>
                      <a:pt x="160" y="246"/>
                    </a:lnTo>
                    <a:lnTo>
                      <a:pt x="166" y="242"/>
                    </a:lnTo>
                    <a:lnTo>
                      <a:pt x="174" y="240"/>
                    </a:lnTo>
                    <a:lnTo>
                      <a:pt x="180" y="240"/>
                    </a:lnTo>
                    <a:lnTo>
                      <a:pt x="180" y="240"/>
                    </a:lnTo>
                    <a:lnTo>
                      <a:pt x="188" y="240"/>
                    </a:lnTo>
                    <a:lnTo>
                      <a:pt x="196" y="242"/>
                    </a:lnTo>
                    <a:lnTo>
                      <a:pt x="202" y="246"/>
                    </a:lnTo>
                    <a:lnTo>
                      <a:pt x="208" y="250"/>
                    </a:lnTo>
                    <a:lnTo>
                      <a:pt x="212" y="256"/>
                    </a:lnTo>
                    <a:lnTo>
                      <a:pt x="216" y="262"/>
                    </a:lnTo>
                    <a:lnTo>
                      <a:pt x="218" y="270"/>
                    </a:lnTo>
                    <a:lnTo>
                      <a:pt x="218" y="276"/>
                    </a:lnTo>
                    <a:lnTo>
                      <a:pt x="218" y="278"/>
                    </a:lnTo>
                    <a:lnTo>
                      <a:pt x="218" y="322"/>
                    </a:lnTo>
                    <a:lnTo>
                      <a:pt x="210" y="322"/>
                    </a:lnTo>
                    <a:lnTo>
                      <a:pt x="210" y="322"/>
                    </a:lnTo>
                    <a:lnTo>
                      <a:pt x="206" y="322"/>
                    </a:lnTo>
                    <a:lnTo>
                      <a:pt x="202" y="326"/>
                    </a:lnTo>
                    <a:lnTo>
                      <a:pt x="200" y="328"/>
                    </a:lnTo>
                    <a:lnTo>
                      <a:pt x="198" y="332"/>
                    </a:lnTo>
                    <a:lnTo>
                      <a:pt x="198" y="332"/>
                    </a:lnTo>
                    <a:lnTo>
                      <a:pt x="200" y="338"/>
                    </a:lnTo>
                    <a:lnTo>
                      <a:pt x="202" y="340"/>
                    </a:lnTo>
                    <a:lnTo>
                      <a:pt x="206" y="344"/>
                    </a:lnTo>
                    <a:lnTo>
                      <a:pt x="210" y="344"/>
                    </a:lnTo>
                    <a:lnTo>
                      <a:pt x="218" y="344"/>
                    </a:lnTo>
                    <a:close/>
                    <a:moveTo>
                      <a:pt x="240" y="334"/>
                    </a:moveTo>
                    <a:lnTo>
                      <a:pt x="240" y="390"/>
                    </a:lnTo>
                    <a:lnTo>
                      <a:pt x="240" y="390"/>
                    </a:lnTo>
                    <a:lnTo>
                      <a:pt x="254" y="382"/>
                    </a:lnTo>
                    <a:lnTo>
                      <a:pt x="270" y="372"/>
                    </a:lnTo>
                    <a:lnTo>
                      <a:pt x="282" y="362"/>
                    </a:lnTo>
                    <a:lnTo>
                      <a:pt x="294" y="350"/>
                    </a:lnTo>
                    <a:lnTo>
                      <a:pt x="294" y="250"/>
                    </a:lnTo>
                    <a:lnTo>
                      <a:pt x="294" y="250"/>
                    </a:lnTo>
                    <a:lnTo>
                      <a:pt x="294" y="234"/>
                    </a:lnTo>
                    <a:lnTo>
                      <a:pt x="288" y="218"/>
                    </a:lnTo>
                    <a:lnTo>
                      <a:pt x="282" y="204"/>
                    </a:lnTo>
                    <a:lnTo>
                      <a:pt x="272" y="192"/>
                    </a:lnTo>
                    <a:lnTo>
                      <a:pt x="260" y="182"/>
                    </a:lnTo>
                    <a:lnTo>
                      <a:pt x="246" y="174"/>
                    </a:lnTo>
                    <a:lnTo>
                      <a:pt x="230" y="168"/>
                    </a:lnTo>
                    <a:lnTo>
                      <a:pt x="214" y="166"/>
                    </a:lnTo>
                    <a:lnTo>
                      <a:pt x="192" y="166"/>
                    </a:lnTo>
                    <a:lnTo>
                      <a:pt x="192" y="166"/>
                    </a:lnTo>
                    <a:lnTo>
                      <a:pt x="192" y="168"/>
                    </a:lnTo>
                    <a:lnTo>
                      <a:pt x="192" y="218"/>
                    </a:lnTo>
                    <a:lnTo>
                      <a:pt x="192" y="218"/>
                    </a:lnTo>
                    <a:lnTo>
                      <a:pt x="202" y="222"/>
                    </a:lnTo>
                    <a:lnTo>
                      <a:pt x="212" y="226"/>
                    </a:lnTo>
                    <a:lnTo>
                      <a:pt x="220" y="232"/>
                    </a:lnTo>
                    <a:lnTo>
                      <a:pt x="226" y="238"/>
                    </a:lnTo>
                    <a:lnTo>
                      <a:pt x="232" y="248"/>
                    </a:lnTo>
                    <a:lnTo>
                      <a:pt x="236" y="256"/>
                    </a:lnTo>
                    <a:lnTo>
                      <a:pt x="240" y="266"/>
                    </a:lnTo>
                    <a:lnTo>
                      <a:pt x="240" y="276"/>
                    </a:lnTo>
                    <a:lnTo>
                      <a:pt x="240" y="332"/>
                    </a:lnTo>
                    <a:lnTo>
                      <a:pt x="240" y="332"/>
                    </a:lnTo>
                    <a:lnTo>
                      <a:pt x="240" y="334"/>
                    </a:lnTo>
                    <a:lnTo>
                      <a:pt x="240" y="334"/>
                    </a:lnTo>
                    <a:close/>
                    <a:moveTo>
                      <a:pt x="82" y="106"/>
                    </a:moveTo>
                    <a:lnTo>
                      <a:pt x="82" y="106"/>
                    </a:lnTo>
                    <a:lnTo>
                      <a:pt x="86" y="116"/>
                    </a:lnTo>
                    <a:lnTo>
                      <a:pt x="92" y="122"/>
                    </a:lnTo>
                    <a:lnTo>
                      <a:pt x="100" y="130"/>
                    </a:lnTo>
                    <a:lnTo>
                      <a:pt x="108" y="136"/>
                    </a:lnTo>
                    <a:lnTo>
                      <a:pt x="118" y="140"/>
                    </a:lnTo>
                    <a:lnTo>
                      <a:pt x="126" y="144"/>
                    </a:lnTo>
                    <a:lnTo>
                      <a:pt x="136" y="146"/>
                    </a:lnTo>
                    <a:lnTo>
                      <a:pt x="148" y="148"/>
                    </a:lnTo>
                    <a:lnTo>
                      <a:pt x="148" y="148"/>
                    </a:lnTo>
                    <a:lnTo>
                      <a:pt x="158" y="146"/>
                    </a:lnTo>
                    <a:lnTo>
                      <a:pt x="168" y="144"/>
                    </a:lnTo>
                    <a:lnTo>
                      <a:pt x="178" y="140"/>
                    </a:lnTo>
                    <a:lnTo>
                      <a:pt x="186" y="136"/>
                    </a:lnTo>
                    <a:lnTo>
                      <a:pt x="196" y="130"/>
                    </a:lnTo>
                    <a:lnTo>
                      <a:pt x="202" y="122"/>
                    </a:lnTo>
                    <a:lnTo>
                      <a:pt x="208" y="116"/>
                    </a:lnTo>
                    <a:lnTo>
                      <a:pt x="214" y="106"/>
                    </a:lnTo>
                    <a:lnTo>
                      <a:pt x="214" y="106"/>
                    </a:lnTo>
                    <a:lnTo>
                      <a:pt x="200" y="96"/>
                    </a:lnTo>
                    <a:lnTo>
                      <a:pt x="184" y="90"/>
                    </a:lnTo>
                    <a:lnTo>
                      <a:pt x="166" y="84"/>
                    </a:lnTo>
                    <a:lnTo>
                      <a:pt x="148" y="84"/>
                    </a:lnTo>
                    <a:lnTo>
                      <a:pt x="148" y="84"/>
                    </a:lnTo>
                    <a:lnTo>
                      <a:pt x="130" y="84"/>
                    </a:lnTo>
                    <a:lnTo>
                      <a:pt x="112" y="90"/>
                    </a:lnTo>
                    <a:lnTo>
                      <a:pt x="96" y="96"/>
                    </a:lnTo>
                    <a:lnTo>
                      <a:pt x="82" y="106"/>
                    </a:lnTo>
                    <a:lnTo>
                      <a:pt x="82" y="106"/>
                    </a:lnTo>
                    <a:close/>
                    <a:moveTo>
                      <a:pt x="148" y="0"/>
                    </a:moveTo>
                    <a:lnTo>
                      <a:pt x="148" y="0"/>
                    </a:lnTo>
                    <a:lnTo>
                      <a:pt x="148" y="0"/>
                    </a:lnTo>
                    <a:lnTo>
                      <a:pt x="148" y="0"/>
                    </a:lnTo>
                    <a:lnTo>
                      <a:pt x="162" y="2"/>
                    </a:lnTo>
                    <a:lnTo>
                      <a:pt x="176" y="6"/>
                    </a:lnTo>
                    <a:lnTo>
                      <a:pt x="190" y="12"/>
                    </a:lnTo>
                    <a:lnTo>
                      <a:pt x="200" y="22"/>
                    </a:lnTo>
                    <a:lnTo>
                      <a:pt x="208" y="32"/>
                    </a:lnTo>
                    <a:lnTo>
                      <a:pt x="216" y="44"/>
                    </a:lnTo>
                    <a:lnTo>
                      <a:pt x="220" y="58"/>
                    </a:lnTo>
                    <a:lnTo>
                      <a:pt x="222" y="74"/>
                    </a:lnTo>
                    <a:lnTo>
                      <a:pt x="222" y="74"/>
                    </a:lnTo>
                    <a:lnTo>
                      <a:pt x="220" y="90"/>
                    </a:lnTo>
                    <a:lnTo>
                      <a:pt x="220" y="90"/>
                    </a:lnTo>
                    <a:lnTo>
                      <a:pt x="204" y="80"/>
                    </a:lnTo>
                    <a:lnTo>
                      <a:pt x="186" y="74"/>
                    </a:lnTo>
                    <a:lnTo>
                      <a:pt x="168" y="68"/>
                    </a:lnTo>
                    <a:lnTo>
                      <a:pt x="148" y="68"/>
                    </a:lnTo>
                    <a:lnTo>
                      <a:pt x="148" y="68"/>
                    </a:lnTo>
                    <a:lnTo>
                      <a:pt x="128" y="68"/>
                    </a:lnTo>
                    <a:lnTo>
                      <a:pt x="110" y="74"/>
                    </a:lnTo>
                    <a:lnTo>
                      <a:pt x="92" y="80"/>
                    </a:lnTo>
                    <a:lnTo>
                      <a:pt x="76" y="90"/>
                    </a:lnTo>
                    <a:lnTo>
                      <a:pt x="76" y="90"/>
                    </a:lnTo>
                    <a:lnTo>
                      <a:pt x="74" y="74"/>
                    </a:lnTo>
                    <a:lnTo>
                      <a:pt x="74" y="74"/>
                    </a:lnTo>
                    <a:lnTo>
                      <a:pt x="76" y="58"/>
                    </a:lnTo>
                    <a:lnTo>
                      <a:pt x="80" y="44"/>
                    </a:lnTo>
                    <a:lnTo>
                      <a:pt x="86" y="32"/>
                    </a:lnTo>
                    <a:lnTo>
                      <a:pt x="96" y="22"/>
                    </a:lnTo>
                    <a:lnTo>
                      <a:pt x="106" y="12"/>
                    </a:lnTo>
                    <a:lnTo>
                      <a:pt x="118" y="6"/>
                    </a:lnTo>
                    <a:lnTo>
                      <a:pt x="132" y="2"/>
                    </a:lnTo>
                    <a:lnTo>
                      <a:pt x="148" y="0"/>
                    </a:lnTo>
                    <a:lnTo>
                      <a:pt x="148" y="0"/>
                    </a:lnTo>
                    <a:close/>
                    <a:moveTo>
                      <a:pt x="156" y="28"/>
                    </a:moveTo>
                    <a:lnTo>
                      <a:pt x="156" y="18"/>
                    </a:lnTo>
                    <a:lnTo>
                      <a:pt x="156" y="18"/>
                    </a:lnTo>
                    <a:lnTo>
                      <a:pt x="154" y="16"/>
                    </a:lnTo>
                    <a:lnTo>
                      <a:pt x="152" y="12"/>
                    </a:lnTo>
                    <a:lnTo>
                      <a:pt x="150" y="10"/>
                    </a:lnTo>
                    <a:lnTo>
                      <a:pt x="148" y="10"/>
                    </a:lnTo>
                    <a:lnTo>
                      <a:pt x="148" y="10"/>
                    </a:lnTo>
                    <a:lnTo>
                      <a:pt x="144" y="10"/>
                    </a:lnTo>
                    <a:lnTo>
                      <a:pt x="142" y="12"/>
                    </a:lnTo>
                    <a:lnTo>
                      <a:pt x="140" y="16"/>
                    </a:lnTo>
                    <a:lnTo>
                      <a:pt x="140" y="18"/>
                    </a:lnTo>
                    <a:lnTo>
                      <a:pt x="140" y="28"/>
                    </a:lnTo>
                    <a:lnTo>
                      <a:pt x="130" y="28"/>
                    </a:lnTo>
                    <a:lnTo>
                      <a:pt x="130" y="28"/>
                    </a:lnTo>
                    <a:lnTo>
                      <a:pt x="126" y="28"/>
                    </a:lnTo>
                    <a:lnTo>
                      <a:pt x="124" y="30"/>
                    </a:lnTo>
                    <a:lnTo>
                      <a:pt x="122" y="34"/>
                    </a:lnTo>
                    <a:lnTo>
                      <a:pt x="122" y="36"/>
                    </a:lnTo>
                    <a:lnTo>
                      <a:pt x="122" y="36"/>
                    </a:lnTo>
                    <a:lnTo>
                      <a:pt x="122" y="40"/>
                    </a:lnTo>
                    <a:lnTo>
                      <a:pt x="124" y="42"/>
                    </a:lnTo>
                    <a:lnTo>
                      <a:pt x="126" y="44"/>
                    </a:lnTo>
                    <a:lnTo>
                      <a:pt x="130" y="44"/>
                    </a:lnTo>
                    <a:lnTo>
                      <a:pt x="140" y="44"/>
                    </a:lnTo>
                    <a:lnTo>
                      <a:pt x="140" y="54"/>
                    </a:lnTo>
                    <a:lnTo>
                      <a:pt x="140" y="54"/>
                    </a:lnTo>
                    <a:lnTo>
                      <a:pt x="140" y="58"/>
                    </a:lnTo>
                    <a:lnTo>
                      <a:pt x="142" y="60"/>
                    </a:lnTo>
                    <a:lnTo>
                      <a:pt x="144" y="62"/>
                    </a:lnTo>
                    <a:lnTo>
                      <a:pt x="148" y="62"/>
                    </a:lnTo>
                    <a:lnTo>
                      <a:pt x="148" y="62"/>
                    </a:lnTo>
                    <a:lnTo>
                      <a:pt x="150" y="62"/>
                    </a:lnTo>
                    <a:lnTo>
                      <a:pt x="152" y="60"/>
                    </a:lnTo>
                    <a:lnTo>
                      <a:pt x="154" y="58"/>
                    </a:lnTo>
                    <a:lnTo>
                      <a:pt x="156" y="54"/>
                    </a:lnTo>
                    <a:lnTo>
                      <a:pt x="156" y="44"/>
                    </a:lnTo>
                    <a:lnTo>
                      <a:pt x="166" y="44"/>
                    </a:lnTo>
                    <a:lnTo>
                      <a:pt x="166" y="44"/>
                    </a:lnTo>
                    <a:lnTo>
                      <a:pt x="168" y="44"/>
                    </a:lnTo>
                    <a:lnTo>
                      <a:pt x="170" y="42"/>
                    </a:lnTo>
                    <a:lnTo>
                      <a:pt x="172" y="40"/>
                    </a:lnTo>
                    <a:lnTo>
                      <a:pt x="174" y="36"/>
                    </a:lnTo>
                    <a:lnTo>
                      <a:pt x="174" y="36"/>
                    </a:lnTo>
                    <a:lnTo>
                      <a:pt x="172" y="34"/>
                    </a:lnTo>
                    <a:lnTo>
                      <a:pt x="170" y="30"/>
                    </a:lnTo>
                    <a:lnTo>
                      <a:pt x="168" y="28"/>
                    </a:lnTo>
                    <a:lnTo>
                      <a:pt x="166" y="28"/>
                    </a:lnTo>
                    <a:lnTo>
                      <a:pt x="156"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grpSp>
        <p:grpSp>
          <p:nvGrpSpPr>
            <p:cNvPr id="21" name="Group 30">
              <a:extLst>
                <a:ext uri="{FF2B5EF4-FFF2-40B4-BE49-F238E27FC236}">
                  <a16:creationId xmlns:a16="http://schemas.microsoft.com/office/drawing/2014/main" id="{37B28042-2B50-48E1-A9F0-B583185A63F2}"/>
                </a:ext>
              </a:extLst>
            </p:cNvPr>
            <p:cNvGrpSpPr/>
            <p:nvPr/>
          </p:nvGrpSpPr>
          <p:grpSpPr>
            <a:xfrm>
              <a:off x="7883905" y="2620984"/>
              <a:ext cx="637672" cy="555782"/>
              <a:chOff x="7883905" y="2620984"/>
              <a:chExt cx="637672" cy="555782"/>
            </a:xfrm>
          </p:grpSpPr>
          <p:sp>
            <p:nvSpPr>
              <p:cNvPr id="45" name="Oval 44">
                <a:extLst>
                  <a:ext uri="{FF2B5EF4-FFF2-40B4-BE49-F238E27FC236}">
                    <a16:creationId xmlns:a16="http://schemas.microsoft.com/office/drawing/2014/main" id="{8C4474DE-3754-4D99-9EBE-C7A5F09E8A38}"/>
                  </a:ext>
                </a:extLst>
              </p:cNvPr>
              <p:cNvSpPr/>
              <p:nvPr/>
            </p:nvSpPr>
            <p:spPr bwMode="ltGray">
              <a:xfrm>
                <a:off x="7883905" y="2620984"/>
                <a:ext cx="637672" cy="555782"/>
              </a:xfrm>
              <a:prstGeom prst="ellipse">
                <a:avLst/>
              </a:prstGeom>
              <a:solidFill>
                <a:schemeClr val="accent4">
                  <a:lumMod val="50000"/>
                </a:schemeClr>
              </a:solidFill>
              <a:ln w="3175" cap="flat" cmpd="sng" algn="ctr">
                <a:solidFill>
                  <a:schemeClr val="accent4">
                    <a:lumMod val="50000"/>
                  </a:schemeClr>
                </a:solidFill>
                <a:prstDash val="solid"/>
              </a:ln>
              <a:effectLst/>
            </p:spPr>
            <p:txBody>
              <a:bodyPr rtlCol="0" anchor="ctr"/>
              <a:lstStyle/>
              <a:p>
                <a:pPr algn="ctr">
                  <a:defRPr/>
                </a:pPr>
                <a:endParaRPr lang="en-GB" sz="848" kern="0" dirty="0">
                  <a:solidFill>
                    <a:srgbClr val="FFFFFF"/>
                  </a:solidFill>
                  <a:latin typeface="Georgia" pitchFamily="18" charset="0"/>
                </a:endParaRPr>
              </a:p>
            </p:txBody>
          </p:sp>
          <p:grpSp>
            <p:nvGrpSpPr>
              <p:cNvPr id="22" name="Group 45">
                <a:extLst>
                  <a:ext uri="{FF2B5EF4-FFF2-40B4-BE49-F238E27FC236}">
                    <a16:creationId xmlns:a16="http://schemas.microsoft.com/office/drawing/2014/main" id="{996982D1-680C-4838-A984-2709AF39BB2E}"/>
                  </a:ext>
                </a:extLst>
              </p:cNvPr>
              <p:cNvGrpSpPr/>
              <p:nvPr/>
            </p:nvGrpSpPr>
            <p:grpSpPr>
              <a:xfrm>
                <a:off x="7996900" y="2685187"/>
                <a:ext cx="353767" cy="392893"/>
                <a:chOff x="11737975" y="3321050"/>
                <a:chExt cx="1033463" cy="1147763"/>
              </a:xfrm>
              <a:solidFill>
                <a:srgbClr val="FFFFFF"/>
              </a:solidFill>
            </p:grpSpPr>
            <p:sp>
              <p:nvSpPr>
                <p:cNvPr id="47" name="Freeform 1313">
                  <a:extLst>
                    <a:ext uri="{FF2B5EF4-FFF2-40B4-BE49-F238E27FC236}">
                      <a16:creationId xmlns:a16="http://schemas.microsoft.com/office/drawing/2014/main" id="{F4A1B600-5A72-4557-BED5-2A3787627D1B}"/>
                    </a:ext>
                  </a:extLst>
                </p:cNvPr>
                <p:cNvSpPr>
                  <a:spLocks/>
                </p:cNvSpPr>
                <p:nvPr/>
              </p:nvSpPr>
              <p:spPr bwMode="auto">
                <a:xfrm>
                  <a:off x="12460288" y="4383088"/>
                  <a:ext cx="207963" cy="85725"/>
                </a:xfrm>
                <a:custGeom>
                  <a:avLst/>
                  <a:gdLst>
                    <a:gd name="T0" fmla="*/ 131 w 261"/>
                    <a:gd name="T1" fmla="*/ 44 h 107"/>
                    <a:gd name="T2" fmla="*/ 131 w 261"/>
                    <a:gd name="T3" fmla="*/ 44 h 107"/>
                    <a:gd name="T4" fmla="*/ 120 w 261"/>
                    <a:gd name="T5" fmla="*/ 44 h 107"/>
                    <a:gd name="T6" fmla="*/ 109 w 261"/>
                    <a:gd name="T7" fmla="*/ 41 h 107"/>
                    <a:gd name="T8" fmla="*/ 100 w 261"/>
                    <a:gd name="T9" fmla="*/ 38 h 107"/>
                    <a:gd name="T10" fmla="*/ 92 w 261"/>
                    <a:gd name="T11" fmla="*/ 31 h 107"/>
                    <a:gd name="T12" fmla="*/ 84 w 261"/>
                    <a:gd name="T13" fmla="*/ 25 h 107"/>
                    <a:gd name="T14" fmla="*/ 76 w 261"/>
                    <a:gd name="T15" fmla="*/ 19 h 107"/>
                    <a:gd name="T16" fmla="*/ 71 w 261"/>
                    <a:gd name="T17" fmla="*/ 9 h 107"/>
                    <a:gd name="T18" fmla="*/ 66 w 261"/>
                    <a:gd name="T19" fmla="*/ 0 h 107"/>
                    <a:gd name="T20" fmla="*/ 0 w 261"/>
                    <a:gd name="T21" fmla="*/ 0 h 107"/>
                    <a:gd name="T22" fmla="*/ 0 w 261"/>
                    <a:gd name="T23" fmla="*/ 0 h 107"/>
                    <a:gd name="T24" fmla="*/ 3 w 261"/>
                    <a:gd name="T25" fmla="*/ 11 h 107"/>
                    <a:gd name="T26" fmla="*/ 6 w 261"/>
                    <a:gd name="T27" fmla="*/ 22 h 107"/>
                    <a:gd name="T28" fmla="*/ 11 w 261"/>
                    <a:gd name="T29" fmla="*/ 33 h 107"/>
                    <a:gd name="T30" fmla="*/ 17 w 261"/>
                    <a:gd name="T31" fmla="*/ 43 h 107"/>
                    <a:gd name="T32" fmla="*/ 24 w 261"/>
                    <a:gd name="T33" fmla="*/ 52 h 107"/>
                    <a:gd name="T34" fmla="*/ 30 w 261"/>
                    <a:gd name="T35" fmla="*/ 62 h 107"/>
                    <a:gd name="T36" fmla="*/ 46 w 261"/>
                    <a:gd name="T37" fmla="*/ 77 h 107"/>
                    <a:gd name="T38" fmla="*/ 55 w 261"/>
                    <a:gd name="T39" fmla="*/ 84 h 107"/>
                    <a:gd name="T40" fmla="*/ 65 w 261"/>
                    <a:gd name="T41" fmla="*/ 90 h 107"/>
                    <a:gd name="T42" fmla="*/ 74 w 261"/>
                    <a:gd name="T43" fmla="*/ 95 h 107"/>
                    <a:gd name="T44" fmla="*/ 85 w 261"/>
                    <a:gd name="T45" fmla="*/ 100 h 107"/>
                    <a:gd name="T46" fmla="*/ 97 w 261"/>
                    <a:gd name="T47" fmla="*/ 103 h 107"/>
                    <a:gd name="T48" fmla="*/ 108 w 261"/>
                    <a:gd name="T49" fmla="*/ 106 h 107"/>
                    <a:gd name="T50" fmla="*/ 119 w 261"/>
                    <a:gd name="T51" fmla="*/ 107 h 107"/>
                    <a:gd name="T52" fmla="*/ 131 w 261"/>
                    <a:gd name="T53" fmla="*/ 107 h 107"/>
                    <a:gd name="T54" fmla="*/ 131 w 261"/>
                    <a:gd name="T55" fmla="*/ 107 h 107"/>
                    <a:gd name="T56" fmla="*/ 142 w 261"/>
                    <a:gd name="T57" fmla="*/ 107 h 107"/>
                    <a:gd name="T58" fmla="*/ 155 w 261"/>
                    <a:gd name="T59" fmla="*/ 106 h 107"/>
                    <a:gd name="T60" fmla="*/ 166 w 261"/>
                    <a:gd name="T61" fmla="*/ 103 h 107"/>
                    <a:gd name="T62" fmla="*/ 177 w 261"/>
                    <a:gd name="T63" fmla="*/ 100 h 107"/>
                    <a:gd name="T64" fmla="*/ 187 w 261"/>
                    <a:gd name="T65" fmla="*/ 95 h 107"/>
                    <a:gd name="T66" fmla="*/ 198 w 261"/>
                    <a:gd name="T67" fmla="*/ 90 h 107"/>
                    <a:gd name="T68" fmla="*/ 207 w 261"/>
                    <a:gd name="T69" fmla="*/ 84 h 107"/>
                    <a:gd name="T70" fmla="*/ 215 w 261"/>
                    <a:gd name="T71" fmla="*/ 77 h 107"/>
                    <a:gd name="T72" fmla="*/ 233 w 261"/>
                    <a:gd name="T73" fmla="*/ 62 h 107"/>
                    <a:gd name="T74" fmla="*/ 239 w 261"/>
                    <a:gd name="T75" fmla="*/ 52 h 107"/>
                    <a:gd name="T76" fmla="*/ 245 w 261"/>
                    <a:gd name="T77" fmla="*/ 43 h 107"/>
                    <a:gd name="T78" fmla="*/ 250 w 261"/>
                    <a:gd name="T79" fmla="*/ 33 h 107"/>
                    <a:gd name="T80" fmla="*/ 255 w 261"/>
                    <a:gd name="T81" fmla="*/ 22 h 107"/>
                    <a:gd name="T82" fmla="*/ 258 w 261"/>
                    <a:gd name="T83" fmla="*/ 11 h 107"/>
                    <a:gd name="T84" fmla="*/ 261 w 261"/>
                    <a:gd name="T85" fmla="*/ 0 h 107"/>
                    <a:gd name="T86" fmla="*/ 196 w 261"/>
                    <a:gd name="T87" fmla="*/ 0 h 107"/>
                    <a:gd name="T88" fmla="*/ 196 w 261"/>
                    <a:gd name="T89" fmla="*/ 0 h 107"/>
                    <a:gd name="T90" fmla="*/ 192 w 261"/>
                    <a:gd name="T91" fmla="*/ 9 h 107"/>
                    <a:gd name="T92" fmla="*/ 185 w 261"/>
                    <a:gd name="T93" fmla="*/ 19 h 107"/>
                    <a:gd name="T94" fmla="*/ 179 w 261"/>
                    <a:gd name="T95" fmla="*/ 25 h 107"/>
                    <a:gd name="T96" fmla="*/ 171 w 261"/>
                    <a:gd name="T97" fmla="*/ 31 h 107"/>
                    <a:gd name="T98" fmla="*/ 161 w 261"/>
                    <a:gd name="T99" fmla="*/ 38 h 107"/>
                    <a:gd name="T100" fmla="*/ 152 w 261"/>
                    <a:gd name="T101" fmla="*/ 41 h 107"/>
                    <a:gd name="T102" fmla="*/ 142 w 261"/>
                    <a:gd name="T103" fmla="*/ 44 h 107"/>
                    <a:gd name="T104" fmla="*/ 131 w 261"/>
                    <a:gd name="T105" fmla="*/ 44 h 107"/>
                    <a:gd name="T106" fmla="*/ 131 w 261"/>
                    <a:gd name="T107" fmla="*/ 4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107">
                      <a:moveTo>
                        <a:pt x="131" y="44"/>
                      </a:moveTo>
                      <a:lnTo>
                        <a:pt x="131" y="44"/>
                      </a:lnTo>
                      <a:lnTo>
                        <a:pt x="120" y="44"/>
                      </a:lnTo>
                      <a:lnTo>
                        <a:pt x="109" y="41"/>
                      </a:lnTo>
                      <a:lnTo>
                        <a:pt x="100" y="38"/>
                      </a:lnTo>
                      <a:lnTo>
                        <a:pt x="92" y="31"/>
                      </a:lnTo>
                      <a:lnTo>
                        <a:pt x="84" y="25"/>
                      </a:lnTo>
                      <a:lnTo>
                        <a:pt x="76" y="19"/>
                      </a:lnTo>
                      <a:lnTo>
                        <a:pt x="71" y="9"/>
                      </a:lnTo>
                      <a:lnTo>
                        <a:pt x="66" y="0"/>
                      </a:lnTo>
                      <a:lnTo>
                        <a:pt x="0" y="0"/>
                      </a:lnTo>
                      <a:lnTo>
                        <a:pt x="0" y="0"/>
                      </a:lnTo>
                      <a:lnTo>
                        <a:pt x="3" y="11"/>
                      </a:lnTo>
                      <a:lnTo>
                        <a:pt x="6" y="22"/>
                      </a:lnTo>
                      <a:lnTo>
                        <a:pt x="11" y="33"/>
                      </a:lnTo>
                      <a:lnTo>
                        <a:pt x="17" y="43"/>
                      </a:lnTo>
                      <a:lnTo>
                        <a:pt x="24" y="52"/>
                      </a:lnTo>
                      <a:lnTo>
                        <a:pt x="30" y="62"/>
                      </a:lnTo>
                      <a:lnTo>
                        <a:pt x="46" y="77"/>
                      </a:lnTo>
                      <a:lnTo>
                        <a:pt x="55" y="84"/>
                      </a:lnTo>
                      <a:lnTo>
                        <a:pt x="65" y="90"/>
                      </a:lnTo>
                      <a:lnTo>
                        <a:pt x="74" y="95"/>
                      </a:lnTo>
                      <a:lnTo>
                        <a:pt x="85" y="100"/>
                      </a:lnTo>
                      <a:lnTo>
                        <a:pt x="97" y="103"/>
                      </a:lnTo>
                      <a:lnTo>
                        <a:pt x="108" y="106"/>
                      </a:lnTo>
                      <a:lnTo>
                        <a:pt x="119" y="107"/>
                      </a:lnTo>
                      <a:lnTo>
                        <a:pt x="131" y="107"/>
                      </a:lnTo>
                      <a:lnTo>
                        <a:pt x="131" y="107"/>
                      </a:lnTo>
                      <a:lnTo>
                        <a:pt x="142" y="107"/>
                      </a:lnTo>
                      <a:lnTo>
                        <a:pt x="155" y="106"/>
                      </a:lnTo>
                      <a:lnTo>
                        <a:pt x="166" y="103"/>
                      </a:lnTo>
                      <a:lnTo>
                        <a:pt x="177" y="100"/>
                      </a:lnTo>
                      <a:lnTo>
                        <a:pt x="187" y="95"/>
                      </a:lnTo>
                      <a:lnTo>
                        <a:pt x="198" y="90"/>
                      </a:lnTo>
                      <a:lnTo>
                        <a:pt x="207" y="84"/>
                      </a:lnTo>
                      <a:lnTo>
                        <a:pt x="215" y="77"/>
                      </a:lnTo>
                      <a:lnTo>
                        <a:pt x="233" y="62"/>
                      </a:lnTo>
                      <a:lnTo>
                        <a:pt x="239" y="52"/>
                      </a:lnTo>
                      <a:lnTo>
                        <a:pt x="245" y="43"/>
                      </a:lnTo>
                      <a:lnTo>
                        <a:pt x="250" y="33"/>
                      </a:lnTo>
                      <a:lnTo>
                        <a:pt x="255" y="22"/>
                      </a:lnTo>
                      <a:lnTo>
                        <a:pt x="258" y="11"/>
                      </a:lnTo>
                      <a:lnTo>
                        <a:pt x="261" y="0"/>
                      </a:lnTo>
                      <a:lnTo>
                        <a:pt x="196" y="0"/>
                      </a:lnTo>
                      <a:lnTo>
                        <a:pt x="196" y="0"/>
                      </a:lnTo>
                      <a:lnTo>
                        <a:pt x="192" y="9"/>
                      </a:lnTo>
                      <a:lnTo>
                        <a:pt x="185" y="19"/>
                      </a:lnTo>
                      <a:lnTo>
                        <a:pt x="179" y="25"/>
                      </a:lnTo>
                      <a:lnTo>
                        <a:pt x="171" y="31"/>
                      </a:lnTo>
                      <a:lnTo>
                        <a:pt x="161" y="38"/>
                      </a:lnTo>
                      <a:lnTo>
                        <a:pt x="152" y="41"/>
                      </a:lnTo>
                      <a:lnTo>
                        <a:pt x="142" y="44"/>
                      </a:lnTo>
                      <a:lnTo>
                        <a:pt x="131" y="44"/>
                      </a:lnTo>
                      <a:lnTo>
                        <a:pt x="131"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48" name="Freeform 1314">
                  <a:extLst>
                    <a:ext uri="{FF2B5EF4-FFF2-40B4-BE49-F238E27FC236}">
                      <a16:creationId xmlns:a16="http://schemas.microsoft.com/office/drawing/2014/main" id="{CEC5E525-FF18-4E95-AD23-07008E186D33}"/>
                    </a:ext>
                  </a:extLst>
                </p:cNvPr>
                <p:cNvSpPr>
                  <a:spLocks/>
                </p:cNvSpPr>
                <p:nvPr/>
              </p:nvSpPr>
              <p:spPr bwMode="auto">
                <a:xfrm>
                  <a:off x="12044363" y="3321050"/>
                  <a:ext cx="227013" cy="225425"/>
                </a:xfrm>
                <a:custGeom>
                  <a:avLst/>
                  <a:gdLst>
                    <a:gd name="T0" fmla="*/ 3 w 285"/>
                    <a:gd name="T1" fmla="*/ 109 h 285"/>
                    <a:gd name="T2" fmla="*/ 0 w 285"/>
                    <a:gd name="T3" fmla="*/ 138 h 285"/>
                    <a:gd name="T4" fmla="*/ 1 w 285"/>
                    <a:gd name="T5" fmla="*/ 166 h 285"/>
                    <a:gd name="T6" fmla="*/ 9 w 285"/>
                    <a:gd name="T7" fmla="*/ 193 h 285"/>
                    <a:gd name="T8" fmla="*/ 22 w 285"/>
                    <a:gd name="T9" fmla="*/ 217 h 285"/>
                    <a:gd name="T10" fmla="*/ 38 w 285"/>
                    <a:gd name="T11" fmla="*/ 239 h 285"/>
                    <a:gd name="T12" fmla="*/ 58 w 285"/>
                    <a:gd name="T13" fmla="*/ 256 h 285"/>
                    <a:gd name="T14" fmla="*/ 82 w 285"/>
                    <a:gd name="T15" fmla="*/ 271 h 285"/>
                    <a:gd name="T16" fmla="*/ 111 w 285"/>
                    <a:gd name="T17" fmla="*/ 280 h 285"/>
                    <a:gd name="T18" fmla="*/ 125 w 285"/>
                    <a:gd name="T19" fmla="*/ 283 h 285"/>
                    <a:gd name="T20" fmla="*/ 153 w 285"/>
                    <a:gd name="T21" fmla="*/ 283 h 285"/>
                    <a:gd name="T22" fmla="*/ 180 w 285"/>
                    <a:gd name="T23" fmla="*/ 279 h 285"/>
                    <a:gd name="T24" fmla="*/ 206 w 285"/>
                    <a:gd name="T25" fmla="*/ 269 h 285"/>
                    <a:gd name="T26" fmla="*/ 229 w 285"/>
                    <a:gd name="T27" fmla="*/ 255 h 285"/>
                    <a:gd name="T28" fmla="*/ 248 w 285"/>
                    <a:gd name="T29" fmla="*/ 236 h 285"/>
                    <a:gd name="T30" fmla="*/ 266 w 285"/>
                    <a:gd name="T31" fmla="*/ 214 h 285"/>
                    <a:gd name="T32" fmla="*/ 277 w 285"/>
                    <a:gd name="T33" fmla="*/ 188 h 285"/>
                    <a:gd name="T34" fmla="*/ 282 w 285"/>
                    <a:gd name="T35" fmla="*/ 174 h 285"/>
                    <a:gd name="T36" fmla="*/ 285 w 285"/>
                    <a:gd name="T37" fmla="*/ 146 h 285"/>
                    <a:gd name="T38" fmla="*/ 283 w 285"/>
                    <a:gd name="T39" fmla="*/ 117 h 285"/>
                    <a:gd name="T40" fmla="*/ 275 w 285"/>
                    <a:gd name="T41" fmla="*/ 92 h 285"/>
                    <a:gd name="T42" fmla="*/ 263 w 285"/>
                    <a:gd name="T43" fmla="*/ 66 h 285"/>
                    <a:gd name="T44" fmla="*/ 247 w 285"/>
                    <a:gd name="T45" fmla="*/ 44 h 285"/>
                    <a:gd name="T46" fmla="*/ 226 w 285"/>
                    <a:gd name="T47" fmla="*/ 27 h 285"/>
                    <a:gd name="T48" fmla="*/ 202 w 285"/>
                    <a:gd name="T49" fmla="*/ 13 h 285"/>
                    <a:gd name="T50" fmla="*/ 174 w 285"/>
                    <a:gd name="T51" fmla="*/ 3 h 285"/>
                    <a:gd name="T52" fmla="*/ 160 w 285"/>
                    <a:gd name="T53" fmla="*/ 0 h 285"/>
                    <a:gd name="T54" fmla="*/ 131 w 285"/>
                    <a:gd name="T55" fmla="*/ 0 h 285"/>
                    <a:gd name="T56" fmla="*/ 104 w 285"/>
                    <a:gd name="T57" fmla="*/ 5 h 285"/>
                    <a:gd name="T58" fmla="*/ 79 w 285"/>
                    <a:gd name="T59" fmla="*/ 14 h 285"/>
                    <a:gd name="T60" fmla="*/ 55 w 285"/>
                    <a:gd name="T61" fmla="*/ 28 h 285"/>
                    <a:gd name="T62" fmla="*/ 36 w 285"/>
                    <a:gd name="T63" fmla="*/ 47 h 285"/>
                    <a:gd name="T64" fmla="*/ 19 w 285"/>
                    <a:gd name="T65" fmla="*/ 70 h 285"/>
                    <a:gd name="T66" fmla="*/ 8 w 285"/>
                    <a:gd name="T67" fmla="*/ 95 h 285"/>
                    <a:gd name="T68" fmla="*/ 3 w 285"/>
                    <a:gd name="T69" fmla="*/ 109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5" h="285">
                      <a:moveTo>
                        <a:pt x="3" y="109"/>
                      </a:moveTo>
                      <a:lnTo>
                        <a:pt x="3" y="109"/>
                      </a:lnTo>
                      <a:lnTo>
                        <a:pt x="1" y="123"/>
                      </a:lnTo>
                      <a:lnTo>
                        <a:pt x="0" y="138"/>
                      </a:lnTo>
                      <a:lnTo>
                        <a:pt x="0" y="152"/>
                      </a:lnTo>
                      <a:lnTo>
                        <a:pt x="1" y="166"/>
                      </a:lnTo>
                      <a:lnTo>
                        <a:pt x="4" y="179"/>
                      </a:lnTo>
                      <a:lnTo>
                        <a:pt x="9" y="193"/>
                      </a:lnTo>
                      <a:lnTo>
                        <a:pt x="14" y="206"/>
                      </a:lnTo>
                      <a:lnTo>
                        <a:pt x="22" y="217"/>
                      </a:lnTo>
                      <a:lnTo>
                        <a:pt x="28" y="228"/>
                      </a:lnTo>
                      <a:lnTo>
                        <a:pt x="38" y="239"/>
                      </a:lnTo>
                      <a:lnTo>
                        <a:pt x="47" y="248"/>
                      </a:lnTo>
                      <a:lnTo>
                        <a:pt x="58" y="256"/>
                      </a:lnTo>
                      <a:lnTo>
                        <a:pt x="69" y="264"/>
                      </a:lnTo>
                      <a:lnTo>
                        <a:pt x="82" y="271"/>
                      </a:lnTo>
                      <a:lnTo>
                        <a:pt x="96" y="277"/>
                      </a:lnTo>
                      <a:lnTo>
                        <a:pt x="111" y="280"/>
                      </a:lnTo>
                      <a:lnTo>
                        <a:pt x="111" y="280"/>
                      </a:lnTo>
                      <a:lnTo>
                        <a:pt x="125" y="283"/>
                      </a:lnTo>
                      <a:lnTo>
                        <a:pt x="139" y="285"/>
                      </a:lnTo>
                      <a:lnTo>
                        <a:pt x="153" y="283"/>
                      </a:lnTo>
                      <a:lnTo>
                        <a:pt x="166" y="282"/>
                      </a:lnTo>
                      <a:lnTo>
                        <a:pt x="180" y="279"/>
                      </a:lnTo>
                      <a:lnTo>
                        <a:pt x="193" y="275"/>
                      </a:lnTo>
                      <a:lnTo>
                        <a:pt x="206" y="269"/>
                      </a:lnTo>
                      <a:lnTo>
                        <a:pt x="218" y="263"/>
                      </a:lnTo>
                      <a:lnTo>
                        <a:pt x="229" y="255"/>
                      </a:lnTo>
                      <a:lnTo>
                        <a:pt x="239" y="247"/>
                      </a:lnTo>
                      <a:lnTo>
                        <a:pt x="248" y="236"/>
                      </a:lnTo>
                      <a:lnTo>
                        <a:pt x="258" y="226"/>
                      </a:lnTo>
                      <a:lnTo>
                        <a:pt x="266" y="214"/>
                      </a:lnTo>
                      <a:lnTo>
                        <a:pt x="272" y="201"/>
                      </a:lnTo>
                      <a:lnTo>
                        <a:pt x="277" y="188"/>
                      </a:lnTo>
                      <a:lnTo>
                        <a:pt x="282" y="174"/>
                      </a:lnTo>
                      <a:lnTo>
                        <a:pt x="282" y="174"/>
                      </a:lnTo>
                      <a:lnTo>
                        <a:pt x="283" y="160"/>
                      </a:lnTo>
                      <a:lnTo>
                        <a:pt x="285" y="146"/>
                      </a:lnTo>
                      <a:lnTo>
                        <a:pt x="285" y="131"/>
                      </a:lnTo>
                      <a:lnTo>
                        <a:pt x="283" y="117"/>
                      </a:lnTo>
                      <a:lnTo>
                        <a:pt x="280" y="104"/>
                      </a:lnTo>
                      <a:lnTo>
                        <a:pt x="275" y="92"/>
                      </a:lnTo>
                      <a:lnTo>
                        <a:pt x="271" y="79"/>
                      </a:lnTo>
                      <a:lnTo>
                        <a:pt x="263" y="66"/>
                      </a:lnTo>
                      <a:lnTo>
                        <a:pt x="255" y="55"/>
                      </a:lnTo>
                      <a:lnTo>
                        <a:pt x="247" y="44"/>
                      </a:lnTo>
                      <a:lnTo>
                        <a:pt x="237" y="35"/>
                      </a:lnTo>
                      <a:lnTo>
                        <a:pt x="226" y="27"/>
                      </a:lnTo>
                      <a:lnTo>
                        <a:pt x="215" y="19"/>
                      </a:lnTo>
                      <a:lnTo>
                        <a:pt x="202" y="13"/>
                      </a:lnTo>
                      <a:lnTo>
                        <a:pt x="188" y="8"/>
                      </a:lnTo>
                      <a:lnTo>
                        <a:pt x="174" y="3"/>
                      </a:lnTo>
                      <a:lnTo>
                        <a:pt x="174" y="3"/>
                      </a:lnTo>
                      <a:lnTo>
                        <a:pt x="160" y="0"/>
                      </a:lnTo>
                      <a:lnTo>
                        <a:pt x="145" y="0"/>
                      </a:lnTo>
                      <a:lnTo>
                        <a:pt x="131" y="0"/>
                      </a:lnTo>
                      <a:lnTo>
                        <a:pt x="119" y="1"/>
                      </a:lnTo>
                      <a:lnTo>
                        <a:pt x="104" y="5"/>
                      </a:lnTo>
                      <a:lnTo>
                        <a:pt x="92" y="9"/>
                      </a:lnTo>
                      <a:lnTo>
                        <a:pt x="79" y="14"/>
                      </a:lnTo>
                      <a:lnTo>
                        <a:pt x="66" y="20"/>
                      </a:lnTo>
                      <a:lnTo>
                        <a:pt x="55" y="28"/>
                      </a:lnTo>
                      <a:lnTo>
                        <a:pt x="46" y="38"/>
                      </a:lnTo>
                      <a:lnTo>
                        <a:pt x="36" y="47"/>
                      </a:lnTo>
                      <a:lnTo>
                        <a:pt x="27" y="58"/>
                      </a:lnTo>
                      <a:lnTo>
                        <a:pt x="19" y="70"/>
                      </a:lnTo>
                      <a:lnTo>
                        <a:pt x="12" y="82"/>
                      </a:lnTo>
                      <a:lnTo>
                        <a:pt x="8" y="95"/>
                      </a:lnTo>
                      <a:lnTo>
                        <a:pt x="3" y="109"/>
                      </a:lnTo>
                      <a:lnTo>
                        <a:pt x="3" y="1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49" name="Freeform 1315">
                  <a:extLst>
                    <a:ext uri="{FF2B5EF4-FFF2-40B4-BE49-F238E27FC236}">
                      <a16:creationId xmlns:a16="http://schemas.microsoft.com/office/drawing/2014/main" id="{8F866378-5118-4E0C-8FB5-7A2930244459}"/>
                    </a:ext>
                  </a:extLst>
                </p:cNvPr>
                <p:cNvSpPr>
                  <a:spLocks/>
                </p:cNvSpPr>
                <p:nvPr/>
              </p:nvSpPr>
              <p:spPr bwMode="auto">
                <a:xfrm>
                  <a:off x="11912600" y="3552825"/>
                  <a:ext cx="457200" cy="696913"/>
                </a:xfrm>
                <a:custGeom>
                  <a:avLst/>
                  <a:gdLst>
                    <a:gd name="T0" fmla="*/ 167 w 577"/>
                    <a:gd name="T1" fmla="*/ 363 h 879"/>
                    <a:gd name="T2" fmla="*/ 140 w 577"/>
                    <a:gd name="T3" fmla="*/ 350 h 879"/>
                    <a:gd name="T4" fmla="*/ 121 w 577"/>
                    <a:gd name="T5" fmla="*/ 330 h 879"/>
                    <a:gd name="T6" fmla="*/ 102 w 577"/>
                    <a:gd name="T7" fmla="*/ 121 h 879"/>
                    <a:gd name="T8" fmla="*/ 105 w 577"/>
                    <a:gd name="T9" fmla="*/ 95 h 879"/>
                    <a:gd name="T10" fmla="*/ 126 w 577"/>
                    <a:gd name="T11" fmla="*/ 67 h 879"/>
                    <a:gd name="T12" fmla="*/ 160 w 577"/>
                    <a:gd name="T13" fmla="*/ 54 h 879"/>
                    <a:gd name="T14" fmla="*/ 165 w 577"/>
                    <a:gd name="T15" fmla="*/ 52 h 879"/>
                    <a:gd name="T16" fmla="*/ 198 w 577"/>
                    <a:gd name="T17" fmla="*/ 64 h 879"/>
                    <a:gd name="T18" fmla="*/ 222 w 577"/>
                    <a:gd name="T19" fmla="*/ 89 h 879"/>
                    <a:gd name="T20" fmla="*/ 235 w 577"/>
                    <a:gd name="T21" fmla="*/ 222 h 879"/>
                    <a:gd name="T22" fmla="*/ 268 w 577"/>
                    <a:gd name="T23" fmla="*/ 155 h 879"/>
                    <a:gd name="T24" fmla="*/ 273 w 577"/>
                    <a:gd name="T25" fmla="*/ 132 h 879"/>
                    <a:gd name="T26" fmla="*/ 268 w 577"/>
                    <a:gd name="T27" fmla="*/ 71 h 879"/>
                    <a:gd name="T28" fmla="*/ 255 w 577"/>
                    <a:gd name="T29" fmla="*/ 41 h 879"/>
                    <a:gd name="T30" fmla="*/ 235 w 577"/>
                    <a:gd name="T31" fmla="*/ 18 h 879"/>
                    <a:gd name="T32" fmla="*/ 208 w 577"/>
                    <a:gd name="T33" fmla="*/ 3 h 879"/>
                    <a:gd name="T34" fmla="*/ 186 w 577"/>
                    <a:gd name="T35" fmla="*/ 0 h 879"/>
                    <a:gd name="T36" fmla="*/ 152 w 577"/>
                    <a:gd name="T37" fmla="*/ 5 h 879"/>
                    <a:gd name="T38" fmla="*/ 118 w 577"/>
                    <a:gd name="T39" fmla="*/ 18 h 879"/>
                    <a:gd name="T40" fmla="*/ 84 w 577"/>
                    <a:gd name="T41" fmla="*/ 43 h 879"/>
                    <a:gd name="T42" fmla="*/ 57 w 577"/>
                    <a:gd name="T43" fmla="*/ 81 h 879"/>
                    <a:gd name="T44" fmla="*/ 43 w 577"/>
                    <a:gd name="T45" fmla="*/ 113 h 879"/>
                    <a:gd name="T46" fmla="*/ 8 w 577"/>
                    <a:gd name="T47" fmla="*/ 242 h 879"/>
                    <a:gd name="T48" fmla="*/ 0 w 577"/>
                    <a:gd name="T49" fmla="*/ 368 h 879"/>
                    <a:gd name="T50" fmla="*/ 7 w 577"/>
                    <a:gd name="T51" fmla="*/ 464 h 879"/>
                    <a:gd name="T52" fmla="*/ 23 w 577"/>
                    <a:gd name="T53" fmla="*/ 512 h 879"/>
                    <a:gd name="T54" fmla="*/ 48 w 577"/>
                    <a:gd name="T55" fmla="*/ 545 h 879"/>
                    <a:gd name="T56" fmla="*/ 78 w 577"/>
                    <a:gd name="T57" fmla="*/ 564 h 879"/>
                    <a:gd name="T58" fmla="*/ 133 w 577"/>
                    <a:gd name="T59" fmla="*/ 575 h 879"/>
                    <a:gd name="T60" fmla="*/ 165 w 577"/>
                    <a:gd name="T61" fmla="*/ 575 h 879"/>
                    <a:gd name="T62" fmla="*/ 181 w 577"/>
                    <a:gd name="T63" fmla="*/ 575 h 879"/>
                    <a:gd name="T64" fmla="*/ 390 w 577"/>
                    <a:gd name="T65" fmla="*/ 534 h 879"/>
                    <a:gd name="T66" fmla="*/ 422 w 577"/>
                    <a:gd name="T67" fmla="*/ 824 h 879"/>
                    <a:gd name="T68" fmla="*/ 445 w 577"/>
                    <a:gd name="T69" fmla="*/ 860 h 879"/>
                    <a:gd name="T70" fmla="*/ 483 w 577"/>
                    <a:gd name="T71" fmla="*/ 877 h 879"/>
                    <a:gd name="T72" fmla="*/ 506 w 577"/>
                    <a:gd name="T73" fmla="*/ 879 h 879"/>
                    <a:gd name="T74" fmla="*/ 536 w 577"/>
                    <a:gd name="T75" fmla="*/ 869 h 879"/>
                    <a:gd name="T76" fmla="*/ 567 w 577"/>
                    <a:gd name="T77" fmla="*/ 838 h 879"/>
                    <a:gd name="T78" fmla="*/ 577 w 577"/>
                    <a:gd name="T79" fmla="*/ 792 h 879"/>
                    <a:gd name="T80" fmla="*/ 534 w 577"/>
                    <a:gd name="T81" fmla="*/ 415 h 879"/>
                    <a:gd name="T82" fmla="*/ 506 w 577"/>
                    <a:gd name="T83" fmla="*/ 375 h 879"/>
                    <a:gd name="T84" fmla="*/ 477 w 577"/>
                    <a:gd name="T85" fmla="*/ 363 h 879"/>
                    <a:gd name="T86" fmla="*/ 230 w 577"/>
                    <a:gd name="T87" fmla="*/ 404 h 879"/>
                    <a:gd name="T88" fmla="*/ 233 w 577"/>
                    <a:gd name="T89" fmla="*/ 352 h 879"/>
                    <a:gd name="T90" fmla="*/ 176 w 577"/>
                    <a:gd name="T91" fmla="*/ 363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77" h="879">
                      <a:moveTo>
                        <a:pt x="176" y="363"/>
                      </a:moveTo>
                      <a:lnTo>
                        <a:pt x="176" y="363"/>
                      </a:lnTo>
                      <a:lnTo>
                        <a:pt x="167" y="363"/>
                      </a:lnTo>
                      <a:lnTo>
                        <a:pt x="157" y="360"/>
                      </a:lnTo>
                      <a:lnTo>
                        <a:pt x="148" y="356"/>
                      </a:lnTo>
                      <a:lnTo>
                        <a:pt x="140" y="350"/>
                      </a:lnTo>
                      <a:lnTo>
                        <a:pt x="140" y="350"/>
                      </a:lnTo>
                      <a:lnTo>
                        <a:pt x="129" y="342"/>
                      </a:lnTo>
                      <a:lnTo>
                        <a:pt x="121" y="330"/>
                      </a:lnTo>
                      <a:lnTo>
                        <a:pt x="116" y="318"/>
                      </a:lnTo>
                      <a:lnTo>
                        <a:pt x="113" y="304"/>
                      </a:lnTo>
                      <a:lnTo>
                        <a:pt x="102" y="121"/>
                      </a:lnTo>
                      <a:lnTo>
                        <a:pt x="102" y="121"/>
                      </a:lnTo>
                      <a:lnTo>
                        <a:pt x="102" y="108"/>
                      </a:lnTo>
                      <a:lnTo>
                        <a:pt x="105" y="95"/>
                      </a:lnTo>
                      <a:lnTo>
                        <a:pt x="110" y="84"/>
                      </a:lnTo>
                      <a:lnTo>
                        <a:pt x="118" y="75"/>
                      </a:lnTo>
                      <a:lnTo>
                        <a:pt x="126" y="67"/>
                      </a:lnTo>
                      <a:lnTo>
                        <a:pt x="137" y="60"/>
                      </a:lnTo>
                      <a:lnTo>
                        <a:pt x="148" y="56"/>
                      </a:lnTo>
                      <a:lnTo>
                        <a:pt x="160" y="54"/>
                      </a:lnTo>
                      <a:lnTo>
                        <a:pt x="160" y="54"/>
                      </a:lnTo>
                      <a:lnTo>
                        <a:pt x="165" y="52"/>
                      </a:lnTo>
                      <a:lnTo>
                        <a:pt x="165" y="52"/>
                      </a:lnTo>
                      <a:lnTo>
                        <a:pt x="176" y="54"/>
                      </a:lnTo>
                      <a:lnTo>
                        <a:pt x="189" y="57"/>
                      </a:lnTo>
                      <a:lnTo>
                        <a:pt x="198" y="64"/>
                      </a:lnTo>
                      <a:lnTo>
                        <a:pt x="208" y="70"/>
                      </a:lnTo>
                      <a:lnTo>
                        <a:pt x="216" y="79"/>
                      </a:lnTo>
                      <a:lnTo>
                        <a:pt x="222" y="89"/>
                      </a:lnTo>
                      <a:lnTo>
                        <a:pt x="225" y="100"/>
                      </a:lnTo>
                      <a:lnTo>
                        <a:pt x="229" y="113"/>
                      </a:lnTo>
                      <a:lnTo>
                        <a:pt x="235" y="222"/>
                      </a:lnTo>
                      <a:lnTo>
                        <a:pt x="255" y="217"/>
                      </a:lnTo>
                      <a:lnTo>
                        <a:pt x="255" y="217"/>
                      </a:lnTo>
                      <a:lnTo>
                        <a:pt x="268" y="155"/>
                      </a:lnTo>
                      <a:lnTo>
                        <a:pt x="268" y="155"/>
                      </a:lnTo>
                      <a:lnTo>
                        <a:pt x="270" y="144"/>
                      </a:lnTo>
                      <a:lnTo>
                        <a:pt x="273" y="132"/>
                      </a:lnTo>
                      <a:lnTo>
                        <a:pt x="273" y="108"/>
                      </a:lnTo>
                      <a:lnTo>
                        <a:pt x="271" y="84"/>
                      </a:lnTo>
                      <a:lnTo>
                        <a:pt x="268" y="71"/>
                      </a:lnTo>
                      <a:lnTo>
                        <a:pt x="265" y="62"/>
                      </a:lnTo>
                      <a:lnTo>
                        <a:pt x="260" y="51"/>
                      </a:lnTo>
                      <a:lnTo>
                        <a:pt x="255" y="41"/>
                      </a:lnTo>
                      <a:lnTo>
                        <a:pt x="249" y="32"/>
                      </a:lnTo>
                      <a:lnTo>
                        <a:pt x="243" y="24"/>
                      </a:lnTo>
                      <a:lnTo>
                        <a:pt x="235" y="18"/>
                      </a:lnTo>
                      <a:lnTo>
                        <a:pt x="227" y="11"/>
                      </a:lnTo>
                      <a:lnTo>
                        <a:pt x="217" y="7"/>
                      </a:lnTo>
                      <a:lnTo>
                        <a:pt x="208" y="3"/>
                      </a:lnTo>
                      <a:lnTo>
                        <a:pt x="208" y="3"/>
                      </a:lnTo>
                      <a:lnTo>
                        <a:pt x="197" y="2"/>
                      </a:lnTo>
                      <a:lnTo>
                        <a:pt x="186" y="0"/>
                      </a:lnTo>
                      <a:lnTo>
                        <a:pt x="175" y="0"/>
                      </a:lnTo>
                      <a:lnTo>
                        <a:pt x="164" y="2"/>
                      </a:lnTo>
                      <a:lnTo>
                        <a:pt x="152" y="5"/>
                      </a:lnTo>
                      <a:lnTo>
                        <a:pt x="140" y="8"/>
                      </a:lnTo>
                      <a:lnTo>
                        <a:pt x="129" y="13"/>
                      </a:lnTo>
                      <a:lnTo>
                        <a:pt x="118" y="18"/>
                      </a:lnTo>
                      <a:lnTo>
                        <a:pt x="107" y="26"/>
                      </a:lnTo>
                      <a:lnTo>
                        <a:pt x="95" y="33"/>
                      </a:lnTo>
                      <a:lnTo>
                        <a:pt x="84" y="43"/>
                      </a:lnTo>
                      <a:lnTo>
                        <a:pt x="75" y="54"/>
                      </a:lnTo>
                      <a:lnTo>
                        <a:pt x="65" y="67"/>
                      </a:lnTo>
                      <a:lnTo>
                        <a:pt x="57" y="81"/>
                      </a:lnTo>
                      <a:lnTo>
                        <a:pt x="50" y="95"/>
                      </a:lnTo>
                      <a:lnTo>
                        <a:pt x="43" y="113"/>
                      </a:lnTo>
                      <a:lnTo>
                        <a:pt x="43" y="113"/>
                      </a:lnTo>
                      <a:lnTo>
                        <a:pt x="29" y="159"/>
                      </a:lnTo>
                      <a:lnTo>
                        <a:pt x="18" y="201"/>
                      </a:lnTo>
                      <a:lnTo>
                        <a:pt x="8" y="242"/>
                      </a:lnTo>
                      <a:lnTo>
                        <a:pt x="4" y="284"/>
                      </a:lnTo>
                      <a:lnTo>
                        <a:pt x="0" y="325"/>
                      </a:lnTo>
                      <a:lnTo>
                        <a:pt x="0" y="368"/>
                      </a:lnTo>
                      <a:lnTo>
                        <a:pt x="2" y="413"/>
                      </a:lnTo>
                      <a:lnTo>
                        <a:pt x="7" y="464"/>
                      </a:lnTo>
                      <a:lnTo>
                        <a:pt x="7" y="464"/>
                      </a:lnTo>
                      <a:lnTo>
                        <a:pt x="12" y="482"/>
                      </a:lnTo>
                      <a:lnTo>
                        <a:pt x="16" y="499"/>
                      </a:lnTo>
                      <a:lnTo>
                        <a:pt x="23" y="512"/>
                      </a:lnTo>
                      <a:lnTo>
                        <a:pt x="31" y="524"/>
                      </a:lnTo>
                      <a:lnTo>
                        <a:pt x="38" y="535"/>
                      </a:lnTo>
                      <a:lnTo>
                        <a:pt x="48" y="545"/>
                      </a:lnTo>
                      <a:lnTo>
                        <a:pt x="57" y="553"/>
                      </a:lnTo>
                      <a:lnTo>
                        <a:pt x="67" y="559"/>
                      </a:lnTo>
                      <a:lnTo>
                        <a:pt x="78" y="564"/>
                      </a:lnTo>
                      <a:lnTo>
                        <a:pt x="88" y="567"/>
                      </a:lnTo>
                      <a:lnTo>
                        <a:pt x="110" y="573"/>
                      </a:lnTo>
                      <a:lnTo>
                        <a:pt x="133" y="575"/>
                      </a:lnTo>
                      <a:lnTo>
                        <a:pt x="156" y="577"/>
                      </a:lnTo>
                      <a:lnTo>
                        <a:pt x="156" y="577"/>
                      </a:lnTo>
                      <a:lnTo>
                        <a:pt x="165" y="575"/>
                      </a:lnTo>
                      <a:lnTo>
                        <a:pt x="165" y="575"/>
                      </a:lnTo>
                      <a:lnTo>
                        <a:pt x="181" y="575"/>
                      </a:lnTo>
                      <a:lnTo>
                        <a:pt x="181" y="575"/>
                      </a:lnTo>
                      <a:lnTo>
                        <a:pt x="192" y="573"/>
                      </a:lnTo>
                      <a:lnTo>
                        <a:pt x="202" y="570"/>
                      </a:lnTo>
                      <a:lnTo>
                        <a:pt x="390" y="534"/>
                      </a:lnTo>
                      <a:lnTo>
                        <a:pt x="419" y="809"/>
                      </a:lnTo>
                      <a:lnTo>
                        <a:pt x="419" y="809"/>
                      </a:lnTo>
                      <a:lnTo>
                        <a:pt x="422" y="824"/>
                      </a:lnTo>
                      <a:lnTo>
                        <a:pt x="428" y="836"/>
                      </a:lnTo>
                      <a:lnTo>
                        <a:pt x="436" y="849"/>
                      </a:lnTo>
                      <a:lnTo>
                        <a:pt x="445" y="860"/>
                      </a:lnTo>
                      <a:lnTo>
                        <a:pt x="457" y="868"/>
                      </a:lnTo>
                      <a:lnTo>
                        <a:pt x="469" y="874"/>
                      </a:lnTo>
                      <a:lnTo>
                        <a:pt x="483" y="877"/>
                      </a:lnTo>
                      <a:lnTo>
                        <a:pt x="498" y="879"/>
                      </a:lnTo>
                      <a:lnTo>
                        <a:pt x="498" y="879"/>
                      </a:lnTo>
                      <a:lnTo>
                        <a:pt x="506" y="879"/>
                      </a:lnTo>
                      <a:lnTo>
                        <a:pt x="506" y="879"/>
                      </a:lnTo>
                      <a:lnTo>
                        <a:pt x="521" y="876"/>
                      </a:lnTo>
                      <a:lnTo>
                        <a:pt x="536" y="869"/>
                      </a:lnTo>
                      <a:lnTo>
                        <a:pt x="548" y="862"/>
                      </a:lnTo>
                      <a:lnTo>
                        <a:pt x="559" y="850"/>
                      </a:lnTo>
                      <a:lnTo>
                        <a:pt x="567" y="838"/>
                      </a:lnTo>
                      <a:lnTo>
                        <a:pt x="574" y="824"/>
                      </a:lnTo>
                      <a:lnTo>
                        <a:pt x="577" y="808"/>
                      </a:lnTo>
                      <a:lnTo>
                        <a:pt x="577" y="792"/>
                      </a:lnTo>
                      <a:lnTo>
                        <a:pt x="537" y="431"/>
                      </a:lnTo>
                      <a:lnTo>
                        <a:pt x="537" y="431"/>
                      </a:lnTo>
                      <a:lnTo>
                        <a:pt x="534" y="415"/>
                      </a:lnTo>
                      <a:lnTo>
                        <a:pt x="528" y="401"/>
                      </a:lnTo>
                      <a:lnTo>
                        <a:pt x="518" y="387"/>
                      </a:lnTo>
                      <a:lnTo>
                        <a:pt x="506" y="375"/>
                      </a:lnTo>
                      <a:lnTo>
                        <a:pt x="506" y="375"/>
                      </a:lnTo>
                      <a:lnTo>
                        <a:pt x="491" y="368"/>
                      </a:lnTo>
                      <a:lnTo>
                        <a:pt x="477" y="363"/>
                      </a:lnTo>
                      <a:lnTo>
                        <a:pt x="460" y="361"/>
                      </a:lnTo>
                      <a:lnTo>
                        <a:pt x="444" y="361"/>
                      </a:lnTo>
                      <a:lnTo>
                        <a:pt x="230" y="404"/>
                      </a:lnTo>
                      <a:lnTo>
                        <a:pt x="230" y="404"/>
                      </a:lnTo>
                      <a:lnTo>
                        <a:pt x="232" y="377"/>
                      </a:lnTo>
                      <a:lnTo>
                        <a:pt x="233" y="352"/>
                      </a:lnTo>
                      <a:lnTo>
                        <a:pt x="190" y="361"/>
                      </a:lnTo>
                      <a:lnTo>
                        <a:pt x="190" y="361"/>
                      </a:lnTo>
                      <a:lnTo>
                        <a:pt x="176" y="363"/>
                      </a:lnTo>
                      <a:lnTo>
                        <a:pt x="176" y="36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50" name="Freeform 1316">
                  <a:extLst>
                    <a:ext uri="{FF2B5EF4-FFF2-40B4-BE49-F238E27FC236}">
                      <a16:creationId xmlns:a16="http://schemas.microsoft.com/office/drawing/2014/main" id="{383E4BAE-4657-40D6-AE39-56BFA1A47F96}"/>
                    </a:ext>
                  </a:extLst>
                </p:cNvPr>
                <p:cNvSpPr>
                  <a:spLocks/>
                </p:cNvSpPr>
                <p:nvPr/>
              </p:nvSpPr>
              <p:spPr bwMode="auto">
                <a:xfrm>
                  <a:off x="11771313" y="3725863"/>
                  <a:ext cx="1000125" cy="641350"/>
                </a:xfrm>
                <a:custGeom>
                  <a:avLst/>
                  <a:gdLst>
                    <a:gd name="T0" fmla="*/ 1260 w 1260"/>
                    <a:gd name="T1" fmla="*/ 809 h 809"/>
                    <a:gd name="T2" fmla="*/ 1259 w 1260"/>
                    <a:gd name="T3" fmla="*/ 783 h 809"/>
                    <a:gd name="T4" fmla="*/ 1249 w 1260"/>
                    <a:gd name="T5" fmla="*/ 736 h 809"/>
                    <a:gd name="T6" fmla="*/ 1232 w 1260"/>
                    <a:gd name="T7" fmla="*/ 692 h 809"/>
                    <a:gd name="T8" fmla="*/ 1206 w 1260"/>
                    <a:gd name="T9" fmla="*/ 652 h 809"/>
                    <a:gd name="T10" fmla="*/ 1175 w 1260"/>
                    <a:gd name="T11" fmla="*/ 617 h 809"/>
                    <a:gd name="T12" fmla="*/ 1137 w 1260"/>
                    <a:gd name="T13" fmla="*/ 589 h 809"/>
                    <a:gd name="T14" fmla="*/ 1094 w 1260"/>
                    <a:gd name="T15" fmla="*/ 567 h 809"/>
                    <a:gd name="T16" fmla="*/ 1046 w 1260"/>
                    <a:gd name="T17" fmla="*/ 554 h 809"/>
                    <a:gd name="T18" fmla="*/ 1019 w 1260"/>
                    <a:gd name="T19" fmla="*/ 532 h 809"/>
                    <a:gd name="T20" fmla="*/ 1004 w 1260"/>
                    <a:gd name="T21" fmla="*/ 174 h 809"/>
                    <a:gd name="T22" fmla="*/ 1008 w 1260"/>
                    <a:gd name="T23" fmla="*/ 174 h 809"/>
                    <a:gd name="T24" fmla="*/ 1021 w 1260"/>
                    <a:gd name="T25" fmla="*/ 166 h 809"/>
                    <a:gd name="T26" fmla="*/ 1027 w 1260"/>
                    <a:gd name="T27" fmla="*/ 153 h 809"/>
                    <a:gd name="T28" fmla="*/ 1029 w 1260"/>
                    <a:gd name="T29" fmla="*/ 35 h 809"/>
                    <a:gd name="T30" fmla="*/ 1027 w 1260"/>
                    <a:gd name="T31" fmla="*/ 30 h 809"/>
                    <a:gd name="T32" fmla="*/ 1021 w 1260"/>
                    <a:gd name="T33" fmla="*/ 17 h 809"/>
                    <a:gd name="T34" fmla="*/ 1008 w 1260"/>
                    <a:gd name="T35" fmla="*/ 9 h 809"/>
                    <a:gd name="T36" fmla="*/ 864 w 1260"/>
                    <a:gd name="T37" fmla="*/ 9 h 809"/>
                    <a:gd name="T38" fmla="*/ 858 w 1260"/>
                    <a:gd name="T39" fmla="*/ 9 h 809"/>
                    <a:gd name="T40" fmla="*/ 845 w 1260"/>
                    <a:gd name="T41" fmla="*/ 17 h 809"/>
                    <a:gd name="T42" fmla="*/ 839 w 1260"/>
                    <a:gd name="T43" fmla="*/ 30 h 809"/>
                    <a:gd name="T44" fmla="*/ 839 w 1260"/>
                    <a:gd name="T45" fmla="*/ 35 h 809"/>
                    <a:gd name="T46" fmla="*/ 742 w 1260"/>
                    <a:gd name="T47" fmla="*/ 0 h 809"/>
                    <a:gd name="T48" fmla="*/ 742 w 1260"/>
                    <a:gd name="T49" fmla="*/ 20 h 809"/>
                    <a:gd name="T50" fmla="*/ 733 w 1260"/>
                    <a:gd name="T51" fmla="*/ 39 h 809"/>
                    <a:gd name="T52" fmla="*/ 720 w 1260"/>
                    <a:gd name="T53" fmla="*/ 54 h 809"/>
                    <a:gd name="T54" fmla="*/ 701 w 1260"/>
                    <a:gd name="T55" fmla="*/ 65 h 809"/>
                    <a:gd name="T56" fmla="*/ 839 w 1260"/>
                    <a:gd name="T57" fmla="*/ 149 h 809"/>
                    <a:gd name="T58" fmla="*/ 839 w 1260"/>
                    <a:gd name="T59" fmla="*/ 153 h 809"/>
                    <a:gd name="T60" fmla="*/ 845 w 1260"/>
                    <a:gd name="T61" fmla="*/ 166 h 809"/>
                    <a:gd name="T62" fmla="*/ 858 w 1260"/>
                    <a:gd name="T63" fmla="*/ 174 h 809"/>
                    <a:gd name="T64" fmla="*/ 896 w 1260"/>
                    <a:gd name="T65" fmla="*/ 174 h 809"/>
                    <a:gd name="T66" fmla="*/ 947 w 1260"/>
                    <a:gd name="T67" fmla="*/ 555 h 809"/>
                    <a:gd name="T68" fmla="*/ 920 w 1260"/>
                    <a:gd name="T69" fmla="*/ 562 h 809"/>
                    <a:gd name="T70" fmla="*/ 871 w 1260"/>
                    <a:gd name="T71" fmla="*/ 584 h 809"/>
                    <a:gd name="T72" fmla="*/ 826 w 1260"/>
                    <a:gd name="T73" fmla="*/ 616 h 809"/>
                    <a:gd name="T74" fmla="*/ 791 w 1260"/>
                    <a:gd name="T75" fmla="*/ 655 h 809"/>
                    <a:gd name="T76" fmla="*/ 753 w 1260"/>
                    <a:gd name="T77" fmla="*/ 679 h 809"/>
                    <a:gd name="T78" fmla="*/ 475 w 1260"/>
                    <a:gd name="T79" fmla="*/ 522 h 809"/>
                    <a:gd name="T80" fmla="*/ 0 w 1260"/>
                    <a:gd name="T81" fmla="*/ 666 h 809"/>
                    <a:gd name="T82" fmla="*/ 20 w 1260"/>
                    <a:gd name="T83" fmla="*/ 654 h 809"/>
                    <a:gd name="T84" fmla="*/ 66 w 1260"/>
                    <a:gd name="T85" fmla="*/ 639 h 809"/>
                    <a:gd name="T86" fmla="*/ 91 w 1260"/>
                    <a:gd name="T87" fmla="*/ 638 h 809"/>
                    <a:gd name="T88" fmla="*/ 125 w 1260"/>
                    <a:gd name="T89" fmla="*/ 641 h 809"/>
                    <a:gd name="T90" fmla="*/ 155 w 1260"/>
                    <a:gd name="T91" fmla="*/ 650 h 809"/>
                    <a:gd name="T92" fmla="*/ 183 w 1260"/>
                    <a:gd name="T93" fmla="*/ 666 h 809"/>
                    <a:gd name="T94" fmla="*/ 207 w 1260"/>
                    <a:gd name="T95" fmla="*/ 687 h 809"/>
                    <a:gd name="T96" fmla="*/ 228 w 1260"/>
                    <a:gd name="T97" fmla="*/ 711 h 809"/>
                    <a:gd name="T98" fmla="*/ 243 w 1260"/>
                    <a:gd name="T99" fmla="*/ 739 h 809"/>
                    <a:gd name="T100" fmla="*/ 253 w 1260"/>
                    <a:gd name="T101" fmla="*/ 769 h 809"/>
                    <a:gd name="T102" fmla="*/ 256 w 1260"/>
                    <a:gd name="T103" fmla="*/ 802 h 809"/>
                    <a:gd name="T104" fmla="*/ 256 w 1260"/>
                    <a:gd name="T105" fmla="*/ 809 h 809"/>
                    <a:gd name="T106" fmla="*/ 741 w 1260"/>
                    <a:gd name="T107" fmla="*/ 809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60" h="809">
                      <a:moveTo>
                        <a:pt x="991" y="809"/>
                      </a:moveTo>
                      <a:lnTo>
                        <a:pt x="1260" y="809"/>
                      </a:lnTo>
                      <a:lnTo>
                        <a:pt x="1260" y="809"/>
                      </a:lnTo>
                      <a:lnTo>
                        <a:pt x="1259" y="783"/>
                      </a:lnTo>
                      <a:lnTo>
                        <a:pt x="1255" y="760"/>
                      </a:lnTo>
                      <a:lnTo>
                        <a:pt x="1249" y="736"/>
                      </a:lnTo>
                      <a:lnTo>
                        <a:pt x="1241" y="714"/>
                      </a:lnTo>
                      <a:lnTo>
                        <a:pt x="1232" y="692"/>
                      </a:lnTo>
                      <a:lnTo>
                        <a:pt x="1219" y="671"/>
                      </a:lnTo>
                      <a:lnTo>
                        <a:pt x="1206" y="652"/>
                      </a:lnTo>
                      <a:lnTo>
                        <a:pt x="1190" y="633"/>
                      </a:lnTo>
                      <a:lnTo>
                        <a:pt x="1175" y="617"/>
                      </a:lnTo>
                      <a:lnTo>
                        <a:pt x="1156" y="601"/>
                      </a:lnTo>
                      <a:lnTo>
                        <a:pt x="1137" y="589"/>
                      </a:lnTo>
                      <a:lnTo>
                        <a:pt x="1116" y="576"/>
                      </a:lnTo>
                      <a:lnTo>
                        <a:pt x="1094" y="567"/>
                      </a:lnTo>
                      <a:lnTo>
                        <a:pt x="1070" y="560"/>
                      </a:lnTo>
                      <a:lnTo>
                        <a:pt x="1046" y="554"/>
                      </a:lnTo>
                      <a:lnTo>
                        <a:pt x="1023" y="551"/>
                      </a:lnTo>
                      <a:lnTo>
                        <a:pt x="1019" y="532"/>
                      </a:lnTo>
                      <a:lnTo>
                        <a:pt x="972" y="174"/>
                      </a:lnTo>
                      <a:lnTo>
                        <a:pt x="1004" y="174"/>
                      </a:lnTo>
                      <a:lnTo>
                        <a:pt x="1004" y="174"/>
                      </a:lnTo>
                      <a:lnTo>
                        <a:pt x="1008" y="174"/>
                      </a:lnTo>
                      <a:lnTo>
                        <a:pt x="1013" y="172"/>
                      </a:lnTo>
                      <a:lnTo>
                        <a:pt x="1021" y="166"/>
                      </a:lnTo>
                      <a:lnTo>
                        <a:pt x="1026" y="158"/>
                      </a:lnTo>
                      <a:lnTo>
                        <a:pt x="1027" y="153"/>
                      </a:lnTo>
                      <a:lnTo>
                        <a:pt x="1029" y="149"/>
                      </a:lnTo>
                      <a:lnTo>
                        <a:pt x="1029" y="35"/>
                      </a:lnTo>
                      <a:lnTo>
                        <a:pt x="1029" y="35"/>
                      </a:lnTo>
                      <a:lnTo>
                        <a:pt x="1027" y="30"/>
                      </a:lnTo>
                      <a:lnTo>
                        <a:pt x="1026" y="25"/>
                      </a:lnTo>
                      <a:lnTo>
                        <a:pt x="1021" y="17"/>
                      </a:lnTo>
                      <a:lnTo>
                        <a:pt x="1013" y="11"/>
                      </a:lnTo>
                      <a:lnTo>
                        <a:pt x="1008" y="9"/>
                      </a:lnTo>
                      <a:lnTo>
                        <a:pt x="1004" y="9"/>
                      </a:lnTo>
                      <a:lnTo>
                        <a:pt x="864" y="9"/>
                      </a:lnTo>
                      <a:lnTo>
                        <a:pt x="864" y="9"/>
                      </a:lnTo>
                      <a:lnTo>
                        <a:pt x="858" y="9"/>
                      </a:lnTo>
                      <a:lnTo>
                        <a:pt x="853" y="11"/>
                      </a:lnTo>
                      <a:lnTo>
                        <a:pt x="845" y="17"/>
                      </a:lnTo>
                      <a:lnTo>
                        <a:pt x="840" y="25"/>
                      </a:lnTo>
                      <a:lnTo>
                        <a:pt x="839" y="30"/>
                      </a:lnTo>
                      <a:lnTo>
                        <a:pt x="839" y="35"/>
                      </a:lnTo>
                      <a:lnTo>
                        <a:pt x="839" y="35"/>
                      </a:lnTo>
                      <a:lnTo>
                        <a:pt x="742" y="0"/>
                      </a:lnTo>
                      <a:lnTo>
                        <a:pt x="742" y="0"/>
                      </a:lnTo>
                      <a:lnTo>
                        <a:pt x="744" y="9"/>
                      </a:lnTo>
                      <a:lnTo>
                        <a:pt x="742" y="20"/>
                      </a:lnTo>
                      <a:lnTo>
                        <a:pt x="737" y="30"/>
                      </a:lnTo>
                      <a:lnTo>
                        <a:pt x="733" y="39"/>
                      </a:lnTo>
                      <a:lnTo>
                        <a:pt x="728" y="47"/>
                      </a:lnTo>
                      <a:lnTo>
                        <a:pt x="720" y="54"/>
                      </a:lnTo>
                      <a:lnTo>
                        <a:pt x="711" y="60"/>
                      </a:lnTo>
                      <a:lnTo>
                        <a:pt x="701" y="65"/>
                      </a:lnTo>
                      <a:lnTo>
                        <a:pt x="839" y="117"/>
                      </a:lnTo>
                      <a:lnTo>
                        <a:pt x="839" y="149"/>
                      </a:lnTo>
                      <a:lnTo>
                        <a:pt x="839" y="149"/>
                      </a:lnTo>
                      <a:lnTo>
                        <a:pt x="839" y="153"/>
                      </a:lnTo>
                      <a:lnTo>
                        <a:pt x="840" y="158"/>
                      </a:lnTo>
                      <a:lnTo>
                        <a:pt x="845" y="166"/>
                      </a:lnTo>
                      <a:lnTo>
                        <a:pt x="853" y="172"/>
                      </a:lnTo>
                      <a:lnTo>
                        <a:pt x="858" y="174"/>
                      </a:lnTo>
                      <a:lnTo>
                        <a:pt x="864" y="174"/>
                      </a:lnTo>
                      <a:lnTo>
                        <a:pt x="896" y="174"/>
                      </a:lnTo>
                      <a:lnTo>
                        <a:pt x="943" y="536"/>
                      </a:lnTo>
                      <a:lnTo>
                        <a:pt x="947" y="555"/>
                      </a:lnTo>
                      <a:lnTo>
                        <a:pt x="947" y="555"/>
                      </a:lnTo>
                      <a:lnTo>
                        <a:pt x="920" y="562"/>
                      </a:lnTo>
                      <a:lnTo>
                        <a:pt x="894" y="573"/>
                      </a:lnTo>
                      <a:lnTo>
                        <a:pt x="871" y="584"/>
                      </a:lnTo>
                      <a:lnTo>
                        <a:pt x="847" y="600"/>
                      </a:lnTo>
                      <a:lnTo>
                        <a:pt x="826" y="616"/>
                      </a:lnTo>
                      <a:lnTo>
                        <a:pt x="807" y="635"/>
                      </a:lnTo>
                      <a:lnTo>
                        <a:pt x="791" y="655"/>
                      </a:lnTo>
                      <a:lnTo>
                        <a:pt x="776" y="679"/>
                      </a:lnTo>
                      <a:lnTo>
                        <a:pt x="753" y="679"/>
                      </a:lnTo>
                      <a:lnTo>
                        <a:pt x="521" y="679"/>
                      </a:lnTo>
                      <a:lnTo>
                        <a:pt x="475" y="522"/>
                      </a:lnTo>
                      <a:lnTo>
                        <a:pt x="0" y="522"/>
                      </a:lnTo>
                      <a:lnTo>
                        <a:pt x="0" y="666"/>
                      </a:lnTo>
                      <a:lnTo>
                        <a:pt x="0" y="666"/>
                      </a:lnTo>
                      <a:lnTo>
                        <a:pt x="20" y="654"/>
                      </a:lnTo>
                      <a:lnTo>
                        <a:pt x="42" y="646"/>
                      </a:lnTo>
                      <a:lnTo>
                        <a:pt x="66" y="639"/>
                      </a:lnTo>
                      <a:lnTo>
                        <a:pt x="91" y="638"/>
                      </a:lnTo>
                      <a:lnTo>
                        <a:pt x="91" y="638"/>
                      </a:lnTo>
                      <a:lnTo>
                        <a:pt x="107" y="639"/>
                      </a:lnTo>
                      <a:lnTo>
                        <a:pt x="125" y="641"/>
                      </a:lnTo>
                      <a:lnTo>
                        <a:pt x="140" y="646"/>
                      </a:lnTo>
                      <a:lnTo>
                        <a:pt x="155" y="650"/>
                      </a:lnTo>
                      <a:lnTo>
                        <a:pt x="169" y="658"/>
                      </a:lnTo>
                      <a:lnTo>
                        <a:pt x="183" y="666"/>
                      </a:lnTo>
                      <a:lnTo>
                        <a:pt x="196" y="676"/>
                      </a:lnTo>
                      <a:lnTo>
                        <a:pt x="207" y="687"/>
                      </a:lnTo>
                      <a:lnTo>
                        <a:pt x="218" y="698"/>
                      </a:lnTo>
                      <a:lnTo>
                        <a:pt x="228" y="711"/>
                      </a:lnTo>
                      <a:lnTo>
                        <a:pt x="235" y="725"/>
                      </a:lnTo>
                      <a:lnTo>
                        <a:pt x="243" y="739"/>
                      </a:lnTo>
                      <a:lnTo>
                        <a:pt x="248" y="753"/>
                      </a:lnTo>
                      <a:lnTo>
                        <a:pt x="253" y="769"/>
                      </a:lnTo>
                      <a:lnTo>
                        <a:pt x="254" y="787"/>
                      </a:lnTo>
                      <a:lnTo>
                        <a:pt x="256" y="802"/>
                      </a:lnTo>
                      <a:lnTo>
                        <a:pt x="256" y="802"/>
                      </a:lnTo>
                      <a:lnTo>
                        <a:pt x="256" y="809"/>
                      </a:lnTo>
                      <a:lnTo>
                        <a:pt x="722" y="809"/>
                      </a:lnTo>
                      <a:lnTo>
                        <a:pt x="741" y="809"/>
                      </a:lnTo>
                      <a:lnTo>
                        <a:pt x="991" y="8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51" name="Freeform 1317">
                  <a:extLst>
                    <a:ext uri="{FF2B5EF4-FFF2-40B4-BE49-F238E27FC236}">
                      <a16:creationId xmlns:a16="http://schemas.microsoft.com/office/drawing/2014/main" id="{22FC9878-9CB1-45E8-A006-506D956C0566}"/>
                    </a:ext>
                  </a:extLst>
                </p:cNvPr>
                <p:cNvSpPr>
                  <a:spLocks noEditPoints="1"/>
                </p:cNvSpPr>
                <p:nvPr/>
              </p:nvSpPr>
              <p:spPr bwMode="auto">
                <a:xfrm>
                  <a:off x="11737975" y="4257675"/>
                  <a:ext cx="211138" cy="211138"/>
                </a:xfrm>
                <a:custGeom>
                  <a:avLst/>
                  <a:gdLst>
                    <a:gd name="T0" fmla="*/ 266 w 266"/>
                    <a:gd name="T1" fmla="*/ 133 h 266"/>
                    <a:gd name="T2" fmla="*/ 263 w 266"/>
                    <a:gd name="T3" fmla="*/ 107 h 266"/>
                    <a:gd name="T4" fmla="*/ 255 w 266"/>
                    <a:gd name="T5" fmla="*/ 83 h 266"/>
                    <a:gd name="T6" fmla="*/ 243 w 266"/>
                    <a:gd name="T7" fmla="*/ 59 h 266"/>
                    <a:gd name="T8" fmla="*/ 227 w 266"/>
                    <a:gd name="T9" fmla="*/ 40 h 266"/>
                    <a:gd name="T10" fmla="*/ 208 w 266"/>
                    <a:gd name="T11" fmla="*/ 24 h 266"/>
                    <a:gd name="T12" fmla="*/ 184 w 266"/>
                    <a:gd name="T13" fmla="*/ 12 h 266"/>
                    <a:gd name="T14" fmla="*/ 160 w 266"/>
                    <a:gd name="T15" fmla="*/ 4 h 266"/>
                    <a:gd name="T16" fmla="*/ 133 w 266"/>
                    <a:gd name="T17" fmla="*/ 0 h 266"/>
                    <a:gd name="T18" fmla="*/ 119 w 266"/>
                    <a:gd name="T19" fmla="*/ 2 h 266"/>
                    <a:gd name="T20" fmla="*/ 94 w 266"/>
                    <a:gd name="T21" fmla="*/ 7 h 266"/>
                    <a:gd name="T22" fmla="*/ 70 w 266"/>
                    <a:gd name="T23" fmla="*/ 16 h 266"/>
                    <a:gd name="T24" fmla="*/ 48 w 266"/>
                    <a:gd name="T25" fmla="*/ 32 h 266"/>
                    <a:gd name="T26" fmla="*/ 30 w 266"/>
                    <a:gd name="T27" fmla="*/ 50 h 266"/>
                    <a:gd name="T28" fmla="*/ 16 w 266"/>
                    <a:gd name="T29" fmla="*/ 70 h 266"/>
                    <a:gd name="T30" fmla="*/ 7 w 266"/>
                    <a:gd name="T31" fmla="*/ 94 h 266"/>
                    <a:gd name="T32" fmla="*/ 0 w 266"/>
                    <a:gd name="T33" fmla="*/ 121 h 266"/>
                    <a:gd name="T34" fmla="*/ 0 w 266"/>
                    <a:gd name="T35" fmla="*/ 133 h 266"/>
                    <a:gd name="T36" fmla="*/ 2 w 266"/>
                    <a:gd name="T37" fmla="*/ 160 h 266"/>
                    <a:gd name="T38" fmla="*/ 10 w 266"/>
                    <a:gd name="T39" fmla="*/ 186 h 266"/>
                    <a:gd name="T40" fmla="*/ 22 w 266"/>
                    <a:gd name="T41" fmla="*/ 208 h 266"/>
                    <a:gd name="T42" fmla="*/ 38 w 266"/>
                    <a:gd name="T43" fmla="*/ 228 h 266"/>
                    <a:gd name="T44" fmla="*/ 59 w 266"/>
                    <a:gd name="T45" fmla="*/ 244 h 266"/>
                    <a:gd name="T46" fmla="*/ 81 w 266"/>
                    <a:gd name="T47" fmla="*/ 257 h 266"/>
                    <a:gd name="T48" fmla="*/ 106 w 266"/>
                    <a:gd name="T49" fmla="*/ 265 h 266"/>
                    <a:gd name="T50" fmla="*/ 133 w 266"/>
                    <a:gd name="T51" fmla="*/ 266 h 266"/>
                    <a:gd name="T52" fmla="*/ 146 w 266"/>
                    <a:gd name="T53" fmla="*/ 266 h 266"/>
                    <a:gd name="T54" fmla="*/ 173 w 266"/>
                    <a:gd name="T55" fmla="*/ 262 h 266"/>
                    <a:gd name="T56" fmla="*/ 197 w 266"/>
                    <a:gd name="T57" fmla="*/ 251 h 266"/>
                    <a:gd name="T58" fmla="*/ 217 w 266"/>
                    <a:gd name="T59" fmla="*/ 236 h 266"/>
                    <a:gd name="T60" fmla="*/ 236 w 266"/>
                    <a:gd name="T61" fmla="*/ 219 h 266"/>
                    <a:gd name="T62" fmla="*/ 251 w 266"/>
                    <a:gd name="T63" fmla="*/ 197 h 266"/>
                    <a:gd name="T64" fmla="*/ 260 w 266"/>
                    <a:gd name="T65" fmla="*/ 173 h 266"/>
                    <a:gd name="T66" fmla="*/ 265 w 266"/>
                    <a:gd name="T67" fmla="*/ 148 h 266"/>
                    <a:gd name="T68" fmla="*/ 266 w 266"/>
                    <a:gd name="T69" fmla="*/ 133 h 266"/>
                    <a:gd name="T70" fmla="*/ 133 w 266"/>
                    <a:gd name="T71" fmla="*/ 203 h 266"/>
                    <a:gd name="T72" fmla="*/ 106 w 266"/>
                    <a:gd name="T73" fmla="*/ 198 h 266"/>
                    <a:gd name="T74" fmla="*/ 84 w 266"/>
                    <a:gd name="T75" fmla="*/ 183 h 266"/>
                    <a:gd name="T76" fmla="*/ 68 w 266"/>
                    <a:gd name="T77" fmla="*/ 160 h 266"/>
                    <a:gd name="T78" fmla="*/ 64 w 266"/>
                    <a:gd name="T79" fmla="*/ 133 h 266"/>
                    <a:gd name="T80" fmla="*/ 65 w 266"/>
                    <a:gd name="T81" fmla="*/ 119 h 266"/>
                    <a:gd name="T82" fmla="*/ 75 w 266"/>
                    <a:gd name="T83" fmla="*/ 95 h 266"/>
                    <a:gd name="T84" fmla="*/ 94 w 266"/>
                    <a:gd name="T85" fmla="*/ 76 h 266"/>
                    <a:gd name="T86" fmla="*/ 119 w 266"/>
                    <a:gd name="T87" fmla="*/ 65 h 266"/>
                    <a:gd name="T88" fmla="*/ 133 w 266"/>
                    <a:gd name="T89" fmla="*/ 64 h 266"/>
                    <a:gd name="T90" fmla="*/ 160 w 266"/>
                    <a:gd name="T91" fmla="*/ 70 h 266"/>
                    <a:gd name="T92" fmla="*/ 182 w 266"/>
                    <a:gd name="T93" fmla="*/ 84 h 266"/>
                    <a:gd name="T94" fmla="*/ 197 w 266"/>
                    <a:gd name="T95" fmla="*/ 107 h 266"/>
                    <a:gd name="T96" fmla="*/ 203 w 266"/>
                    <a:gd name="T97" fmla="*/ 133 h 266"/>
                    <a:gd name="T98" fmla="*/ 201 w 266"/>
                    <a:gd name="T99" fmla="*/ 148 h 266"/>
                    <a:gd name="T100" fmla="*/ 190 w 266"/>
                    <a:gd name="T101" fmla="*/ 173 h 266"/>
                    <a:gd name="T102" fmla="*/ 171 w 266"/>
                    <a:gd name="T103" fmla="*/ 192 h 266"/>
                    <a:gd name="T104" fmla="*/ 148 w 266"/>
                    <a:gd name="T105" fmla="*/ 202 h 266"/>
                    <a:gd name="T106" fmla="*/ 133 w 266"/>
                    <a:gd name="T107" fmla="*/ 203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6" h="266">
                      <a:moveTo>
                        <a:pt x="266" y="133"/>
                      </a:moveTo>
                      <a:lnTo>
                        <a:pt x="266" y="133"/>
                      </a:lnTo>
                      <a:lnTo>
                        <a:pt x="265" y="121"/>
                      </a:lnTo>
                      <a:lnTo>
                        <a:pt x="263" y="107"/>
                      </a:lnTo>
                      <a:lnTo>
                        <a:pt x="260" y="94"/>
                      </a:lnTo>
                      <a:lnTo>
                        <a:pt x="255" y="83"/>
                      </a:lnTo>
                      <a:lnTo>
                        <a:pt x="251" y="70"/>
                      </a:lnTo>
                      <a:lnTo>
                        <a:pt x="243" y="59"/>
                      </a:lnTo>
                      <a:lnTo>
                        <a:pt x="236" y="50"/>
                      </a:lnTo>
                      <a:lnTo>
                        <a:pt x="227" y="40"/>
                      </a:lnTo>
                      <a:lnTo>
                        <a:pt x="217" y="32"/>
                      </a:lnTo>
                      <a:lnTo>
                        <a:pt x="208" y="24"/>
                      </a:lnTo>
                      <a:lnTo>
                        <a:pt x="197" y="16"/>
                      </a:lnTo>
                      <a:lnTo>
                        <a:pt x="184" y="12"/>
                      </a:lnTo>
                      <a:lnTo>
                        <a:pt x="173" y="7"/>
                      </a:lnTo>
                      <a:lnTo>
                        <a:pt x="160" y="4"/>
                      </a:lnTo>
                      <a:lnTo>
                        <a:pt x="146" y="2"/>
                      </a:lnTo>
                      <a:lnTo>
                        <a:pt x="133" y="0"/>
                      </a:lnTo>
                      <a:lnTo>
                        <a:pt x="133" y="0"/>
                      </a:lnTo>
                      <a:lnTo>
                        <a:pt x="119" y="2"/>
                      </a:lnTo>
                      <a:lnTo>
                        <a:pt x="106" y="4"/>
                      </a:lnTo>
                      <a:lnTo>
                        <a:pt x="94" y="7"/>
                      </a:lnTo>
                      <a:lnTo>
                        <a:pt x="81" y="12"/>
                      </a:lnTo>
                      <a:lnTo>
                        <a:pt x="70" y="16"/>
                      </a:lnTo>
                      <a:lnTo>
                        <a:pt x="59" y="24"/>
                      </a:lnTo>
                      <a:lnTo>
                        <a:pt x="48" y="32"/>
                      </a:lnTo>
                      <a:lnTo>
                        <a:pt x="38" y="40"/>
                      </a:lnTo>
                      <a:lnTo>
                        <a:pt x="30" y="50"/>
                      </a:lnTo>
                      <a:lnTo>
                        <a:pt x="22" y="59"/>
                      </a:lnTo>
                      <a:lnTo>
                        <a:pt x="16" y="70"/>
                      </a:lnTo>
                      <a:lnTo>
                        <a:pt x="10" y="83"/>
                      </a:lnTo>
                      <a:lnTo>
                        <a:pt x="7" y="94"/>
                      </a:lnTo>
                      <a:lnTo>
                        <a:pt x="2" y="107"/>
                      </a:lnTo>
                      <a:lnTo>
                        <a:pt x="0" y="121"/>
                      </a:lnTo>
                      <a:lnTo>
                        <a:pt x="0" y="133"/>
                      </a:lnTo>
                      <a:lnTo>
                        <a:pt x="0" y="133"/>
                      </a:lnTo>
                      <a:lnTo>
                        <a:pt x="0" y="148"/>
                      </a:lnTo>
                      <a:lnTo>
                        <a:pt x="2" y="160"/>
                      </a:lnTo>
                      <a:lnTo>
                        <a:pt x="7" y="173"/>
                      </a:lnTo>
                      <a:lnTo>
                        <a:pt x="10" y="186"/>
                      </a:lnTo>
                      <a:lnTo>
                        <a:pt x="16" y="197"/>
                      </a:lnTo>
                      <a:lnTo>
                        <a:pt x="22" y="208"/>
                      </a:lnTo>
                      <a:lnTo>
                        <a:pt x="30" y="219"/>
                      </a:lnTo>
                      <a:lnTo>
                        <a:pt x="38" y="228"/>
                      </a:lnTo>
                      <a:lnTo>
                        <a:pt x="48" y="236"/>
                      </a:lnTo>
                      <a:lnTo>
                        <a:pt x="59" y="244"/>
                      </a:lnTo>
                      <a:lnTo>
                        <a:pt x="70" y="251"/>
                      </a:lnTo>
                      <a:lnTo>
                        <a:pt x="81" y="257"/>
                      </a:lnTo>
                      <a:lnTo>
                        <a:pt x="94" y="262"/>
                      </a:lnTo>
                      <a:lnTo>
                        <a:pt x="106" y="265"/>
                      </a:lnTo>
                      <a:lnTo>
                        <a:pt x="119" y="266"/>
                      </a:lnTo>
                      <a:lnTo>
                        <a:pt x="133" y="266"/>
                      </a:lnTo>
                      <a:lnTo>
                        <a:pt x="133" y="266"/>
                      </a:lnTo>
                      <a:lnTo>
                        <a:pt x="146" y="266"/>
                      </a:lnTo>
                      <a:lnTo>
                        <a:pt x="160" y="265"/>
                      </a:lnTo>
                      <a:lnTo>
                        <a:pt x="173" y="262"/>
                      </a:lnTo>
                      <a:lnTo>
                        <a:pt x="184" y="257"/>
                      </a:lnTo>
                      <a:lnTo>
                        <a:pt x="197" y="251"/>
                      </a:lnTo>
                      <a:lnTo>
                        <a:pt x="208" y="244"/>
                      </a:lnTo>
                      <a:lnTo>
                        <a:pt x="217" y="236"/>
                      </a:lnTo>
                      <a:lnTo>
                        <a:pt x="227" y="228"/>
                      </a:lnTo>
                      <a:lnTo>
                        <a:pt x="236" y="219"/>
                      </a:lnTo>
                      <a:lnTo>
                        <a:pt x="243" y="208"/>
                      </a:lnTo>
                      <a:lnTo>
                        <a:pt x="251" y="197"/>
                      </a:lnTo>
                      <a:lnTo>
                        <a:pt x="255" y="186"/>
                      </a:lnTo>
                      <a:lnTo>
                        <a:pt x="260" y="173"/>
                      </a:lnTo>
                      <a:lnTo>
                        <a:pt x="263" y="160"/>
                      </a:lnTo>
                      <a:lnTo>
                        <a:pt x="265" y="148"/>
                      </a:lnTo>
                      <a:lnTo>
                        <a:pt x="266" y="133"/>
                      </a:lnTo>
                      <a:lnTo>
                        <a:pt x="266" y="133"/>
                      </a:lnTo>
                      <a:close/>
                      <a:moveTo>
                        <a:pt x="133" y="203"/>
                      </a:moveTo>
                      <a:lnTo>
                        <a:pt x="133" y="203"/>
                      </a:lnTo>
                      <a:lnTo>
                        <a:pt x="119" y="202"/>
                      </a:lnTo>
                      <a:lnTo>
                        <a:pt x="106" y="198"/>
                      </a:lnTo>
                      <a:lnTo>
                        <a:pt x="94" y="192"/>
                      </a:lnTo>
                      <a:lnTo>
                        <a:pt x="84" y="183"/>
                      </a:lnTo>
                      <a:lnTo>
                        <a:pt x="75" y="173"/>
                      </a:lnTo>
                      <a:lnTo>
                        <a:pt x="68" y="160"/>
                      </a:lnTo>
                      <a:lnTo>
                        <a:pt x="65" y="148"/>
                      </a:lnTo>
                      <a:lnTo>
                        <a:pt x="64" y="133"/>
                      </a:lnTo>
                      <a:lnTo>
                        <a:pt x="64" y="133"/>
                      </a:lnTo>
                      <a:lnTo>
                        <a:pt x="65" y="119"/>
                      </a:lnTo>
                      <a:lnTo>
                        <a:pt x="68" y="107"/>
                      </a:lnTo>
                      <a:lnTo>
                        <a:pt x="75" y="95"/>
                      </a:lnTo>
                      <a:lnTo>
                        <a:pt x="84" y="84"/>
                      </a:lnTo>
                      <a:lnTo>
                        <a:pt x="94" y="76"/>
                      </a:lnTo>
                      <a:lnTo>
                        <a:pt x="106" y="70"/>
                      </a:lnTo>
                      <a:lnTo>
                        <a:pt x="119" y="65"/>
                      </a:lnTo>
                      <a:lnTo>
                        <a:pt x="133" y="64"/>
                      </a:lnTo>
                      <a:lnTo>
                        <a:pt x="133" y="64"/>
                      </a:lnTo>
                      <a:lnTo>
                        <a:pt x="148" y="65"/>
                      </a:lnTo>
                      <a:lnTo>
                        <a:pt x="160" y="70"/>
                      </a:lnTo>
                      <a:lnTo>
                        <a:pt x="171" y="76"/>
                      </a:lnTo>
                      <a:lnTo>
                        <a:pt x="182" y="84"/>
                      </a:lnTo>
                      <a:lnTo>
                        <a:pt x="190" y="95"/>
                      </a:lnTo>
                      <a:lnTo>
                        <a:pt x="197" y="107"/>
                      </a:lnTo>
                      <a:lnTo>
                        <a:pt x="201" y="119"/>
                      </a:lnTo>
                      <a:lnTo>
                        <a:pt x="203" y="133"/>
                      </a:lnTo>
                      <a:lnTo>
                        <a:pt x="203" y="133"/>
                      </a:lnTo>
                      <a:lnTo>
                        <a:pt x="201" y="148"/>
                      </a:lnTo>
                      <a:lnTo>
                        <a:pt x="197" y="160"/>
                      </a:lnTo>
                      <a:lnTo>
                        <a:pt x="190" y="173"/>
                      </a:lnTo>
                      <a:lnTo>
                        <a:pt x="182" y="183"/>
                      </a:lnTo>
                      <a:lnTo>
                        <a:pt x="171" y="192"/>
                      </a:lnTo>
                      <a:lnTo>
                        <a:pt x="160" y="198"/>
                      </a:lnTo>
                      <a:lnTo>
                        <a:pt x="148" y="202"/>
                      </a:lnTo>
                      <a:lnTo>
                        <a:pt x="133" y="203"/>
                      </a:lnTo>
                      <a:lnTo>
                        <a:pt x="133" y="20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52" name="Freeform 1318">
                  <a:extLst>
                    <a:ext uri="{FF2B5EF4-FFF2-40B4-BE49-F238E27FC236}">
                      <a16:creationId xmlns:a16="http://schemas.microsoft.com/office/drawing/2014/main" id="{89545C1A-2277-453A-9C72-CF1245F21275}"/>
                    </a:ext>
                  </a:extLst>
                </p:cNvPr>
                <p:cNvSpPr>
                  <a:spLocks/>
                </p:cNvSpPr>
                <p:nvPr/>
              </p:nvSpPr>
              <p:spPr bwMode="auto">
                <a:xfrm>
                  <a:off x="11788775" y="3643313"/>
                  <a:ext cx="369888" cy="458788"/>
                </a:xfrm>
                <a:custGeom>
                  <a:avLst/>
                  <a:gdLst>
                    <a:gd name="T0" fmla="*/ 47 w 465"/>
                    <a:gd name="T1" fmla="*/ 543 h 576"/>
                    <a:gd name="T2" fmla="*/ 47 w 465"/>
                    <a:gd name="T3" fmla="*/ 543 h 576"/>
                    <a:gd name="T4" fmla="*/ 49 w 465"/>
                    <a:gd name="T5" fmla="*/ 549 h 576"/>
                    <a:gd name="T6" fmla="*/ 50 w 465"/>
                    <a:gd name="T7" fmla="*/ 556 h 576"/>
                    <a:gd name="T8" fmla="*/ 55 w 465"/>
                    <a:gd name="T9" fmla="*/ 562 h 576"/>
                    <a:gd name="T10" fmla="*/ 60 w 465"/>
                    <a:gd name="T11" fmla="*/ 567 h 576"/>
                    <a:gd name="T12" fmla="*/ 65 w 465"/>
                    <a:gd name="T13" fmla="*/ 571 h 576"/>
                    <a:gd name="T14" fmla="*/ 71 w 465"/>
                    <a:gd name="T15" fmla="*/ 575 h 576"/>
                    <a:gd name="T16" fmla="*/ 77 w 465"/>
                    <a:gd name="T17" fmla="*/ 576 h 576"/>
                    <a:gd name="T18" fmla="*/ 85 w 465"/>
                    <a:gd name="T19" fmla="*/ 576 h 576"/>
                    <a:gd name="T20" fmla="*/ 427 w 465"/>
                    <a:gd name="T21" fmla="*/ 576 h 576"/>
                    <a:gd name="T22" fmla="*/ 427 w 465"/>
                    <a:gd name="T23" fmla="*/ 576 h 576"/>
                    <a:gd name="T24" fmla="*/ 435 w 465"/>
                    <a:gd name="T25" fmla="*/ 576 h 576"/>
                    <a:gd name="T26" fmla="*/ 442 w 465"/>
                    <a:gd name="T27" fmla="*/ 573 h 576"/>
                    <a:gd name="T28" fmla="*/ 448 w 465"/>
                    <a:gd name="T29" fmla="*/ 570 h 576"/>
                    <a:gd name="T30" fmla="*/ 454 w 465"/>
                    <a:gd name="T31" fmla="*/ 565 h 576"/>
                    <a:gd name="T32" fmla="*/ 459 w 465"/>
                    <a:gd name="T33" fmla="*/ 560 h 576"/>
                    <a:gd name="T34" fmla="*/ 462 w 465"/>
                    <a:gd name="T35" fmla="*/ 554 h 576"/>
                    <a:gd name="T36" fmla="*/ 464 w 465"/>
                    <a:gd name="T37" fmla="*/ 546 h 576"/>
                    <a:gd name="T38" fmla="*/ 465 w 465"/>
                    <a:gd name="T39" fmla="*/ 538 h 576"/>
                    <a:gd name="T40" fmla="*/ 465 w 465"/>
                    <a:gd name="T41" fmla="*/ 538 h 576"/>
                    <a:gd name="T42" fmla="*/ 464 w 465"/>
                    <a:gd name="T43" fmla="*/ 530 h 576"/>
                    <a:gd name="T44" fmla="*/ 462 w 465"/>
                    <a:gd name="T45" fmla="*/ 524 h 576"/>
                    <a:gd name="T46" fmla="*/ 459 w 465"/>
                    <a:gd name="T47" fmla="*/ 518 h 576"/>
                    <a:gd name="T48" fmla="*/ 454 w 465"/>
                    <a:gd name="T49" fmla="*/ 511 h 576"/>
                    <a:gd name="T50" fmla="*/ 448 w 465"/>
                    <a:gd name="T51" fmla="*/ 506 h 576"/>
                    <a:gd name="T52" fmla="*/ 442 w 465"/>
                    <a:gd name="T53" fmla="*/ 503 h 576"/>
                    <a:gd name="T54" fmla="*/ 435 w 465"/>
                    <a:gd name="T55" fmla="*/ 502 h 576"/>
                    <a:gd name="T56" fmla="*/ 427 w 465"/>
                    <a:gd name="T57" fmla="*/ 500 h 576"/>
                    <a:gd name="T58" fmla="*/ 120 w 465"/>
                    <a:gd name="T59" fmla="*/ 500 h 576"/>
                    <a:gd name="T60" fmla="*/ 76 w 465"/>
                    <a:gd name="T61" fmla="*/ 35 h 576"/>
                    <a:gd name="T62" fmla="*/ 76 w 465"/>
                    <a:gd name="T63" fmla="*/ 35 h 576"/>
                    <a:gd name="T64" fmla="*/ 74 w 465"/>
                    <a:gd name="T65" fmla="*/ 27 h 576"/>
                    <a:gd name="T66" fmla="*/ 71 w 465"/>
                    <a:gd name="T67" fmla="*/ 20 h 576"/>
                    <a:gd name="T68" fmla="*/ 66 w 465"/>
                    <a:gd name="T69" fmla="*/ 14 h 576"/>
                    <a:gd name="T70" fmla="*/ 61 w 465"/>
                    <a:gd name="T71" fmla="*/ 9 h 576"/>
                    <a:gd name="T72" fmla="*/ 55 w 465"/>
                    <a:gd name="T73" fmla="*/ 5 h 576"/>
                    <a:gd name="T74" fmla="*/ 49 w 465"/>
                    <a:gd name="T75" fmla="*/ 1 h 576"/>
                    <a:gd name="T76" fmla="*/ 41 w 465"/>
                    <a:gd name="T77" fmla="*/ 0 h 576"/>
                    <a:gd name="T78" fmla="*/ 33 w 465"/>
                    <a:gd name="T79" fmla="*/ 0 h 576"/>
                    <a:gd name="T80" fmla="*/ 33 w 465"/>
                    <a:gd name="T81" fmla="*/ 0 h 576"/>
                    <a:gd name="T82" fmla="*/ 27 w 465"/>
                    <a:gd name="T83" fmla="*/ 1 h 576"/>
                    <a:gd name="T84" fmla="*/ 19 w 465"/>
                    <a:gd name="T85" fmla="*/ 5 h 576"/>
                    <a:gd name="T86" fmla="*/ 12 w 465"/>
                    <a:gd name="T87" fmla="*/ 9 h 576"/>
                    <a:gd name="T88" fmla="*/ 8 w 465"/>
                    <a:gd name="T89" fmla="*/ 14 h 576"/>
                    <a:gd name="T90" fmla="*/ 4 w 465"/>
                    <a:gd name="T91" fmla="*/ 20 h 576"/>
                    <a:gd name="T92" fmla="*/ 1 w 465"/>
                    <a:gd name="T93" fmla="*/ 27 h 576"/>
                    <a:gd name="T94" fmla="*/ 0 w 465"/>
                    <a:gd name="T95" fmla="*/ 35 h 576"/>
                    <a:gd name="T96" fmla="*/ 0 w 465"/>
                    <a:gd name="T97" fmla="*/ 43 h 576"/>
                    <a:gd name="T98" fmla="*/ 0 w 465"/>
                    <a:gd name="T99" fmla="*/ 43 h 576"/>
                    <a:gd name="T100" fmla="*/ 47 w 465"/>
                    <a:gd name="T101" fmla="*/ 543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5" h="576">
                      <a:moveTo>
                        <a:pt x="47" y="543"/>
                      </a:moveTo>
                      <a:lnTo>
                        <a:pt x="47" y="543"/>
                      </a:lnTo>
                      <a:lnTo>
                        <a:pt x="49" y="549"/>
                      </a:lnTo>
                      <a:lnTo>
                        <a:pt x="50" y="556"/>
                      </a:lnTo>
                      <a:lnTo>
                        <a:pt x="55" y="562"/>
                      </a:lnTo>
                      <a:lnTo>
                        <a:pt x="60" y="567"/>
                      </a:lnTo>
                      <a:lnTo>
                        <a:pt x="65" y="571"/>
                      </a:lnTo>
                      <a:lnTo>
                        <a:pt x="71" y="575"/>
                      </a:lnTo>
                      <a:lnTo>
                        <a:pt x="77" y="576"/>
                      </a:lnTo>
                      <a:lnTo>
                        <a:pt x="85" y="576"/>
                      </a:lnTo>
                      <a:lnTo>
                        <a:pt x="427" y="576"/>
                      </a:lnTo>
                      <a:lnTo>
                        <a:pt x="427" y="576"/>
                      </a:lnTo>
                      <a:lnTo>
                        <a:pt x="435" y="576"/>
                      </a:lnTo>
                      <a:lnTo>
                        <a:pt x="442" y="573"/>
                      </a:lnTo>
                      <a:lnTo>
                        <a:pt x="448" y="570"/>
                      </a:lnTo>
                      <a:lnTo>
                        <a:pt x="454" y="565"/>
                      </a:lnTo>
                      <a:lnTo>
                        <a:pt x="459" y="560"/>
                      </a:lnTo>
                      <a:lnTo>
                        <a:pt x="462" y="554"/>
                      </a:lnTo>
                      <a:lnTo>
                        <a:pt x="464" y="546"/>
                      </a:lnTo>
                      <a:lnTo>
                        <a:pt x="465" y="538"/>
                      </a:lnTo>
                      <a:lnTo>
                        <a:pt x="465" y="538"/>
                      </a:lnTo>
                      <a:lnTo>
                        <a:pt x="464" y="530"/>
                      </a:lnTo>
                      <a:lnTo>
                        <a:pt x="462" y="524"/>
                      </a:lnTo>
                      <a:lnTo>
                        <a:pt x="459" y="518"/>
                      </a:lnTo>
                      <a:lnTo>
                        <a:pt x="454" y="511"/>
                      </a:lnTo>
                      <a:lnTo>
                        <a:pt x="448" y="506"/>
                      </a:lnTo>
                      <a:lnTo>
                        <a:pt x="442" y="503"/>
                      </a:lnTo>
                      <a:lnTo>
                        <a:pt x="435" y="502"/>
                      </a:lnTo>
                      <a:lnTo>
                        <a:pt x="427" y="500"/>
                      </a:lnTo>
                      <a:lnTo>
                        <a:pt x="120" y="500"/>
                      </a:lnTo>
                      <a:lnTo>
                        <a:pt x="76" y="35"/>
                      </a:lnTo>
                      <a:lnTo>
                        <a:pt x="76" y="35"/>
                      </a:lnTo>
                      <a:lnTo>
                        <a:pt x="74" y="27"/>
                      </a:lnTo>
                      <a:lnTo>
                        <a:pt x="71" y="20"/>
                      </a:lnTo>
                      <a:lnTo>
                        <a:pt x="66" y="14"/>
                      </a:lnTo>
                      <a:lnTo>
                        <a:pt x="61" y="9"/>
                      </a:lnTo>
                      <a:lnTo>
                        <a:pt x="55" y="5"/>
                      </a:lnTo>
                      <a:lnTo>
                        <a:pt x="49" y="1"/>
                      </a:lnTo>
                      <a:lnTo>
                        <a:pt x="41" y="0"/>
                      </a:lnTo>
                      <a:lnTo>
                        <a:pt x="33" y="0"/>
                      </a:lnTo>
                      <a:lnTo>
                        <a:pt x="33" y="0"/>
                      </a:lnTo>
                      <a:lnTo>
                        <a:pt x="27" y="1"/>
                      </a:lnTo>
                      <a:lnTo>
                        <a:pt x="19" y="5"/>
                      </a:lnTo>
                      <a:lnTo>
                        <a:pt x="12" y="9"/>
                      </a:lnTo>
                      <a:lnTo>
                        <a:pt x="8" y="14"/>
                      </a:lnTo>
                      <a:lnTo>
                        <a:pt x="4" y="20"/>
                      </a:lnTo>
                      <a:lnTo>
                        <a:pt x="1" y="27"/>
                      </a:lnTo>
                      <a:lnTo>
                        <a:pt x="0" y="35"/>
                      </a:lnTo>
                      <a:lnTo>
                        <a:pt x="0" y="43"/>
                      </a:lnTo>
                      <a:lnTo>
                        <a:pt x="0" y="43"/>
                      </a:lnTo>
                      <a:lnTo>
                        <a:pt x="47" y="5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53" name="Freeform 1320">
                  <a:extLst>
                    <a:ext uri="{FF2B5EF4-FFF2-40B4-BE49-F238E27FC236}">
                      <a16:creationId xmlns:a16="http://schemas.microsoft.com/office/drawing/2014/main" id="{0D63C6FF-B453-441B-A2BD-B66F77BCEB24}"/>
                    </a:ext>
                  </a:extLst>
                </p:cNvPr>
                <p:cNvSpPr>
                  <a:spLocks/>
                </p:cNvSpPr>
                <p:nvPr/>
              </p:nvSpPr>
              <p:spPr bwMode="auto">
                <a:xfrm>
                  <a:off x="12003088" y="3605213"/>
                  <a:ext cx="349250" cy="225425"/>
                </a:xfrm>
                <a:custGeom>
                  <a:avLst/>
                  <a:gdLst>
                    <a:gd name="T0" fmla="*/ 438 w 439"/>
                    <a:gd name="T1" fmla="*/ 145 h 283"/>
                    <a:gd name="T2" fmla="*/ 438 w 439"/>
                    <a:gd name="T3" fmla="*/ 145 h 283"/>
                    <a:gd name="T4" fmla="*/ 434 w 439"/>
                    <a:gd name="T5" fmla="*/ 136 h 283"/>
                    <a:gd name="T6" fmla="*/ 430 w 439"/>
                    <a:gd name="T7" fmla="*/ 126 h 283"/>
                    <a:gd name="T8" fmla="*/ 422 w 439"/>
                    <a:gd name="T9" fmla="*/ 120 h 283"/>
                    <a:gd name="T10" fmla="*/ 415 w 439"/>
                    <a:gd name="T11" fmla="*/ 114 h 283"/>
                    <a:gd name="T12" fmla="*/ 406 w 439"/>
                    <a:gd name="T13" fmla="*/ 109 h 283"/>
                    <a:gd name="T14" fmla="*/ 396 w 439"/>
                    <a:gd name="T15" fmla="*/ 107 h 283"/>
                    <a:gd name="T16" fmla="*/ 387 w 439"/>
                    <a:gd name="T17" fmla="*/ 106 h 283"/>
                    <a:gd name="T18" fmla="*/ 376 w 439"/>
                    <a:gd name="T19" fmla="*/ 107 h 283"/>
                    <a:gd name="T20" fmla="*/ 110 w 439"/>
                    <a:gd name="T21" fmla="*/ 171 h 283"/>
                    <a:gd name="T22" fmla="*/ 102 w 439"/>
                    <a:gd name="T23" fmla="*/ 46 h 283"/>
                    <a:gd name="T24" fmla="*/ 102 w 439"/>
                    <a:gd name="T25" fmla="*/ 46 h 283"/>
                    <a:gd name="T26" fmla="*/ 99 w 439"/>
                    <a:gd name="T27" fmla="*/ 36 h 283"/>
                    <a:gd name="T28" fmla="*/ 96 w 439"/>
                    <a:gd name="T29" fmla="*/ 27 h 283"/>
                    <a:gd name="T30" fmla="*/ 91 w 439"/>
                    <a:gd name="T31" fmla="*/ 19 h 283"/>
                    <a:gd name="T32" fmla="*/ 84 w 439"/>
                    <a:gd name="T33" fmla="*/ 11 h 283"/>
                    <a:gd name="T34" fmla="*/ 76 w 439"/>
                    <a:gd name="T35" fmla="*/ 6 h 283"/>
                    <a:gd name="T36" fmla="*/ 67 w 439"/>
                    <a:gd name="T37" fmla="*/ 1 h 283"/>
                    <a:gd name="T38" fmla="*/ 57 w 439"/>
                    <a:gd name="T39" fmla="*/ 0 h 283"/>
                    <a:gd name="T40" fmla="*/ 46 w 439"/>
                    <a:gd name="T41" fmla="*/ 0 h 283"/>
                    <a:gd name="T42" fmla="*/ 46 w 439"/>
                    <a:gd name="T43" fmla="*/ 0 h 283"/>
                    <a:gd name="T44" fmla="*/ 37 w 439"/>
                    <a:gd name="T45" fmla="*/ 1 h 283"/>
                    <a:gd name="T46" fmla="*/ 27 w 439"/>
                    <a:gd name="T47" fmla="*/ 4 h 283"/>
                    <a:gd name="T48" fmla="*/ 19 w 439"/>
                    <a:gd name="T49" fmla="*/ 9 h 283"/>
                    <a:gd name="T50" fmla="*/ 13 w 439"/>
                    <a:gd name="T51" fmla="*/ 16 h 283"/>
                    <a:gd name="T52" fmla="*/ 7 w 439"/>
                    <a:gd name="T53" fmla="*/ 23 h 283"/>
                    <a:gd name="T54" fmla="*/ 2 w 439"/>
                    <a:gd name="T55" fmla="*/ 33 h 283"/>
                    <a:gd name="T56" fmla="*/ 0 w 439"/>
                    <a:gd name="T57" fmla="*/ 42 h 283"/>
                    <a:gd name="T58" fmla="*/ 0 w 439"/>
                    <a:gd name="T59" fmla="*/ 54 h 283"/>
                    <a:gd name="T60" fmla="*/ 0 w 439"/>
                    <a:gd name="T61" fmla="*/ 54 h 283"/>
                    <a:gd name="T62" fmla="*/ 12 w 439"/>
                    <a:gd name="T63" fmla="*/ 236 h 283"/>
                    <a:gd name="T64" fmla="*/ 12 w 439"/>
                    <a:gd name="T65" fmla="*/ 236 h 283"/>
                    <a:gd name="T66" fmla="*/ 15 w 439"/>
                    <a:gd name="T67" fmla="*/ 247 h 283"/>
                    <a:gd name="T68" fmla="*/ 18 w 439"/>
                    <a:gd name="T69" fmla="*/ 258 h 283"/>
                    <a:gd name="T70" fmla="*/ 24 w 439"/>
                    <a:gd name="T71" fmla="*/ 266 h 283"/>
                    <a:gd name="T72" fmla="*/ 32 w 439"/>
                    <a:gd name="T73" fmla="*/ 274 h 283"/>
                    <a:gd name="T74" fmla="*/ 32 w 439"/>
                    <a:gd name="T75" fmla="*/ 274 h 283"/>
                    <a:gd name="T76" fmla="*/ 40 w 439"/>
                    <a:gd name="T77" fmla="*/ 278 h 283"/>
                    <a:gd name="T78" fmla="*/ 46 w 439"/>
                    <a:gd name="T79" fmla="*/ 282 h 283"/>
                    <a:gd name="T80" fmla="*/ 54 w 439"/>
                    <a:gd name="T81" fmla="*/ 283 h 283"/>
                    <a:gd name="T82" fmla="*/ 62 w 439"/>
                    <a:gd name="T83" fmla="*/ 283 h 283"/>
                    <a:gd name="T84" fmla="*/ 62 w 439"/>
                    <a:gd name="T85" fmla="*/ 283 h 283"/>
                    <a:gd name="T86" fmla="*/ 75 w 439"/>
                    <a:gd name="T87" fmla="*/ 282 h 283"/>
                    <a:gd name="T88" fmla="*/ 400 w 439"/>
                    <a:gd name="T89" fmla="*/ 206 h 283"/>
                    <a:gd name="T90" fmla="*/ 400 w 439"/>
                    <a:gd name="T91" fmla="*/ 206 h 283"/>
                    <a:gd name="T92" fmla="*/ 409 w 439"/>
                    <a:gd name="T93" fmla="*/ 202 h 283"/>
                    <a:gd name="T94" fmla="*/ 419 w 439"/>
                    <a:gd name="T95" fmla="*/ 198 h 283"/>
                    <a:gd name="T96" fmla="*/ 425 w 439"/>
                    <a:gd name="T97" fmla="*/ 191 h 283"/>
                    <a:gd name="T98" fmla="*/ 431 w 439"/>
                    <a:gd name="T99" fmla="*/ 183 h 283"/>
                    <a:gd name="T100" fmla="*/ 436 w 439"/>
                    <a:gd name="T101" fmla="*/ 175 h 283"/>
                    <a:gd name="T102" fmla="*/ 438 w 439"/>
                    <a:gd name="T103" fmla="*/ 166 h 283"/>
                    <a:gd name="T104" fmla="*/ 439 w 439"/>
                    <a:gd name="T105" fmla="*/ 155 h 283"/>
                    <a:gd name="T106" fmla="*/ 438 w 439"/>
                    <a:gd name="T107" fmla="*/ 145 h 283"/>
                    <a:gd name="T108" fmla="*/ 438 w 439"/>
                    <a:gd name="T109" fmla="*/ 145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39" h="283">
                      <a:moveTo>
                        <a:pt x="438" y="145"/>
                      </a:moveTo>
                      <a:lnTo>
                        <a:pt x="438" y="145"/>
                      </a:lnTo>
                      <a:lnTo>
                        <a:pt x="434" y="136"/>
                      </a:lnTo>
                      <a:lnTo>
                        <a:pt x="430" y="126"/>
                      </a:lnTo>
                      <a:lnTo>
                        <a:pt x="422" y="120"/>
                      </a:lnTo>
                      <a:lnTo>
                        <a:pt x="415" y="114"/>
                      </a:lnTo>
                      <a:lnTo>
                        <a:pt x="406" y="109"/>
                      </a:lnTo>
                      <a:lnTo>
                        <a:pt x="396" y="107"/>
                      </a:lnTo>
                      <a:lnTo>
                        <a:pt x="387" y="106"/>
                      </a:lnTo>
                      <a:lnTo>
                        <a:pt x="376" y="107"/>
                      </a:lnTo>
                      <a:lnTo>
                        <a:pt x="110" y="171"/>
                      </a:lnTo>
                      <a:lnTo>
                        <a:pt x="102" y="46"/>
                      </a:lnTo>
                      <a:lnTo>
                        <a:pt x="102" y="46"/>
                      </a:lnTo>
                      <a:lnTo>
                        <a:pt x="99" y="36"/>
                      </a:lnTo>
                      <a:lnTo>
                        <a:pt x="96" y="27"/>
                      </a:lnTo>
                      <a:lnTo>
                        <a:pt x="91" y="19"/>
                      </a:lnTo>
                      <a:lnTo>
                        <a:pt x="84" y="11"/>
                      </a:lnTo>
                      <a:lnTo>
                        <a:pt x="76" y="6"/>
                      </a:lnTo>
                      <a:lnTo>
                        <a:pt x="67" y="1"/>
                      </a:lnTo>
                      <a:lnTo>
                        <a:pt x="57" y="0"/>
                      </a:lnTo>
                      <a:lnTo>
                        <a:pt x="46" y="0"/>
                      </a:lnTo>
                      <a:lnTo>
                        <a:pt x="46" y="0"/>
                      </a:lnTo>
                      <a:lnTo>
                        <a:pt x="37" y="1"/>
                      </a:lnTo>
                      <a:lnTo>
                        <a:pt x="27" y="4"/>
                      </a:lnTo>
                      <a:lnTo>
                        <a:pt x="19" y="9"/>
                      </a:lnTo>
                      <a:lnTo>
                        <a:pt x="13" y="16"/>
                      </a:lnTo>
                      <a:lnTo>
                        <a:pt x="7" y="23"/>
                      </a:lnTo>
                      <a:lnTo>
                        <a:pt x="2" y="33"/>
                      </a:lnTo>
                      <a:lnTo>
                        <a:pt x="0" y="42"/>
                      </a:lnTo>
                      <a:lnTo>
                        <a:pt x="0" y="54"/>
                      </a:lnTo>
                      <a:lnTo>
                        <a:pt x="0" y="54"/>
                      </a:lnTo>
                      <a:lnTo>
                        <a:pt x="12" y="236"/>
                      </a:lnTo>
                      <a:lnTo>
                        <a:pt x="12" y="236"/>
                      </a:lnTo>
                      <a:lnTo>
                        <a:pt x="15" y="247"/>
                      </a:lnTo>
                      <a:lnTo>
                        <a:pt x="18" y="258"/>
                      </a:lnTo>
                      <a:lnTo>
                        <a:pt x="24" y="266"/>
                      </a:lnTo>
                      <a:lnTo>
                        <a:pt x="32" y="274"/>
                      </a:lnTo>
                      <a:lnTo>
                        <a:pt x="32" y="274"/>
                      </a:lnTo>
                      <a:lnTo>
                        <a:pt x="40" y="278"/>
                      </a:lnTo>
                      <a:lnTo>
                        <a:pt x="46" y="282"/>
                      </a:lnTo>
                      <a:lnTo>
                        <a:pt x="54" y="283"/>
                      </a:lnTo>
                      <a:lnTo>
                        <a:pt x="62" y="283"/>
                      </a:lnTo>
                      <a:lnTo>
                        <a:pt x="62" y="283"/>
                      </a:lnTo>
                      <a:lnTo>
                        <a:pt x="75" y="282"/>
                      </a:lnTo>
                      <a:lnTo>
                        <a:pt x="400" y="206"/>
                      </a:lnTo>
                      <a:lnTo>
                        <a:pt x="400" y="206"/>
                      </a:lnTo>
                      <a:lnTo>
                        <a:pt x="409" y="202"/>
                      </a:lnTo>
                      <a:lnTo>
                        <a:pt x="419" y="198"/>
                      </a:lnTo>
                      <a:lnTo>
                        <a:pt x="425" y="191"/>
                      </a:lnTo>
                      <a:lnTo>
                        <a:pt x="431" y="183"/>
                      </a:lnTo>
                      <a:lnTo>
                        <a:pt x="436" y="175"/>
                      </a:lnTo>
                      <a:lnTo>
                        <a:pt x="438" y="166"/>
                      </a:lnTo>
                      <a:lnTo>
                        <a:pt x="439" y="155"/>
                      </a:lnTo>
                      <a:lnTo>
                        <a:pt x="438" y="145"/>
                      </a:lnTo>
                      <a:lnTo>
                        <a:pt x="438" y="1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grpSp>
        </p:grpSp>
        <p:grpSp>
          <p:nvGrpSpPr>
            <p:cNvPr id="23" name="Group 31">
              <a:extLst>
                <a:ext uri="{FF2B5EF4-FFF2-40B4-BE49-F238E27FC236}">
                  <a16:creationId xmlns:a16="http://schemas.microsoft.com/office/drawing/2014/main" id="{F21AB775-CE4E-490B-BCBA-D159B6656FDE}"/>
                </a:ext>
              </a:extLst>
            </p:cNvPr>
            <p:cNvGrpSpPr/>
            <p:nvPr/>
          </p:nvGrpSpPr>
          <p:grpSpPr>
            <a:xfrm>
              <a:off x="7528795" y="4228416"/>
              <a:ext cx="601255" cy="555782"/>
              <a:chOff x="7528795" y="4228416"/>
              <a:chExt cx="601255" cy="555782"/>
            </a:xfrm>
          </p:grpSpPr>
          <p:sp>
            <p:nvSpPr>
              <p:cNvPr id="36" name="Oval 35">
                <a:extLst>
                  <a:ext uri="{FF2B5EF4-FFF2-40B4-BE49-F238E27FC236}">
                    <a16:creationId xmlns:a16="http://schemas.microsoft.com/office/drawing/2014/main" id="{F9DAC99C-C627-437F-8B33-92ED171E6654}"/>
                  </a:ext>
                </a:extLst>
              </p:cNvPr>
              <p:cNvSpPr/>
              <p:nvPr/>
            </p:nvSpPr>
            <p:spPr bwMode="ltGray">
              <a:xfrm>
                <a:off x="7528795" y="4228416"/>
                <a:ext cx="601255" cy="555782"/>
              </a:xfrm>
              <a:prstGeom prst="ellipse">
                <a:avLst/>
              </a:prstGeom>
              <a:solidFill>
                <a:schemeClr val="accent2">
                  <a:lumMod val="50000"/>
                </a:schemeClr>
              </a:solidFill>
              <a:ln w="3175" cap="flat" cmpd="sng" algn="ctr">
                <a:solidFill>
                  <a:schemeClr val="accent2">
                    <a:lumMod val="50000"/>
                  </a:schemeClr>
                </a:solidFill>
                <a:prstDash val="solid"/>
              </a:ln>
              <a:effectLst/>
            </p:spPr>
            <p:txBody>
              <a:bodyPr rtlCol="0" anchor="ctr"/>
              <a:lstStyle/>
              <a:p>
                <a:pPr algn="ctr">
                  <a:defRPr/>
                </a:pPr>
                <a:endParaRPr lang="en-GB" sz="848" kern="0" dirty="0">
                  <a:solidFill>
                    <a:srgbClr val="FFFFFF"/>
                  </a:solidFill>
                  <a:latin typeface="Georgia" pitchFamily="18" charset="0"/>
                </a:endParaRPr>
              </a:p>
            </p:txBody>
          </p:sp>
          <p:grpSp>
            <p:nvGrpSpPr>
              <p:cNvPr id="24" name="Group 36">
                <a:extLst>
                  <a:ext uri="{FF2B5EF4-FFF2-40B4-BE49-F238E27FC236}">
                    <a16:creationId xmlns:a16="http://schemas.microsoft.com/office/drawing/2014/main" id="{917713DC-992F-4058-BCE8-250DF605459A}"/>
                  </a:ext>
                </a:extLst>
              </p:cNvPr>
              <p:cNvGrpSpPr/>
              <p:nvPr/>
            </p:nvGrpSpPr>
            <p:grpSpPr>
              <a:xfrm>
                <a:off x="7673106" y="4327614"/>
                <a:ext cx="386317" cy="346435"/>
                <a:chOff x="-2188616" y="5477630"/>
                <a:chExt cx="1568450" cy="1406525"/>
              </a:xfrm>
              <a:solidFill>
                <a:srgbClr val="7D7D7D"/>
              </a:solidFill>
            </p:grpSpPr>
            <p:sp>
              <p:nvSpPr>
                <p:cNvPr id="38" name="Freeform 1690">
                  <a:extLst>
                    <a:ext uri="{FF2B5EF4-FFF2-40B4-BE49-F238E27FC236}">
                      <a16:creationId xmlns:a16="http://schemas.microsoft.com/office/drawing/2014/main" id="{BE7268B7-54CA-4BBA-96F8-93D062B3B9E8}"/>
                    </a:ext>
                  </a:extLst>
                </p:cNvPr>
                <p:cNvSpPr>
                  <a:spLocks/>
                </p:cNvSpPr>
                <p:nvPr/>
              </p:nvSpPr>
              <p:spPr bwMode="auto">
                <a:xfrm>
                  <a:off x="-1998116" y="5804655"/>
                  <a:ext cx="1377950" cy="1069975"/>
                </a:xfrm>
                <a:custGeom>
                  <a:avLst/>
                  <a:gdLst>
                    <a:gd name="T0" fmla="*/ 0 w 868"/>
                    <a:gd name="T1" fmla="*/ 18 h 674"/>
                    <a:gd name="T2" fmla="*/ 572 w 868"/>
                    <a:gd name="T3" fmla="*/ 588 h 674"/>
                    <a:gd name="T4" fmla="*/ 572 w 868"/>
                    <a:gd name="T5" fmla="*/ 588 h 674"/>
                    <a:gd name="T6" fmla="*/ 578 w 868"/>
                    <a:gd name="T7" fmla="*/ 598 h 674"/>
                    <a:gd name="T8" fmla="*/ 596 w 868"/>
                    <a:gd name="T9" fmla="*/ 620 h 674"/>
                    <a:gd name="T10" fmla="*/ 608 w 868"/>
                    <a:gd name="T11" fmla="*/ 630 h 674"/>
                    <a:gd name="T12" fmla="*/ 622 w 868"/>
                    <a:gd name="T13" fmla="*/ 642 h 674"/>
                    <a:gd name="T14" fmla="*/ 638 w 868"/>
                    <a:gd name="T15" fmla="*/ 648 h 674"/>
                    <a:gd name="T16" fmla="*/ 644 w 868"/>
                    <a:gd name="T17" fmla="*/ 650 h 674"/>
                    <a:gd name="T18" fmla="*/ 652 w 868"/>
                    <a:gd name="T19" fmla="*/ 650 h 674"/>
                    <a:gd name="T20" fmla="*/ 652 w 868"/>
                    <a:gd name="T21" fmla="*/ 650 h 674"/>
                    <a:gd name="T22" fmla="*/ 704 w 868"/>
                    <a:gd name="T23" fmla="*/ 654 h 674"/>
                    <a:gd name="T24" fmla="*/ 776 w 868"/>
                    <a:gd name="T25" fmla="*/ 662 h 674"/>
                    <a:gd name="T26" fmla="*/ 868 w 868"/>
                    <a:gd name="T27" fmla="*/ 674 h 674"/>
                    <a:gd name="T28" fmla="*/ 836 w 868"/>
                    <a:gd name="T29" fmla="*/ 632 h 674"/>
                    <a:gd name="T30" fmla="*/ 836 w 868"/>
                    <a:gd name="T31" fmla="*/ 632 h 674"/>
                    <a:gd name="T32" fmla="*/ 742 w 868"/>
                    <a:gd name="T33" fmla="*/ 598 h 674"/>
                    <a:gd name="T34" fmla="*/ 670 w 868"/>
                    <a:gd name="T35" fmla="*/ 574 h 674"/>
                    <a:gd name="T36" fmla="*/ 640 w 868"/>
                    <a:gd name="T37" fmla="*/ 566 h 674"/>
                    <a:gd name="T38" fmla="*/ 620 w 868"/>
                    <a:gd name="T39" fmla="*/ 560 h 674"/>
                    <a:gd name="T40" fmla="*/ 592 w 868"/>
                    <a:gd name="T41" fmla="*/ 568 h 674"/>
                    <a:gd name="T42" fmla="*/ 20 w 868"/>
                    <a:gd name="T43" fmla="*/ 0 h 674"/>
                    <a:gd name="T44" fmla="*/ 0 w 868"/>
                    <a:gd name="T45" fmla="*/ 18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8" h="674">
                      <a:moveTo>
                        <a:pt x="0" y="18"/>
                      </a:moveTo>
                      <a:lnTo>
                        <a:pt x="572" y="588"/>
                      </a:lnTo>
                      <a:lnTo>
                        <a:pt x="572" y="588"/>
                      </a:lnTo>
                      <a:lnTo>
                        <a:pt x="578" y="598"/>
                      </a:lnTo>
                      <a:lnTo>
                        <a:pt x="596" y="620"/>
                      </a:lnTo>
                      <a:lnTo>
                        <a:pt x="608" y="630"/>
                      </a:lnTo>
                      <a:lnTo>
                        <a:pt x="622" y="642"/>
                      </a:lnTo>
                      <a:lnTo>
                        <a:pt x="638" y="648"/>
                      </a:lnTo>
                      <a:lnTo>
                        <a:pt x="644" y="650"/>
                      </a:lnTo>
                      <a:lnTo>
                        <a:pt x="652" y="650"/>
                      </a:lnTo>
                      <a:lnTo>
                        <a:pt x="652" y="650"/>
                      </a:lnTo>
                      <a:lnTo>
                        <a:pt x="704" y="654"/>
                      </a:lnTo>
                      <a:lnTo>
                        <a:pt x="776" y="662"/>
                      </a:lnTo>
                      <a:lnTo>
                        <a:pt x="868" y="674"/>
                      </a:lnTo>
                      <a:lnTo>
                        <a:pt x="836" y="632"/>
                      </a:lnTo>
                      <a:lnTo>
                        <a:pt x="836" y="632"/>
                      </a:lnTo>
                      <a:lnTo>
                        <a:pt x="742" y="598"/>
                      </a:lnTo>
                      <a:lnTo>
                        <a:pt x="670" y="574"/>
                      </a:lnTo>
                      <a:lnTo>
                        <a:pt x="640" y="566"/>
                      </a:lnTo>
                      <a:lnTo>
                        <a:pt x="620" y="560"/>
                      </a:lnTo>
                      <a:lnTo>
                        <a:pt x="592" y="568"/>
                      </a:lnTo>
                      <a:lnTo>
                        <a:pt x="20" y="0"/>
                      </a:lnTo>
                      <a:lnTo>
                        <a:pt x="0" y="18"/>
                      </a:lnTo>
                      <a:close/>
                    </a:path>
                  </a:pathLst>
                </a:custGeom>
                <a:solidFill>
                  <a:srgbClr val="FFFFFF"/>
                </a:solidFill>
                <a:ln w="9525">
                  <a:noFill/>
                  <a:round/>
                  <a:headEnd/>
                  <a:tailEnd/>
                </a:ln>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39" name="Freeform 1691">
                  <a:extLst>
                    <a:ext uri="{FF2B5EF4-FFF2-40B4-BE49-F238E27FC236}">
                      <a16:creationId xmlns:a16="http://schemas.microsoft.com/office/drawing/2014/main" id="{07EDE5E2-32E9-4C06-A0F3-63E18BB16A8B}"/>
                    </a:ext>
                  </a:extLst>
                </p:cNvPr>
                <p:cNvSpPr>
                  <a:spLocks/>
                </p:cNvSpPr>
                <p:nvPr/>
              </p:nvSpPr>
              <p:spPr bwMode="auto">
                <a:xfrm>
                  <a:off x="-2188616" y="5614155"/>
                  <a:ext cx="104775" cy="101600"/>
                </a:xfrm>
                <a:custGeom>
                  <a:avLst/>
                  <a:gdLst>
                    <a:gd name="T0" fmla="*/ 66 w 66"/>
                    <a:gd name="T1" fmla="*/ 46 h 64"/>
                    <a:gd name="T2" fmla="*/ 18 w 66"/>
                    <a:gd name="T3" fmla="*/ 0 h 64"/>
                    <a:gd name="T4" fmla="*/ 0 w 66"/>
                    <a:gd name="T5" fmla="*/ 18 h 64"/>
                    <a:gd name="T6" fmla="*/ 46 w 66"/>
                    <a:gd name="T7" fmla="*/ 64 h 64"/>
                    <a:gd name="T8" fmla="*/ 66 w 66"/>
                    <a:gd name="T9" fmla="*/ 46 h 64"/>
                  </a:gdLst>
                  <a:ahLst/>
                  <a:cxnLst>
                    <a:cxn ang="0">
                      <a:pos x="T0" y="T1"/>
                    </a:cxn>
                    <a:cxn ang="0">
                      <a:pos x="T2" y="T3"/>
                    </a:cxn>
                    <a:cxn ang="0">
                      <a:pos x="T4" y="T5"/>
                    </a:cxn>
                    <a:cxn ang="0">
                      <a:pos x="T6" y="T7"/>
                    </a:cxn>
                    <a:cxn ang="0">
                      <a:pos x="T8" y="T9"/>
                    </a:cxn>
                  </a:cxnLst>
                  <a:rect l="0" t="0" r="r" b="b"/>
                  <a:pathLst>
                    <a:path w="66" h="64">
                      <a:moveTo>
                        <a:pt x="66" y="46"/>
                      </a:moveTo>
                      <a:lnTo>
                        <a:pt x="18" y="0"/>
                      </a:lnTo>
                      <a:lnTo>
                        <a:pt x="0" y="18"/>
                      </a:lnTo>
                      <a:lnTo>
                        <a:pt x="46" y="64"/>
                      </a:lnTo>
                      <a:lnTo>
                        <a:pt x="66" y="46"/>
                      </a:lnTo>
                      <a:close/>
                    </a:path>
                  </a:pathLst>
                </a:custGeom>
                <a:grpFill/>
                <a:ln w="9525">
                  <a:solidFill>
                    <a:srgbClr val="000000"/>
                  </a:solidFill>
                  <a:round/>
                  <a:headEnd/>
                  <a:tailEnd/>
                </a:ln>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40" name="Freeform 1692">
                  <a:extLst>
                    <a:ext uri="{FF2B5EF4-FFF2-40B4-BE49-F238E27FC236}">
                      <a16:creationId xmlns:a16="http://schemas.microsoft.com/office/drawing/2014/main" id="{8C45EE1B-30BB-49AB-8047-45971683C3B3}"/>
                    </a:ext>
                  </a:extLst>
                </p:cNvPr>
                <p:cNvSpPr>
                  <a:spLocks/>
                </p:cNvSpPr>
                <p:nvPr/>
              </p:nvSpPr>
              <p:spPr bwMode="auto">
                <a:xfrm>
                  <a:off x="-1029741" y="6592055"/>
                  <a:ext cx="327025" cy="184150"/>
                </a:xfrm>
                <a:custGeom>
                  <a:avLst/>
                  <a:gdLst>
                    <a:gd name="T0" fmla="*/ 12 w 206"/>
                    <a:gd name="T1" fmla="*/ 52 h 116"/>
                    <a:gd name="T2" fmla="*/ 12 w 206"/>
                    <a:gd name="T3" fmla="*/ 52 h 116"/>
                    <a:gd name="T4" fmla="*/ 34 w 206"/>
                    <a:gd name="T5" fmla="*/ 58 h 116"/>
                    <a:gd name="T6" fmla="*/ 64 w 206"/>
                    <a:gd name="T7" fmla="*/ 66 h 116"/>
                    <a:gd name="T8" fmla="*/ 136 w 206"/>
                    <a:gd name="T9" fmla="*/ 92 h 116"/>
                    <a:gd name="T10" fmla="*/ 136 w 206"/>
                    <a:gd name="T11" fmla="*/ 92 h 116"/>
                    <a:gd name="T12" fmla="*/ 206 w 206"/>
                    <a:gd name="T13" fmla="*/ 116 h 116"/>
                    <a:gd name="T14" fmla="*/ 206 w 206"/>
                    <a:gd name="T15" fmla="*/ 116 h 116"/>
                    <a:gd name="T16" fmla="*/ 196 w 206"/>
                    <a:gd name="T17" fmla="*/ 92 h 116"/>
                    <a:gd name="T18" fmla="*/ 196 w 206"/>
                    <a:gd name="T19" fmla="*/ 92 h 116"/>
                    <a:gd name="T20" fmla="*/ 190 w 206"/>
                    <a:gd name="T21" fmla="*/ 84 h 116"/>
                    <a:gd name="T22" fmla="*/ 184 w 206"/>
                    <a:gd name="T23" fmla="*/ 80 h 116"/>
                    <a:gd name="T24" fmla="*/ 176 w 206"/>
                    <a:gd name="T25" fmla="*/ 76 h 116"/>
                    <a:gd name="T26" fmla="*/ 172 w 206"/>
                    <a:gd name="T27" fmla="*/ 72 h 116"/>
                    <a:gd name="T28" fmla="*/ 172 w 206"/>
                    <a:gd name="T29" fmla="*/ 72 h 116"/>
                    <a:gd name="T30" fmla="*/ 168 w 206"/>
                    <a:gd name="T31" fmla="*/ 62 h 116"/>
                    <a:gd name="T32" fmla="*/ 166 w 206"/>
                    <a:gd name="T33" fmla="*/ 52 h 116"/>
                    <a:gd name="T34" fmla="*/ 162 w 206"/>
                    <a:gd name="T35" fmla="*/ 42 h 116"/>
                    <a:gd name="T36" fmla="*/ 158 w 206"/>
                    <a:gd name="T37" fmla="*/ 34 h 116"/>
                    <a:gd name="T38" fmla="*/ 158 w 206"/>
                    <a:gd name="T39" fmla="*/ 34 h 116"/>
                    <a:gd name="T40" fmla="*/ 152 w 206"/>
                    <a:gd name="T41" fmla="*/ 28 h 116"/>
                    <a:gd name="T42" fmla="*/ 144 w 206"/>
                    <a:gd name="T43" fmla="*/ 24 h 116"/>
                    <a:gd name="T44" fmla="*/ 130 w 206"/>
                    <a:gd name="T45" fmla="*/ 16 h 116"/>
                    <a:gd name="T46" fmla="*/ 130 w 206"/>
                    <a:gd name="T47" fmla="*/ 16 h 116"/>
                    <a:gd name="T48" fmla="*/ 118 w 206"/>
                    <a:gd name="T49" fmla="*/ 8 h 116"/>
                    <a:gd name="T50" fmla="*/ 112 w 206"/>
                    <a:gd name="T51" fmla="*/ 4 h 116"/>
                    <a:gd name="T52" fmla="*/ 106 w 206"/>
                    <a:gd name="T53" fmla="*/ 0 h 116"/>
                    <a:gd name="T54" fmla="*/ 106 w 206"/>
                    <a:gd name="T55" fmla="*/ 0 h 116"/>
                    <a:gd name="T56" fmla="*/ 100 w 206"/>
                    <a:gd name="T57" fmla="*/ 0 h 116"/>
                    <a:gd name="T58" fmla="*/ 94 w 206"/>
                    <a:gd name="T59" fmla="*/ 2 h 116"/>
                    <a:gd name="T60" fmla="*/ 84 w 206"/>
                    <a:gd name="T61" fmla="*/ 2 h 116"/>
                    <a:gd name="T62" fmla="*/ 84 w 206"/>
                    <a:gd name="T63" fmla="*/ 2 h 116"/>
                    <a:gd name="T64" fmla="*/ 74 w 206"/>
                    <a:gd name="T65" fmla="*/ 2 h 116"/>
                    <a:gd name="T66" fmla="*/ 68 w 206"/>
                    <a:gd name="T67" fmla="*/ 2 h 116"/>
                    <a:gd name="T68" fmla="*/ 62 w 206"/>
                    <a:gd name="T69" fmla="*/ 4 h 116"/>
                    <a:gd name="T70" fmla="*/ 62 w 206"/>
                    <a:gd name="T71" fmla="*/ 4 h 116"/>
                    <a:gd name="T72" fmla="*/ 58 w 206"/>
                    <a:gd name="T73" fmla="*/ 8 h 116"/>
                    <a:gd name="T74" fmla="*/ 52 w 206"/>
                    <a:gd name="T75" fmla="*/ 14 h 116"/>
                    <a:gd name="T76" fmla="*/ 48 w 206"/>
                    <a:gd name="T77" fmla="*/ 22 h 116"/>
                    <a:gd name="T78" fmla="*/ 44 w 206"/>
                    <a:gd name="T79" fmla="*/ 26 h 116"/>
                    <a:gd name="T80" fmla="*/ 44 w 206"/>
                    <a:gd name="T81" fmla="*/ 26 h 116"/>
                    <a:gd name="T82" fmla="*/ 36 w 206"/>
                    <a:gd name="T83" fmla="*/ 30 h 116"/>
                    <a:gd name="T84" fmla="*/ 28 w 206"/>
                    <a:gd name="T85" fmla="*/ 32 h 116"/>
                    <a:gd name="T86" fmla="*/ 20 w 206"/>
                    <a:gd name="T87" fmla="*/ 36 h 116"/>
                    <a:gd name="T88" fmla="*/ 14 w 206"/>
                    <a:gd name="T89" fmla="*/ 40 h 116"/>
                    <a:gd name="T90" fmla="*/ 14 w 206"/>
                    <a:gd name="T91" fmla="*/ 40 h 116"/>
                    <a:gd name="T92" fmla="*/ 0 w 206"/>
                    <a:gd name="T93" fmla="*/ 54 h 116"/>
                    <a:gd name="T94" fmla="*/ 10 w 206"/>
                    <a:gd name="T95" fmla="*/ 52 h 116"/>
                    <a:gd name="T96" fmla="*/ 12 w 206"/>
                    <a:gd name="T97"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6" h="116">
                      <a:moveTo>
                        <a:pt x="12" y="52"/>
                      </a:moveTo>
                      <a:lnTo>
                        <a:pt x="12" y="52"/>
                      </a:lnTo>
                      <a:lnTo>
                        <a:pt x="34" y="58"/>
                      </a:lnTo>
                      <a:lnTo>
                        <a:pt x="64" y="66"/>
                      </a:lnTo>
                      <a:lnTo>
                        <a:pt x="136" y="92"/>
                      </a:lnTo>
                      <a:lnTo>
                        <a:pt x="136" y="92"/>
                      </a:lnTo>
                      <a:lnTo>
                        <a:pt x="206" y="116"/>
                      </a:lnTo>
                      <a:lnTo>
                        <a:pt x="206" y="116"/>
                      </a:lnTo>
                      <a:lnTo>
                        <a:pt x="196" y="92"/>
                      </a:lnTo>
                      <a:lnTo>
                        <a:pt x="196" y="92"/>
                      </a:lnTo>
                      <a:lnTo>
                        <a:pt x="190" y="84"/>
                      </a:lnTo>
                      <a:lnTo>
                        <a:pt x="184" y="80"/>
                      </a:lnTo>
                      <a:lnTo>
                        <a:pt x="176" y="76"/>
                      </a:lnTo>
                      <a:lnTo>
                        <a:pt x="172" y="72"/>
                      </a:lnTo>
                      <a:lnTo>
                        <a:pt x="172" y="72"/>
                      </a:lnTo>
                      <a:lnTo>
                        <a:pt x="168" y="62"/>
                      </a:lnTo>
                      <a:lnTo>
                        <a:pt x="166" y="52"/>
                      </a:lnTo>
                      <a:lnTo>
                        <a:pt x="162" y="42"/>
                      </a:lnTo>
                      <a:lnTo>
                        <a:pt x="158" y="34"/>
                      </a:lnTo>
                      <a:lnTo>
                        <a:pt x="158" y="34"/>
                      </a:lnTo>
                      <a:lnTo>
                        <a:pt x="152" y="28"/>
                      </a:lnTo>
                      <a:lnTo>
                        <a:pt x="144" y="24"/>
                      </a:lnTo>
                      <a:lnTo>
                        <a:pt x="130" y="16"/>
                      </a:lnTo>
                      <a:lnTo>
                        <a:pt x="130" y="16"/>
                      </a:lnTo>
                      <a:lnTo>
                        <a:pt x="118" y="8"/>
                      </a:lnTo>
                      <a:lnTo>
                        <a:pt x="112" y="4"/>
                      </a:lnTo>
                      <a:lnTo>
                        <a:pt x="106" y="0"/>
                      </a:lnTo>
                      <a:lnTo>
                        <a:pt x="106" y="0"/>
                      </a:lnTo>
                      <a:lnTo>
                        <a:pt x="100" y="0"/>
                      </a:lnTo>
                      <a:lnTo>
                        <a:pt x="94" y="2"/>
                      </a:lnTo>
                      <a:lnTo>
                        <a:pt x="84" y="2"/>
                      </a:lnTo>
                      <a:lnTo>
                        <a:pt x="84" y="2"/>
                      </a:lnTo>
                      <a:lnTo>
                        <a:pt x="74" y="2"/>
                      </a:lnTo>
                      <a:lnTo>
                        <a:pt x="68" y="2"/>
                      </a:lnTo>
                      <a:lnTo>
                        <a:pt x="62" y="4"/>
                      </a:lnTo>
                      <a:lnTo>
                        <a:pt x="62" y="4"/>
                      </a:lnTo>
                      <a:lnTo>
                        <a:pt x="58" y="8"/>
                      </a:lnTo>
                      <a:lnTo>
                        <a:pt x="52" y="14"/>
                      </a:lnTo>
                      <a:lnTo>
                        <a:pt x="48" y="22"/>
                      </a:lnTo>
                      <a:lnTo>
                        <a:pt x="44" y="26"/>
                      </a:lnTo>
                      <a:lnTo>
                        <a:pt x="44" y="26"/>
                      </a:lnTo>
                      <a:lnTo>
                        <a:pt x="36" y="30"/>
                      </a:lnTo>
                      <a:lnTo>
                        <a:pt x="28" y="32"/>
                      </a:lnTo>
                      <a:lnTo>
                        <a:pt x="20" y="36"/>
                      </a:lnTo>
                      <a:lnTo>
                        <a:pt x="14" y="40"/>
                      </a:lnTo>
                      <a:lnTo>
                        <a:pt x="14" y="40"/>
                      </a:lnTo>
                      <a:lnTo>
                        <a:pt x="0" y="54"/>
                      </a:lnTo>
                      <a:lnTo>
                        <a:pt x="10" y="52"/>
                      </a:lnTo>
                      <a:lnTo>
                        <a:pt x="12" y="52"/>
                      </a:lnTo>
                      <a:close/>
                    </a:path>
                  </a:pathLst>
                </a:custGeom>
                <a:solidFill>
                  <a:srgbClr val="FFFFFF"/>
                </a:solidFill>
                <a:ln w="9525">
                  <a:noFill/>
                  <a:round/>
                  <a:headEnd/>
                  <a:tailEnd/>
                </a:ln>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41" name="Freeform 1693">
                  <a:extLst>
                    <a:ext uri="{FF2B5EF4-FFF2-40B4-BE49-F238E27FC236}">
                      <a16:creationId xmlns:a16="http://schemas.microsoft.com/office/drawing/2014/main" id="{521095BA-E915-4E15-83A8-DC374D23BB18}"/>
                    </a:ext>
                  </a:extLst>
                </p:cNvPr>
                <p:cNvSpPr>
                  <a:spLocks/>
                </p:cNvSpPr>
                <p:nvPr/>
              </p:nvSpPr>
              <p:spPr bwMode="auto">
                <a:xfrm>
                  <a:off x="-1490116" y="6363455"/>
                  <a:ext cx="130175" cy="133350"/>
                </a:xfrm>
                <a:custGeom>
                  <a:avLst/>
                  <a:gdLst>
                    <a:gd name="T0" fmla="*/ 82 w 82"/>
                    <a:gd name="T1" fmla="*/ 84 h 84"/>
                    <a:gd name="T2" fmla="*/ 0 w 82"/>
                    <a:gd name="T3" fmla="*/ 0 h 84"/>
                    <a:gd name="T4" fmla="*/ 0 w 82"/>
                    <a:gd name="T5" fmla="*/ 0 h 84"/>
                    <a:gd name="T6" fmla="*/ 40 w 82"/>
                    <a:gd name="T7" fmla="*/ 66 h 84"/>
                    <a:gd name="T8" fmla="*/ 40 w 82"/>
                    <a:gd name="T9" fmla="*/ 66 h 84"/>
                    <a:gd name="T10" fmla="*/ 48 w 82"/>
                    <a:gd name="T11" fmla="*/ 76 h 84"/>
                    <a:gd name="T12" fmla="*/ 60 w 82"/>
                    <a:gd name="T13" fmla="*/ 82 h 84"/>
                    <a:gd name="T14" fmla="*/ 70 w 82"/>
                    <a:gd name="T15" fmla="*/ 84 h 84"/>
                    <a:gd name="T16" fmla="*/ 82 w 82"/>
                    <a:gd name="T17" fmla="*/ 84 h 84"/>
                    <a:gd name="T18" fmla="*/ 82 w 82"/>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 h="84">
                      <a:moveTo>
                        <a:pt x="82" y="84"/>
                      </a:moveTo>
                      <a:lnTo>
                        <a:pt x="0" y="0"/>
                      </a:lnTo>
                      <a:lnTo>
                        <a:pt x="0" y="0"/>
                      </a:lnTo>
                      <a:lnTo>
                        <a:pt x="40" y="66"/>
                      </a:lnTo>
                      <a:lnTo>
                        <a:pt x="40" y="66"/>
                      </a:lnTo>
                      <a:lnTo>
                        <a:pt x="48" y="76"/>
                      </a:lnTo>
                      <a:lnTo>
                        <a:pt x="60" y="82"/>
                      </a:lnTo>
                      <a:lnTo>
                        <a:pt x="70" y="84"/>
                      </a:lnTo>
                      <a:lnTo>
                        <a:pt x="82" y="84"/>
                      </a:lnTo>
                      <a:lnTo>
                        <a:pt x="82" y="84"/>
                      </a:lnTo>
                      <a:close/>
                    </a:path>
                  </a:pathLst>
                </a:custGeom>
                <a:solidFill>
                  <a:schemeClr val="bg1"/>
                </a:solidFill>
                <a:ln w="9525">
                  <a:solidFill>
                    <a:srgbClr val="000000"/>
                  </a:solidFill>
                  <a:round/>
                  <a:headEnd/>
                  <a:tailEnd/>
                </a:ln>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42" name="Freeform 1694">
                  <a:extLst>
                    <a:ext uri="{FF2B5EF4-FFF2-40B4-BE49-F238E27FC236}">
                      <a16:creationId xmlns:a16="http://schemas.microsoft.com/office/drawing/2014/main" id="{7673D55C-1669-49F1-B00E-9D094EBC9DF3}"/>
                    </a:ext>
                  </a:extLst>
                </p:cNvPr>
                <p:cNvSpPr>
                  <a:spLocks/>
                </p:cNvSpPr>
                <p:nvPr/>
              </p:nvSpPr>
              <p:spPr bwMode="auto">
                <a:xfrm>
                  <a:off x="-2144166" y="6007855"/>
                  <a:ext cx="692150" cy="876300"/>
                </a:xfrm>
                <a:custGeom>
                  <a:avLst/>
                  <a:gdLst>
                    <a:gd name="T0" fmla="*/ 382 w 436"/>
                    <a:gd name="T1" fmla="*/ 552 h 552"/>
                    <a:gd name="T2" fmla="*/ 402 w 436"/>
                    <a:gd name="T3" fmla="*/ 548 h 552"/>
                    <a:gd name="T4" fmla="*/ 418 w 436"/>
                    <a:gd name="T5" fmla="*/ 536 h 552"/>
                    <a:gd name="T6" fmla="*/ 430 w 436"/>
                    <a:gd name="T7" fmla="*/ 520 h 552"/>
                    <a:gd name="T8" fmla="*/ 434 w 436"/>
                    <a:gd name="T9" fmla="*/ 500 h 552"/>
                    <a:gd name="T10" fmla="*/ 436 w 436"/>
                    <a:gd name="T11" fmla="*/ 324 h 552"/>
                    <a:gd name="T12" fmla="*/ 430 w 436"/>
                    <a:gd name="T13" fmla="*/ 302 h 552"/>
                    <a:gd name="T14" fmla="*/ 418 w 436"/>
                    <a:gd name="T15" fmla="*/ 284 h 552"/>
                    <a:gd name="T16" fmla="*/ 318 w 436"/>
                    <a:gd name="T17" fmla="*/ 198 h 552"/>
                    <a:gd name="T18" fmla="*/ 186 w 436"/>
                    <a:gd name="T19" fmla="*/ 0 h 552"/>
                    <a:gd name="T20" fmla="*/ 138 w 436"/>
                    <a:gd name="T21" fmla="*/ 130 h 552"/>
                    <a:gd name="T22" fmla="*/ 130 w 436"/>
                    <a:gd name="T23" fmla="*/ 154 h 552"/>
                    <a:gd name="T24" fmla="*/ 130 w 436"/>
                    <a:gd name="T25" fmla="*/ 174 h 552"/>
                    <a:gd name="T26" fmla="*/ 134 w 436"/>
                    <a:gd name="T27" fmla="*/ 200 h 552"/>
                    <a:gd name="T28" fmla="*/ 134 w 436"/>
                    <a:gd name="T29" fmla="*/ 358 h 552"/>
                    <a:gd name="T30" fmla="*/ 18 w 436"/>
                    <a:gd name="T31" fmla="*/ 456 h 552"/>
                    <a:gd name="T32" fmla="*/ 6 w 436"/>
                    <a:gd name="T33" fmla="*/ 472 h 552"/>
                    <a:gd name="T34" fmla="*/ 0 w 436"/>
                    <a:gd name="T35" fmla="*/ 492 h 552"/>
                    <a:gd name="T36" fmla="*/ 4 w 436"/>
                    <a:gd name="T37" fmla="*/ 512 h 552"/>
                    <a:gd name="T38" fmla="*/ 14 w 436"/>
                    <a:gd name="T39" fmla="*/ 530 h 552"/>
                    <a:gd name="T40" fmla="*/ 20 w 436"/>
                    <a:gd name="T41" fmla="*/ 536 h 552"/>
                    <a:gd name="T42" fmla="*/ 40 w 436"/>
                    <a:gd name="T43" fmla="*/ 546 h 552"/>
                    <a:gd name="T44" fmla="*/ 58 w 436"/>
                    <a:gd name="T45" fmla="*/ 548 h 552"/>
                    <a:gd name="T46" fmla="*/ 78 w 436"/>
                    <a:gd name="T47" fmla="*/ 542 h 552"/>
                    <a:gd name="T48" fmla="*/ 220 w 436"/>
                    <a:gd name="T49" fmla="*/ 420 h 552"/>
                    <a:gd name="T50" fmla="*/ 228 w 436"/>
                    <a:gd name="T51" fmla="*/ 412 h 552"/>
                    <a:gd name="T52" fmla="*/ 236 w 436"/>
                    <a:gd name="T53" fmla="*/ 394 h 552"/>
                    <a:gd name="T54" fmla="*/ 238 w 436"/>
                    <a:gd name="T55" fmla="*/ 210 h 552"/>
                    <a:gd name="T56" fmla="*/ 240 w 436"/>
                    <a:gd name="T57" fmla="*/ 210 h 552"/>
                    <a:gd name="T58" fmla="*/ 248 w 436"/>
                    <a:gd name="T59" fmla="*/ 214 h 552"/>
                    <a:gd name="T60" fmla="*/ 250 w 436"/>
                    <a:gd name="T61" fmla="*/ 222 h 552"/>
                    <a:gd name="T62" fmla="*/ 250 w 436"/>
                    <a:gd name="T63" fmla="*/ 276 h 552"/>
                    <a:gd name="T64" fmla="*/ 330 w 436"/>
                    <a:gd name="T65" fmla="*/ 500 h 552"/>
                    <a:gd name="T66" fmla="*/ 330 w 436"/>
                    <a:gd name="T67" fmla="*/ 510 h 552"/>
                    <a:gd name="T68" fmla="*/ 338 w 436"/>
                    <a:gd name="T69" fmla="*/ 528 h 552"/>
                    <a:gd name="T70" fmla="*/ 352 w 436"/>
                    <a:gd name="T71" fmla="*/ 542 h 552"/>
                    <a:gd name="T72" fmla="*/ 372 w 436"/>
                    <a:gd name="T73" fmla="*/ 550 h 552"/>
                    <a:gd name="T74" fmla="*/ 382 w 436"/>
                    <a:gd name="T75" fmla="*/ 55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6" h="552">
                      <a:moveTo>
                        <a:pt x="382" y="552"/>
                      </a:moveTo>
                      <a:lnTo>
                        <a:pt x="382" y="552"/>
                      </a:lnTo>
                      <a:lnTo>
                        <a:pt x="392" y="550"/>
                      </a:lnTo>
                      <a:lnTo>
                        <a:pt x="402" y="548"/>
                      </a:lnTo>
                      <a:lnTo>
                        <a:pt x="410" y="544"/>
                      </a:lnTo>
                      <a:lnTo>
                        <a:pt x="418" y="536"/>
                      </a:lnTo>
                      <a:lnTo>
                        <a:pt x="424" y="530"/>
                      </a:lnTo>
                      <a:lnTo>
                        <a:pt x="430" y="520"/>
                      </a:lnTo>
                      <a:lnTo>
                        <a:pt x="432" y="510"/>
                      </a:lnTo>
                      <a:lnTo>
                        <a:pt x="434" y="500"/>
                      </a:lnTo>
                      <a:lnTo>
                        <a:pt x="436" y="324"/>
                      </a:lnTo>
                      <a:lnTo>
                        <a:pt x="436" y="324"/>
                      </a:lnTo>
                      <a:lnTo>
                        <a:pt x="434" y="312"/>
                      </a:lnTo>
                      <a:lnTo>
                        <a:pt x="430" y="302"/>
                      </a:lnTo>
                      <a:lnTo>
                        <a:pt x="426" y="292"/>
                      </a:lnTo>
                      <a:lnTo>
                        <a:pt x="418" y="284"/>
                      </a:lnTo>
                      <a:lnTo>
                        <a:pt x="418" y="284"/>
                      </a:lnTo>
                      <a:lnTo>
                        <a:pt x="318" y="198"/>
                      </a:lnTo>
                      <a:lnTo>
                        <a:pt x="336" y="150"/>
                      </a:lnTo>
                      <a:lnTo>
                        <a:pt x="186" y="0"/>
                      </a:lnTo>
                      <a:lnTo>
                        <a:pt x="138" y="130"/>
                      </a:lnTo>
                      <a:lnTo>
                        <a:pt x="138" y="130"/>
                      </a:lnTo>
                      <a:lnTo>
                        <a:pt x="134" y="140"/>
                      </a:lnTo>
                      <a:lnTo>
                        <a:pt x="130" y="154"/>
                      </a:lnTo>
                      <a:lnTo>
                        <a:pt x="130" y="164"/>
                      </a:lnTo>
                      <a:lnTo>
                        <a:pt x="130" y="174"/>
                      </a:lnTo>
                      <a:lnTo>
                        <a:pt x="130" y="186"/>
                      </a:lnTo>
                      <a:lnTo>
                        <a:pt x="134" y="200"/>
                      </a:lnTo>
                      <a:lnTo>
                        <a:pt x="134" y="200"/>
                      </a:lnTo>
                      <a:lnTo>
                        <a:pt x="134" y="358"/>
                      </a:lnTo>
                      <a:lnTo>
                        <a:pt x="18" y="456"/>
                      </a:lnTo>
                      <a:lnTo>
                        <a:pt x="18" y="456"/>
                      </a:lnTo>
                      <a:lnTo>
                        <a:pt x="12" y="464"/>
                      </a:lnTo>
                      <a:lnTo>
                        <a:pt x="6" y="472"/>
                      </a:lnTo>
                      <a:lnTo>
                        <a:pt x="2" y="482"/>
                      </a:lnTo>
                      <a:lnTo>
                        <a:pt x="0" y="492"/>
                      </a:lnTo>
                      <a:lnTo>
                        <a:pt x="2" y="502"/>
                      </a:lnTo>
                      <a:lnTo>
                        <a:pt x="4" y="512"/>
                      </a:lnTo>
                      <a:lnTo>
                        <a:pt x="8" y="520"/>
                      </a:lnTo>
                      <a:lnTo>
                        <a:pt x="14" y="530"/>
                      </a:lnTo>
                      <a:lnTo>
                        <a:pt x="14" y="530"/>
                      </a:lnTo>
                      <a:lnTo>
                        <a:pt x="20" y="536"/>
                      </a:lnTo>
                      <a:lnTo>
                        <a:pt x="30" y="542"/>
                      </a:lnTo>
                      <a:lnTo>
                        <a:pt x="40" y="546"/>
                      </a:lnTo>
                      <a:lnTo>
                        <a:pt x="48" y="548"/>
                      </a:lnTo>
                      <a:lnTo>
                        <a:pt x="58" y="548"/>
                      </a:lnTo>
                      <a:lnTo>
                        <a:pt x="68" y="546"/>
                      </a:lnTo>
                      <a:lnTo>
                        <a:pt x="78" y="542"/>
                      </a:lnTo>
                      <a:lnTo>
                        <a:pt x="86" y="536"/>
                      </a:lnTo>
                      <a:lnTo>
                        <a:pt x="220" y="420"/>
                      </a:lnTo>
                      <a:lnTo>
                        <a:pt x="220" y="420"/>
                      </a:lnTo>
                      <a:lnTo>
                        <a:pt x="228" y="412"/>
                      </a:lnTo>
                      <a:lnTo>
                        <a:pt x="232" y="404"/>
                      </a:lnTo>
                      <a:lnTo>
                        <a:pt x="236" y="394"/>
                      </a:lnTo>
                      <a:lnTo>
                        <a:pt x="238" y="384"/>
                      </a:lnTo>
                      <a:lnTo>
                        <a:pt x="238" y="210"/>
                      </a:lnTo>
                      <a:lnTo>
                        <a:pt x="238" y="210"/>
                      </a:lnTo>
                      <a:lnTo>
                        <a:pt x="240" y="210"/>
                      </a:lnTo>
                      <a:lnTo>
                        <a:pt x="244" y="210"/>
                      </a:lnTo>
                      <a:lnTo>
                        <a:pt x="248" y="214"/>
                      </a:lnTo>
                      <a:lnTo>
                        <a:pt x="250" y="218"/>
                      </a:lnTo>
                      <a:lnTo>
                        <a:pt x="250" y="222"/>
                      </a:lnTo>
                      <a:lnTo>
                        <a:pt x="250" y="222"/>
                      </a:lnTo>
                      <a:lnTo>
                        <a:pt x="250" y="276"/>
                      </a:lnTo>
                      <a:lnTo>
                        <a:pt x="332" y="348"/>
                      </a:lnTo>
                      <a:lnTo>
                        <a:pt x="330" y="500"/>
                      </a:lnTo>
                      <a:lnTo>
                        <a:pt x="330" y="500"/>
                      </a:lnTo>
                      <a:lnTo>
                        <a:pt x="330" y="510"/>
                      </a:lnTo>
                      <a:lnTo>
                        <a:pt x="334" y="520"/>
                      </a:lnTo>
                      <a:lnTo>
                        <a:pt x="338" y="528"/>
                      </a:lnTo>
                      <a:lnTo>
                        <a:pt x="344" y="536"/>
                      </a:lnTo>
                      <a:lnTo>
                        <a:pt x="352" y="542"/>
                      </a:lnTo>
                      <a:lnTo>
                        <a:pt x="362" y="548"/>
                      </a:lnTo>
                      <a:lnTo>
                        <a:pt x="372" y="550"/>
                      </a:lnTo>
                      <a:lnTo>
                        <a:pt x="382" y="552"/>
                      </a:lnTo>
                      <a:lnTo>
                        <a:pt x="382" y="552"/>
                      </a:lnTo>
                      <a:close/>
                    </a:path>
                  </a:pathLst>
                </a:custGeom>
                <a:solidFill>
                  <a:srgbClr val="FFFFFF"/>
                </a:solidFill>
                <a:ln w="9525">
                  <a:noFill/>
                  <a:round/>
                  <a:headEnd/>
                  <a:tailEnd/>
                </a:ln>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43" name="Freeform 1695">
                  <a:extLst>
                    <a:ext uri="{FF2B5EF4-FFF2-40B4-BE49-F238E27FC236}">
                      <a16:creationId xmlns:a16="http://schemas.microsoft.com/office/drawing/2014/main" id="{7B67985F-2E9E-46B4-B52B-21E2C6EE80B1}"/>
                    </a:ext>
                  </a:extLst>
                </p:cNvPr>
                <p:cNvSpPr>
                  <a:spLocks/>
                </p:cNvSpPr>
                <p:nvPr/>
              </p:nvSpPr>
              <p:spPr bwMode="auto">
                <a:xfrm>
                  <a:off x="-2128291" y="5547480"/>
                  <a:ext cx="819150" cy="885825"/>
                </a:xfrm>
                <a:custGeom>
                  <a:avLst/>
                  <a:gdLst>
                    <a:gd name="T0" fmla="*/ 10 w 516"/>
                    <a:gd name="T1" fmla="*/ 172 h 558"/>
                    <a:gd name="T2" fmla="*/ 22 w 516"/>
                    <a:gd name="T3" fmla="*/ 182 h 558"/>
                    <a:gd name="T4" fmla="*/ 38 w 516"/>
                    <a:gd name="T5" fmla="*/ 186 h 558"/>
                    <a:gd name="T6" fmla="*/ 52 w 516"/>
                    <a:gd name="T7" fmla="*/ 184 h 558"/>
                    <a:gd name="T8" fmla="*/ 66 w 516"/>
                    <a:gd name="T9" fmla="*/ 176 h 558"/>
                    <a:gd name="T10" fmla="*/ 102 w 516"/>
                    <a:gd name="T11" fmla="*/ 146 h 558"/>
                    <a:gd name="T12" fmla="*/ 156 w 516"/>
                    <a:gd name="T13" fmla="*/ 98 h 558"/>
                    <a:gd name="T14" fmla="*/ 234 w 516"/>
                    <a:gd name="T15" fmla="*/ 198 h 558"/>
                    <a:gd name="T16" fmla="*/ 228 w 516"/>
                    <a:gd name="T17" fmla="*/ 202 h 558"/>
                    <a:gd name="T18" fmla="*/ 220 w 516"/>
                    <a:gd name="T19" fmla="*/ 200 h 558"/>
                    <a:gd name="T20" fmla="*/ 218 w 516"/>
                    <a:gd name="T21" fmla="*/ 196 h 558"/>
                    <a:gd name="T22" fmla="*/ 194 w 516"/>
                    <a:gd name="T23" fmla="*/ 238 h 558"/>
                    <a:gd name="T24" fmla="*/ 348 w 516"/>
                    <a:gd name="T25" fmla="*/ 384 h 558"/>
                    <a:gd name="T26" fmla="*/ 516 w 516"/>
                    <a:gd name="T27" fmla="*/ 558 h 558"/>
                    <a:gd name="T28" fmla="*/ 514 w 516"/>
                    <a:gd name="T29" fmla="*/ 548 h 558"/>
                    <a:gd name="T30" fmla="*/ 510 w 516"/>
                    <a:gd name="T31" fmla="*/ 538 h 558"/>
                    <a:gd name="T32" fmla="*/ 418 w 516"/>
                    <a:gd name="T33" fmla="*/ 262 h 558"/>
                    <a:gd name="T34" fmla="*/ 418 w 516"/>
                    <a:gd name="T35" fmla="*/ 262 h 558"/>
                    <a:gd name="T36" fmla="*/ 418 w 516"/>
                    <a:gd name="T37" fmla="*/ 260 h 558"/>
                    <a:gd name="T38" fmla="*/ 416 w 516"/>
                    <a:gd name="T39" fmla="*/ 248 h 558"/>
                    <a:gd name="T40" fmla="*/ 406 w 516"/>
                    <a:gd name="T41" fmla="*/ 226 h 558"/>
                    <a:gd name="T42" fmla="*/ 400 w 516"/>
                    <a:gd name="T43" fmla="*/ 216 h 558"/>
                    <a:gd name="T44" fmla="*/ 400 w 516"/>
                    <a:gd name="T45" fmla="*/ 216 h 558"/>
                    <a:gd name="T46" fmla="*/ 384 w 516"/>
                    <a:gd name="T47" fmla="*/ 202 h 558"/>
                    <a:gd name="T48" fmla="*/ 336 w 516"/>
                    <a:gd name="T49" fmla="*/ 164 h 558"/>
                    <a:gd name="T50" fmla="*/ 316 w 516"/>
                    <a:gd name="T51" fmla="*/ 150 h 558"/>
                    <a:gd name="T52" fmla="*/ 292 w 516"/>
                    <a:gd name="T53" fmla="*/ 142 h 558"/>
                    <a:gd name="T54" fmla="*/ 290 w 516"/>
                    <a:gd name="T55" fmla="*/ 142 h 558"/>
                    <a:gd name="T56" fmla="*/ 192 w 516"/>
                    <a:gd name="T57" fmla="*/ 14 h 558"/>
                    <a:gd name="T58" fmla="*/ 186 w 516"/>
                    <a:gd name="T59" fmla="*/ 8 h 558"/>
                    <a:gd name="T60" fmla="*/ 172 w 516"/>
                    <a:gd name="T61" fmla="*/ 2 h 558"/>
                    <a:gd name="T62" fmla="*/ 156 w 516"/>
                    <a:gd name="T63" fmla="*/ 2 h 558"/>
                    <a:gd name="T64" fmla="*/ 142 w 516"/>
                    <a:gd name="T65" fmla="*/ 6 h 558"/>
                    <a:gd name="T66" fmla="*/ 134 w 516"/>
                    <a:gd name="T67" fmla="*/ 10 h 558"/>
                    <a:gd name="T68" fmla="*/ 14 w 516"/>
                    <a:gd name="T69" fmla="*/ 116 h 558"/>
                    <a:gd name="T70" fmla="*/ 4 w 516"/>
                    <a:gd name="T71" fmla="*/ 128 h 558"/>
                    <a:gd name="T72" fmla="*/ 0 w 516"/>
                    <a:gd name="T73" fmla="*/ 144 h 558"/>
                    <a:gd name="T74" fmla="*/ 2 w 516"/>
                    <a:gd name="T75" fmla="*/ 158 h 558"/>
                    <a:gd name="T76" fmla="*/ 10 w 516"/>
                    <a:gd name="T77" fmla="*/ 172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6" h="558">
                      <a:moveTo>
                        <a:pt x="10" y="172"/>
                      </a:moveTo>
                      <a:lnTo>
                        <a:pt x="10" y="172"/>
                      </a:lnTo>
                      <a:lnTo>
                        <a:pt x="16" y="178"/>
                      </a:lnTo>
                      <a:lnTo>
                        <a:pt x="22" y="182"/>
                      </a:lnTo>
                      <a:lnTo>
                        <a:pt x="30" y="184"/>
                      </a:lnTo>
                      <a:lnTo>
                        <a:pt x="38" y="186"/>
                      </a:lnTo>
                      <a:lnTo>
                        <a:pt x="46" y="186"/>
                      </a:lnTo>
                      <a:lnTo>
                        <a:pt x="52" y="184"/>
                      </a:lnTo>
                      <a:lnTo>
                        <a:pt x="60" y="180"/>
                      </a:lnTo>
                      <a:lnTo>
                        <a:pt x="66" y="176"/>
                      </a:lnTo>
                      <a:lnTo>
                        <a:pt x="102" y="146"/>
                      </a:lnTo>
                      <a:lnTo>
                        <a:pt x="102" y="146"/>
                      </a:lnTo>
                      <a:lnTo>
                        <a:pt x="102" y="146"/>
                      </a:lnTo>
                      <a:lnTo>
                        <a:pt x="156" y="98"/>
                      </a:lnTo>
                      <a:lnTo>
                        <a:pt x="234" y="198"/>
                      </a:lnTo>
                      <a:lnTo>
                        <a:pt x="234" y="198"/>
                      </a:lnTo>
                      <a:lnTo>
                        <a:pt x="232" y="200"/>
                      </a:lnTo>
                      <a:lnTo>
                        <a:pt x="228" y="202"/>
                      </a:lnTo>
                      <a:lnTo>
                        <a:pt x="224" y="202"/>
                      </a:lnTo>
                      <a:lnTo>
                        <a:pt x="220" y="200"/>
                      </a:lnTo>
                      <a:lnTo>
                        <a:pt x="218" y="196"/>
                      </a:lnTo>
                      <a:lnTo>
                        <a:pt x="218" y="196"/>
                      </a:lnTo>
                      <a:lnTo>
                        <a:pt x="212" y="190"/>
                      </a:lnTo>
                      <a:lnTo>
                        <a:pt x="194" y="238"/>
                      </a:lnTo>
                      <a:lnTo>
                        <a:pt x="346" y="388"/>
                      </a:lnTo>
                      <a:lnTo>
                        <a:pt x="348" y="384"/>
                      </a:lnTo>
                      <a:lnTo>
                        <a:pt x="348" y="390"/>
                      </a:lnTo>
                      <a:lnTo>
                        <a:pt x="516" y="558"/>
                      </a:lnTo>
                      <a:lnTo>
                        <a:pt x="516" y="558"/>
                      </a:lnTo>
                      <a:lnTo>
                        <a:pt x="514" y="548"/>
                      </a:lnTo>
                      <a:lnTo>
                        <a:pt x="510" y="538"/>
                      </a:lnTo>
                      <a:lnTo>
                        <a:pt x="510" y="538"/>
                      </a:lnTo>
                      <a:lnTo>
                        <a:pt x="430" y="410"/>
                      </a:lnTo>
                      <a:lnTo>
                        <a:pt x="418" y="262"/>
                      </a:lnTo>
                      <a:lnTo>
                        <a:pt x="418" y="262"/>
                      </a:lnTo>
                      <a:lnTo>
                        <a:pt x="418" y="262"/>
                      </a:lnTo>
                      <a:lnTo>
                        <a:pt x="418" y="262"/>
                      </a:lnTo>
                      <a:lnTo>
                        <a:pt x="418" y="260"/>
                      </a:lnTo>
                      <a:lnTo>
                        <a:pt x="418" y="260"/>
                      </a:lnTo>
                      <a:lnTo>
                        <a:pt x="416" y="248"/>
                      </a:lnTo>
                      <a:lnTo>
                        <a:pt x="412" y="236"/>
                      </a:lnTo>
                      <a:lnTo>
                        <a:pt x="406" y="226"/>
                      </a:lnTo>
                      <a:lnTo>
                        <a:pt x="400" y="216"/>
                      </a:lnTo>
                      <a:lnTo>
                        <a:pt x="400" y="216"/>
                      </a:lnTo>
                      <a:lnTo>
                        <a:pt x="400" y="216"/>
                      </a:lnTo>
                      <a:lnTo>
                        <a:pt x="400" y="216"/>
                      </a:lnTo>
                      <a:lnTo>
                        <a:pt x="392" y="208"/>
                      </a:lnTo>
                      <a:lnTo>
                        <a:pt x="384" y="202"/>
                      </a:lnTo>
                      <a:lnTo>
                        <a:pt x="336" y="164"/>
                      </a:lnTo>
                      <a:lnTo>
                        <a:pt x="336" y="164"/>
                      </a:lnTo>
                      <a:lnTo>
                        <a:pt x="326" y="156"/>
                      </a:lnTo>
                      <a:lnTo>
                        <a:pt x="316" y="150"/>
                      </a:lnTo>
                      <a:lnTo>
                        <a:pt x="304" y="144"/>
                      </a:lnTo>
                      <a:lnTo>
                        <a:pt x="292" y="142"/>
                      </a:lnTo>
                      <a:lnTo>
                        <a:pt x="292" y="142"/>
                      </a:lnTo>
                      <a:lnTo>
                        <a:pt x="290" y="142"/>
                      </a:lnTo>
                      <a:lnTo>
                        <a:pt x="290" y="142"/>
                      </a:lnTo>
                      <a:lnTo>
                        <a:pt x="192" y="14"/>
                      </a:lnTo>
                      <a:lnTo>
                        <a:pt x="192" y="14"/>
                      </a:lnTo>
                      <a:lnTo>
                        <a:pt x="186" y="8"/>
                      </a:lnTo>
                      <a:lnTo>
                        <a:pt x="178" y="4"/>
                      </a:lnTo>
                      <a:lnTo>
                        <a:pt x="172" y="2"/>
                      </a:lnTo>
                      <a:lnTo>
                        <a:pt x="164" y="0"/>
                      </a:lnTo>
                      <a:lnTo>
                        <a:pt x="156" y="2"/>
                      </a:lnTo>
                      <a:lnTo>
                        <a:pt x="148" y="2"/>
                      </a:lnTo>
                      <a:lnTo>
                        <a:pt x="142" y="6"/>
                      </a:lnTo>
                      <a:lnTo>
                        <a:pt x="134" y="10"/>
                      </a:lnTo>
                      <a:lnTo>
                        <a:pt x="134" y="10"/>
                      </a:lnTo>
                      <a:lnTo>
                        <a:pt x="14" y="116"/>
                      </a:lnTo>
                      <a:lnTo>
                        <a:pt x="14" y="116"/>
                      </a:lnTo>
                      <a:lnTo>
                        <a:pt x="8" y="122"/>
                      </a:lnTo>
                      <a:lnTo>
                        <a:pt x="4" y="128"/>
                      </a:lnTo>
                      <a:lnTo>
                        <a:pt x="2" y="136"/>
                      </a:lnTo>
                      <a:lnTo>
                        <a:pt x="0" y="144"/>
                      </a:lnTo>
                      <a:lnTo>
                        <a:pt x="0" y="150"/>
                      </a:lnTo>
                      <a:lnTo>
                        <a:pt x="2" y="158"/>
                      </a:lnTo>
                      <a:lnTo>
                        <a:pt x="6" y="166"/>
                      </a:lnTo>
                      <a:lnTo>
                        <a:pt x="10" y="172"/>
                      </a:lnTo>
                      <a:lnTo>
                        <a:pt x="10" y="172"/>
                      </a:lnTo>
                      <a:close/>
                    </a:path>
                  </a:pathLst>
                </a:custGeom>
                <a:solidFill>
                  <a:srgbClr val="FFFFFF"/>
                </a:solidFill>
                <a:ln w="9525">
                  <a:noFill/>
                  <a:round/>
                  <a:headEnd/>
                  <a:tailEnd/>
                </a:ln>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sp>
              <p:nvSpPr>
                <p:cNvPr id="44" name="Freeform 1696">
                  <a:extLst>
                    <a:ext uri="{FF2B5EF4-FFF2-40B4-BE49-F238E27FC236}">
                      <a16:creationId xmlns:a16="http://schemas.microsoft.com/office/drawing/2014/main" id="{07536A5D-2BC3-462A-8B9E-1CA818C2A4A4}"/>
                    </a:ext>
                  </a:extLst>
                </p:cNvPr>
                <p:cNvSpPr>
                  <a:spLocks/>
                </p:cNvSpPr>
                <p:nvPr/>
              </p:nvSpPr>
              <p:spPr bwMode="auto">
                <a:xfrm>
                  <a:off x="-1683791" y="5477630"/>
                  <a:ext cx="304800" cy="304800"/>
                </a:xfrm>
                <a:custGeom>
                  <a:avLst/>
                  <a:gdLst>
                    <a:gd name="T0" fmla="*/ 62 w 192"/>
                    <a:gd name="T1" fmla="*/ 186 h 192"/>
                    <a:gd name="T2" fmla="*/ 62 w 192"/>
                    <a:gd name="T3" fmla="*/ 186 h 192"/>
                    <a:gd name="T4" fmla="*/ 80 w 192"/>
                    <a:gd name="T5" fmla="*/ 192 h 192"/>
                    <a:gd name="T6" fmla="*/ 100 w 192"/>
                    <a:gd name="T7" fmla="*/ 192 h 192"/>
                    <a:gd name="T8" fmla="*/ 118 w 192"/>
                    <a:gd name="T9" fmla="*/ 190 h 192"/>
                    <a:gd name="T10" fmla="*/ 136 w 192"/>
                    <a:gd name="T11" fmla="*/ 184 h 192"/>
                    <a:gd name="T12" fmla="*/ 152 w 192"/>
                    <a:gd name="T13" fmla="*/ 176 h 192"/>
                    <a:gd name="T14" fmla="*/ 166 w 192"/>
                    <a:gd name="T15" fmla="*/ 164 h 192"/>
                    <a:gd name="T16" fmla="*/ 178 w 192"/>
                    <a:gd name="T17" fmla="*/ 148 h 192"/>
                    <a:gd name="T18" fmla="*/ 186 w 192"/>
                    <a:gd name="T19" fmla="*/ 130 h 192"/>
                    <a:gd name="T20" fmla="*/ 186 w 192"/>
                    <a:gd name="T21" fmla="*/ 130 h 192"/>
                    <a:gd name="T22" fmla="*/ 192 w 192"/>
                    <a:gd name="T23" fmla="*/ 112 h 192"/>
                    <a:gd name="T24" fmla="*/ 192 w 192"/>
                    <a:gd name="T25" fmla="*/ 92 h 192"/>
                    <a:gd name="T26" fmla="*/ 190 w 192"/>
                    <a:gd name="T27" fmla="*/ 74 h 192"/>
                    <a:gd name="T28" fmla="*/ 184 w 192"/>
                    <a:gd name="T29" fmla="*/ 56 h 192"/>
                    <a:gd name="T30" fmla="*/ 176 w 192"/>
                    <a:gd name="T31" fmla="*/ 40 h 192"/>
                    <a:gd name="T32" fmla="*/ 162 w 192"/>
                    <a:gd name="T33" fmla="*/ 26 h 192"/>
                    <a:gd name="T34" fmla="*/ 148 w 192"/>
                    <a:gd name="T35" fmla="*/ 14 h 192"/>
                    <a:gd name="T36" fmla="*/ 130 w 192"/>
                    <a:gd name="T37" fmla="*/ 6 h 192"/>
                    <a:gd name="T38" fmla="*/ 130 w 192"/>
                    <a:gd name="T39" fmla="*/ 6 h 192"/>
                    <a:gd name="T40" fmla="*/ 112 w 192"/>
                    <a:gd name="T41" fmla="*/ 0 h 192"/>
                    <a:gd name="T42" fmla="*/ 92 w 192"/>
                    <a:gd name="T43" fmla="*/ 0 h 192"/>
                    <a:gd name="T44" fmla="*/ 74 w 192"/>
                    <a:gd name="T45" fmla="*/ 2 h 192"/>
                    <a:gd name="T46" fmla="*/ 56 w 192"/>
                    <a:gd name="T47" fmla="*/ 8 h 192"/>
                    <a:gd name="T48" fmla="*/ 40 w 192"/>
                    <a:gd name="T49" fmla="*/ 18 h 192"/>
                    <a:gd name="T50" fmla="*/ 26 w 192"/>
                    <a:gd name="T51" fmla="*/ 30 h 192"/>
                    <a:gd name="T52" fmla="*/ 14 w 192"/>
                    <a:gd name="T53" fmla="*/ 44 h 192"/>
                    <a:gd name="T54" fmla="*/ 6 w 192"/>
                    <a:gd name="T55" fmla="*/ 62 h 192"/>
                    <a:gd name="T56" fmla="*/ 6 w 192"/>
                    <a:gd name="T57" fmla="*/ 62 h 192"/>
                    <a:gd name="T58" fmla="*/ 0 w 192"/>
                    <a:gd name="T59" fmla="*/ 80 h 192"/>
                    <a:gd name="T60" fmla="*/ 0 w 192"/>
                    <a:gd name="T61" fmla="*/ 100 h 192"/>
                    <a:gd name="T62" fmla="*/ 2 w 192"/>
                    <a:gd name="T63" fmla="*/ 118 h 192"/>
                    <a:gd name="T64" fmla="*/ 8 w 192"/>
                    <a:gd name="T65" fmla="*/ 136 h 192"/>
                    <a:gd name="T66" fmla="*/ 16 w 192"/>
                    <a:gd name="T67" fmla="*/ 152 h 192"/>
                    <a:gd name="T68" fmla="*/ 30 w 192"/>
                    <a:gd name="T69" fmla="*/ 166 h 192"/>
                    <a:gd name="T70" fmla="*/ 44 w 192"/>
                    <a:gd name="T71" fmla="*/ 178 h 192"/>
                    <a:gd name="T72" fmla="*/ 62 w 192"/>
                    <a:gd name="T73" fmla="*/ 186 h 192"/>
                    <a:gd name="T74" fmla="*/ 62 w 192"/>
                    <a:gd name="T75" fmla="*/ 18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2" h="192">
                      <a:moveTo>
                        <a:pt x="62" y="186"/>
                      </a:moveTo>
                      <a:lnTo>
                        <a:pt x="62" y="186"/>
                      </a:lnTo>
                      <a:lnTo>
                        <a:pt x="80" y="192"/>
                      </a:lnTo>
                      <a:lnTo>
                        <a:pt x="100" y="192"/>
                      </a:lnTo>
                      <a:lnTo>
                        <a:pt x="118" y="190"/>
                      </a:lnTo>
                      <a:lnTo>
                        <a:pt x="136" y="184"/>
                      </a:lnTo>
                      <a:lnTo>
                        <a:pt x="152" y="176"/>
                      </a:lnTo>
                      <a:lnTo>
                        <a:pt x="166" y="164"/>
                      </a:lnTo>
                      <a:lnTo>
                        <a:pt x="178" y="148"/>
                      </a:lnTo>
                      <a:lnTo>
                        <a:pt x="186" y="130"/>
                      </a:lnTo>
                      <a:lnTo>
                        <a:pt x="186" y="130"/>
                      </a:lnTo>
                      <a:lnTo>
                        <a:pt x="192" y="112"/>
                      </a:lnTo>
                      <a:lnTo>
                        <a:pt x="192" y="92"/>
                      </a:lnTo>
                      <a:lnTo>
                        <a:pt x="190" y="74"/>
                      </a:lnTo>
                      <a:lnTo>
                        <a:pt x="184" y="56"/>
                      </a:lnTo>
                      <a:lnTo>
                        <a:pt x="176" y="40"/>
                      </a:lnTo>
                      <a:lnTo>
                        <a:pt x="162" y="26"/>
                      </a:lnTo>
                      <a:lnTo>
                        <a:pt x="148" y="14"/>
                      </a:lnTo>
                      <a:lnTo>
                        <a:pt x="130" y="6"/>
                      </a:lnTo>
                      <a:lnTo>
                        <a:pt x="130" y="6"/>
                      </a:lnTo>
                      <a:lnTo>
                        <a:pt x="112" y="0"/>
                      </a:lnTo>
                      <a:lnTo>
                        <a:pt x="92" y="0"/>
                      </a:lnTo>
                      <a:lnTo>
                        <a:pt x="74" y="2"/>
                      </a:lnTo>
                      <a:lnTo>
                        <a:pt x="56" y="8"/>
                      </a:lnTo>
                      <a:lnTo>
                        <a:pt x="40" y="18"/>
                      </a:lnTo>
                      <a:lnTo>
                        <a:pt x="26" y="30"/>
                      </a:lnTo>
                      <a:lnTo>
                        <a:pt x="14" y="44"/>
                      </a:lnTo>
                      <a:lnTo>
                        <a:pt x="6" y="62"/>
                      </a:lnTo>
                      <a:lnTo>
                        <a:pt x="6" y="62"/>
                      </a:lnTo>
                      <a:lnTo>
                        <a:pt x="0" y="80"/>
                      </a:lnTo>
                      <a:lnTo>
                        <a:pt x="0" y="100"/>
                      </a:lnTo>
                      <a:lnTo>
                        <a:pt x="2" y="118"/>
                      </a:lnTo>
                      <a:lnTo>
                        <a:pt x="8" y="136"/>
                      </a:lnTo>
                      <a:lnTo>
                        <a:pt x="16" y="152"/>
                      </a:lnTo>
                      <a:lnTo>
                        <a:pt x="30" y="166"/>
                      </a:lnTo>
                      <a:lnTo>
                        <a:pt x="44" y="178"/>
                      </a:lnTo>
                      <a:lnTo>
                        <a:pt x="62" y="186"/>
                      </a:lnTo>
                      <a:lnTo>
                        <a:pt x="62" y="186"/>
                      </a:lnTo>
                      <a:close/>
                    </a:path>
                  </a:pathLst>
                </a:custGeom>
                <a:solidFill>
                  <a:srgbClr val="FFFFFF"/>
                </a:solidFill>
                <a:ln w="9525">
                  <a:noFill/>
                  <a:round/>
                  <a:headEnd/>
                  <a:tailEnd/>
                </a:ln>
              </p:spPr>
              <p:txBody>
                <a:bodyPr vert="horz" wrap="square" lIns="43063" tIns="21532" rIns="43063" bIns="21532" numCol="1" anchor="t" anchorCtr="0" compatLnSpc="1">
                  <a:prstTxWarp prst="textNoShape">
                    <a:avLst/>
                  </a:prstTxWarp>
                </a:bodyPr>
                <a:lstStyle/>
                <a:p>
                  <a:pPr>
                    <a:defRPr/>
                  </a:pPr>
                  <a:endParaRPr lang="en-GB" sz="848" kern="0" dirty="0">
                    <a:solidFill>
                      <a:srgbClr val="000000"/>
                    </a:solidFill>
                    <a:latin typeface="Arial"/>
                  </a:endParaRPr>
                </a:p>
              </p:txBody>
            </p:sp>
          </p:grpSp>
        </p:grpSp>
        <p:grpSp>
          <p:nvGrpSpPr>
            <p:cNvPr id="25" name="Group 32">
              <a:extLst>
                <a:ext uri="{FF2B5EF4-FFF2-40B4-BE49-F238E27FC236}">
                  <a16:creationId xmlns:a16="http://schemas.microsoft.com/office/drawing/2014/main" id="{258D300D-3715-470E-8BAB-12E68C3A01DC}"/>
                </a:ext>
              </a:extLst>
            </p:cNvPr>
            <p:cNvGrpSpPr/>
            <p:nvPr/>
          </p:nvGrpSpPr>
          <p:grpSpPr>
            <a:xfrm>
              <a:off x="3836980" y="2584822"/>
              <a:ext cx="661979" cy="612000"/>
              <a:chOff x="3836980" y="2584822"/>
              <a:chExt cx="661979" cy="612000"/>
            </a:xfrm>
          </p:grpSpPr>
          <p:sp>
            <p:nvSpPr>
              <p:cNvPr id="34" name="Oval 33">
                <a:extLst>
                  <a:ext uri="{FF2B5EF4-FFF2-40B4-BE49-F238E27FC236}">
                    <a16:creationId xmlns:a16="http://schemas.microsoft.com/office/drawing/2014/main" id="{B358CD0E-4A98-405D-98E2-B2A15A52DCB6}"/>
                  </a:ext>
                </a:extLst>
              </p:cNvPr>
              <p:cNvSpPr/>
              <p:nvPr/>
            </p:nvSpPr>
            <p:spPr bwMode="ltGray">
              <a:xfrm>
                <a:off x="3836980" y="2584822"/>
                <a:ext cx="661979" cy="612000"/>
              </a:xfrm>
              <a:prstGeom prst="ellipse">
                <a:avLst/>
              </a:prstGeom>
              <a:solidFill>
                <a:srgbClr val="DB536A"/>
              </a:solidFill>
              <a:ln w="3175" cap="flat" cmpd="sng" algn="ctr">
                <a:solidFill>
                  <a:srgbClr val="DB536A"/>
                </a:solidFill>
                <a:prstDash val="solid"/>
              </a:ln>
              <a:effectLst/>
            </p:spPr>
            <p:txBody>
              <a:bodyPr rtlCol="0" anchor="ctr"/>
              <a:lstStyle/>
              <a:p>
                <a:pPr algn="ctr">
                  <a:defRPr/>
                </a:pPr>
                <a:endParaRPr lang="en-GB" sz="935" kern="0" dirty="0">
                  <a:solidFill>
                    <a:srgbClr val="FFFFFF"/>
                  </a:solidFill>
                  <a:latin typeface="Georgia" pitchFamily="18" charset="0"/>
                </a:endParaRPr>
              </a:p>
            </p:txBody>
          </p:sp>
          <p:sp>
            <p:nvSpPr>
              <p:cNvPr id="35" name="Freeform 119">
                <a:extLst>
                  <a:ext uri="{FF2B5EF4-FFF2-40B4-BE49-F238E27FC236}">
                    <a16:creationId xmlns:a16="http://schemas.microsoft.com/office/drawing/2014/main" id="{BABD86EB-DD4D-46F9-81A1-EADD6CF312F6}"/>
                  </a:ext>
                </a:extLst>
              </p:cNvPr>
              <p:cNvSpPr>
                <a:spLocks noEditPoints="1"/>
              </p:cNvSpPr>
              <p:nvPr/>
            </p:nvSpPr>
            <p:spPr bwMode="auto">
              <a:xfrm>
                <a:off x="4000097" y="2656139"/>
                <a:ext cx="341313" cy="420688"/>
              </a:xfrm>
              <a:custGeom>
                <a:avLst/>
                <a:gdLst>
                  <a:gd name="T0" fmla="*/ 508 w 1075"/>
                  <a:gd name="T1" fmla="*/ 989 h 1326"/>
                  <a:gd name="T2" fmla="*/ 592 w 1075"/>
                  <a:gd name="T3" fmla="*/ 891 h 1326"/>
                  <a:gd name="T4" fmla="*/ 740 w 1075"/>
                  <a:gd name="T5" fmla="*/ 847 h 1326"/>
                  <a:gd name="T6" fmla="*/ 1007 w 1075"/>
                  <a:gd name="T7" fmla="*/ 934 h 1326"/>
                  <a:gd name="T8" fmla="*/ 1048 w 1075"/>
                  <a:gd name="T9" fmla="*/ 1029 h 1326"/>
                  <a:gd name="T10" fmla="*/ 1072 w 1075"/>
                  <a:gd name="T11" fmla="*/ 1140 h 1326"/>
                  <a:gd name="T12" fmla="*/ 1072 w 1075"/>
                  <a:gd name="T13" fmla="*/ 1269 h 1326"/>
                  <a:gd name="T14" fmla="*/ 17 w 1075"/>
                  <a:gd name="T15" fmla="*/ 1326 h 1326"/>
                  <a:gd name="T16" fmla="*/ 1 w 1075"/>
                  <a:gd name="T17" fmla="*/ 1201 h 1326"/>
                  <a:gd name="T18" fmla="*/ 10 w 1075"/>
                  <a:gd name="T19" fmla="*/ 1069 h 1326"/>
                  <a:gd name="T20" fmla="*/ 42 w 1075"/>
                  <a:gd name="T21" fmla="*/ 981 h 1326"/>
                  <a:gd name="T22" fmla="*/ 102 w 1075"/>
                  <a:gd name="T23" fmla="*/ 909 h 1326"/>
                  <a:gd name="T24" fmla="*/ 234 w 1075"/>
                  <a:gd name="T25" fmla="*/ 549 h 1326"/>
                  <a:gd name="T26" fmla="*/ 265 w 1075"/>
                  <a:gd name="T27" fmla="*/ 650 h 1326"/>
                  <a:gd name="T28" fmla="*/ 317 w 1075"/>
                  <a:gd name="T29" fmla="*/ 735 h 1326"/>
                  <a:gd name="T30" fmla="*/ 378 w 1075"/>
                  <a:gd name="T31" fmla="*/ 794 h 1326"/>
                  <a:gd name="T32" fmla="*/ 450 w 1075"/>
                  <a:gd name="T33" fmla="*/ 834 h 1326"/>
                  <a:gd name="T34" fmla="*/ 529 w 1075"/>
                  <a:gd name="T35" fmla="*/ 851 h 1326"/>
                  <a:gd name="T36" fmla="*/ 579 w 1075"/>
                  <a:gd name="T37" fmla="*/ 849 h 1326"/>
                  <a:gd name="T38" fmla="*/ 657 w 1075"/>
                  <a:gd name="T39" fmla="*/ 827 h 1326"/>
                  <a:gd name="T40" fmla="*/ 726 w 1075"/>
                  <a:gd name="T41" fmla="*/ 783 h 1326"/>
                  <a:gd name="T42" fmla="*/ 774 w 1075"/>
                  <a:gd name="T43" fmla="*/ 735 h 1326"/>
                  <a:gd name="T44" fmla="*/ 836 w 1075"/>
                  <a:gd name="T45" fmla="*/ 629 h 1326"/>
                  <a:gd name="T46" fmla="*/ 895 w 1075"/>
                  <a:gd name="T47" fmla="*/ 472 h 1326"/>
                  <a:gd name="T48" fmla="*/ 915 w 1075"/>
                  <a:gd name="T49" fmla="*/ 366 h 1326"/>
                  <a:gd name="T50" fmla="*/ 905 w 1075"/>
                  <a:gd name="T51" fmla="*/ 273 h 1326"/>
                  <a:gd name="T52" fmla="*/ 867 w 1075"/>
                  <a:gd name="T53" fmla="*/ 176 h 1326"/>
                  <a:gd name="T54" fmla="*/ 805 w 1075"/>
                  <a:gd name="T55" fmla="*/ 99 h 1326"/>
                  <a:gd name="T56" fmla="*/ 769 w 1075"/>
                  <a:gd name="T57" fmla="*/ 157 h 1326"/>
                  <a:gd name="T58" fmla="*/ 706 w 1075"/>
                  <a:gd name="T59" fmla="*/ 249 h 1326"/>
                  <a:gd name="T60" fmla="*/ 714 w 1075"/>
                  <a:gd name="T61" fmla="*/ 190 h 1326"/>
                  <a:gd name="T62" fmla="*/ 746 w 1075"/>
                  <a:gd name="T63" fmla="*/ 74 h 1326"/>
                  <a:gd name="T64" fmla="*/ 681 w 1075"/>
                  <a:gd name="T65" fmla="*/ 23 h 1326"/>
                  <a:gd name="T66" fmla="*/ 552 w 1075"/>
                  <a:gd name="T67" fmla="*/ 0 h 1326"/>
                  <a:gd name="T68" fmla="*/ 441 w 1075"/>
                  <a:gd name="T69" fmla="*/ 16 h 1326"/>
                  <a:gd name="T70" fmla="*/ 341 w 1075"/>
                  <a:gd name="T71" fmla="*/ 61 h 1326"/>
                  <a:gd name="T72" fmla="*/ 366 w 1075"/>
                  <a:gd name="T73" fmla="*/ 166 h 1326"/>
                  <a:gd name="T74" fmla="*/ 384 w 1075"/>
                  <a:gd name="T75" fmla="*/ 249 h 1326"/>
                  <a:gd name="T76" fmla="*/ 332 w 1075"/>
                  <a:gd name="T77" fmla="*/ 180 h 1326"/>
                  <a:gd name="T78" fmla="*/ 299 w 1075"/>
                  <a:gd name="T79" fmla="*/ 92 h 1326"/>
                  <a:gd name="T80" fmla="*/ 232 w 1075"/>
                  <a:gd name="T81" fmla="*/ 160 h 1326"/>
                  <a:gd name="T82" fmla="*/ 187 w 1075"/>
                  <a:gd name="T83" fmla="*/ 254 h 1326"/>
                  <a:gd name="T84" fmla="*/ 169 w 1075"/>
                  <a:gd name="T85" fmla="*/ 348 h 1326"/>
                  <a:gd name="T86" fmla="*/ 186 w 1075"/>
                  <a:gd name="T87" fmla="*/ 472 h 1326"/>
                  <a:gd name="T88" fmla="*/ 795 w 1075"/>
                  <a:gd name="T89" fmla="*/ 472 h 1326"/>
                  <a:gd name="T90" fmla="*/ 763 w 1075"/>
                  <a:gd name="T91" fmla="*/ 619 h 1326"/>
                  <a:gd name="T92" fmla="*/ 702 w 1075"/>
                  <a:gd name="T93" fmla="*/ 710 h 1326"/>
                  <a:gd name="T94" fmla="*/ 641 w 1075"/>
                  <a:gd name="T95" fmla="*/ 756 h 1326"/>
                  <a:gd name="T96" fmla="*/ 583 w 1075"/>
                  <a:gd name="T97" fmla="*/ 776 h 1326"/>
                  <a:gd name="T98" fmla="*/ 546 w 1075"/>
                  <a:gd name="T99" fmla="*/ 781 h 1326"/>
                  <a:gd name="T100" fmla="*/ 486 w 1075"/>
                  <a:gd name="T101" fmla="*/ 771 h 1326"/>
                  <a:gd name="T102" fmla="*/ 429 w 1075"/>
                  <a:gd name="T103" fmla="*/ 744 h 1326"/>
                  <a:gd name="T104" fmla="*/ 373 w 1075"/>
                  <a:gd name="T105" fmla="*/ 691 h 1326"/>
                  <a:gd name="T106" fmla="*/ 310 w 1075"/>
                  <a:gd name="T107" fmla="*/ 564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75" h="1326">
                    <a:moveTo>
                      <a:pt x="110" y="907"/>
                    </a:moveTo>
                    <a:lnTo>
                      <a:pt x="337" y="847"/>
                    </a:lnTo>
                    <a:lnTo>
                      <a:pt x="381" y="882"/>
                    </a:lnTo>
                    <a:lnTo>
                      <a:pt x="477" y="1136"/>
                    </a:lnTo>
                    <a:lnTo>
                      <a:pt x="508" y="989"/>
                    </a:lnTo>
                    <a:lnTo>
                      <a:pt x="471" y="960"/>
                    </a:lnTo>
                    <a:lnTo>
                      <a:pt x="494" y="891"/>
                    </a:lnTo>
                    <a:lnTo>
                      <a:pt x="528" y="891"/>
                    </a:lnTo>
                    <a:lnTo>
                      <a:pt x="558" y="891"/>
                    </a:lnTo>
                    <a:lnTo>
                      <a:pt x="592" y="891"/>
                    </a:lnTo>
                    <a:lnTo>
                      <a:pt x="615" y="960"/>
                    </a:lnTo>
                    <a:lnTo>
                      <a:pt x="578" y="989"/>
                    </a:lnTo>
                    <a:lnTo>
                      <a:pt x="610" y="1142"/>
                    </a:lnTo>
                    <a:lnTo>
                      <a:pt x="697" y="882"/>
                    </a:lnTo>
                    <a:lnTo>
                      <a:pt x="740" y="847"/>
                    </a:lnTo>
                    <a:lnTo>
                      <a:pt x="977" y="905"/>
                    </a:lnTo>
                    <a:lnTo>
                      <a:pt x="989" y="909"/>
                    </a:lnTo>
                    <a:lnTo>
                      <a:pt x="996" y="918"/>
                    </a:lnTo>
                    <a:lnTo>
                      <a:pt x="996" y="918"/>
                    </a:lnTo>
                    <a:lnTo>
                      <a:pt x="1007" y="934"/>
                    </a:lnTo>
                    <a:lnTo>
                      <a:pt x="1018" y="950"/>
                    </a:lnTo>
                    <a:lnTo>
                      <a:pt x="1018" y="950"/>
                    </a:lnTo>
                    <a:lnTo>
                      <a:pt x="1034" y="989"/>
                    </a:lnTo>
                    <a:lnTo>
                      <a:pt x="1042" y="1008"/>
                    </a:lnTo>
                    <a:lnTo>
                      <a:pt x="1048" y="1029"/>
                    </a:lnTo>
                    <a:lnTo>
                      <a:pt x="1055" y="1051"/>
                    </a:lnTo>
                    <a:lnTo>
                      <a:pt x="1060" y="1071"/>
                    </a:lnTo>
                    <a:lnTo>
                      <a:pt x="1066" y="1094"/>
                    </a:lnTo>
                    <a:lnTo>
                      <a:pt x="1069" y="1117"/>
                    </a:lnTo>
                    <a:lnTo>
                      <a:pt x="1072" y="1140"/>
                    </a:lnTo>
                    <a:lnTo>
                      <a:pt x="1074" y="1163"/>
                    </a:lnTo>
                    <a:lnTo>
                      <a:pt x="1075" y="1188"/>
                    </a:lnTo>
                    <a:lnTo>
                      <a:pt x="1075" y="1214"/>
                    </a:lnTo>
                    <a:lnTo>
                      <a:pt x="1074" y="1240"/>
                    </a:lnTo>
                    <a:lnTo>
                      <a:pt x="1072" y="1269"/>
                    </a:lnTo>
                    <a:lnTo>
                      <a:pt x="1069" y="1297"/>
                    </a:lnTo>
                    <a:lnTo>
                      <a:pt x="1063" y="1326"/>
                    </a:lnTo>
                    <a:lnTo>
                      <a:pt x="1032" y="1326"/>
                    </a:lnTo>
                    <a:lnTo>
                      <a:pt x="46" y="1326"/>
                    </a:lnTo>
                    <a:lnTo>
                      <a:pt x="17" y="1326"/>
                    </a:lnTo>
                    <a:lnTo>
                      <a:pt x="12" y="1297"/>
                    </a:lnTo>
                    <a:lnTo>
                      <a:pt x="12" y="1297"/>
                    </a:lnTo>
                    <a:lnTo>
                      <a:pt x="6" y="1264"/>
                    </a:lnTo>
                    <a:lnTo>
                      <a:pt x="3" y="1232"/>
                    </a:lnTo>
                    <a:lnTo>
                      <a:pt x="1" y="1201"/>
                    </a:lnTo>
                    <a:lnTo>
                      <a:pt x="0" y="1173"/>
                    </a:lnTo>
                    <a:lnTo>
                      <a:pt x="0" y="1145"/>
                    </a:lnTo>
                    <a:lnTo>
                      <a:pt x="2" y="1119"/>
                    </a:lnTo>
                    <a:lnTo>
                      <a:pt x="5" y="1093"/>
                    </a:lnTo>
                    <a:lnTo>
                      <a:pt x="10" y="1069"/>
                    </a:lnTo>
                    <a:lnTo>
                      <a:pt x="10" y="1069"/>
                    </a:lnTo>
                    <a:lnTo>
                      <a:pt x="15" y="1045"/>
                    </a:lnTo>
                    <a:lnTo>
                      <a:pt x="23" y="1023"/>
                    </a:lnTo>
                    <a:lnTo>
                      <a:pt x="31" y="1002"/>
                    </a:lnTo>
                    <a:lnTo>
                      <a:pt x="42" y="981"/>
                    </a:lnTo>
                    <a:lnTo>
                      <a:pt x="53" y="963"/>
                    </a:lnTo>
                    <a:lnTo>
                      <a:pt x="66" y="946"/>
                    </a:lnTo>
                    <a:lnTo>
                      <a:pt x="80" y="929"/>
                    </a:lnTo>
                    <a:lnTo>
                      <a:pt x="95" y="914"/>
                    </a:lnTo>
                    <a:lnTo>
                      <a:pt x="102" y="909"/>
                    </a:lnTo>
                    <a:lnTo>
                      <a:pt x="110" y="907"/>
                    </a:lnTo>
                    <a:lnTo>
                      <a:pt x="110" y="907"/>
                    </a:lnTo>
                    <a:close/>
                    <a:moveTo>
                      <a:pt x="186" y="472"/>
                    </a:moveTo>
                    <a:lnTo>
                      <a:pt x="223" y="472"/>
                    </a:lnTo>
                    <a:lnTo>
                      <a:pt x="234" y="549"/>
                    </a:lnTo>
                    <a:lnTo>
                      <a:pt x="234" y="549"/>
                    </a:lnTo>
                    <a:lnTo>
                      <a:pt x="239" y="576"/>
                    </a:lnTo>
                    <a:lnTo>
                      <a:pt x="247" y="601"/>
                    </a:lnTo>
                    <a:lnTo>
                      <a:pt x="256" y="626"/>
                    </a:lnTo>
                    <a:lnTo>
                      <a:pt x="265" y="650"/>
                    </a:lnTo>
                    <a:lnTo>
                      <a:pt x="277" y="672"/>
                    </a:lnTo>
                    <a:lnTo>
                      <a:pt x="289" y="695"/>
                    </a:lnTo>
                    <a:lnTo>
                      <a:pt x="303" y="716"/>
                    </a:lnTo>
                    <a:lnTo>
                      <a:pt x="317" y="735"/>
                    </a:lnTo>
                    <a:lnTo>
                      <a:pt x="317" y="735"/>
                    </a:lnTo>
                    <a:lnTo>
                      <a:pt x="329" y="748"/>
                    </a:lnTo>
                    <a:lnTo>
                      <a:pt x="340" y="760"/>
                    </a:lnTo>
                    <a:lnTo>
                      <a:pt x="353" y="772"/>
                    </a:lnTo>
                    <a:lnTo>
                      <a:pt x="365" y="783"/>
                    </a:lnTo>
                    <a:lnTo>
                      <a:pt x="378" y="794"/>
                    </a:lnTo>
                    <a:lnTo>
                      <a:pt x="392" y="804"/>
                    </a:lnTo>
                    <a:lnTo>
                      <a:pt x="406" y="812"/>
                    </a:lnTo>
                    <a:lnTo>
                      <a:pt x="420" y="820"/>
                    </a:lnTo>
                    <a:lnTo>
                      <a:pt x="435" y="827"/>
                    </a:lnTo>
                    <a:lnTo>
                      <a:pt x="450" y="834"/>
                    </a:lnTo>
                    <a:lnTo>
                      <a:pt x="465" y="838"/>
                    </a:lnTo>
                    <a:lnTo>
                      <a:pt x="481" y="844"/>
                    </a:lnTo>
                    <a:lnTo>
                      <a:pt x="496" y="847"/>
                    </a:lnTo>
                    <a:lnTo>
                      <a:pt x="513" y="849"/>
                    </a:lnTo>
                    <a:lnTo>
                      <a:pt x="529" y="851"/>
                    </a:lnTo>
                    <a:lnTo>
                      <a:pt x="546" y="851"/>
                    </a:lnTo>
                    <a:lnTo>
                      <a:pt x="546" y="851"/>
                    </a:lnTo>
                    <a:lnTo>
                      <a:pt x="546" y="851"/>
                    </a:lnTo>
                    <a:lnTo>
                      <a:pt x="563" y="851"/>
                    </a:lnTo>
                    <a:lnTo>
                      <a:pt x="579" y="849"/>
                    </a:lnTo>
                    <a:lnTo>
                      <a:pt x="595" y="847"/>
                    </a:lnTo>
                    <a:lnTo>
                      <a:pt x="611" y="844"/>
                    </a:lnTo>
                    <a:lnTo>
                      <a:pt x="626" y="838"/>
                    </a:lnTo>
                    <a:lnTo>
                      <a:pt x="642" y="834"/>
                    </a:lnTo>
                    <a:lnTo>
                      <a:pt x="657" y="827"/>
                    </a:lnTo>
                    <a:lnTo>
                      <a:pt x="672" y="820"/>
                    </a:lnTo>
                    <a:lnTo>
                      <a:pt x="686" y="812"/>
                    </a:lnTo>
                    <a:lnTo>
                      <a:pt x="700" y="804"/>
                    </a:lnTo>
                    <a:lnTo>
                      <a:pt x="713" y="794"/>
                    </a:lnTo>
                    <a:lnTo>
                      <a:pt x="726" y="783"/>
                    </a:lnTo>
                    <a:lnTo>
                      <a:pt x="739" y="772"/>
                    </a:lnTo>
                    <a:lnTo>
                      <a:pt x="751" y="760"/>
                    </a:lnTo>
                    <a:lnTo>
                      <a:pt x="763" y="748"/>
                    </a:lnTo>
                    <a:lnTo>
                      <a:pt x="774" y="735"/>
                    </a:lnTo>
                    <a:lnTo>
                      <a:pt x="774" y="735"/>
                    </a:lnTo>
                    <a:lnTo>
                      <a:pt x="789" y="716"/>
                    </a:lnTo>
                    <a:lnTo>
                      <a:pt x="802" y="696"/>
                    </a:lnTo>
                    <a:lnTo>
                      <a:pt x="814" y="675"/>
                    </a:lnTo>
                    <a:lnTo>
                      <a:pt x="826" y="652"/>
                    </a:lnTo>
                    <a:lnTo>
                      <a:pt x="836" y="629"/>
                    </a:lnTo>
                    <a:lnTo>
                      <a:pt x="844" y="605"/>
                    </a:lnTo>
                    <a:lnTo>
                      <a:pt x="851" y="580"/>
                    </a:lnTo>
                    <a:lnTo>
                      <a:pt x="857" y="554"/>
                    </a:lnTo>
                    <a:lnTo>
                      <a:pt x="872" y="472"/>
                    </a:lnTo>
                    <a:lnTo>
                      <a:pt x="895" y="472"/>
                    </a:lnTo>
                    <a:lnTo>
                      <a:pt x="925" y="472"/>
                    </a:lnTo>
                    <a:lnTo>
                      <a:pt x="971" y="472"/>
                    </a:lnTo>
                    <a:lnTo>
                      <a:pt x="971" y="382"/>
                    </a:lnTo>
                    <a:lnTo>
                      <a:pt x="915" y="366"/>
                    </a:lnTo>
                    <a:lnTo>
                      <a:pt x="915" y="366"/>
                    </a:lnTo>
                    <a:lnTo>
                      <a:pt x="915" y="349"/>
                    </a:lnTo>
                    <a:lnTo>
                      <a:pt x="915" y="331"/>
                    </a:lnTo>
                    <a:lnTo>
                      <a:pt x="913" y="312"/>
                    </a:lnTo>
                    <a:lnTo>
                      <a:pt x="909" y="293"/>
                    </a:lnTo>
                    <a:lnTo>
                      <a:pt x="905" y="273"/>
                    </a:lnTo>
                    <a:lnTo>
                      <a:pt x="900" y="253"/>
                    </a:lnTo>
                    <a:lnTo>
                      <a:pt x="893" y="233"/>
                    </a:lnTo>
                    <a:lnTo>
                      <a:pt x="886" y="214"/>
                    </a:lnTo>
                    <a:lnTo>
                      <a:pt x="877" y="194"/>
                    </a:lnTo>
                    <a:lnTo>
                      <a:pt x="867" y="176"/>
                    </a:lnTo>
                    <a:lnTo>
                      <a:pt x="856" y="157"/>
                    </a:lnTo>
                    <a:lnTo>
                      <a:pt x="846" y="141"/>
                    </a:lnTo>
                    <a:lnTo>
                      <a:pt x="834" y="125"/>
                    </a:lnTo>
                    <a:lnTo>
                      <a:pt x="819" y="111"/>
                    </a:lnTo>
                    <a:lnTo>
                      <a:pt x="805" y="99"/>
                    </a:lnTo>
                    <a:lnTo>
                      <a:pt x="791" y="88"/>
                    </a:lnTo>
                    <a:lnTo>
                      <a:pt x="791" y="88"/>
                    </a:lnTo>
                    <a:lnTo>
                      <a:pt x="785" y="112"/>
                    </a:lnTo>
                    <a:lnTo>
                      <a:pt x="777" y="136"/>
                    </a:lnTo>
                    <a:lnTo>
                      <a:pt x="769" y="157"/>
                    </a:lnTo>
                    <a:lnTo>
                      <a:pt x="759" y="179"/>
                    </a:lnTo>
                    <a:lnTo>
                      <a:pt x="747" y="199"/>
                    </a:lnTo>
                    <a:lnTo>
                      <a:pt x="735" y="217"/>
                    </a:lnTo>
                    <a:lnTo>
                      <a:pt x="721" y="233"/>
                    </a:lnTo>
                    <a:lnTo>
                      <a:pt x="706" y="249"/>
                    </a:lnTo>
                    <a:lnTo>
                      <a:pt x="706" y="249"/>
                    </a:lnTo>
                    <a:lnTo>
                      <a:pt x="689" y="249"/>
                    </a:lnTo>
                    <a:lnTo>
                      <a:pt x="689" y="249"/>
                    </a:lnTo>
                    <a:lnTo>
                      <a:pt x="703" y="218"/>
                    </a:lnTo>
                    <a:lnTo>
                      <a:pt x="714" y="190"/>
                    </a:lnTo>
                    <a:lnTo>
                      <a:pt x="724" y="163"/>
                    </a:lnTo>
                    <a:lnTo>
                      <a:pt x="732" y="138"/>
                    </a:lnTo>
                    <a:lnTo>
                      <a:pt x="738" y="115"/>
                    </a:lnTo>
                    <a:lnTo>
                      <a:pt x="743" y="93"/>
                    </a:lnTo>
                    <a:lnTo>
                      <a:pt x="746" y="74"/>
                    </a:lnTo>
                    <a:lnTo>
                      <a:pt x="748" y="55"/>
                    </a:lnTo>
                    <a:lnTo>
                      <a:pt x="748" y="55"/>
                    </a:lnTo>
                    <a:lnTo>
                      <a:pt x="726" y="43"/>
                    </a:lnTo>
                    <a:lnTo>
                      <a:pt x="705" y="33"/>
                    </a:lnTo>
                    <a:lnTo>
                      <a:pt x="681" y="23"/>
                    </a:lnTo>
                    <a:lnTo>
                      <a:pt x="657" y="14"/>
                    </a:lnTo>
                    <a:lnTo>
                      <a:pt x="632" y="9"/>
                    </a:lnTo>
                    <a:lnTo>
                      <a:pt x="606" y="3"/>
                    </a:lnTo>
                    <a:lnTo>
                      <a:pt x="579" y="1"/>
                    </a:lnTo>
                    <a:lnTo>
                      <a:pt x="552" y="0"/>
                    </a:lnTo>
                    <a:lnTo>
                      <a:pt x="552" y="0"/>
                    </a:lnTo>
                    <a:lnTo>
                      <a:pt x="523" y="1"/>
                    </a:lnTo>
                    <a:lnTo>
                      <a:pt x="495" y="4"/>
                    </a:lnTo>
                    <a:lnTo>
                      <a:pt x="467" y="9"/>
                    </a:lnTo>
                    <a:lnTo>
                      <a:pt x="441" y="16"/>
                    </a:lnTo>
                    <a:lnTo>
                      <a:pt x="415" y="25"/>
                    </a:lnTo>
                    <a:lnTo>
                      <a:pt x="389" y="35"/>
                    </a:lnTo>
                    <a:lnTo>
                      <a:pt x="365" y="47"/>
                    </a:lnTo>
                    <a:lnTo>
                      <a:pt x="341" y="61"/>
                    </a:lnTo>
                    <a:lnTo>
                      <a:pt x="341" y="61"/>
                    </a:lnTo>
                    <a:lnTo>
                      <a:pt x="344" y="78"/>
                    </a:lnTo>
                    <a:lnTo>
                      <a:pt x="347" y="98"/>
                    </a:lnTo>
                    <a:lnTo>
                      <a:pt x="352" y="118"/>
                    </a:lnTo>
                    <a:lnTo>
                      <a:pt x="359" y="141"/>
                    </a:lnTo>
                    <a:lnTo>
                      <a:pt x="366" y="166"/>
                    </a:lnTo>
                    <a:lnTo>
                      <a:pt x="376" y="192"/>
                    </a:lnTo>
                    <a:lnTo>
                      <a:pt x="387" y="219"/>
                    </a:lnTo>
                    <a:lnTo>
                      <a:pt x="399" y="249"/>
                    </a:lnTo>
                    <a:lnTo>
                      <a:pt x="399" y="249"/>
                    </a:lnTo>
                    <a:lnTo>
                      <a:pt x="384" y="249"/>
                    </a:lnTo>
                    <a:lnTo>
                      <a:pt x="384" y="249"/>
                    </a:lnTo>
                    <a:lnTo>
                      <a:pt x="368" y="234"/>
                    </a:lnTo>
                    <a:lnTo>
                      <a:pt x="355" y="217"/>
                    </a:lnTo>
                    <a:lnTo>
                      <a:pt x="342" y="200"/>
                    </a:lnTo>
                    <a:lnTo>
                      <a:pt x="332" y="180"/>
                    </a:lnTo>
                    <a:lnTo>
                      <a:pt x="322" y="161"/>
                    </a:lnTo>
                    <a:lnTo>
                      <a:pt x="313" y="139"/>
                    </a:lnTo>
                    <a:lnTo>
                      <a:pt x="306" y="116"/>
                    </a:lnTo>
                    <a:lnTo>
                      <a:pt x="299" y="92"/>
                    </a:lnTo>
                    <a:lnTo>
                      <a:pt x="299" y="92"/>
                    </a:lnTo>
                    <a:lnTo>
                      <a:pt x="284" y="102"/>
                    </a:lnTo>
                    <a:lnTo>
                      <a:pt x="270" y="114"/>
                    </a:lnTo>
                    <a:lnTo>
                      <a:pt x="257" y="128"/>
                    </a:lnTo>
                    <a:lnTo>
                      <a:pt x="244" y="143"/>
                    </a:lnTo>
                    <a:lnTo>
                      <a:pt x="232" y="160"/>
                    </a:lnTo>
                    <a:lnTo>
                      <a:pt x="221" y="178"/>
                    </a:lnTo>
                    <a:lnTo>
                      <a:pt x="211" y="195"/>
                    </a:lnTo>
                    <a:lnTo>
                      <a:pt x="203" y="215"/>
                    </a:lnTo>
                    <a:lnTo>
                      <a:pt x="195" y="234"/>
                    </a:lnTo>
                    <a:lnTo>
                      <a:pt x="187" y="254"/>
                    </a:lnTo>
                    <a:lnTo>
                      <a:pt x="182" y="273"/>
                    </a:lnTo>
                    <a:lnTo>
                      <a:pt x="177" y="293"/>
                    </a:lnTo>
                    <a:lnTo>
                      <a:pt x="173" y="311"/>
                    </a:lnTo>
                    <a:lnTo>
                      <a:pt x="170" y="330"/>
                    </a:lnTo>
                    <a:lnTo>
                      <a:pt x="169" y="348"/>
                    </a:lnTo>
                    <a:lnTo>
                      <a:pt x="169" y="364"/>
                    </a:lnTo>
                    <a:lnTo>
                      <a:pt x="109" y="382"/>
                    </a:lnTo>
                    <a:lnTo>
                      <a:pt x="109" y="472"/>
                    </a:lnTo>
                    <a:lnTo>
                      <a:pt x="186" y="472"/>
                    </a:lnTo>
                    <a:lnTo>
                      <a:pt x="186" y="472"/>
                    </a:lnTo>
                    <a:close/>
                    <a:moveTo>
                      <a:pt x="297" y="472"/>
                    </a:moveTo>
                    <a:lnTo>
                      <a:pt x="465" y="472"/>
                    </a:lnTo>
                    <a:lnTo>
                      <a:pt x="793" y="472"/>
                    </a:lnTo>
                    <a:lnTo>
                      <a:pt x="795" y="472"/>
                    </a:lnTo>
                    <a:lnTo>
                      <a:pt x="795" y="472"/>
                    </a:lnTo>
                    <a:lnTo>
                      <a:pt x="793" y="503"/>
                    </a:lnTo>
                    <a:lnTo>
                      <a:pt x="789" y="535"/>
                    </a:lnTo>
                    <a:lnTo>
                      <a:pt x="783" y="564"/>
                    </a:lnTo>
                    <a:lnTo>
                      <a:pt x="774" y="592"/>
                    </a:lnTo>
                    <a:lnTo>
                      <a:pt x="763" y="619"/>
                    </a:lnTo>
                    <a:lnTo>
                      <a:pt x="750" y="645"/>
                    </a:lnTo>
                    <a:lnTo>
                      <a:pt x="736" y="669"/>
                    </a:lnTo>
                    <a:lnTo>
                      <a:pt x="720" y="691"/>
                    </a:lnTo>
                    <a:lnTo>
                      <a:pt x="720" y="691"/>
                    </a:lnTo>
                    <a:lnTo>
                      <a:pt x="702" y="710"/>
                    </a:lnTo>
                    <a:lnTo>
                      <a:pt x="683" y="728"/>
                    </a:lnTo>
                    <a:lnTo>
                      <a:pt x="673" y="736"/>
                    </a:lnTo>
                    <a:lnTo>
                      <a:pt x="662" y="744"/>
                    </a:lnTo>
                    <a:lnTo>
                      <a:pt x="653" y="750"/>
                    </a:lnTo>
                    <a:lnTo>
                      <a:pt x="641" y="756"/>
                    </a:lnTo>
                    <a:lnTo>
                      <a:pt x="630" y="762"/>
                    </a:lnTo>
                    <a:lnTo>
                      <a:pt x="619" y="767"/>
                    </a:lnTo>
                    <a:lnTo>
                      <a:pt x="607" y="771"/>
                    </a:lnTo>
                    <a:lnTo>
                      <a:pt x="595" y="774"/>
                    </a:lnTo>
                    <a:lnTo>
                      <a:pt x="583" y="776"/>
                    </a:lnTo>
                    <a:lnTo>
                      <a:pt x="571" y="779"/>
                    </a:lnTo>
                    <a:lnTo>
                      <a:pt x="558" y="780"/>
                    </a:lnTo>
                    <a:lnTo>
                      <a:pt x="546" y="781"/>
                    </a:lnTo>
                    <a:lnTo>
                      <a:pt x="546" y="781"/>
                    </a:lnTo>
                    <a:lnTo>
                      <a:pt x="546" y="781"/>
                    </a:lnTo>
                    <a:lnTo>
                      <a:pt x="533" y="780"/>
                    </a:lnTo>
                    <a:lnTo>
                      <a:pt x="521" y="779"/>
                    </a:lnTo>
                    <a:lnTo>
                      <a:pt x="509" y="776"/>
                    </a:lnTo>
                    <a:lnTo>
                      <a:pt x="497" y="774"/>
                    </a:lnTo>
                    <a:lnTo>
                      <a:pt x="486" y="771"/>
                    </a:lnTo>
                    <a:lnTo>
                      <a:pt x="474" y="767"/>
                    </a:lnTo>
                    <a:lnTo>
                      <a:pt x="462" y="762"/>
                    </a:lnTo>
                    <a:lnTo>
                      <a:pt x="451" y="756"/>
                    </a:lnTo>
                    <a:lnTo>
                      <a:pt x="440" y="750"/>
                    </a:lnTo>
                    <a:lnTo>
                      <a:pt x="429" y="744"/>
                    </a:lnTo>
                    <a:lnTo>
                      <a:pt x="419" y="736"/>
                    </a:lnTo>
                    <a:lnTo>
                      <a:pt x="410" y="728"/>
                    </a:lnTo>
                    <a:lnTo>
                      <a:pt x="390" y="710"/>
                    </a:lnTo>
                    <a:lnTo>
                      <a:pt x="373" y="691"/>
                    </a:lnTo>
                    <a:lnTo>
                      <a:pt x="373" y="691"/>
                    </a:lnTo>
                    <a:lnTo>
                      <a:pt x="357" y="669"/>
                    </a:lnTo>
                    <a:lnTo>
                      <a:pt x="341" y="645"/>
                    </a:lnTo>
                    <a:lnTo>
                      <a:pt x="329" y="619"/>
                    </a:lnTo>
                    <a:lnTo>
                      <a:pt x="319" y="592"/>
                    </a:lnTo>
                    <a:lnTo>
                      <a:pt x="310" y="564"/>
                    </a:lnTo>
                    <a:lnTo>
                      <a:pt x="303" y="535"/>
                    </a:lnTo>
                    <a:lnTo>
                      <a:pt x="299" y="503"/>
                    </a:lnTo>
                    <a:lnTo>
                      <a:pt x="297" y="472"/>
                    </a:lnTo>
                    <a:lnTo>
                      <a:pt x="297" y="4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7479" tIns="23739" rIns="47479" bIns="23739" numCol="1" anchor="t" anchorCtr="0" compatLnSpc="1">
                <a:prstTxWarp prst="textNoShape">
                  <a:avLst/>
                </a:prstTxWarp>
              </a:bodyPr>
              <a:lstStyle/>
              <a:p>
                <a:pPr>
                  <a:defRPr/>
                </a:pPr>
                <a:endParaRPr lang="en-GB" sz="935" kern="0" dirty="0">
                  <a:solidFill>
                    <a:srgbClr val="000000"/>
                  </a:solidFill>
                  <a:latin typeface="Arial"/>
                </a:endParaRPr>
              </a:p>
            </p:txBody>
          </p:sp>
        </p:grpSp>
      </p:grpSp>
      <p:pic>
        <p:nvPicPr>
          <p:cNvPr id="118" name="Picture 117">
            <a:extLst>
              <a:ext uri="{FF2B5EF4-FFF2-40B4-BE49-F238E27FC236}">
                <a16:creationId xmlns:a16="http://schemas.microsoft.com/office/drawing/2014/main" id="{074EE4C0-F2B3-4C62-96D0-B26C1E6EAC36}"/>
              </a:ext>
            </a:extLst>
          </p:cNvPr>
          <p:cNvPicPr/>
          <p:nvPr/>
        </p:nvPicPr>
        <p:blipFill>
          <a:blip r:embed="rId3" cstate="print"/>
          <a:stretch>
            <a:fillRect/>
          </a:stretch>
        </p:blipFill>
        <p:spPr>
          <a:xfrm>
            <a:off x="8340586" y="288884"/>
            <a:ext cx="407878" cy="475820"/>
          </a:xfrm>
          <a:prstGeom prst="rect">
            <a:avLst/>
          </a:prstGeom>
        </p:spPr>
      </p:pic>
      <p:sp>
        <p:nvSpPr>
          <p:cNvPr id="2" name="TextBox 1"/>
          <p:cNvSpPr txBox="1"/>
          <p:nvPr/>
        </p:nvSpPr>
        <p:spPr>
          <a:xfrm>
            <a:off x="4583947" y="3968874"/>
            <a:ext cx="355420" cy="340983"/>
          </a:xfrm>
          <a:prstGeom prst="rect">
            <a:avLst/>
          </a:prstGeom>
          <a:noFill/>
        </p:spPr>
        <p:txBody>
          <a:bodyPr wrap="square" lIns="0" tIns="0" rIns="0" bIns="0" rtlCol="0">
            <a:noAutofit/>
          </a:bodyPr>
          <a:lstStyle/>
          <a:p>
            <a:pPr indent="-274320">
              <a:spcAft>
                <a:spcPts val="900"/>
              </a:spcAft>
            </a:pPr>
            <a:r>
              <a:rPr lang="en-US" sz="900" b="1" dirty="0">
                <a:latin typeface="Arial" panose="020B0604020202020204" pitchFamily="34" charset="0"/>
                <a:cs typeface="Arial" panose="020B0604020202020204" pitchFamily="34" charset="0"/>
              </a:rPr>
              <a:t>Industry</a:t>
            </a:r>
            <a:endParaRPr lang="en-IN" sz="900" b="1" dirty="0" err="1">
              <a:latin typeface="Arial" panose="020B0604020202020204" pitchFamily="34" charset="0"/>
              <a:cs typeface="Arial" panose="020B0604020202020204" pitchFamily="34" charset="0"/>
            </a:endParaRPr>
          </a:p>
        </p:txBody>
      </p:sp>
      <p:sp>
        <p:nvSpPr>
          <p:cNvPr id="5" name="TextBox 4"/>
          <p:cNvSpPr txBox="1"/>
          <p:nvPr/>
        </p:nvSpPr>
        <p:spPr>
          <a:xfrm rot="1713974">
            <a:off x="4892077" y="2470295"/>
            <a:ext cx="400050" cy="192849"/>
          </a:xfrm>
          <a:prstGeom prst="rect">
            <a:avLst/>
          </a:prstGeom>
          <a:noFill/>
        </p:spPr>
        <p:txBody>
          <a:bodyPr wrap="square" lIns="0" tIns="0" rIns="0" bIns="0" rtlCol="0">
            <a:noAutofit/>
          </a:bodyPr>
          <a:lstStyle/>
          <a:p>
            <a:pPr indent="-274320">
              <a:spcAft>
                <a:spcPts val="900"/>
              </a:spcAft>
            </a:pPr>
            <a:r>
              <a:rPr lang="en-US" sz="900" b="1" dirty="0">
                <a:latin typeface="Arial" panose="020B0604020202020204" pitchFamily="34" charset="0"/>
                <a:cs typeface="Arial" panose="020B0604020202020204" pitchFamily="34" charset="0"/>
              </a:rPr>
              <a:t>Health</a:t>
            </a:r>
            <a:endParaRPr lang="en-IN" sz="900" b="1" dirty="0" err="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0102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39552" y="347941"/>
            <a:ext cx="7488832" cy="35686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algn="ctr"/>
            <a:r>
              <a:rPr lang="en-GB" sz="1800" i="0" dirty="0">
                <a:latin typeface="+mn-lt"/>
              </a:rPr>
              <a:t>Seva Sindhu service Onboarding and Transactions Trend - Quarter wise</a:t>
            </a:r>
          </a:p>
        </p:txBody>
      </p:sp>
      <p:pic>
        <p:nvPicPr>
          <p:cNvPr id="118" name="Picture 117">
            <a:extLst>
              <a:ext uri="{FF2B5EF4-FFF2-40B4-BE49-F238E27FC236}">
                <a16:creationId xmlns:a16="http://schemas.microsoft.com/office/drawing/2014/main" id="{074EE4C0-F2B3-4C62-96D0-B26C1E6EAC36}"/>
              </a:ext>
            </a:extLst>
          </p:cNvPr>
          <p:cNvPicPr/>
          <p:nvPr/>
        </p:nvPicPr>
        <p:blipFill>
          <a:blip r:embed="rId2" cstate="print"/>
          <a:stretch>
            <a:fillRect/>
          </a:stretch>
        </p:blipFill>
        <p:spPr>
          <a:xfrm>
            <a:off x="8316416" y="74712"/>
            <a:ext cx="517267" cy="762000"/>
          </a:xfrm>
          <a:prstGeom prst="rect">
            <a:avLst/>
          </a:prstGeom>
        </p:spPr>
      </p:pic>
      <p:sp>
        <p:nvSpPr>
          <p:cNvPr id="120" name="Rectangle 119">
            <a:extLst>
              <a:ext uri="{FF2B5EF4-FFF2-40B4-BE49-F238E27FC236}">
                <a16:creationId xmlns:a16="http://schemas.microsoft.com/office/drawing/2014/main" id="{DC8F3CC4-3058-4351-BCF7-722A30B8EE25}"/>
              </a:ext>
            </a:extLst>
          </p:cNvPr>
          <p:cNvSpPr/>
          <p:nvPr/>
        </p:nvSpPr>
        <p:spPr>
          <a:xfrm>
            <a:off x="395536" y="5595531"/>
            <a:ext cx="8352928" cy="736099"/>
          </a:xfrm>
          <a:prstGeom prst="rect">
            <a:avLst/>
          </a:prstGeom>
        </p:spPr>
        <p:txBody>
          <a:bodyPr wrap="square">
            <a:spAutoFit/>
          </a:bodyPr>
          <a:lstStyle/>
          <a:p>
            <a:pPr algn="ctr" defTabSz="385763">
              <a:spcAft>
                <a:spcPts val="675"/>
              </a:spcAft>
              <a:defRPr/>
            </a:pPr>
            <a:r>
              <a:rPr lang="en-US" b="1" i="1" kern="0" dirty="0">
                <a:solidFill>
                  <a:srgbClr val="821A1A"/>
                </a:solidFill>
                <a:cs typeface="Tunga" panose="020B0502040204020203" pitchFamily="34" charset="0"/>
              </a:rPr>
              <a:t>Services </a:t>
            </a:r>
            <a:r>
              <a:rPr lang="en-US" b="1" i="1" kern="0" dirty="0">
                <a:solidFill>
                  <a:srgbClr val="821A1A"/>
                </a:solidFill>
              </a:rPr>
              <a:t>: 850		Departments: 80</a:t>
            </a:r>
          </a:p>
          <a:p>
            <a:pPr algn="ctr" defTabSz="385763">
              <a:defRPr/>
            </a:pPr>
            <a:r>
              <a:rPr lang="en-US" b="1" i="1" kern="0" dirty="0">
                <a:solidFill>
                  <a:srgbClr val="821A1A"/>
                </a:solidFill>
              </a:rPr>
              <a:t>No of Applications Received till 30 Nov 2022: 2.83+ Crores</a:t>
            </a:r>
          </a:p>
        </p:txBody>
      </p:sp>
      <p:graphicFrame>
        <p:nvGraphicFramePr>
          <p:cNvPr id="7" name="Chart 6">
            <a:extLst>
              <a:ext uri="{FF2B5EF4-FFF2-40B4-BE49-F238E27FC236}">
                <a16:creationId xmlns:a16="http://schemas.microsoft.com/office/drawing/2014/main" id="{A7B127B4-BB0A-4332-BAD3-E524CAE5FBD9}"/>
              </a:ext>
            </a:extLst>
          </p:cNvPr>
          <p:cNvGraphicFramePr>
            <a:graphicFrameLocks/>
          </p:cNvGraphicFramePr>
          <p:nvPr>
            <p:extLst>
              <p:ext uri="{D42A27DB-BD31-4B8C-83A1-F6EECF244321}">
                <p14:modId xmlns:p14="http://schemas.microsoft.com/office/powerpoint/2010/main" val="162876248"/>
              </p:ext>
            </p:extLst>
          </p:nvPr>
        </p:nvGraphicFramePr>
        <p:xfrm>
          <a:off x="395536" y="836712"/>
          <a:ext cx="8280920" cy="46782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23043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03D41DE-A127-46B6-AA09-B8F981DFFF39}"/>
              </a:ext>
            </a:extLst>
          </p:cNvPr>
          <p:cNvSpPr>
            <a:spLocks noGrp="1"/>
          </p:cNvSpPr>
          <p:nvPr>
            <p:ph type="title"/>
          </p:nvPr>
        </p:nvSpPr>
        <p:spPr>
          <a:xfrm>
            <a:off x="251520" y="548680"/>
            <a:ext cx="7986933" cy="498148"/>
          </a:xfrm>
          <a:noFill/>
        </p:spPr>
        <p:txBody>
          <a:bodyPr>
            <a:noAutofit/>
          </a:bodyPr>
          <a:lstStyle/>
          <a:p>
            <a:r>
              <a:rPr lang="en-IN" sz="2000" dirty="0">
                <a:solidFill>
                  <a:srgbClr val="7A1818"/>
                </a:solidFill>
              </a:rPr>
              <a:t> Advantages of Seva Sindhu during COVID-19 Pandemic</a:t>
            </a:r>
          </a:p>
        </p:txBody>
      </p:sp>
      <p:sp>
        <p:nvSpPr>
          <p:cNvPr id="8" name="Rectangle 7"/>
          <p:cNvSpPr/>
          <p:nvPr/>
        </p:nvSpPr>
        <p:spPr>
          <a:xfrm>
            <a:off x="189915" y="1324188"/>
            <a:ext cx="8451165" cy="789447"/>
          </a:xfrm>
          <a:prstGeom prst="rect">
            <a:avLst/>
          </a:prstGeom>
        </p:spPr>
        <p:txBody>
          <a:bodyPr wrap="square">
            <a:spAutoFit/>
          </a:bodyPr>
          <a:lstStyle/>
          <a:p>
            <a:pPr marL="257175" indent="-257175" algn="just">
              <a:lnSpc>
                <a:spcPct val="115000"/>
              </a:lnSpc>
              <a:spcAft>
                <a:spcPts val="450"/>
              </a:spcAft>
              <a:buFont typeface="Symbol" panose="05050102010706020507" pitchFamily="18" charset="2"/>
              <a:buChar char=""/>
            </a:pPr>
            <a:r>
              <a:rPr lang="en-US" sz="1350" dirty="0">
                <a:solidFill>
                  <a:srgbClr val="000000"/>
                </a:solidFill>
                <a:latin typeface="+mj-lt"/>
                <a:ea typeface="Calibri" panose="020F0502020204030204" pitchFamily="34" charset="0"/>
                <a:cs typeface="Calibri" panose="020F0502020204030204" pitchFamily="34" charset="0"/>
              </a:rPr>
              <a:t>Seva Sindhu was able to develop the application within 48 hours for COVID-19 related financial assistance schemes which were announced by Hon’ble Chief Minister of Karnataka. Some of the services developed are as follows:</a:t>
            </a:r>
          </a:p>
        </p:txBody>
      </p:sp>
      <p:graphicFrame>
        <p:nvGraphicFramePr>
          <p:cNvPr id="4" name="Table 3">
            <a:extLst>
              <a:ext uri="{FF2B5EF4-FFF2-40B4-BE49-F238E27FC236}">
                <a16:creationId xmlns:a16="http://schemas.microsoft.com/office/drawing/2014/main" id="{1B3440B4-0EC8-4320-9A9D-E368DB5B7ED0}"/>
              </a:ext>
            </a:extLst>
          </p:cNvPr>
          <p:cNvGraphicFramePr>
            <a:graphicFrameLocks noGrp="1"/>
          </p:cNvGraphicFramePr>
          <p:nvPr>
            <p:extLst>
              <p:ext uri="{D42A27DB-BD31-4B8C-83A1-F6EECF244321}">
                <p14:modId xmlns:p14="http://schemas.microsoft.com/office/powerpoint/2010/main" val="4173794393"/>
              </p:ext>
            </p:extLst>
          </p:nvPr>
        </p:nvGraphicFramePr>
        <p:xfrm>
          <a:off x="232116" y="2174228"/>
          <a:ext cx="8378484" cy="3809524"/>
        </p:xfrm>
        <a:graphic>
          <a:graphicData uri="http://schemas.openxmlformats.org/drawingml/2006/table">
            <a:tbl>
              <a:tblPr firstRow="1" bandRow="1">
                <a:tableStyleId>{5C22544A-7EE6-4342-B048-85BDC9FD1C3A}</a:tableStyleId>
              </a:tblPr>
              <a:tblGrid>
                <a:gridCol w="530324">
                  <a:extLst>
                    <a:ext uri="{9D8B030D-6E8A-4147-A177-3AD203B41FA5}">
                      <a16:colId xmlns:a16="http://schemas.microsoft.com/office/drawing/2014/main" val="1949689368"/>
                    </a:ext>
                  </a:extLst>
                </a:gridCol>
                <a:gridCol w="2796611">
                  <a:extLst>
                    <a:ext uri="{9D8B030D-6E8A-4147-A177-3AD203B41FA5}">
                      <a16:colId xmlns:a16="http://schemas.microsoft.com/office/drawing/2014/main" val="2938644851"/>
                    </a:ext>
                  </a:extLst>
                </a:gridCol>
                <a:gridCol w="2412859">
                  <a:extLst>
                    <a:ext uri="{9D8B030D-6E8A-4147-A177-3AD203B41FA5}">
                      <a16:colId xmlns:a16="http://schemas.microsoft.com/office/drawing/2014/main" val="3468861509"/>
                    </a:ext>
                  </a:extLst>
                </a:gridCol>
                <a:gridCol w="2638690">
                  <a:extLst>
                    <a:ext uri="{9D8B030D-6E8A-4147-A177-3AD203B41FA5}">
                      <a16:colId xmlns:a16="http://schemas.microsoft.com/office/drawing/2014/main" val="535949288"/>
                    </a:ext>
                  </a:extLst>
                </a:gridCol>
              </a:tblGrid>
              <a:tr h="480060">
                <a:tc>
                  <a:txBody>
                    <a:bodyPr/>
                    <a:lstStyle/>
                    <a:p>
                      <a:pPr algn="ctr"/>
                      <a:r>
                        <a:rPr lang="en-GB" sz="1400" dirty="0">
                          <a:latin typeface="+mj-lt"/>
                        </a:rPr>
                        <a:t>Sl No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400" dirty="0">
                          <a:latin typeface="+mj-lt"/>
                        </a:rPr>
                        <a:t>Category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400" dirty="0">
                          <a:latin typeface="+mj-lt"/>
                        </a:rPr>
                        <a:t>No of Applications Received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1" i="0" u="none" strike="noStrike" dirty="0">
                          <a:solidFill>
                            <a:srgbClr val="FFFFFF"/>
                          </a:solidFill>
                          <a:effectLst/>
                          <a:latin typeface="Georgia" panose="02040502050405020303" pitchFamily="18" charset="0"/>
                        </a:rPr>
                        <a:t>Total Amount Transferred to Beneficiary (Rs Lakhs)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9352255"/>
                  </a:ext>
                </a:extLst>
              </a:tr>
              <a:tr h="274320">
                <a:tc>
                  <a:txBody>
                    <a:bodyPr/>
                    <a:lstStyle/>
                    <a:p>
                      <a:pPr algn="ctr"/>
                      <a:r>
                        <a:rPr lang="en-GB" sz="1400" dirty="0">
                          <a:latin typeface="+mj-lt"/>
                        </a:rPr>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a:solidFill>
                            <a:srgbClr val="000000"/>
                          </a:solidFill>
                          <a:effectLst/>
                          <a:latin typeface="+mj-lt"/>
                        </a:rPr>
                        <a:t>Auto &amp; Taxi Drivers</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4,91,733</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17,338.64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5870029"/>
                  </a:ext>
                </a:extLst>
              </a:tr>
              <a:tr h="274320">
                <a:tc>
                  <a:txBody>
                    <a:bodyPr/>
                    <a:lstStyle/>
                    <a:p>
                      <a:pPr algn="ctr"/>
                      <a:r>
                        <a:rPr lang="en-GB" sz="1400" dirty="0">
                          <a:latin typeface="+mj-lt"/>
                        </a:rPr>
                        <a:t>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dirty="0">
                          <a:solidFill>
                            <a:srgbClr val="000000"/>
                          </a:solidFill>
                          <a:effectLst/>
                          <a:latin typeface="+mj-lt"/>
                        </a:rPr>
                        <a:t>Street Vendors</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1,91,684</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2,294.38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0250101"/>
                  </a:ext>
                </a:extLst>
              </a:tr>
              <a:tr h="274320">
                <a:tc>
                  <a:txBody>
                    <a:bodyPr/>
                    <a:lstStyle/>
                    <a:p>
                      <a:pPr algn="ctr"/>
                      <a:r>
                        <a:rPr lang="en-GB" sz="1400" dirty="0">
                          <a:latin typeface="+mj-lt"/>
                        </a:rPr>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dirty="0">
                          <a:solidFill>
                            <a:srgbClr val="000000"/>
                          </a:solidFill>
                          <a:effectLst/>
                          <a:latin typeface="+mj-lt"/>
                        </a:rPr>
                        <a:t>Nekkar Samman</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1,07,934</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3,510.13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7135552"/>
                  </a:ext>
                </a:extLst>
              </a:tr>
              <a:tr h="274320">
                <a:tc>
                  <a:txBody>
                    <a:bodyPr/>
                    <a:lstStyle/>
                    <a:p>
                      <a:pPr algn="ctr"/>
                      <a:r>
                        <a:rPr lang="en-GB" sz="1400" dirty="0">
                          <a:latin typeface="+mj-lt"/>
                        </a:rPr>
                        <a:t>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a:solidFill>
                            <a:srgbClr val="000000"/>
                          </a:solidFill>
                          <a:effectLst/>
                          <a:latin typeface="+mj-lt"/>
                        </a:rPr>
                        <a:t>Powerloom</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1,53,810</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4,609.42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9780592"/>
                  </a:ext>
                </a:extLst>
              </a:tr>
              <a:tr h="274320">
                <a:tc>
                  <a:txBody>
                    <a:bodyPr/>
                    <a:lstStyle/>
                    <a:p>
                      <a:pPr algn="ctr"/>
                      <a:r>
                        <a:rPr lang="en-GB" sz="1400" dirty="0">
                          <a:latin typeface="+mj-lt"/>
                        </a:rPr>
                        <a:t>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a:solidFill>
                            <a:srgbClr val="000000"/>
                          </a:solidFill>
                          <a:effectLst/>
                          <a:latin typeface="+mj-lt"/>
                        </a:rPr>
                        <a:t>Television Artists</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5,148</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78.81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780163"/>
                  </a:ext>
                </a:extLst>
              </a:tr>
              <a:tr h="274320">
                <a:tc>
                  <a:txBody>
                    <a:bodyPr/>
                    <a:lstStyle/>
                    <a:p>
                      <a:pPr algn="ctr"/>
                      <a:r>
                        <a:rPr lang="en-GB" sz="1400" dirty="0">
                          <a:latin typeface="+mj-lt"/>
                        </a:rPr>
                        <a:t>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a:solidFill>
                            <a:srgbClr val="000000"/>
                          </a:solidFill>
                          <a:effectLst/>
                          <a:latin typeface="+mj-lt"/>
                        </a:rPr>
                        <a:t>Lidkar (Chamara's)</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21,712</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252.00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0570381"/>
                  </a:ext>
                </a:extLst>
              </a:tr>
              <a:tr h="274320">
                <a:tc>
                  <a:txBody>
                    <a:bodyPr/>
                    <a:lstStyle/>
                    <a:p>
                      <a:pPr algn="ctr"/>
                      <a:r>
                        <a:rPr lang="en-GB" sz="1400" dirty="0">
                          <a:latin typeface="+mj-lt"/>
                        </a:rPr>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a:solidFill>
                            <a:srgbClr val="000000"/>
                          </a:solidFill>
                          <a:effectLst/>
                          <a:latin typeface="+mj-lt"/>
                        </a:rPr>
                        <a:t>Construction Workers,</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22,07,282</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58,694.19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356107"/>
                  </a:ext>
                </a:extLst>
              </a:tr>
              <a:tr h="274320">
                <a:tc>
                  <a:txBody>
                    <a:bodyPr/>
                    <a:lstStyle/>
                    <a:p>
                      <a:pPr algn="ctr"/>
                      <a:r>
                        <a:rPr lang="en-GB" sz="1400" dirty="0">
                          <a:latin typeface="+mj-lt"/>
                        </a:rPr>
                        <a:t>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400" b="0" i="0" u="none" strike="noStrike">
                          <a:solidFill>
                            <a:srgbClr val="000000"/>
                          </a:solidFill>
                          <a:effectLst/>
                          <a:latin typeface="+mj-lt"/>
                        </a:rPr>
                        <a:t>Unorganised Labourers</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15,88,268</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29,612.55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938565"/>
                  </a:ext>
                </a:extLst>
              </a:tr>
              <a:tr h="274320">
                <a:tc>
                  <a:txBody>
                    <a:bodyPr/>
                    <a:lstStyle/>
                    <a:p>
                      <a:pPr algn="ctr"/>
                      <a:r>
                        <a:rPr lang="en-GB" sz="1400" dirty="0">
                          <a:latin typeface="+mj-lt"/>
                        </a:rPr>
                        <a:t>9</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400" b="0" i="0" u="none" strike="noStrike">
                          <a:solidFill>
                            <a:srgbClr val="000000"/>
                          </a:solidFill>
                          <a:effectLst/>
                          <a:latin typeface="+mj-lt"/>
                        </a:rPr>
                        <a:t>Kannada &amp; Culture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400" b="0" i="0" u="none" strike="noStrike" dirty="0">
                          <a:solidFill>
                            <a:srgbClr val="000000"/>
                          </a:solidFill>
                          <a:effectLst/>
                          <a:latin typeface="+mj-lt"/>
                        </a:rPr>
                        <a:t>26,209</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585.69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2432989"/>
                  </a:ext>
                </a:extLst>
              </a:tr>
              <a:tr h="418624">
                <a:tc>
                  <a:txBody>
                    <a:bodyPr/>
                    <a:lstStyle/>
                    <a:p>
                      <a:pPr algn="ctr"/>
                      <a:r>
                        <a:rPr lang="en-GB" sz="1400" dirty="0">
                          <a:latin typeface="+mj-lt"/>
                        </a:rPr>
                        <a:t>10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400" b="0" i="0" u="none" strike="noStrike">
                          <a:solidFill>
                            <a:srgbClr val="000000"/>
                          </a:solidFill>
                          <a:effectLst/>
                          <a:latin typeface="+mj-lt"/>
                        </a:rPr>
                        <a:t>E-Pass for Inter State and Inter District travelers</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40,002</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t"/>
                      <a:r>
                        <a:rPr lang="en-US" sz="1400" b="0" i="0" u="none" strike="noStrike" dirty="0">
                          <a:solidFill>
                            <a:srgbClr val="000000"/>
                          </a:solidFill>
                          <a:effectLst/>
                          <a:latin typeface="Georgia" panose="02040502050405020303" pitchFamily="18"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3633102"/>
                  </a:ext>
                </a:extLst>
              </a:tr>
              <a:tr h="342900">
                <a:tc gridSpan="2">
                  <a:txBody>
                    <a:bodyPr/>
                    <a:lstStyle/>
                    <a:p>
                      <a:pPr algn="r"/>
                      <a:r>
                        <a:rPr lang="en-GB" sz="1800" b="1" dirty="0">
                          <a:latin typeface="+mj-lt"/>
                        </a:rPr>
                        <a:t>Total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b"/>
                      <a:endParaRPr lang="en-US" sz="18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800" b="1" i="0" u="none" strike="noStrike" dirty="0">
                          <a:solidFill>
                            <a:srgbClr val="000000"/>
                          </a:solidFill>
                          <a:effectLst/>
                          <a:latin typeface="+mj-lt"/>
                        </a:rPr>
                        <a:t>48,33,782</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r>
                        <a:rPr lang="en-US" sz="1800" b="1" i="0" u="none" strike="noStrike" dirty="0">
                          <a:solidFill>
                            <a:srgbClr val="000000"/>
                          </a:solidFill>
                          <a:effectLst/>
                          <a:latin typeface="Georgia" panose="02040502050405020303" pitchFamily="18" charset="0"/>
                        </a:rPr>
                        <a:t>1,16,975.81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015259"/>
                  </a:ext>
                </a:extLst>
              </a:tr>
            </a:tbl>
          </a:graphicData>
        </a:graphic>
      </p:graphicFrame>
      <p:pic>
        <p:nvPicPr>
          <p:cNvPr id="5" name="Picture 4">
            <a:extLst>
              <a:ext uri="{FF2B5EF4-FFF2-40B4-BE49-F238E27FC236}">
                <a16:creationId xmlns:a16="http://schemas.microsoft.com/office/drawing/2014/main" id="{82FACE78-88CB-4E70-9717-D8954D6D3455}"/>
              </a:ext>
            </a:extLst>
          </p:cNvPr>
          <p:cNvPicPr/>
          <p:nvPr/>
        </p:nvPicPr>
        <p:blipFill>
          <a:blip r:embed="rId2" cstate="print"/>
          <a:stretch>
            <a:fillRect/>
          </a:stretch>
        </p:blipFill>
        <p:spPr>
          <a:xfrm>
            <a:off x="7921419" y="228600"/>
            <a:ext cx="827045" cy="680120"/>
          </a:xfrm>
          <a:prstGeom prst="rect">
            <a:avLst/>
          </a:prstGeom>
        </p:spPr>
      </p:pic>
    </p:spTree>
    <p:extLst>
      <p:ext uri="{BB962C8B-B14F-4D97-AF65-F5344CB8AC3E}">
        <p14:creationId xmlns:p14="http://schemas.microsoft.com/office/powerpoint/2010/main" val="296360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2"/>
            <a:ext cx="851300"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6A40349-847E-49C3-BE59-A01285619F36}"/>
              </a:ext>
            </a:extLst>
          </p:cNvPr>
          <p:cNvSpPr>
            <a:spLocks noGrp="1"/>
          </p:cNvSpPr>
          <p:nvPr>
            <p:ph type="title"/>
          </p:nvPr>
        </p:nvSpPr>
        <p:spPr>
          <a:xfrm>
            <a:off x="251520" y="188640"/>
            <a:ext cx="7886700" cy="543593"/>
          </a:xfrm>
        </p:spPr>
        <p:txBody>
          <a:bodyPr>
            <a:normAutofit fontScale="90000"/>
          </a:bodyPr>
          <a:lstStyle/>
          <a:p>
            <a:r>
              <a:rPr lang="en-IN" sz="3600" b="1" dirty="0" err="1">
                <a:latin typeface="+mn-lt"/>
              </a:rPr>
              <a:t>Seva</a:t>
            </a:r>
            <a:r>
              <a:rPr lang="en-IN" sz="3600" b="1" dirty="0">
                <a:latin typeface="+mn-lt"/>
              </a:rPr>
              <a:t> </a:t>
            </a:r>
            <a:r>
              <a:rPr lang="en-IN" sz="3600" b="1" dirty="0" err="1">
                <a:latin typeface="+mn-lt"/>
              </a:rPr>
              <a:t>Sindhu</a:t>
            </a:r>
            <a:r>
              <a:rPr lang="en-IN" sz="3600" b="1" dirty="0">
                <a:latin typeface="+mn-lt"/>
              </a:rPr>
              <a:t> - Success Stories</a:t>
            </a:r>
            <a:endParaRPr lang="en-US" sz="3600" dirty="0"/>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6" y="2693653"/>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C79583D-4284-44D0-BD63-6E0FE41BAE4A}"/>
              </a:ext>
            </a:extLst>
          </p:cNvPr>
          <p:cNvSpPr>
            <a:spLocks noGrp="1"/>
          </p:cNvSpPr>
          <p:nvPr>
            <p:ph idx="1"/>
          </p:nvPr>
        </p:nvSpPr>
        <p:spPr>
          <a:xfrm>
            <a:off x="628650" y="908720"/>
            <a:ext cx="7886700" cy="5268243"/>
          </a:xfrm>
        </p:spPr>
        <p:txBody>
          <a:bodyPr>
            <a:noAutofit/>
          </a:bodyPr>
          <a:lstStyle/>
          <a:p>
            <a:pPr marL="457200" indent="-457200" algn="just">
              <a:spcAft>
                <a:spcPts val="450"/>
              </a:spcAft>
              <a:buFont typeface="+mj-lt"/>
              <a:buAutoNum type="arabicPeriod"/>
            </a:pPr>
            <a:r>
              <a:rPr lang="en-US" sz="1800" b="1" dirty="0">
                <a:latin typeface="+mj-lt"/>
              </a:rPr>
              <a:t>During COVID Pandemic, </a:t>
            </a:r>
            <a:r>
              <a:rPr lang="en-US" sz="1800" dirty="0" err="1">
                <a:latin typeface="+mj-lt"/>
              </a:rPr>
              <a:t>Seva</a:t>
            </a:r>
            <a:r>
              <a:rPr lang="en-US" sz="1800" dirty="0">
                <a:latin typeface="+mj-lt"/>
              </a:rPr>
              <a:t> </a:t>
            </a:r>
            <a:r>
              <a:rPr lang="en-US" sz="1800" dirty="0" err="1">
                <a:latin typeface="+mj-lt"/>
              </a:rPr>
              <a:t>Sindhu</a:t>
            </a:r>
            <a:r>
              <a:rPr lang="en-US" sz="1800" dirty="0">
                <a:latin typeface="+mj-lt"/>
              </a:rPr>
              <a:t> was able to develop the application within 48 hours for COVID-19 related financial assistance schemes which were announced by </a:t>
            </a:r>
            <a:r>
              <a:rPr lang="en-US" sz="1800" dirty="0" err="1">
                <a:latin typeface="+mj-lt"/>
              </a:rPr>
              <a:t>Hon’ble</a:t>
            </a:r>
            <a:r>
              <a:rPr lang="en-US" sz="1800" dirty="0">
                <a:latin typeface="+mj-lt"/>
              </a:rPr>
              <a:t> Chief Minister of Karnataka. 4833782 beneficiaries have received Rs1200 </a:t>
            </a:r>
            <a:r>
              <a:rPr lang="en-US" sz="1800" dirty="0" err="1">
                <a:latin typeface="+mj-lt"/>
              </a:rPr>
              <a:t>Crore</a:t>
            </a:r>
            <a:r>
              <a:rPr lang="en-US" sz="1800" dirty="0">
                <a:latin typeface="+mj-lt"/>
              </a:rPr>
              <a:t> through DBT portal</a:t>
            </a:r>
          </a:p>
          <a:p>
            <a:pPr marL="342900" indent="-342900" algn="just">
              <a:lnSpc>
                <a:spcPct val="100000"/>
              </a:lnSpc>
              <a:spcAft>
                <a:spcPts val="450"/>
              </a:spcAft>
              <a:buFont typeface="+mj-lt"/>
              <a:buAutoNum type="arabicPeriod"/>
            </a:pPr>
            <a:endParaRPr lang="en-US" sz="1800" dirty="0">
              <a:latin typeface="+mj-lt"/>
            </a:endParaRPr>
          </a:p>
          <a:p>
            <a:pPr marL="342900" indent="-342900" algn="just">
              <a:lnSpc>
                <a:spcPct val="100000"/>
              </a:lnSpc>
              <a:spcAft>
                <a:spcPts val="450"/>
              </a:spcAft>
              <a:buFont typeface="+mj-lt"/>
              <a:buAutoNum type="arabicPeriod"/>
            </a:pPr>
            <a:r>
              <a:rPr lang="en-US" sz="1800" b="0" i="0" u="none" strike="noStrike" dirty="0" err="1">
                <a:effectLst/>
                <a:latin typeface="+mj-lt"/>
              </a:rPr>
              <a:t>Seva</a:t>
            </a:r>
            <a:r>
              <a:rPr lang="en-US" sz="1800" b="0" i="0" u="none" strike="noStrike" dirty="0">
                <a:effectLst/>
                <a:latin typeface="+mj-lt"/>
              </a:rPr>
              <a:t> Sindhu was able to develop application for Transport department for providing scholarship to the children's of Auto and taxi drivers (Yellow board) with in 1week</a:t>
            </a:r>
          </a:p>
          <a:p>
            <a:pPr marL="342900" indent="-342900" algn="just">
              <a:lnSpc>
                <a:spcPct val="100000"/>
              </a:lnSpc>
              <a:spcAft>
                <a:spcPts val="450"/>
              </a:spcAft>
              <a:buFont typeface="+mj-lt"/>
              <a:buAutoNum type="arabicPeriod"/>
            </a:pPr>
            <a:endParaRPr lang="en-US" sz="1800" b="0" i="0" u="none" strike="noStrike" dirty="0">
              <a:effectLst/>
              <a:latin typeface="+mj-lt"/>
            </a:endParaRPr>
          </a:p>
          <a:p>
            <a:pPr marL="342900" indent="-342900" algn="just">
              <a:lnSpc>
                <a:spcPct val="100000"/>
              </a:lnSpc>
              <a:spcAft>
                <a:spcPts val="450"/>
              </a:spcAft>
              <a:buFont typeface="+mj-lt"/>
              <a:buAutoNum type="arabicPeriod"/>
            </a:pPr>
            <a:r>
              <a:rPr lang="en-US" sz="1800" dirty="0">
                <a:latin typeface="+mj-lt"/>
                <a:ea typeface="Calibri" panose="020F0502020204030204" pitchFamily="34" charset="0"/>
                <a:cs typeface="Calibri" panose="020F0502020204030204" pitchFamily="34" charset="0"/>
              </a:rPr>
              <a:t> Hon’ble Chief Minister of Karnataka had announced free bus pass to construction </a:t>
            </a:r>
            <a:r>
              <a:rPr lang="en-US" sz="1800" dirty="0" err="1">
                <a:latin typeface="+mj-lt"/>
                <a:ea typeface="Calibri" panose="020F0502020204030204" pitchFamily="34" charset="0"/>
                <a:cs typeface="Calibri" panose="020F0502020204030204" pitchFamily="34" charset="0"/>
              </a:rPr>
              <a:t>labourers</a:t>
            </a:r>
            <a:r>
              <a:rPr lang="en-US" sz="1800" dirty="0">
                <a:latin typeface="+mj-lt"/>
                <a:ea typeface="Calibri" panose="020F0502020204030204" pitchFamily="34" charset="0"/>
                <a:cs typeface="Calibri" panose="020F0502020204030204" pitchFamily="34" charset="0"/>
              </a:rPr>
              <a:t> and Seva Sindhu was able to develop the service within 48 hours</a:t>
            </a:r>
          </a:p>
          <a:p>
            <a:pPr marL="342900" indent="-342900" algn="just">
              <a:lnSpc>
                <a:spcPct val="100000"/>
              </a:lnSpc>
              <a:spcAft>
                <a:spcPts val="450"/>
              </a:spcAft>
              <a:buFont typeface="+mj-lt"/>
              <a:buAutoNum type="arabicPeriod"/>
            </a:pPr>
            <a:endParaRPr lang="en-US" sz="1800" dirty="0">
              <a:latin typeface="+mj-lt"/>
              <a:ea typeface="Calibri" panose="020F0502020204030204" pitchFamily="34" charset="0"/>
              <a:cs typeface="Calibri" panose="020F0502020204030204" pitchFamily="34" charset="0"/>
            </a:endParaRPr>
          </a:p>
          <a:p>
            <a:pPr marL="342900" indent="-342900" algn="just">
              <a:lnSpc>
                <a:spcPct val="100000"/>
              </a:lnSpc>
              <a:spcAft>
                <a:spcPts val="450"/>
              </a:spcAft>
              <a:buFont typeface="+mj-lt"/>
              <a:buAutoNum type="arabicPeriod"/>
            </a:pPr>
            <a:r>
              <a:rPr lang="en-US" sz="1800" dirty="0">
                <a:latin typeface="+mj-lt"/>
                <a:ea typeface="Calibri" panose="020F0502020204030204" pitchFamily="34" charset="0"/>
                <a:cs typeface="Calibri" panose="020F0502020204030204" pitchFamily="34" charset="0"/>
              </a:rPr>
              <a:t> 98 schemes from three departments under Suvidha project were developed and onboarded in Seva Sindhu within 1 week, when Suvidha platform suffered technical glitches </a:t>
            </a:r>
          </a:p>
        </p:txBody>
      </p:sp>
      <p:pic>
        <p:nvPicPr>
          <p:cNvPr id="4" name="Picture 3">
            <a:extLst>
              <a:ext uri="{FF2B5EF4-FFF2-40B4-BE49-F238E27FC236}">
                <a16:creationId xmlns:a16="http://schemas.microsoft.com/office/drawing/2014/main" id="{61329592-C250-4162-B526-D839B7772F13}"/>
              </a:ext>
            </a:extLst>
          </p:cNvPr>
          <p:cNvPicPr/>
          <p:nvPr/>
        </p:nvPicPr>
        <p:blipFill>
          <a:blip r:embed="rId2" cstate="print"/>
          <a:stretch>
            <a:fillRect/>
          </a:stretch>
        </p:blipFill>
        <p:spPr>
          <a:xfrm>
            <a:off x="8093464" y="143940"/>
            <a:ext cx="407878" cy="475820"/>
          </a:xfrm>
          <a:prstGeom prst="rect">
            <a:avLst/>
          </a:prstGeom>
        </p:spPr>
      </p:pic>
    </p:spTree>
    <p:extLst>
      <p:ext uri="{BB962C8B-B14F-4D97-AF65-F5344CB8AC3E}">
        <p14:creationId xmlns:p14="http://schemas.microsoft.com/office/powerpoint/2010/main" val="1736099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190" y="191490"/>
            <a:ext cx="7469193" cy="563177"/>
          </a:xfrm>
        </p:spPr>
        <p:txBody>
          <a:bodyPr>
            <a:normAutofit/>
          </a:bodyPr>
          <a:lstStyle/>
          <a:p>
            <a:r>
              <a:rPr lang="en-IN" sz="3600" b="1" dirty="0">
                <a:latin typeface="Calibri" panose="020F0502020204030204" pitchFamily="34" charset="0"/>
                <a:cs typeface="Calibri" panose="020F0502020204030204" pitchFamily="34" charset="0"/>
              </a:rPr>
              <a:t>Awards and Recognitions</a:t>
            </a:r>
          </a:p>
        </p:txBody>
      </p:sp>
      <p:pic>
        <p:nvPicPr>
          <p:cNvPr id="5" name="Picture 4">
            <a:extLst>
              <a:ext uri="{FF2B5EF4-FFF2-40B4-BE49-F238E27FC236}">
                <a16:creationId xmlns:a16="http://schemas.microsoft.com/office/drawing/2014/main" id="{61434179-E9CE-422E-98F5-F80636398628}"/>
              </a:ext>
            </a:extLst>
          </p:cNvPr>
          <p:cNvPicPr/>
          <p:nvPr/>
        </p:nvPicPr>
        <p:blipFill>
          <a:blip r:embed="rId2" cstate="print"/>
          <a:stretch>
            <a:fillRect/>
          </a:stretch>
        </p:blipFill>
        <p:spPr>
          <a:xfrm>
            <a:off x="8643244" y="228601"/>
            <a:ext cx="305909" cy="356865"/>
          </a:xfrm>
          <a:prstGeom prst="rect">
            <a:avLst/>
          </a:prstGeom>
        </p:spPr>
      </p:pic>
      <p:pic>
        <p:nvPicPr>
          <p:cNvPr id="6" name="Picture 5" descr="A picture containing text, indoor, person, automaton&#10;&#10;Description automatically generated">
            <a:extLst>
              <a:ext uri="{FF2B5EF4-FFF2-40B4-BE49-F238E27FC236}">
                <a16:creationId xmlns:a16="http://schemas.microsoft.com/office/drawing/2014/main" id="{4A1EEE50-EC28-4256-9455-F7D9C7C235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9191" y="1141059"/>
            <a:ext cx="4470009" cy="405995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Title 1">
            <a:extLst>
              <a:ext uri="{FF2B5EF4-FFF2-40B4-BE49-F238E27FC236}">
                <a16:creationId xmlns:a16="http://schemas.microsoft.com/office/drawing/2014/main" id="{49E947B6-4101-482E-BF3C-34337A9B71E5}"/>
              </a:ext>
            </a:extLst>
          </p:cNvPr>
          <p:cNvSpPr txBox="1">
            <a:spLocks/>
          </p:cNvSpPr>
          <p:nvPr/>
        </p:nvSpPr>
        <p:spPr>
          <a:xfrm>
            <a:off x="559191" y="5511955"/>
            <a:ext cx="8389962" cy="64269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baseline="0">
                <a:solidFill>
                  <a:schemeClr val="bg1"/>
                </a:solidFill>
                <a:latin typeface="+mj-lt"/>
                <a:ea typeface="+mj-ea"/>
                <a:cs typeface="+mj-cs"/>
              </a:defRPr>
            </a:lvl1pPr>
          </a:lstStyle>
          <a:p>
            <a:pPr algn="ctr"/>
            <a:r>
              <a:rPr lang="en-IN" sz="2000" b="0" i="0" dirty="0">
                <a:solidFill>
                  <a:srgbClr val="000000"/>
                </a:solidFill>
                <a:latin typeface="Times New Roman" pitchFamily="18" charset="0"/>
                <a:cs typeface="Times New Roman" pitchFamily="18" charset="0"/>
              </a:rPr>
              <a:t>Seva Sindhu has won prestigious Prime Minister Award for </a:t>
            </a:r>
            <a:r>
              <a:rPr lang="en-IN" sz="2000" i="0" dirty="0">
                <a:solidFill>
                  <a:srgbClr val="000000"/>
                </a:solidFill>
                <a:latin typeface="Times New Roman" pitchFamily="18" charset="0"/>
                <a:cs typeface="Times New Roman" pitchFamily="18" charset="0"/>
              </a:rPr>
              <a:t>Seamless End to End Delivery of Citizen Services without Human Intervention</a:t>
            </a:r>
            <a:r>
              <a:rPr lang="en-IN" sz="2000" b="0" i="0" dirty="0">
                <a:solidFill>
                  <a:srgbClr val="000000"/>
                </a:solidFill>
                <a:latin typeface="Times New Roman" pitchFamily="18" charset="0"/>
                <a:cs typeface="Times New Roman" pitchFamily="18" charset="0"/>
              </a:rPr>
              <a:t> During the Year 2021-22</a:t>
            </a:r>
          </a:p>
        </p:txBody>
      </p:sp>
      <p:pic>
        <p:nvPicPr>
          <p:cNvPr id="4" name="Picture 3" descr="A picture containing indoor, fan, device, engine&#10;&#10;Description automatically generated">
            <a:extLst>
              <a:ext uri="{FF2B5EF4-FFF2-40B4-BE49-F238E27FC236}">
                <a16:creationId xmlns:a16="http://schemas.microsoft.com/office/drawing/2014/main" id="{BFE2BC3C-6A0B-4B78-BBC1-7DDB329B038A}"/>
              </a:ext>
            </a:extLst>
          </p:cNvPr>
          <p:cNvPicPr>
            <a:picLocks noChangeAspect="1"/>
          </p:cNvPicPr>
          <p:nvPr/>
        </p:nvPicPr>
        <p:blipFill>
          <a:blip r:embed="rId4" cstate="print"/>
          <a:stretch>
            <a:fillRect/>
          </a:stretch>
        </p:blipFill>
        <p:spPr>
          <a:xfrm>
            <a:off x="5290829" y="1456257"/>
            <a:ext cx="1357875" cy="322131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9" name="Picture 8" descr="Text, letter&#10;&#10;Description automatically generated">
            <a:extLst>
              <a:ext uri="{FF2B5EF4-FFF2-40B4-BE49-F238E27FC236}">
                <a16:creationId xmlns:a16="http://schemas.microsoft.com/office/drawing/2014/main" id="{7298FF84-F30B-4767-87D3-76A09F1EA700}"/>
              </a:ext>
            </a:extLst>
          </p:cNvPr>
          <p:cNvPicPr>
            <a:picLocks noChangeAspect="1"/>
          </p:cNvPicPr>
          <p:nvPr/>
        </p:nvPicPr>
        <p:blipFill>
          <a:blip r:embed="rId5" cstate="print"/>
          <a:stretch>
            <a:fillRect/>
          </a:stretch>
        </p:blipFill>
        <p:spPr>
          <a:xfrm>
            <a:off x="6840568" y="1141059"/>
            <a:ext cx="2108585" cy="4136649"/>
          </a:xfrm>
          <a:prstGeom prst="roundRect">
            <a:avLst>
              <a:gd name="adj" fmla="val 4167"/>
            </a:avLst>
          </a:prstGeom>
          <a:solidFill>
            <a:srgbClr val="FFFFFF"/>
          </a:solidFill>
          <a:ln w="76200" cap="sq">
            <a:solidFill>
              <a:srgbClr val="292929"/>
            </a:solidFill>
            <a:miter lim="800000"/>
          </a:ln>
          <a:effectLst>
            <a:glow rad="63500">
              <a:schemeClr val="accent2">
                <a:satMod val="175000"/>
                <a:alpha val="40000"/>
              </a:schemeClr>
            </a:glow>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02577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0FF5B2-FB36-455F-83E8-7D0753DCF87C}"/>
              </a:ext>
            </a:extLst>
          </p:cNvPr>
          <p:cNvSpPr txBox="1"/>
          <p:nvPr/>
        </p:nvSpPr>
        <p:spPr>
          <a:xfrm>
            <a:off x="381000" y="1625622"/>
            <a:ext cx="7757454" cy="3649461"/>
          </a:xfrm>
          <a:prstGeom prst="rect">
            <a:avLst/>
          </a:prstGeom>
          <a:noFill/>
        </p:spPr>
        <p:txBody>
          <a:bodyPr wrap="square">
            <a:spAutoFit/>
          </a:bodyPr>
          <a:lstStyle/>
          <a:p>
            <a:pPr marL="557213" lvl="1" indent="-214313">
              <a:lnSpc>
                <a:spcPct val="107000"/>
              </a:lnSpc>
              <a:buFont typeface="Wingdings" panose="05000000000000000000" pitchFamily="2" charset="2"/>
              <a:buChar char="ü"/>
            </a:pPr>
            <a:r>
              <a:rPr lang="en-US" sz="1200" b="1" dirty="0">
                <a:latin typeface="Georgia" panose="02040502050405020303" pitchFamily="18" charset="0"/>
                <a:ea typeface="Times New Roman" panose="02020603050405020304" pitchFamily="18" charset="0"/>
                <a:cs typeface="Tunga" panose="020B0502040204020203" pitchFamily="34" charset="0"/>
              </a:rPr>
              <a:t>Online/ Self Mode</a:t>
            </a:r>
          </a:p>
          <a:p>
            <a:pPr marL="557213" lvl="1" indent="-214313">
              <a:lnSpc>
                <a:spcPct val="107000"/>
              </a:lnSpc>
              <a:buFont typeface="Wingdings" panose="05000000000000000000" pitchFamily="2" charset="2"/>
              <a:buChar char="ü"/>
            </a:pPr>
            <a:endParaRPr lang="en-US" sz="1200" b="1" dirty="0">
              <a:latin typeface="Georgia" panose="02040502050405020303" pitchFamily="18" charset="0"/>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b="1" dirty="0">
              <a:latin typeface="Georgia" panose="02040502050405020303" pitchFamily="18" charset="0"/>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r>
              <a:rPr lang="en-US" sz="1200" b="1" dirty="0" err="1">
                <a:latin typeface="Georgia" panose="02040502050405020303" pitchFamily="18" charset="0"/>
                <a:ea typeface="Times New Roman" panose="02020603050405020304" pitchFamily="18" charset="0"/>
                <a:cs typeface="Tunga" panose="020B0502040204020203" pitchFamily="34" charset="0"/>
              </a:rPr>
              <a:t>Grama</a:t>
            </a:r>
            <a:r>
              <a:rPr lang="en-US" sz="1200" b="1" dirty="0">
                <a:latin typeface="Georgia" panose="02040502050405020303" pitchFamily="18" charset="0"/>
                <a:ea typeface="Times New Roman" panose="02020603050405020304" pitchFamily="18" charset="0"/>
                <a:cs typeface="Tunga" panose="020B0502040204020203" pitchFamily="34" charset="0"/>
              </a:rPr>
              <a:t> One</a:t>
            </a: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r>
              <a:rPr lang="en-US" sz="1200" b="1" dirty="0" err="1">
                <a:latin typeface="Georgia" panose="02040502050405020303" pitchFamily="18" charset="0"/>
                <a:ea typeface="Times New Roman" panose="02020603050405020304" pitchFamily="18" charset="0"/>
                <a:cs typeface="Tunga" panose="020B0502040204020203" pitchFamily="34" charset="0"/>
              </a:rPr>
              <a:t>Janasevaka</a:t>
            </a:r>
            <a:r>
              <a:rPr lang="en-US" sz="1200" b="1" dirty="0">
                <a:latin typeface="Georgia" panose="02040502050405020303" pitchFamily="18" charset="0"/>
                <a:ea typeface="Times New Roman" panose="02020603050405020304" pitchFamily="18" charset="0"/>
                <a:cs typeface="Tunga" panose="020B0502040204020203" pitchFamily="34" charset="0"/>
              </a:rPr>
              <a:t> (Door Delivery)</a:t>
            </a: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dirty="0">
              <a:latin typeface="+mj-lt"/>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r>
              <a:rPr lang="en-US" sz="1200" b="1" dirty="0">
                <a:latin typeface="Georgia" panose="02040502050405020303" pitchFamily="18" charset="0"/>
                <a:ea typeface="Times New Roman" panose="02020603050405020304" pitchFamily="18" charset="0"/>
                <a:cs typeface="Tunga" panose="020B0502040204020203" pitchFamily="34" charset="0"/>
              </a:rPr>
              <a:t>Bangalore One and Karnataka One</a:t>
            </a:r>
          </a:p>
          <a:p>
            <a:pPr marL="557213" lvl="1" indent="-214313">
              <a:lnSpc>
                <a:spcPct val="107000"/>
              </a:lnSpc>
              <a:buFont typeface="Wingdings" panose="05000000000000000000" pitchFamily="2" charset="2"/>
              <a:buChar char="ü"/>
            </a:pPr>
            <a:endParaRPr lang="en-US" sz="1200" b="1" dirty="0">
              <a:latin typeface="Georgia" panose="02040502050405020303" pitchFamily="18" charset="0"/>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b="1" dirty="0">
              <a:latin typeface="Georgia" panose="02040502050405020303" pitchFamily="18" charset="0"/>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b="1" dirty="0">
              <a:latin typeface="Georgia" panose="02040502050405020303" pitchFamily="18" charset="0"/>
              <a:ea typeface="Times New Roman" panose="02020603050405020304" pitchFamily="18" charset="0"/>
              <a:cs typeface="Tunga" panose="020B0502040204020203" pitchFamily="34" charset="0"/>
            </a:endParaRPr>
          </a:p>
          <a:p>
            <a:pPr marL="557213" lvl="1" indent="-214313">
              <a:lnSpc>
                <a:spcPct val="107000"/>
              </a:lnSpc>
              <a:buFont typeface="Wingdings" panose="05000000000000000000" pitchFamily="2" charset="2"/>
              <a:buChar char="ü"/>
            </a:pPr>
            <a:endParaRPr lang="en-US" sz="1200" b="1" dirty="0">
              <a:latin typeface="Georgia" panose="02040502050405020303" pitchFamily="18" charset="0"/>
              <a:ea typeface="Times New Roman" panose="02020603050405020304" pitchFamily="18" charset="0"/>
              <a:cs typeface="Tunga" panose="020B0502040204020203" pitchFamily="34" charset="0"/>
            </a:endParaRPr>
          </a:p>
        </p:txBody>
      </p:sp>
      <p:sp>
        <p:nvSpPr>
          <p:cNvPr id="4" name="Title 1">
            <a:extLst>
              <a:ext uri="{FF2B5EF4-FFF2-40B4-BE49-F238E27FC236}">
                <a16:creationId xmlns:a16="http://schemas.microsoft.com/office/drawing/2014/main" id="{C416D1EA-A032-492A-B15B-41E1C490A487}"/>
              </a:ext>
            </a:extLst>
          </p:cNvPr>
          <p:cNvSpPr txBox="1">
            <a:spLocks/>
          </p:cNvSpPr>
          <p:nvPr/>
        </p:nvSpPr>
        <p:spPr>
          <a:xfrm>
            <a:off x="533400" y="925399"/>
            <a:ext cx="6134100" cy="55602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lvl="0">
              <a:defRPr/>
            </a:pPr>
            <a:r>
              <a:rPr lang="en-US" sz="2000" dirty="0">
                <a:solidFill>
                  <a:srgbClr val="7A1818"/>
                </a:solidFill>
                <a:latin typeface="Georgia" panose="02040502050405020303" pitchFamily="18" charset="0"/>
              </a:rPr>
              <a:t>Modes of Service Delivery</a:t>
            </a:r>
            <a:endParaRPr lang="en-GB" sz="2000" dirty="0">
              <a:solidFill>
                <a:srgbClr val="7A1818"/>
              </a:solidFill>
              <a:latin typeface="Georgia" panose="02040502050405020303" pitchFamily="18" charset="0"/>
            </a:endParaRPr>
          </a:p>
        </p:txBody>
      </p:sp>
      <p:sp>
        <p:nvSpPr>
          <p:cNvPr id="5" name="Rounded Rectangle 2">
            <a:extLst>
              <a:ext uri="{FF2B5EF4-FFF2-40B4-BE49-F238E27FC236}">
                <a16:creationId xmlns:a16="http://schemas.microsoft.com/office/drawing/2014/main" id="{602BD3AC-96AA-4E9D-B1BC-C89FEC3E7C06}"/>
              </a:ext>
            </a:extLst>
          </p:cNvPr>
          <p:cNvSpPr/>
          <p:nvPr/>
        </p:nvSpPr>
        <p:spPr bwMode="ltGray">
          <a:xfrm>
            <a:off x="1020347" y="2420563"/>
            <a:ext cx="7319193" cy="656699"/>
          </a:xfrm>
          <a:prstGeom prst="roundRect">
            <a:avLst/>
          </a:prstGeom>
          <a:ln/>
        </p:spPr>
        <p:style>
          <a:lnRef idx="2">
            <a:schemeClr val="accent3"/>
          </a:lnRef>
          <a:fillRef idx="1">
            <a:schemeClr val="lt1"/>
          </a:fillRef>
          <a:effectRef idx="0">
            <a:schemeClr val="accent3"/>
          </a:effectRef>
          <a:fontRef idx="minor">
            <a:schemeClr val="dk1"/>
          </a:fontRef>
        </p:style>
        <p:txBody>
          <a:bodyPr rtlCol="0" anchor="t" anchorCtr="0"/>
          <a:lstStyle/>
          <a:p>
            <a:pPr marL="214313" indent="-214313" algn="just">
              <a:buFont typeface="Arial" panose="020B0604020202020204" pitchFamily="34" charset="0"/>
              <a:buChar char="•"/>
            </a:pPr>
            <a:r>
              <a:rPr lang="en-US" sz="1200" dirty="0">
                <a:latin typeface="+mj-lt"/>
              </a:rPr>
              <a:t>Single point assistance centre for all citizen centric activities at village level which includes delivery of  G2C services, Banking services, Skill Upgradation etc. </a:t>
            </a:r>
          </a:p>
          <a:p>
            <a:pPr marL="203597" indent="-203597" algn="just">
              <a:buFont typeface="Arial" panose="020B0604020202020204" pitchFamily="34" charset="0"/>
              <a:buChar char="•"/>
            </a:pPr>
            <a:r>
              <a:rPr lang="en-US" sz="1200" dirty="0">
                <a:latin typeface="+mj-lt"/>
                <a:ea typeface="Times New Roman" panose="02020603050405020304" pitchFamily="18" charset="0"/>
                <a:cs typeface="Tunga" panose="020B0502040204020203" pitchFamily="34" charset="0"/>
              </a:rPr>
              <a:t>5000 Centers (being extended to 9000 centers by March 2022)</a:t>
            </a:r>
          </a:p>
          <a:p>
            <a:pPr marL="203597" indent="-203597" algn="just">
              <a:buFont typeface="Arial" panose="020B0604020202020204" pitchFamily="34" charset="0"/>
              <a:buChar char="•"/>
            </a:pPr>
            <a:endParaRPr lang="en-US" sz="1200" dirty="0">
              <a:solidFill>
                <a:schemeClr val="bg1"/>
              </a:solidFill>
              <a:latin typeface="+mj-lt"/>
            </a:endParaRPr>
          </a:p>
        </p:txBody>
      </p:sp>
      <p:sp>
        <p:nvSpPr>
          <p:cNvPr id="6" name="Rounded Rectangle 2">
            <a:extLst>
              <a:ext uri="{FF2B5EF4-FFF2-40B4-BE49-F238E27FC236}">
                <a16:creationId xmlns:a16="http://schemas.microsoft.com/office/drawing/2014/main" id="{5AF0E0BB-63C9-453E-B91C-2787018066ED}"/>
              </a:ext>
            </a:extLst>
          </p:cNvPr>
          <p:cNvSpPr/>
          <p:nvPr/>
        </p:nvSpPr>
        <p:spPr bwMode="ltGray">
          <a:xfrm>
            <a:off x="1020347" y="3434443"/>
            <a:ext cx="7276880" cy="624674"/>
          </a:xfrm>
          <a:prstGeom prst="roundRect">
            <a:avLst/>
          </a:prstGeom>
          <a:ln/>
        </p:spPr>
        <p:style>
          <a:lnRef idx="2">
            <a:schemeClr val="accent3"/>
          </a:lnRef>
          <a:fillRef idx="1">
            <a:schemeClr val="lt1"/>
          </a:fillRef>
          <a:effectRef idx="0">
            <a:schemeClr val="accent3"/>
          </a:effectRef>
          <a:fontRef idx="minor">
            <a:schemeClr val="dk1"/>
          </a:fontRef>
        </p:style>
        <p:txBody>
          <a:bodyPr rtlCol="0" anchor="t" anchorCtr="0"/>
          <a:lstStyle/>
          <a:p>
            <a:pPr marL="203597" indent="-203597" algn="just">
              <a:buFont typeface="Arial" panose="020B0604020202020204" pitchFamily="34" charset="0"/>
              <a:buChar char="•"/>
            </a:pPr>
            <a:r>
              <a:rPr lang="en-US" sz="1200" dirty="0">
                <a:latin typeface="+mj-lt"/>
              </a:rPr>
              <a:t>Involves receiving of applications and delivery of services at the door-step of citizens in </a:t>
            </a:r>
            <a:r>
              <a:rPr lang="en-US" sz="1200" dirty="0">
                <a:latin typeface="+mj-lt"/>
                <a:ea typeface="Times New Roman" panose="02020603050405020304" pitchFamily="18" charset="0"/>
                <a:cs typeface="Tunga" panose="020B0502040204020203" pitchFamily="34" charset="0"/>
              </a:rPr>
              <a:t>198 wards of BBMP</a:t>
            </a:r>
          </a:p>
          <a:p>
            <a:pPr marL="203597" indent="-203597" algn="just">
              <a:buFont typeface="Arial" panose="020B0604020202020204" pitchFamily="34" charset="0"/>
              <a:buChar char="•"/>
            </a:pPr>
            <a:r>
              <a:rPr lang="en-US" sz="1200" dirty="0">
                <a:latin typeface="+mj-lt"/>
                <a:ea typeface="Times New Roman" panose="02020603050405020304" pitchFamily="18" charset="0"/>
                <a:cs typeface="Tunga" panose="020B0502040204020203" pitchFamily="34" charset="0"/>
              </a:rPr>
              <a:t>79 services from  9 departments</a:t>
            </a:r>
          </a:p>
          <a:p>
            <a:pPr marL="203597" indent="-203597" algn="just">
              <a:buFont typeface="Arial" panose="020B0604020202020204" pitchFamily="34" charset="0"/>
              <a:buChar char="•"/>
            </a:pPr>
            <a:endParaRPr lang="en-US" sz="1200" dirty="0">
              <a:latin typeface="+mj-lt"/>
            </a:endParaRPr>
          </a:p>
        </p:txBody>
      </p:sp>
      <p:sp>
        <p:nvSpPr>
          <p:cNvPr id="8" name="Rounded Rectangle 2">
            <a:extLst>
              <a:ext uri="{FF2B5EF4-FFF2-40B4-BE49-F238E27FC236}">
                <a16:creationId xmlns:a16="http://schemas.microsoft.com/office/drawing/2014/main" id="{FA938263-D46C-406F-A1F6-C5D234CC8345}"/>
              </a:ext>
            </a:extLst>
          </p:cNvPr>
          <p:cNvSpPr/>
          <p:nvPr/>
        </p:nvSpPr>
        <p:spPr bwMode="ltGray">
          <a:xfrm>
            <a:off x="999190" y="4416299"/>
            <a:ext cx="7319193" cy="527472"/>
          </a:xfrm>
          <a:prstGeom prst="roundRect">
            <a:avLst/>
          </a:prstGeom>
          <a:ln/>
        </p:spPr>
        <p:style>
          <a:lnRef idx="2">
            <a:schemeClr val="accent3"/>
          </a:lnRef>
          <a:fillRef idx="1">
            <a:schemeClr val="lt1"/>
          </a:fillRef>
          <a:effectRef idx="0">
            <a:schemeClr val="accent3"/>
          </a:effectRef>
          <a:fontRef idx="minor">
            <a:schemeClr val="dk1"/>
          </a:fontRef>
        </p:style>
        <p:txBody>
          <a:bodyPr rtlCol="0" anchor="t" anchorCtr="0"/>
          <a:lstStyle/>
          <a:p>
            <a:pPr marL="214313" indent="-214313" algn="just">
              <a:buFont typeface="Arial" panose="020B0604020202020204" pitchFamily="34" charset="0"/>
              <a:buChar char="•"/>
            </a:pPr>
            <a:r>
              <a:rPr lang="en-US" sz="1200" dirty="0">
                <a:latin typeface="+mj-lt"/>
              </a:rPr>
              <a:t>Integrated citizen services delivery centers in Bangalore (146) &amp; other cities of Karnataka (62) </a:t>
            </a:r>
          </a:p>
          <a:p>
            <a:pPr marL="214313" indent="-214313" algn="just">
              <a:buFont typeface="Arial" panose="020B0604020202020204" pitchFamily="34" charset="0"/>
              <a:buChar char="•"/>
            </a:pPr>
            <a:r>
              <a:rPr lang="en-US" sz="1200" dirty="0">
                <a:latin typeface="+mj-lt"/>
              </a:rPr>
              <a:t>Being extended to all Urban Local Bodies in the State by March, 2022</a:t>
            </a:r>
          </a:p>
          <a:p>
            <a:pPr marL="214313" indent="-214313" algn="just">
              <a:buFont typeface="Arial" panose="020B0604020202020204" pitchFamily="34" charset="0"/>
              <a:buChar char="•"/>
            </a:pPr>
            <a:endParaRPr lang="en-US" sz="1200" dirty="0">
              <a:latin typeface="+mj-lt"/>
              <a:ea typeface="Times New Roman" panose="02020603050405020304" pitchFamily="18" charset="0"/>
              <a:cs typeface="Tunga" panose="020B0502040204020203" pitchFamily="34" charset="0"/>
            </a:endParaRPr>
          </a:p>
          <a:p>
            <a:pPr marL="203597" indent="-203597" algn="just">
              <a:buFont typeface="Arial" panose="020B0604020202020204" pitchFamily="34" charset="0"/>
              <a:buChar char="•"/>
            </a:pPr>
            <a:endParaRPr lang="en-US" sz="1200" dirty="0">
              <a:solidFill>
                <a:schemeClr val="bg1"/>
              </a:solidFill>
              <a:latin typeface="+mj-lt"/>
            </a:endParaRPr>
          </a:p>
        </p:txBody>
      </p:sp>
      <p:sp>
        <p:nvSpPr>
          <p:cNvPr id="9" name="Rounded Rectangle 2">
            <a:extLst>
              <a:ext uri="{FF2B5EF4-FFF2-40B4-BE49-F238E27FC236}">
                <a16:creationId xmlns:a16="http://schemas.microsoft.com/office/drawing/2014/main" id="{909030D8-8985-4653-9B61-34859BF4D47C}"/>
              </a:ext>
            </a:extLst>
          </p:cNvPr>
          <p:cNvSpPr/>
          <p:nvPr/>
        </p:nvSpPr>
        <p:spPr bwMode="ltGray">
          <a:xfrm>
            <a:off x="1020347" y="1838603"/>
            <a:ext cx="7319193" cy="329312"/>
          </a:xfrm>
          <a:prstGeom prst="roundRect">
            <a:avLst/>
          </a:prstGeom>
          <a:ln/>
        </p:spPr>
        <p:style>
          <a:lnRef idx="2">
            <a:schemeClr val="accent3"/>
          </a:lnRef>
          <a:fillRef idx="1">
            <a:schemeClr val="lt1"/>
          </a:fillRef>
          <a:effectRef idx="0">
            <a:schemeClr val="accent3"/>
          </a:effectRef>
          <a:fontRef idx="minor">
            <a:schemeClr val="dk1"/>
          </a:fontRef>
        </p:style>
        <p:txBody>
          <a:bodyPr rtlCol="0" anchor="t" anchorCtr="0"/>
          <a:lstStyle/>
          <a:p>
            <a:pPr marL="203597" indent="-203597" algn="just">
              <a:buFont typeface="Arial" panose="020B0604020202020204" pitchFamily="34" charset="0"/>
              <a:buChar char="•"/>
            </a:pPr>
            <a:r>
              <a:rPr lang="en-US" sz="1200" dirty="0">
                <a:solidFill>
                  <a:schemeClr val="tx1"/>
                </a:solidFill>
                <a:latin typeface="+mj-lt"/>
              </a:rPr>
              <a:t>Services are available online at </a:t>
            </a:r>
            <a:r>
              <a:rPr lang="en-US" sz="1200" dirty="0">
                <a:solidFill>
                  <a:schemeClr val="tx1"/>
                </a:solidFill>
                <a:latin typeface="+mj-lt"/>
                <a:hlinkClick r:id="rId2"/>
              </a:rPr>
              <a:t>https://sevasindhu.karnataka.gov.in/Sevasindhu/English</a:t>
            </a:r>
            <a:endParaRPr lang="en-US" sz="1200" dirty="0">
              <a:solidFill>
                <a:schemeClr val="tx1"/>
              </a:solidFill>
              <a:latin typeface="+mj-lt"/>
            </a:endParaRPr>
          </a:p>
          <a:p>
            <a:pPr marL="203597" indent="-203597" algn="just">
              <a:buFont typeface="Arial" panose="020B0604020202020204" pitchFamily="34" charset="0"/>
              <a:buChar char="•"/>
            </a:pPr>
            <a:endParaRPr lang="en-US" sz="1200" dirty="0">
              <a:latin typeface="+mj-lt"/>
            </a:endParaRPr>
          </a:p>
          <a:p>
            <a:pPr marL="203597" indent="-203597" algn="just">
              <a:buFont typeface="Arial" panose="020B0604020202020204" pitchFamily="34" charset="0"/>
              <a:buChar char="•"/>
            </a:pPr>
            <a:endParaRPr lang="en-US" sz="1200" dirty="0">
              <a:solidFill>
                <a:schemeClr val="bg1"/>
              </a:solidFill>
              <a:latin typeface="+mj-lt"/>
            </a:endParaRPr>
          </a:p>
        </p:txBody>
      </p:sp>
    </p:spTree>
    <p:extLst>
      <p:ext uri="{BB962C8B-B14F-4D97-AF65-F5344CB8AC3E}">
        <p14:creationId xmlns:p14="http://schemas.microsoft.com/office/powerpoint/2010/main" val="108298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Grid" hidden="1"/>
          <p:cNvGrpSpPr/>
          <p:nvPr>
            <p:custDataLst>
              <p:tags r:id="rId2"/>
            </p:custDataLst>
          </p:nvPr>
        </p:nvGrpSpPr>
        <p:grpSpPr>
          <a:xfrm>
            <a:off x="1594821" y="1262680"/>
            <a:ext cx="5954358" cy="4532331"/>
            <a:chOff x="530352" y="612648"/>
            <a:chExt cx="8997696" cy="6848856"/>
          </a:xfrm>
        </p:grpSpPr>
        <p:grpSp>
          <p:nvGrpSpPr>
            <p:cNvPr id="5" name="Group 4" hidden="1"/>
            <p:cNvGrpSpPr/>
            <p:nvPr/>
          </p:nvGrpSpPr>
          <p:grpSpPr>
            <a:xfrm>
              <a:off x="530352" y="7159752"/>
              <a:ext cx="8997696" cy="301752"/>
              <a:chOff x="530352" y="7159752"/>
              <a:chExt cx="8997696" cy="301752"/>
            </a:xfrm>
          </p:grpSpPr>
          <p:sp>
            <p:nvSpPr>
              <p:cNvPr id="52" name="Footer block" hidden="1"/>
              <p:cNvSpPr>
                <a:spLocks noChangeArrowheads="1"/>
              </p:cNvSpPr>
              <p:nvPr/>
            </p:nvSpPr>
            <p:spPr bwMode="gray">
              <a:xfrm>
                <a:off x="6629400"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604085">
                  <a:defRPr/>
                </a:pPr>
                <a:endParaRPr lang="en-GB" sz="1191" dirty="0"/>
              </a:p>
            </p:txBody>
          </p:sp>
          <p:sp>
            <p:nvSpPr>
              <p:cNvPr id="53" name="Footer block" hidden="1"/>
              <p:cNvSpPr>
                <a:spLocks noChangeArrowheads="1"/>
              </p:cNvSpPr>
              <p:nvPr/>
            </p:nvSpPr>
            <p:spPr bwMode="gray">
              <a:xfrm>
                <a:off x="3584448"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604085">
                  <a:defRPr/>
                </a:pPr>
                <a:endParaRPr lang="en-GB" sz="1191" dirty="0"/>
              </a:p>
            </p:txBody>
          </p:sp>
          <p:sp>
            <p:nvSpPr>
              <p:cNvPr id="54" name="Footer block" hidden="1"/>
              <p:cNvSpPr>
                <a:spLocks noChangeArrowheads="1"/>
              </p:cNvSpPr>
              <p:nvPr/>
            </p:nvSpPr>
            <p:spPr bwMode="gray">
              <a:xfrm>
                <a:off x="530352" y="7159752"/>
                <a:ext cx="2898648" cy="301752"/>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604085">
                  <a:defRPr/>
                </a:pPr>
                <a:endParaRPr lang="en-GB" sz="1191" dirty="0"/>
              </a:p>
            </p:txBody>
          </p:sp>
        </p:grpSp>
        <p:grpSp>
          <p:nvGrpSpPr>
            <p:cNvPr id="6" name="Group 5" hidden="1"/>
            <p:cNvGrpSpPr/>
            <p:nvPr/>
          </p:nvGrpSpPr>
          <p:grpSpPr>
            <a:xfrm>
              <a:off x="530352" y="1066800"/>
              <a:ext cx="8997696" cy="835152"/>
              <a:chOff x="530352" y="1066800"/>
              <a:chExt cx="8997696" cy="835152"/>
            </a:xfrm>
          </p:grpSpPr>
          <p:sp>
            <p:nvSpPr>
              <p:cNvPr id="50" name="Title block" hidden="1"/>
              <p:cNvSpPr>
                <a:spLocks noChangeArrowheads="1"/>
              </p:cNvSpPr>
              <p:nvPr/>
            </p:nvSpPr>
            <p:spPr bwMode="gray">
              <a:xfrm>
                <a:off x="5102352" y="1066800"/>
                <a:ext cx="4425696" cy="832104"/>
              </a:xfrm>
              <a:prstGeom prst="rect">
                <a:avLst/>
              </a:prstGeom>
              <a:solidFill>
                <a:srgbClr val="FCC3D7">
                  <a:alpha val="25000"/>
                </a:srgbClr>
              </a:solidFill>
              <a:ln w="6350" cap="rnd">
                <a:solidFill>
                  <a:srgbClr val="FCC3D7"/>
                </a:solidFill>
                <a:prstDash val="sysDot"/>
                <a:miter lim="800000"/>
                <a:headEnd/>
                <a:tailEnd/>
              </a:ln>
              <a:effectLst/>
            </p:spPr>
            <p:txBody>
              <a:bodyPr wrap="none" lIns="0" tIns="0" rIns="0" bIns="0" anchor="ctr"/>
              <a:lstStyle/>
              <a:p>
                <a:pPr algn="ctr" defTabSz="604085">
                  <a:defRPr/>
                </a:pPr>
                <a:endParaRPr lang="en-GB" sz="1191" dirty="0"/>
              </a:p>
            </p:txBody>
          </p:sp>
          <p:sp>
            <p:nvSpPr>
              <p:cNvPr id="51" name="Title block" hidden="1"/>
              <p:cNvSpPr>
                <a:spLocks noChangeArrowheads="1"/>
              </p:cNvSpPr>
              <p:nvPr/>
            </p:nvSpPr>
            <p:spPr bwMode="gray">
              <a:xfrm>
                <a:off x="530352" y="1069848"/>
                <a:ext cx="4425696" cy="832104"/>
              </a:xfrm>
              <a:prstGeom prst="rect">
                <a:avLst/>
              </a:prstGeom>
              <a:solidFill>
                <a:srgbClr val="FCC3D7">
                  <a:alpha val="25000"/>
                </a:srgbClr>
              </a:solidFill>
              <a:ln w="6350" cap="rnd">
                <a:solidFill>
                  <a:srgbClr val="FCC3D7"/>
                </a:solidFill>
                <a:prstDash val="sysDot"/>
                <a:miter lim="800000"/>
                <a:headEnd/>
                <a:tailEnd/>
              </a:ln>
              <a:effectLst/>
            </p:spPr>
            <p:txBody>
              <a:bodyPr wrap="none" lIns="0" tIns="0" rIns="0" bIns="0" anchor="ctr"/>
              <a:lstStyle/>
              <a:p>
                <a:pPr algn="ctr" defTabSz="604085">
                  <a:defRPr/>
                </a:pPr>
                <a:endParaRPr lang="en-GB" sz="1191" dirty="0"/>
              </a:p>
            </p:txBody>
          </p:sp>
        </p:grpSp>
        <p:sp>
          <p:nvSpPr>
            <p:cNvPr id="7" name="Header block" hidden="1"/>
            <p:cNvSpPr>
              <a:spLocks noChangeArrowheads="1"/>
            </p:cNvSpPr>
            <p:nvPr/>
          </p:nvSpPr>
          <p:spPr bwMode="gray">
            <a:xfrm>
              <a:off x="530352" y="612648"/>
              <a:ext cx="8988552" cy="228600"/>
            </a:xfrm>
            <a:prstGeom prst="rect">
              <a:avLst/>
            </a:prstGeom>
            <a:solidFill>
              <a:srgbClr val="CCFFFF">
                <a:alpha val="25000"/>
              </a:srgbClr>
            </a:solidFill>
            <a:ln w="6350" cap="rnd">
              <a:solidFill>
                <a:srgbClr val="CCFFFF"/>
              </a:solidFill>
              <a:prstDash val="sysDot"/>
              <a:miter lim="800000"/>
              <a:headEnd/>
              <a:tailEnd/>
            </a:ln>
            <a:effectLst/>
          </p:spPr>
          <p:txBody>
            <a:bodyPr wrap="none" lIns="0" tIns="0" rIns="0" bIns="0" anchor="ctr"/>
            <a:lstStyle/>
            <a:p>
              <a:pPr algn="ctr" defTabSz="530544">
                <a:buSzPct val="90000"/>
                <a:defRPr/>
              </a:pPr>
              <a:endParaRPr lang="en-GB" sz="926" dirty="0">
                <a:solidFill>
                  <a:schemeClr val="folHlink"/>
                </a:solidFill>
                <a:cs typeface="Arial" charset="0"/>
              </a:endParaRPr>
            </a:p>
          </p:txBody>
        </p:sp>
        <p:grpSp>
          <p:nvGrpSpPr>
            <p:cNvPr id="8" name="Group 600" hidden="1"/>
            <p:cNvGrpSpPr/>
            <p:nvPr/>
          </p:nvGrpSpPr>
          <p:grpSpPr>
            <a:xfrm>
              <a:off x="533400" y="6245352"/>
              <a:ext cx="8994648" cy="688848"/>
              <a:chOff x="533400" y="6013704"/>
              <a:chExt cx="8994648" cy="688848"/>
            </a:xfrm>
          </p:grpSpPr>
          <p:sp>
            <p:nvSpPr>
              <p:cNvPr id="44" name="Content block 606" hidden="1"/>
              <p:cNvSpPr>
                <a:spLocks noChangeArrowheads="1"/>
              </p:cNvSpPr>
              <p:nvPr/>
            </p:nvSpPr>
            <p:spPr bwMode="gray">
              <a:xfrm>
                <a:off x="8156448" y="60137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5" name="Content block 605" hidden="1"/>
              <p:cNvSpPr>
                <a:spLocks noChangeArrowheads="1"/>
              </p:cNvSpPr>
              <p:nvPr/>
            </p:nvSpPr>
            <p:spPr bwMode="gray">
              <a:xfrm>
                <a:off x="6631840" y="60137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6" name="Content block 604" hidden="1"/>
              <p:cNvSpPr>
                <a:spLocks noChangeArrowheads="1"/>
              </p:cNvSpPr>
              <p:nvPr/>
            </p:nvSpPr>
            <p:spPr bwMode="gray">
              <a:xfrm>
                <a:off x="510723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7" name="Content block 603" hidden="1"/>
              <p:cNvSpPr>
                <a:spLocks noChangeArrowheads="1"/>
              </p:cNvSpPr>
              <p:nvPr/>
            </p:nvSpPr>
            <p:spPr bwMode="gray">
              <a:xfrm>
                <a:off x="358262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8" name="Content block 602" hidden="1"/>
              <p:cNvSpPr>
                <a:spLocks noChangeArrowheads="1"/>
              </p:cNvSpPr>
              <p:nvPr/>
            </p:nvSpPr>
            <p:spPr bwMode="gray">
              <a:xfrm>
                <a:off x="205801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9" name="Content block 601" hidden="1"/>
              <p:cNvSpPr>
                <a:spLocks noChangeArrowheads="1"/>
              </p:cNvSpPr>
              <p:nvPr/>
            </p:nvSpPr>
            <p:spPr bwMode="gray">
              <a:xfrm>
                <a:off x="533400" y="60167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grpSp>
        <p:grpSp>
          <p:nvGrpSpPr>
            <p:cNvPr id="9" name="Group 500" hidden="1"/>
            <p:cNvGrpSpPr/>
            <p:nvPr/>
          </p:nvGrpSpPr>
          <p:grpSpPr>
            <a:xfrm>
              <a:off x="533400" y="5407152"/>
              <a:ext cx="8994648" cy="688848"/>
              <a:chOff x="533400" y="5026152"/>
              <a:chExt cx="8994648" cy="688848"/>
            </a:xfrm>
          </p:grpSpPr>
          <p:sp>
            <p:nvSpPr>
              <p:cNvPr id="38" name="Content block 506" hidden="1"/>
              <p:cNvSpPr>
                <a:spLocks noChangeArrowheads="1"/>
              </p:cNvSpPr>
              <p:nvPr/>
            </p:nvSpPr>
            <p:spPr bwMode="gray">
              <a:xfrm>
                <a:off x="8156448" y="50261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9" name="Content block 505" hidden="1"/>
              <p:cNvSpPr>
                <a:spLocks noChangeArrowheads="1"/>
              </p:cNvSpPr>
              <p:nvPr/>
            </p:nvSpPr>
            <p:spPr bwMode="gray">
              <a:xfrm>
                <a:off x="6631840" y="50261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0" name="Content block 504" hidden="1"/>
              <p:cNvSpPr>
                <a:spLocks noChangeArrowheads="1"/>
              </p:cNvSpPr>
              <p:nvPr/>
            </p:nvSpPr>
            <p:spPr bwMode="gray">
              <a:xfrm>
                <a:off x="510723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1" name="Content block 503" hidden="1"/>
              <p:cNvSpPr>
                <a:spLocks noChangeArrowheads="1"/>
              </p:cNvSpPr>
              <p:nvPr/>
            </p:nvSpPr>
            <p:spPr bwMode="gray">
              <a:xfrm>
                <a:off x="358262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2" name="Content block 502" hidden="1"/>
              <p:cNvSpPr>
                <a:spLocks noChangeArrowheads="1"/>
              </p:cNvSpPr>
              <p:nvPr/>
            </p:nvSpPr>
            <p:spPr bwMode="gray">
              <a:xfrm>
                <a:off x="205801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43" name="Content block 501" hidden="1"/>
              <p:cNvSpPr>
                <a:spLocks noChangeArrowheads="1"/>
              </p:cNvSpPr>
              <p:nvPr/>
            </p:nvSpPr>
            <p:spPr bwMode="gray">
              <a:xfrm>
                <a:off x="533400" y="50292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grpSp>
        <p:grpSp>
          <p:nvGrpSpPr>
            <p:cNvPr id="10" name="Group 400" hidden="1"/>
            <p:cNvGrpSpPr/>
            <p:nvPr/>
          </p:nvGrpSpPr>
          <p:grpSpPr>
            <a:xfrm>
              <a:off x="533400" y="4568952"/>
              <a:ext cx="8994648" cy="688848"/>
              <a:chOff x="533400" y="4038600"/>
              <a:chExt cx="8994648" cy="688848"/>
            </a:xfrm>
          </p:grpSpPr>
          <p:sp>
            <p:nvSpPr>
              <p:cNvPr id="32" name="Content block 406" hidden="1"/>
              <p:cNvSpPr>
                <a:spLocks noChangeArrowheads="1"/>
              </p:cNvSpPr>
              <p:nvPr/>
            </p:nvSpPr>
            <p:spPr bwMode="gray">
              <a:xfrm>
                <a:off x="8156448" y="40386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3" name="Content block 405" hidden="1"/>
              <p:cNvSpPr>
                <a:spLocks noChangeArrowheads="1"/>
              </p:cNvSpPr>
              <p:nvPr/>
            </p:nvSpPr>
            <p:spPr bwMode="gray">
              <a:xfrm>
                <a:off x="6631840" y="40386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4" name="Content block 404" hidden="1"/>
              <p:cNvSpPr>
                <a:spLocks noChangeArrowheads="1"/>
              </p:cNvSpPr>
              <p:nvPr/>
            </p:nvSpPr>
            <p:spPr bwMode="gray">
              <a:xfrm>
                <a:off x="510723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5" name="Content block 403" hidden="1"/>
              <p:cNvSpPr>
                <a:spLocks noChangeArrowheads="1"/>
              </p:cNvSpPr>
              <p:nvPr/>
            </p:nvSpPr>
            <p:spPr bwMode="gray">
              <a:xfrm>
                <a:off x="358262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6" name="Content block 402" hidden="1"/>
              <p:cNvSpPr>
                <a:spLocks noChangeArrowheads="1"/>
              </p:cNvSpPr>
              <p:nvPr/>
            </p:nvSpPr>
            <p:spPr bwMode="gray">
              <a:xfrm>
                <a:off x="205801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7" name="Content block 401" hidden="1"/>
              <p:cNvSpPr>
                <a:spLocks noChangeArrowheads="1"/>
              </p:cNvSpPr>
              <p:nvPr/>
            </p:nvSpPr>
            <p:spPr bwMode="gray">
              <a:xfrm>
                <a:off x="533400" y="40416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grpSp>
        <p:grpSp>
          <p:nvGrpSpPr>
            <p:cNvPr id="11" name="Group 300" hidden="1"/>
            <p:cNvGrpSpPr/>
            <p:nvPr/>
          </p:nvGrpSpPr>
          <p:grpSpPr>
            <a:xfrm>
              <a:off x="533400" y="3730752"/>
              <a:ext cx="8994648" cy="688848"/>
              <a:chOff x="533400" y="3041904"/>
              <a:chExt cx="8994648" cy="688848"/>
            </a:xfrm>
          </p:grpSpPr>
          <p:sp>
            <p:nvSpPr>
              <p:cNvPr id="26" name="Content block 306" hidden="1"/>
              <p:cNvSpPr>
                <a:spLocks noChangeArrowheads="1"/>
              </p:cNvSpPr>
              <p:nvPr/>
            </p:nvSpPr>
            <p:spPr bwMode="gray">
              <a:xfrm>
                <a:off x="8156448" y="30419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7" name="Content block 305" hidden="1"/>
              <p:cNvSpPr>
                <a:spLocks noChangeArrowheads="1"/>
              </p:cNvSpPr>
              <p:nvPr/>
            </p:nvSpPr>
            <p:spPr bwMode="gray">
              <a:xfrm>
                <a:off x="6631840" y="3041904"/>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8" name="Content block 304" hidden="1"/>
              <p:cNvSpPr>
                <a:spLocks noChangeArrowheads="1"/>
              </p:cNvSpPr>
              <p:nvPr/>
            </p:nvSpPr>
            <p:spPr bwMode="gray">
              <a:xfrm>
                <a:off x="510723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9" name="Content block 303" hidden="1"/>
              <p:cNvSpPr>
                <a:spLocks noChangeArrowheads="1"/>
              </p:cNvSpPr>
              <p:nvPr/>
            </p:nvSpPr>
            <p:spPr bwMode="gray">
              <a:xfrm>
                <a:off x="358262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0" name="Content block 302" hidden="1"/>
              <p:cNvSpPr>
                <a:spLocks noChangeArrowheads="1"/>
              </p:cNvSpPr>
              <p:nvPr/>
            </p:nvSpPr>
            <p:spPr bwMode="gray">
              <a:xfrm>
                <a:off x="205801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31" name="Content block 301" hidden="1"/>
              <p:cNvSpPr>
                <a:spLocks noChangeArrowheads="1"/>
              </p:cNvSpPr>
              <p:nvPr/>
            </p:nvSpPr>
            <p:spPr bwMode="gray">
              <a:xfrm>
                <a:off x="533400" y="30449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grpSp>
        <p:grpSp>
          <p:nvGrpSpPr>
            <p:cNvPr id="12" name="Group 200" hidden="1"/>
            <p:cNvGrpSpPr/>
            <p:nvPr/>
          </p:nvGrpSpPr>
          <p:grpSpPr>
            <a:xfrm>
              <a:off x="533400" y="2892552"/>
              <a:ext cx="8994648" cy="688848"/>
              <a:chOff x="533400" y="1066800"/>
              <a:chExt cx="8994648" cy="688848"/>
            </a:xfrm>
          </p:grpSpPr>
          <p:sp>
            <p:nvSpPr>
              <p:cNvPr id="20" name="Content block 206" hidden="1"/>
              <p:cNvSpPr>
                <a:spLocks noChangeArrowheads="1"/>
              </p:cNvSpPr>
              <p:nvPr/>
            </p:nvSpPr>
            <p:spPr bwMode="gray">
              <a:xfrm>
                <a:off x="8156448" y="10668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1" name="Content block 205" hidden="1"/>
              <p:cNvSpPr>
                <a:spLocks noChangeArrowheads="1"/>
              </p:cNvSpPr>
              <p:nvPr/>
            </p:nvSpPr>
            <p:spPr bwMode="gray">
              <a:xfrm>
                <a:off x="6631840" y="10668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2" name="Content block 204" hidden="1"/>
              <p:cNvSpPr>
                <a:spLocks noChangeArrowheads="1"/>
              </p:cNvSpPr>
              <p:nvPr/>
            </p:nvSpPr>
            <p:spPr bwMode="gray">
              <a:xfrm>
                <a:off x="510723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3" name="Content block 203" hidden="1"/>
              <p:cNvSpPr>
                <a:spLocks noChangeArrowheads="1"/>
              </p:cNvSpPr>
              <p:nvPr/>
            </p:nvSpPr>
            <p:spPr bwMode="gray">
              <a:xfrm>
                <a:off x="358262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4" name="Content block 202" hidden="1"/>
              <p:cNvSpPr>
                <a:spLocks noChangeArrowheads="1"/>
              </p:cNvSpPr>
              <p:nvPr/>
            </p:nvSpPr>
            <p:spPr bwMode="gray">
              <a:xfrm>
                <a:off x="205801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25" name="Content block 201" hidden="1"/>
              <p:cNvSpPr>
                <a:spLocks noChangeArrowheads="1"/>
              </p:cNvSpPr>
              <p:nvPr/>
            </p:nvSpPr>
            <p:spPr bwMode="gray">
              <a:xfrm>
                <a:off x="533400" y="1069848"/>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grpSp>
        <p:grpSp>
          <p:nvGrpSpPr>
            <p:cNvPr id="13" name="Group 100" hidden="1"/>
            <p:cNvGrpSpPr/>
            <p:nvPr/>
          </p:nvGrpSpPr>
          <p:grpSpPr>
            <a:xfrm>
              <a:off x="533400" y="2054352"/>
              <a:ext cx="8994648" cy="688848"/>
              <a:chOff x="533400" y="2054352"/>
              <a:chExt cx="8994648" cy="688848"/>
            </a:xfrm>
          </p:grpSpPr>
          <p:sp>
            <p:nvSpPr>
              <p:cNvPr id="14" name="Content block 106" hidden="1"/>
              <p:cNvSpPr>
                <a:spLocks noChangeArrowheads="1"/>
              </p:cNvSpPr>
              <p:nvPr/>
            </p:nvSpPr>
            <p:spPr bwMode="gray">
              <a:xfrm>
                <a:off x="8156448" y="20543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15" name="Content block 105" hidden="1"/>
              <p:cNvSpPr>
                <a:spLocks noChangeArrowheads="1"/>
              </p:cNvSpPr>
              <p:nvPr/>
            </p:nvSpPr>
            <p:spPr bwMode="gray">
              <a:xfrm>
                <a:off x="6631840" y="2054352"/>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16" name="Content block 104" hidden="1"/>
              <p:cNvSpPr>
                <a:spLocks noChangeArrowheads="1"/>
              </p:cNvSpPr>
              <p:nvPr/>
            </p:nvSpPr>
            <p:spPr bwMode="gray">
              <a:xfrm>
                <a:off x="510723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17" name="Content block 103" hidden="1"/>
              <p:cNvSpPr>
                <a:spLocks noChangeArrowheads="1"/>
              </p:cNvSpPr>
              <p:nvPr/>
            </p:nvSpPr>
            <p:spPr bwMode="gray">
              <a:xfrm>
                <a:off x="358262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18" name="Content block 102" hidden="1"/>
              <p:cNvSpPr>
                <a:spLocks noChangeArrowheads="1"/>
              </p:cNvSpPr>
              <p:nvPr/>
            </p:nvSpPr>
            <p:spPr bwMode="gray">
              <a:xfrm>
                <a:off x="205801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sp>
            <p:nvSpPr>
              <p:cNvPr id="19" name="Content block 101" hidden="1"/>
              <p:cNvSpPr>
                <a:spLocks noChangeArrowheads="1"/>
              </p:cNvSpPr>
              <p:nvPr/>
            </p:nvSpPr>
            <p:spPr bwMode="gray">
              <a:xfrm>
                <a:off x="533400" y="2057400"/>
                <a:ext cx="1371600" cy="685800"/>
              </a:xfrm>
              <a:prstGeom prst="rect">
                <a:avLst/>
              </a:prstGeom>
              <a:solidFill>
                <a:srgbClr val="E7EBE0">
                  <a:alpha val="50000"/>
                </a:srgbClr>
              </a:solidFill>
              <a:ln w="6350">
                <a:solidFill>
                  <a:srgbClr val="E7EBE0"/>
                </a:solidFill>
                <a:prstDash val="sysDot"/>
                <a:miter lim="800000"/>
                <a:headEnd/>
                <a:tailEnd/>
              </a:ln>
              <a:effectLst/>
            </p:spPr>
            <p:txBody>
              <a:bodyPr wrap="none" lIns="0" tIns="0" rIns="0" bIns="0" anchor="ctr"/>
              <a:lstStyle/>
              <a:p>
                <a:pPr algn="ctr" defTabSz="604085">
                  <a:defRPr/>
                </a:pPr>
                <a:endParaRPr lang="en-GB" sz="1191" dirty="0"/>
              </a:p>
            </p:txBody>
          </p:sp>
        </p:grpSp>
      </p:grpSp>
      <p:sp>
        <p:nvSpPr>
          <p:cNvPr id="2" name="Title 1"/>
          <p:cNvSpPr>
            <a:spLocks noGrp="1"/>
          </p:cNvSpPr>
          <p:nvPr>
            <p:ph type="title" idx="4294967295"/>
          </p:nvPr>
        </p:nvSpPr>
        <p:spPr>
          <a:xfrm>
            <a:off x="491197" y="140740"/>
            <a:ext cx="6134100" cy="292311"/>
          </a:xfrm>
        </p:spPr>
        <p:txBody>
          <a:bodyPr>
            <a:noAutofit/>
          </a:bodyPr>
          <a:lstStyle/>
          <a:p>
            <a:r>
              <a:rPr lang="en-GB" sz="2100" dirty="0">
                <a:solidFill>
                  <a:srgbClr val="7A1818"/>
                </a:solidFill>
              </a:rPr>
              <a:t>Grama One</a:t>
            </a:r>
          </a:p>
        </p:txBody>
      </p:sp>
      <p:sp>
        <p:nvSpPr>
          <p:cNvPr id="55" name="Section Header" hidden="1"/>
          <p:cNvSpPr txBox="1"/>
          <p:nvPr>
            <p:custDataLst>
              <p:tags r:id="rId3"/>
            </p:custDataLst>
          </p:nvPr>
        </p:nvSpPr>
        <p:spPr>
          <a:xfrm>
            <a:off x="1594827" y="1323191"/>
            <a:ext cx="2008045" cy="90768"/>
          </a:xfrm>
          <a:prstGeom prst="rect">
            <a:avLst/>
          </a:prstGeom>
          <a:noFill/>
        </p:spPr>
        <p:txBody>
          <a:bodyPr wrap="square" lIns="0" tIns="0" rIns="0" bIns="0" rtlCol="0" anchor="b" anchorCtr="0">
            <a:noAutofit/>
          </a:bodyPr>
          <a:lstStyle/>
          <a:p>
            <a:r>
              <a:rPr lang="en-GB" sz="596" noProof="1"/>
              <a:t> </a:t>
            </a:r>
          </a:p>
        </p:txBody>
      </p:sp>
      <p:sp>
        <p:nvSpPr>
          <p:cNvPr id="3" name="Rounded Rectangle 2"/>
          <p:cNvSpPr/>
          <p:nvPr/>
        </p:nvSpPr>
        <p:spPr bwMode="ltGray">
          <a:xfrm>
            <a:off x="273210" y="565879"/>
            <a:ext cx="8565990" cy="1712318"/>
          </a:xfrm>
          <a:prstGeom prst="roundRect">
            <a:avLst/>
          </a:prstGeom>
          <a:ln/>
        </p:spPr>
        <p:style>
          <a:lnRef idx="2">
            <a:schemeClr val="accent3"/>
          </a:lnRef>
          <a:fillRef idx="1">
            <a:schemeClr val="lt1"/>
          </a:fillRef>
          <a:effectRef idx="0">
            <a:schemeClr val="accent3"/>
          </a:effectRef>
          <a:fontRef idx="minor">
            <a:schemeClr val="dk1"/>
          </a:fontRef>
        </p:style>
        <p:txBody>
          <a:bodyPr rtlCol="0" anchor="t" anchorCtr="0"/>
          <a:lstStyle/>
          <a:p>
            <a:pPr marL="214313" indent="-214313" algn="just">
              <a:buFont typeface="Arial" panose="020B0604020202020204" pitchFamily="34" charset="0"/>
              <a:buChar char="•"/>
            </a:pPr>
            <a:r>
              <a:rPr lang="en-US" sz="1600" dirty="0">
                <a:latin typeface="+mj-lt"/>
              </a:rPr>
              <a:t>Single point assistance centre for all citizen centric activities at village level which includes delivery of  G2C services, Banking services, Skill Upgradation etc. </a:t>
            </a:r>
          </a:p>
          <a:p>
            <a:pPr marL="203597" indent="-203597" algn="just">
              <a:buFont typeface="Arial" panose="020B0604020202020204" pitchFamily="34" charset="0"/>
              <a:buChar char="•"/>
            </a:pPr>
            <a:r>
              <a:rPr lang="en-US" sz="1600" dirty="0">
                <a:latin typeface="+mj-lt"/>
              </a:rPr>
              <a:t>PPP Model wherein the Government is providing branding and technology. There is no financial cost to Government. </a:t>
            </a:r>
          </a:p>
          <a:p>
            <a:pPr marL="203597" indent="-203597" algn="just">
              <a:buFont typeface="Arial" panose="020B0604020202020204" pitchFamily="34" charset="0"/>
              <a:buChar char="•"/>
            </a:pPr>
            <a:r>
              <a:rPr lang="en-US" sz="1600" dirty="0">
                <a:latin typeface="+mj-lt"/>
              </a:rPr>
              <a:t>Operational Partner is responsible for setting of these centers at village level through franchisee mode.</a:t>
            </a:r>
            <a:endParaRPr lang="en-US" sz="1600" dirty="0">
              <a:solidFill>
                <a:schemeClr val="bg1"/>
              </a:solidFill>
              <a:latin typeface="+mj-lt"/>
            </a:endParaRPr>
          </a:p>
        </p:txBody>
      </p:sp>
      <p:sp>
        <p:nvSpPr>
          <p:cNvPr id="56" name="AutoShape 2" descr="complaint icon | Airline ADR EU"/>
          <p:cNvSpPr>
            <a:spLocks noChangeAspect="1" noChangeArrowheads="1"/>
          </p:cNvSpPr>
          <p:nvPr/>
        </p:nvSpPr>
        <p:spPr bwMode="auto">
          <a:xfrm>
            <a:off x="2017467" y="-872726"/>
            <a:ext cx="580648" cy="577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a:p>
        </p:txBody>
      </p:sp>
      <p:sp>
        <p:nvSpPr>
          <p:cNvPr id="113" name="TextBox 112">
            <a:extLst>
              <a:ext uri="{FF2B5EF4-FFF2-40B4-BE49-F238E27FC236}">
                <a16:creationId xmlns:a16="http://schemas.microsoft.com/office/drawing/2014/main" id="{2F347216-64D0-48CF-A6BA-80AF1640E49A}"/>
              </a:ext>
            </a:extLst>
          </p:cNvPr>
          <p:cNvSpPr txBox="1"/>
          <p:nvPr/>
        </p:nvSpPr>
        <p:spPr>
          <a:xfrm>
            <a:off x="214282" y="2398766"/>
            <a:ext cx="3581400" cy="4524315"/>
          </a:xfrm>
          <a:prstGeom prst="rect">
            <a:avLst/>
          </a:prstGeom>
          <a:noFill/>
          <a:ln>
            <a:noFill/>
          </a:ln>
        </p:spPr>
        <p:txBody>
          <a:bodyPr wrap="square" lIns="0" tIns="0" rIns="0" bIns="0" rtlCol="0">
            <a:spAutoFit/>
          </a:bodyPr>
          <a:lstStyle/>
          <a:p>
            <a:pPr marL="285750" indent="-285750" defTabSz="685800">
              <a:lnSpc>
                <a:spcPct val="150000"/>
              </a:lnSpc>
              <a:buFont typeface="Arial" panose="020B0604020202020204" pitchFamily="34" charset="0"/>
              <a:buChar char="•"/>
              <a:defRPr/>
            </a:pPr>
            <a:r>
              <a:rPr lang="en-IN" sz="1500" b="1" u="sng" dirty="0">
                <a:solidFill>
                  <a:prstClr val="black"/>
                </a:solidFill>
                <a:latin typeface="+mj-lt"/>
                <a:ea typeface="Cambria" panose="02040503050406030204" pitchFamily="18" charset="0"/>
                <a:cs typeface="Arial" panose="020B0604020202020204" pitchFamily="34" charset="0"/>
              </a:rPr>
              <a:t>Grama One Timeline</a:t>
            </a:r>
            <a:r>
              <a:rPr lang="en-IN" sz="1500" b="1" dirty="0">
                <a:solidFill>
                  <a:prstClr val="black"/>
                </a:solidFill>
                <a:latin typeface="+mj-lt"/>
                <a:ea typeface="Cambria" panose="02040503050406030204" pitchFamily="18" charset="0"/>
                <a:cs typeface="Arial" panose="020B0604020202020204" pitchFamily="34" charset="0"/>
              </a:rPr>
              <a:t>:</a:t>
            </a: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Pilot Launch Date</a:t>
            </a:r>
            <a:r>
              <a:rPr lang="en-IN" sz="1500" dirty="0">
                <a:solidFill>
                  <a:prstClr val="black"/>
                </a:solidFill>
                <a:latin typeface="+mj-lt"/>
                <a:ea typeface="Cambria" panose="02040503050406030204" pitchFamily="18" charset="0"/>
                <a:cs typeface="Arial" panose="020B0604020202020204" pitchFamily="34" charset="0"/>
              </a:rPr>
              <a:t>:  November 19, 2020 </a:t>
            </a: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District: </a:t>
            </a:r>
            <a:r>
              <a:rPr lang="en-IN" sz="1500" dirty="0">
                <a:solidFill>
                  <a:prstClr val="black"/>
                </a:solidFill>
                <a:latin typeface="+mj-lt"/>
                <a:ea typeface="Cambria" panose="02040503050406030204" pitchFamily="18" charset="0"/>
                <a:cs typeface="Arial" panose="020B0604020202020204" pitchFamily="34" charset="0"/>
              </a:rPr>
              <a:t>Davangere, Chikkamagaluru, Vijayapura &amp; Bidar</a:t>
            </a: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Number of Centres in Pilot: </a:t>
            </a:r>
            <a:r>
              <a:rPr lang="en-IN" sz="1500" dirty="0">
                <a:solidFill>
                  <a:prstClr val="black"/>
                </a:solidFill>
                <a:latin typeface="+mj-lt"/>
                <a:ea typeface="Cambria" panose="02040503050406030204" pitchFamily="18" charset="0"/>
                <a:cs typeface="Arial" panose="020B0604020202020204" pitchFamily="34" charset="0"/>
              </a:rPr>
              <a:t>300+ Centres</a:t>
            </a: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Project Launch Date: </a:t>
            </a:r>
            <a:r>
              <a:rPr lang="en-IN" sz="1500" dirty="0">
                <a:solidFill>
                  <a:prstClr val="black"/>
                </a:solidFill>
                <a:latin typeface="+mj-lt"/>
                <a:ea typeface="Cambria" panose="02040503050406030204" pitchFamily="18" charset="0"/>
                <a:cs typeface="Arial" panose="020B0604020202020204" pitchFamily="34" charset="0"/>
              </a:rPr>
              <a:t>January 26, 2022</a:t>
            </a: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No of Districts: </a:t>
            </a:r>
            <a:r>
              <a:rPr lang="en-IN" sz="1500" dirty="0">
                <a:solidFill>
                  <a:prstClr val="black"/>
                </a:solidFill>
                <a:latin typeface="+mj-lt"/>
                <a:ea typeface="Cambria" panose="02040503050406030204" pitchFamily="18" charset="0"/>
                <a:cs typeface="Arial" panose="020B0604020202020204" pitchFamily="34" charset="0"/>
              </a:rPr>
              <a:t>31 Districts</a:t>
            </a: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Number of Centres: </a:t>
            </a:r>
            <a:r>
              <a:rPr lang="en-IN" sz="1500" dirty="0">
                <a:solidFill>
                  <a:prstClr val="black"/>
                </a:solidFill>
                <a:ea typeface="Cambria" panose="02040503050406030204" pitchFamily="18" charset="0"/>
                <a:cs typeface="Arial" panose="020B0604020202020204" pitchFamily="34" charset="0"/>
              </a:rPr>
              <a:t>8</a:t>
            </a:r>
            <a:r>
              <a:rPr lang="en-IN" sz="1500" dirty="0">
                <a:solidFill>
                  <a:prstClr val="black"/>
                </a:solidFill>
                <a:latin typeface="+mj-lt"/>
                <a:ea typeface="Cambria" panose="02040503050406030204" pitchFamily="18" charset="0"/>
                <a:cs typeface="Arial" panose="020B0604020202020204" pitchFamily="34" charset="0"/>
              </a:rPr>
              <a:t>000+ Centres</a:t>
            </a:r>
            <a:endParaRPr lang="en-IN" sz="1500" b="1" dirty="0">
              <a:solidFill>
                <a:prstClr val="black"/>
              </a:solidFill>
              <a:latin typeface="+mj-lt"/>
              <a:ea typeface="Cambria" panose="02040503050406030204" pitchFamily="18" charset="0"/>
              <a:cs typeface="Arial" panose="020B0604020202020204" pitchFamily="34" charset="0"/>
            </a:endParaRP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No. of Services: </a:t>
            </a:r>
            <a:r>
              <a:rPr lang="en-IN" sz="1500" dirty="0">
                <a:solidFill>
                  <a:prstClr val="black"/>
                </a:solidFill>
                <a:latin typeface="+mj-lt"/>
                <a:ea typeface="Cambria" panose="02040503050406030204" pitchFamily="18" charset="0"/>
                <a:cs typeface="Arial" panose="020B0604020202020204" pitchFamily="34" charset="0"/>
              </a:rPr>
              <a:t>850 services </a:t>
            </a:r>
          </a:p>
          <a:p>
            <a:pPr marL="285750" indent="-285750" defTabSz="685800">
              <a:lnSpc>
                <a:spcPct val="150000"/>
              </a:lnSpc>
              <a:buFont typeface="Arial" panose="020B0604020202020204" pitchFamily="34" charset="0"/>
              <a:buChar char="•"/>
              <a:defRPr/>
            </a:pPr>
            <a:r>
              <a:rPr lang="en-IN" sz="1500" b="1" dirty="0">
                <a:solidFill>
                  <a:prstClr val="black"/>
                </a:solidFill>
                <a:latin typeface="+mj-lt"/>
                <a:ea typeface="Cambria" panose="02040503050406030204" pitchFamily="18" charset="0"/>
                <a:cs typeface="Arial" panose="020B0604020202020204" pitchFamily="34" charset="0"/>
              </a:rPr>
              <a:t>No of Applications: </a:t>
            </a:r>
            <a:r>
              <a:rPr lang="en-US" sz="1600" dirty="0">
                <a:solidFill>
                  <a:prstClr val="black"/>
                </a:solidFill>
                <a:latin typeface="Calibri" panose="020F0502020204030204" pitchFamily="34" charset="0"/>
                <a:cs typeface="Calibri" panose="020F0502020204030204" pitchFamily="34" charset="0"/>
              </a:rPr>
              <a:t>14289058+</a:t>
            </a:r>
            <a:endParaRPr lang="en-IN" sz="1500" dirty="0">
              <a:solidFill>
                <a:prstClr val="black"/>
              </a:solidFill>
              <a:latin typeface="+mj-lt"/>
              <a:ea typeface="Cambria" panose="02040503050406030204" pitchFamily="18" charset="0"/>
              <a:cs typeface="Arial" panose="020B0604020202020204" pitchFamily="34" charset="0"/>
            </a:endParaRPr>
          </a:p>
        </p:txBody>
      </p:sp>
      <p:sp>
        <p:nvSpPr>
          <p:cNvPr id="114" name="Content Placeholder 2">
            <a:extLst>
              <a:ext uri="{FF2B5EF4-FFF2-40B4-BE49-F238E27FC236}">
                <a16:creationId xmlns:a16="http://schemas.microsoft.com/office/drawing/2014/main" id="{ED0972C5-1514-4BEB-94D7-F046D26C18E0}"/>
              </a:ext>
            </a:extLst>
          </p:cNvPr>
          <p:cNvSpPr txBox="1">
            <a:spLocks/>
          </p:cNvSpPr>
          <p:nvPr/>
        </p:nvSpPr>
        <p:spPr>
          <a:xfrm>
            <a:off x="3886200" y="2305573"/>
            <a:ext cx="5097194" cy="4592061"/>
          </a:xfrm>
          <a:prstGeom prst="rect">
            <a:avLst/>
          </a:prstGeom>
        </p:spPr>
        <p:txBody>
          <a:bodyPr>
            <a:normAutofit fontScale="25000" lnSpcReduction="20000"/>
          </a:bodyPr>
          <a:lstStyle>
            <a:lvl1pPr marL="0" marR="0" indent="0" algn="l" defTabSz="899320" rtl="0" eaLnBrk="1" fontAlgn="base" latinLnBrk="0" hangingPunct="1">
              <a:lnSpc>
                <a:spcPct val="100000"/>
              </a:lnSpc>
              <a:spcBef>
                <a:spcPts val="0"/>
              </a:spcBef>
              <a:spcAft>
                <a:spcPts val="529"/>
              </a:spcAft>
              <a:buClr>
                <a:srgbClr val="000000"/>
              </a:buClr>
              <a:buSzTx/>
              <a:buFont typeface="Wingdings" pitchFamily="2" charset="2"/>
              <a:buNone/>
              <a:tabLst/>
              <a:defRPr sz="971" kern="1200">
                <a:solidFill>
                  <a:schemeClr val="tx1"/>
                </a:solidFill>
                <a:latin typeface="Georgia" pitchFamily="18" charset="0"/>
                <a:ea typeface="+mn-ea"/>
                <a:cs typeface="+mn-cs"/>
              </a:defRPr>
            </a:lvl1pPr>
            <a:lvl2pPr marL="207320" marR="0" indent="-201717" algn="l" defTabSz="899320" rtl="0" eaLnBrk="1" fontAlgn="base" latinLnBrk="0" hangingPunct="1">
              <a:lnSpc>
                <a:spcPct val="100000"/>
              </a:lnSpc>
              <a:spcBef>
                <a:spcPts val="0"/>
              </a:spcBef>
              <a:spcAft>
                <a:spcPts val="529"/>
              </a:spcAft>
              <a:buClr>
                <a:srgbClr val="000000"/>
              </a:buClr>
              <a:buSzTx/>
              <a:buFont typeface="Times New Roman" pitchFamily="18" charset="0"/>
              <a:buChar char="•"/>
              <a:tabLst/>
              <a:defRPr sz="971" kern="1200">
                <a:solidFill>
                  <a:schemeClr val="tx1"/>
                </a:solidFill>
                <a:latin typeface="Georgia" pitchFamily="18" charset="0"/>
                <a:ea typeface="+mn-ea"/>
                <a:cs typeface="+mn-cs"/>
              </a:defRPr>
            </a:lvl2pPr>
            <a:lvl3pPr marL="412963" marR="0" indent="-203305" algn="l" defTabSz="899320" rtl="0" eaLnBrk="1" fontAlgn="base" latinLnBrk="0" hangingPunct="1">
              <a:lnSpc>
                <a:spcPct val="100000"/>
              </a:lnSpc>
              <a:spcBef>
                <a:spcPts val="0"/>
              </a:spcBef>
              <a:spcAft>
                <a:spcPts val="529"/>
              </a:spcAft>
              <a:buClr>
                <a:srgbClr val="000000"/>
              </a:buClr>
              <a:buSzTx/>
              <a:buFont typeface="Arial" pitchFamily="34" charset="0"/>
              <a:buChar char="-"/>
              <a:tabLst/>
              <a:defRPr sz="971" kern="1200">
                <a:solidFill>
                  <a:schemeClr val="tx1"/>
                </a:solidFill>
                <a:latin typeface="Georgia" pitchFamily="18" charset="0"/>
                <a:ea typeface="+mn-ea"/>
                <a:cs typeface="+mn-cs"/>
              </a:defRPr>
            </a:lvl3pPr>
            <a:lvl4pPr marL="613092" marR="0" indent="-203305" algn="l" defTabSz="899320" rtl="0" eaLnBrk="1" fontAlgn="base" latinLnBrk="0" hangingPunct="1">
              <a:lnSpc>
                <a:spcPct val="100000"/>
              </a:lnSpc>
              <a:spcBef>
                <a:spcPts val="0"/>
              </a:spcBef>
              <a:spcAft>
                <a:spcPts val="529"/>
              </a:spcAft>
              <a:buClr>
                <a:srgbClr val="000000"/>
              </a:buClr>
              <a:buSzTx/>
              <a:buFont typeface="Georgia" pitchFamily="18" charset="0"/>
              <a:buChar char="◦"/>
              <a:tabLst/>
              <a:defRPr sz="971" kern="1200">
                <a:solidFill>
                  <a:schemeClr val="tx1"/>
                </a:solidFill>
                <a:latin typeface="Georgia" pitchFamily="18" charset="0"/>
                <a:ea typeface="+mn-ea"/>
                <a:cs typeface="+mn-cs"/>
              </a:defRPr>
            </a:lvl4pPr>
            <a:lvl5pPr marL="806867" marR="0" indent="-201717" algn="l" defTabSz="899320" rtl="0" eaLnBrk="1" fontAlgn="base" latinLnBrk="0" hangingPunct="1">
              <a:lnSpc>
                <a:spcPct val="100000"/>
              </a:lnSpc>
              <a:spcBef>
                <a:spcPts val="0"/>
              </a:spcBef>
              <a:spcAft>
                <a:spcPts val="529"/>
              </a:spcAft>
              <a:buClr>
                <a:srgbClr val="000000"/>
              </a:buClr>
              <a:buSzTx/>
              <a:buFont typeface="Georgia" pitchFamily="18" charset="0"/>
              <a:buChar char="›"/>
              <a:tabLst/>
              <a:defRPr sz="971" kern="1200" baseline="0">
                <a:solidFill>
                  <a:schemeClr val="tx1"/>
                </a:solidFill>
                <a:latin typeface="Georgia" pitchFamily="18" charset="0"/>
                <a:ea typeface="+mn-ea"/>
                <a:cs typeface="+mn-cs"/>
              </a:defRPr>
            </a:lvl5pPr>
            <a:lvl6pPr marL="206482" indent="-203305" algn="l" defTabSz="899010" rtl="0" eaLnBrk="1" latinLnBrk="0" hangingPunct="1">
              <a:lnSpc>
                <a:spcPct val="100000"/>
              </a:lnSpc>
              <a:spcBef>
                <a:spcPts val="0"/>
              </a:spcBef>
              <a:spcAft>
                <a:spcPts val="0"/>
              </a:spcAft>
              <a:buFont typeface="+mj-lt"/>
              <a:buAutoNum type="arabicPeriod"/>
              <a:defRPr lang="en-GB" sz="971" kern="1200" baseline="0" noProof="0" dirty="0" smtClean="0">
                <a:solidFill>
                  <a:schemeClr val="tx1"/>
                </a:solidFill>
                <a:latin typeface="Georgia" pitchFamily="18" charset="0"/>
                <a:ea typeface="+mn-ea"/>
                <a:cs typeface="+mn-cs"/>
              </a:defRPr>
            </a:lvl6pPr>
            <a:lvl7pPr marL="412963" indent="-201717" algn="l" defTabSz="899010" rtl="0" eaLnBrk="1" latinLnBrk="0" hangingPunct="1">
              <a:lnSpc>
                <a:spcPct val="100000"/>
              </a:lnSpc>
              <a:spcBef>
                <a:spcPts val="0"/>
              </a:spcBef>
              <a:spcAft>
                <a:spcPts val="0"/>
              </a:spcAft>
              <a:buFont typeface="+mj-lt"/>
              <a:buAutoNum type="alphaLcPeriod"/>
              <a:defRPr lang="en-GB" sz="971" kern="1200" baseline="0" noProof="0" dirty="0" smtClean="0">
                <a:solidFill>
                  <a:schemeClr val="tx1"/>
                </a:solidFill>
                <a:latin typeface="Georgia" pitchFamily="18" charset="0"/>
                <a:ea typeface="+mn-ea"/>
                <a:cs typeface="+mn-cs"/>
              </a:defRPr>
            </a:lvl7pPr>
            <a:lvl8pPr marL="613092" indent="-201717" algn="l" defTabSz="899010" rtl="0" eaLnBrk="1" latinLnBrk="0" hangingPunct="1">
              <a:lnSpc>
                <a:spcPct val="100000"/>
              </a:lnSpc>
              <a:spcBef>
                <a:spcPts val="0"/>
              </a:spcBef>
              <a:spcAft>
                <a:spcPts val="0"/>
              </a:spcAft>
              <a:buFont typeface="+mj-lt"/>
              <a:buAutoNum type="romanLcPeriod"/>
              <a:defRPr lang="en-GB" sz="971" kern="1200" baseline="0" noProof="0" dirty="0" smtClean="0">
                <a:solidFill>
                  <a:schemeClr val="tx1"/>
                </a:solidFill>
                <a:latin typeface="Georgia" pitchFamily="18" charset="0"/>
                <a:ea typeface="+mn-ea"/>
                <a:cs typeface="+mn-cs"/>
              </a:defRPr>
            </a:lvl8pPr>
            <a:lvl9pPr marL="0" indent="0" algn="l" defTabSz="899010" rtl="0" eaLnBrk="1" latinLnBrk="0" hangingPunct="1">
              <a:lnSpc>
                <a:spcPct val="100000"/>
              </a:lnSpc>
              <a:spcBef>
                <a:spcPts val="0"/>
              </a:spcBef>
              <a:spcAft>
                <a:spcPts val="529"/>
              </a:spcAft>
              <a:buFont typeface="Arial" pitchFamily="34" charset="0"/>
              <a:buNone/>
              <a:defRPr lang="en-GB" sz="971" b="1" kern="1200" baseline="0" noProof="0" dirty="0" smtClean="0">
                <a:solidFill>
                  <a:schemeClr val="tx2"/>
                </a:solidFill>
                <a:latin typeface="Georgia" pitchFamily="18" charset="0"/>
                <a:ea typeface="+mn-ea"/>
                <a:cs typeface="+mn-cs"/>
              </a:defRPr>
            </a:lvl9pPr>
          </a:lstStyle>
          <a:p>
            <a:pPr defTabSz="685800" fontAlgn="auto">
              <a:lnSpc>
                <a:spcPct val="170000"/>
              </a:lnSpc>
              <a:buClrTx/>
              <a:defRPr/>
            </a:pPr>
            <a:r>
              <a:rPr lang="en-GB" sz="6400" b="1" u="sng" dirty="0">
                <a:solidFill>
                  <a:prstClr val="black"/>
                </a:solidFill>
                <a:latin typeface="+mj-lt"/>
                <a:ea typeface="Cambria" panose="02040503050406030204" pitchFamily="18" charset="0"/>
                <a:cs typeface="Arial" panose="020B0604020202020204" pitchFamily="34" charset="0"/>
              </a:rPr>
              <a:t>Envisaged Benefits of Grama One:</a:t>
            </a:r>
          </a:p>
          <a:p>
            <a:pPr marL="214313" indent="-214313" algn="just">
              <a:lnSpc>
                <a:spcPct val="160000"/>
              </a:lnSpc>
              <a:buFont typeface="Arial" panose="020B0604020202020204" pitchFamily="34" charset="0"/>
              <a:buChar char="•"/>
            </a:pPr>
            <a:r>
              <a:rPr lang="en-GB" sz="5600" b="1" dirty="0">
                <a:latin typeface="+mj-lt"/>
                <a:cs typeface="Times New Roman" panose="02020603050405020304" pitchFamily="18" charset="0"/>
              </a:rPr>
              <a:t>Saving on Opportunity Cost: </a:t>
            </a:r>
            <a:r>
              <a:rPr lang="en-GB" sz="5600" dirty="0">
                <a:latin typeface="+mj-lt"/>
                <a:cs typeface="Times New Roman" panose="02020603050405020304" pitchFamily="18" charset="0"/>
              </a:rPr>
              <a:t>No need to travel to district or taluk to avail government services. This will help in saving time &amp; money of the citizens. </a:t>
            </a:r>
          </a:p>
          <a:p>
            <a:pPr marL="214313" indent="-214313" algn="just">
              <a:lnSpc>
                <a:spcPct val="160000"/>
              </a:lnSpc>
              <a:buFont typeface="Arial" panose="020B0604020202020204" pitchFamily="34" charset="0"/>
              <a:buChar char="•"/>
            </a:pPr>
            <a:r>
              <a:rPr lang="en-GB" sz="5600" b="1" dirty="0">
                <a:latin typeface="+mj-lt"/>
                <a:cs typeface="Times New Roman" panose="02020603050405020304" pitchFamily="18" charset="0"/>
              </a:rPr>
              <a:t>Employment</a:t>
            </a:r>
            <a:r>
              <a:rPr lang="en-GB" sz="5600" dirty="0">
                <a:latin typeface="+mj-lt"/>
                <a:cs typeface="Times New Roman" panose="02020603050405020304" pitchFamily="18" charset="0"/>
              </a:rPr>
              <a:t>: Employment opportunities for the local youth</a:t>
            </a:r>
          </a:p>
          <a:p>
            <a:pPr marL="214313" indent="-214313" algn="just">
              <a:lnSpc>
                <a:spcPct val="160000"/>
              </a:lnSpc>
              <a:buFont typeface="Arial" panose="020B0604020202020204" pitchFamily="34" charset="0"/>
              <a:buChar char="•"/>
            </a:pPr>
            <a:r>
              <a:rPr lang="en-GB" sz="5600" b="1" dirty="0">
                <a:latin typeface="+mj-lt"/>
                <a:cs typeface="Times New Roman" panose="02020603050405020304" pitchFamily="18" charset="0"/>
              </a:rPr>
              <a:t>SMART Governance: </a:t>
            </a:r>
            <a:r>
              <a:rPr lang="en-GB" sz="5600" dirty="0">
                <a:latin typeface="+mj-lt"/>
                <a:cs typeface="Times New Roman" panose="02020603050405020304" pitchFamily="18" charset="0"/>
              </a:rPr>
              <a:t>Accountability and Transparency in the service delivery to the rural citizens. This also means no dependency on middlemen to avail government services</a:t>
            </a:r>
          </a:p>
          <a:p>
            <a:pPr marL="214313" indent="-214313" algn="just">
              <a:lnSpc>
                <a:spcPct val="160000"/>
              </a:lnSpc>
              <a:buFont typeface="Arial" panose="020B0604020202020204" pitchFamily="34" charset="0"/>
              <a:buChar char="•"/>
            </a:pPr>
            <a:r>
              <a:rPr lang="en-GB" sz="5600" b="1" dirty="0">
                <a:latin typeface="+mj-lt"/>
                <a:cs typeface="Times New Roman" panose="02020603050405020304" pitchFamily="18" charset="0"/>
              </a:rPr>
              <a:t>Convenience: </a:t>
            </a:r>
            <a:r>
              <a:rPr lang="en-GB" sz="5600" dirty="0">
                <a:latin typeface="+mj-lt"/>
                <a:cs typeface="Times New Roman" panose="02020603050405020304" pitchFamily="18" charset="0"/>
              </a:rPr>
              <a:t>Grama One </a:t>
            </a:r>
            <a:r>
              <a:rPr lang="en-GB" sz="5600" dirty="0" err="1">
                <a:latin typeface="+mj-lt"/>
                <a:cs typeface="Times New Roman" panose="02020603050405020304" pitchFamily="18" charset="0"/>
              </a:rPr>
              <a:t>centers</a:t>
            </a:r>
            <a:r>
              <a:rPr lang="en-GB" sz="5600" dirty="0">
                <a:latin typeface="+mj-lt"/>
                <a:cs typeface="Times New Roman" panose="02020603050405020304" pitchFamily="18" charset="0"/>
              </a:rPr>
              <a:t> are operational from 8AM-8PM on all days, even on government</a:t>
            </a:r>
          </a:p>
          <a:p>
            <a:pPr marL="214313" indent="-214313" algn="just">
              <a:lnSpc>
                <a:spcPct val="160000"/>
              </a:lnSpc>
              <a:buFont typeface="Arial" panose="020B0604020202020204" pitchFamily="34" charset="0"/>
              <a:buChar char="•"/>
            </a:pPr>
            <a:r>
              <a:rPr lang="en-GB" sz="5600" b="1" dirty="0">
                <a:latin typeface="+mj-lt"/>
                <a:cs typeface="Times New Roman" panose="02020603050405020304" pitchFamily="18" charset="0"/>
              </a:rPr>
              <a:t>Financial Inclusion</a:t>
            </a:r>
            <a:r>
              <a:rPr lang="en-GB" sz="5600" dirty="0">
                <a:latin typeface="+mj-lt"/>
                <a:cs typeface="Times New Roman" panose="02020603050405020304" pitchFamily="18" charset="0"/>
              </a:rPr>
              <a:t>: By providing micro-banking services through Grama One </a:t>
            </a:r>
            <a:r>
              <a:rPr lang="en-GB" sz="5600" dirty="0" err="1">
                <a:latin typeface="+mj-lt"/>
                <a:cs typeface="Times New Roman" panose="02020603050405020304" pitchFamily="18" charset="0"/>
              </a:rPr>
              <a:t>centers</a:t>
            </a:r>
            <a:r>
              <a:rPr lang="en-GB" sz="5600" dirty="0">
                <a:latin typeface="+mj-lt"/>
                <a:cs typeface="Times New Roman" panose="02020603050405020304" pitchFamily="18" charset="0"/>
              </a:rPr>
              <a:t>, government will also achieve the mandate of financial inclusion</a:t>
            </a:r>
          </a:p>
        </p:txBody>
      </p:sp>
      <p:pic>
        <p:nvPicPr>
          <p:cNvPr id="115" name="Picture 114">
            <a:extLst>
              <a:ext uri="{FF2B5EF4-FFF2-40B4-BE49-F238E27FC236}">
                <a16:creationId xmlns:a16="http://schemas.microsoft.com/office/drawing/2014/main" id="{A70F79BA-4482-4D65-9CD3-193FE04968C1}"/>
              </a:ext>
            </a:extLst>
          </p:cNvPr>
          <p:cNvPicPr/>
          <p:nvPr/>
        </p:nvPicPr>
        <p:blipFill>
          <a:blip r:embed="rId6" cstate="print"/>
          <a:stretch>
            <a:fillRect/>
          </a:stretch>
        </p:blipFill>
        <p:spPr>
          <a:xfrm>
            <a:off x="7848600" y="48985"/>
            <a:ext cx="543837" cy="475820"/>
          </a:xfrm>
          <a:prstGeom prst="rect">
            <a:avLst/>
          </a:prstGeom>
        </p:spPr>
      </p:pic>
      <p:cxnSp>
        <p:nvCxnSpPr>
          <p:cNvPr id="58" name="Straight Connector 57">
            <a:extLst>
              <a:ext uri="{FF2B5EF4-FFF2-40B4-BE49-F238E27FC236}">
                <a16:creationId xmlns:a16="http://schemas.microsoft.com/office/drawing/2014/main" id="{89829B2A-0A39-465F-924F-CB3AE73D244D}"/>
              </a:ext>
            </a:extLst>
          </p:cNvPr>
          <p:cNvCxnSpPr/>
          <p:nvPr/>
        </p:nvCxnSpPr>
        <p:spPr>
          <a:xfrm>
            <a:off x="3886200" y="2305573"/>
            <a:ext cx="0" cy="4419600"/>
          </a:xfrm>
          <a:prstGeom prst="line">
            <a:avLst/>
          </a:prstGeom>
          <a:ln w="28575"/>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1611271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547" y="1105166"/>
            <a:ext cx="3730200" cy="440544"/>
          </a:xfrm>
          <a:prstGeom prst="rect">
            <a:avLst/>
          </a:prstGeom>
        </p:spPr>
        <p:txBody>
          <a:bodyPr vert="horz" lIns="0" rIns="0" bIns="0" anchor="b">
            <a:normAutofit lnSpcReduction="10000"/>
          </a:bodyPr>
          <a:lstStyle>
            <a:lvl1pPr>
              <a:spcBef>
                <a:spcPct val="0"/>
              </a:spcBef>
              <a:buNone/>
              <a:defRPr kumimoji="0" sz="3600" b="1">
                <a:ln>
                  <a:noFill/>
                </a:ln>
                <a:solidFill>
                  <a:schemeClr val="tx2"/>
                </a:solidFill>
                <a:effectLst/>
                <a:latin typeface="+mj-lt"/>
                <a:ea typeface="+mj-ea"/>
                <a:cs typeface="+mj-cs"/>
              </a:defRPr>
            </a:lvl1pPr>
          </a:lstStyle>
          <a:p>
            <a:pPr algn="ctr"/>
            <a:r>
              <a:rPr lang="en-IN" sz="2700" dirty="0">
                <a:solidFill>
                  <a:schemeClr val="tx1"/>
                </a:solidFill>
                <a:latin typeface="Calibri" panose="020F0502020204030204" pitchFamily="34" charset="0"/>
                <a:cs typeface="Calibri" panose="020F0502020204030204" pitchFamily="34" charset="0"/>
              </a:rPr>
              <a:t>Overview of the State</a:t>
            </a:r>
            <a:endParaRPr lang="en-US" sz="2700" dirty="0">
              <a:solidFill>
                <a:schemeClr val="tx1"/>
              </a:solidFill>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92617" y="648895"/>
            <a:ext cx="3988487" cy="6057089"/>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2924492846"/>
              </p:ext>
            </p:extLst>
          </p:nvPr>
        </p:nvGraphicFramePr>
        <p:xfrm>
          <a:off x="1524547" y="1767884"/>
          <a:ext cx="3282034" cy="1380264"/>
        </p:xfrm>
        <a:graphic>
          <a:graphicData uri="http://schemas.openxmlformats.org/drawingml/2006/table">
            <a:tbl>
              <a:tblPr firstRow="1" bandRow="1"/>
              <a:tblGrid>
                <a:gridCol w="1715939">
                  <a:extLst>
                    <a:ext uri="{9D8B030D-6E8A-4147-A177-3AD203B41FA5}">
                      <a16:colId xmlns:a16="http://schemas.microsoft.com/office/drawing/2014/main" val="20000"/>
                    </a:ext>
                  </a:extLst>
                </a:gridCol>
                <a:gridCol w="1566095">
                  <a:extLst>
                    <a:ext uri="{9D8B030D-6E8A-4147-A177-3AD203B41FA5}">
                      <a16:colId xmlns:a16="http://schemas.microsoft.com/office/drawing/2014/main" val="20001"/>
                    </a:ext>
                  </a:extLst>
                </a:gridCol>
              </a:tblGrid>
              <a:tr h="230044">
                <a:tc>
                  <a:txBody>
                    <a:bodyPr/>
                    <a:lstStyle>
                      <a:lvl1pPr marL="0" algn="l" rtl="0" eaLnBrk="1" latinLnBrk="0" hangingPunct="1">
                        <a:defRPr kumimoji="0" b="1" kern="1200">
                          <a:solidFill>
                            <a:schemeClr val="bg1"/>
                          </a:solidFill>
                          <a:latin typeface="Calibri"/>
                        </a:defRPr>
                      </a:lvl1pPr>
                      <a:lvl2pPr marL="457200" algn="l" rtl="0" eaLnBrk="1" latinLnBrk="0" hangingPunct="1">
                        <a:defRPr kumimoji="0" b="1" kern="1200">
                          <a:solidFill>
                            <a:schemeClr val="bg1"/>
                          </a:solidFill>
                          <a:latin typeface="Calibri"/>
                        </a:defRPr>
                      </a:lvl2pPr>
                      <a:lvl3pPr marL="914400" algn="l" rtl="0" eaLnBrk="1" latinLnBrk="0" hangingPunct="1">
                        <a:defRPr kumimoji="0" b="1" kern="1200">
                          <a:solidFill>
                            <a:schemeClr val="bg1"/>
                          </a:solidFill>
                          <a:latin typeface="Calibri"/>
                        </a:defRPr>
                      </a:lvl3pPr>
                      <a:lvl4pPr marL="1371600" algn="l" rtl="0" eaLnBrk="1" latinLnBrk="0" hangingPunct="1">
                        <a:defRPr kumimoji="0" b="1" kern="1200">
                          <a:solidFill>
                            <a:schemeClr val="bg1"/>
                          </a:solidFill>
                          <a:latin typeface="Calibri"/>
                        </a:defRPr>
                      </a:lvl4pPr>
                      <a:lvl5pPr marL="1828800" algn="l" rtl="0" eaLnBrk="1" latinLnBrk="0" hangingPunct="1">
                        <a:defRPr kumimoji="0" b="1" kern="1200">
                          <a:solidFill>
                            <a:schemeClr val="bg1"/>
                          </a:solidFill>
                          <a:latin typeface="Calibri"/>
                        </a:defRPr>
                      </a:lvl5pPr>
                      <a:lvl6pPr marL="2286000" algn="l" rtl="0" eaLnBrk="1" latinLnBrk="0" hangingPunct="1">
                        <a:defRPr kumimoji="0" b="1" kern="1200">
                          <a:solidFill>
                            <a:schemeClr val="bg1"/>
                          </a:solidFill>
                          <a:latin typeface="Calibri"/>
                        </a:defRPr>
                      </a:lvl6pPr>
                      <a:lvl7pPr marL="2743200" algn="l" rtl="0" eaLnBrk="1" latinLnBrk="0" hangingPunct="1">
                        <a:defRPr kumimoji="0" b="1" kern="1200">
                          <a:solidFill>
                            <a:schemeClr val="bg1"/>
                          </a:solidFill>
                          <a:latin typeface="Calibri"/>
                        </a:defRPr>
                      </a:lvl7pPr>
                      <a:lvl8pPr marL="3200400" algn="l" rtl="0" eaLnBrk="1" latinLnBrk="0" hangingPunct="1">
                        <a:defRPr kumimoji="0" b="1" kern="1200">
                          <a:solidFill>
                            <a:schemeClr val="bg1"/>
                          </a:solidFill>
                          <a:latin typeface="Calibri"/>
                        </a:defRPr>
                      </a:lvl8pPr>
                      <a:lvl9pPr marL="3657600" algn="l" rtl="0" eaLnBrk="1" latinLnBrk="0" hangingPunct="1">
                        <a:defRPr kumimoji="0" b="1" kern="1200">
                          <a:solidFill>
                            <a:schemeClr val="bg1"/>
                          </a:solidFill>
                          <a:latin typeface="Calibri"/>
                        </a:defRPr>
                      </a:lvl9pPr>
                    </a:lstStyle>
                    <a:p>
                      <a:pPr algn="ctr"/>
                      <a:r>
                        <a:rPr kumimoji="0" lang="en-US" sz="1200" b="1" kern="1200" dirty="0">
                          <a:solidFill>
                            <a:schemeClr val="tx1"/>
                          </a:solidFill>
                          <a:latin typeface="Calibri" panose="020F0502020204030204" pitchFamily="34" charset="0"/>
                          <a:ea typeface="+mn-ea"/>
                          <a:cs typeface="Calibri" panose="020F0502020204030204" pitchFamily="34" charset="0"/>
                        </a:rPr>
                        <a:t>Attributes</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ED7D31"/>
                    </a:solidFill>
                  </a:tcPr>
                </a:tc>
                <a:tc>
                  <a:txBody>
                    <a:bodyPr/>
                    <a:lstStyle>
                      <a:lvl1pPr marL="0" algn="l" rtl="0" eaLnBrk="1" latinLnBrk="0" hangingPunct="1">
                        <a:defRPr kumimoji="0" b="1" kern="1200">
                          <a:solidFill>
                            <a:schemeClr val="bg1"/>
                          </a:solidFill>
                          <a:latin typeface="Calibri"/>
                        </a:defRPr>
                      </a:lvl1pPr>
                      <a:lvl2pPr marL="457200" algn="l" rtl="0" eaLnBrk="1" latinLnBrk="0" hangingPunct="1">
                        <a:defRPr kumimoji="0" b="1" kern="1200">
                          <a:solidFill>
                            <a:schemeClr val="bg1"/>
                          </a:solidFill>
                          <a:latin typeface="Calibri"/>
                        </a:defRPr>
                      </a:lvl2pPr>
                      <a:lvl3pPr marL="914400" algn="l" rtl="0" eaLnBrk="1" latinLnBrk="0" hangingPunct="1">
                        <a:defRPr kumimoji="0" b="1" kern="1200">
                          <a:solidFill>
                            <a:schemeClr val="bg1"/>
                          </a:solidFill>
                          <a:latin typeface="Calibri"/>
                        </a:defRPr>
                      </a:lvl3pPr>
                      <a:lvl4pPr marL="1371600" algn="l" rtl="0" eaLnBrk="1" latinLnBrk="0" hangingPunct="1">
                        <a:defRPr kumimoji="0" b="1" kern="1200">
                          <a:solidFill>
                            <a:schemeClr val="bg1"/>
                          </a:solidFill>
                          <a:latin typeface="Calibri"/>
                        </a:defRPr>
                      </a:lvl4pPr>
                      <a:lvl5pPr marL="1828800" algn="l" rtl="0" eaLnBrk="1" latinLnBrk="0" hangingPunct="1">
                        <a:defRPr kumimoji="0" b="1" kern="1200">
                          <a:solidFill>
                            <a:schemeClr val="bg1"/>
                          </a:solidFill>
                          <a:latin typeface="Calibri"/>
                        </a:defRPr>
                      </a:lvl5pPr>
                      <a:lvl6pPr marL="2286000" algn="l" rtl="0" eaLnBrk="1" latinLnBrk="0" hangingPunct="1">
                        <a:defRPr kumimoji="0" b="1" kern="1200">
                          <a:solidFill>
                            <a:schemeClr val="bg1"/>
                          </a:solidFill>
                          <a:latin typeface="Calibri"/>
                        </a:defRPr>
                      </a:lvl6pPr>
                      <a:lvl7pPr marL="2743200" algn="l" rtl="0" eaLnBrk="1" latinLnBrk="0" hangingPunct="1">
                        <a:defRPr kumimoji="0" b="1" kern="1200">
                          <a:solidFill>
                            <a:schemeClr val="bg1"/>
                          </a:solidFill>
                          <a:latin typeface="Calibri"/>
                        </a:defRPr>
                      </a:lvl7pPr>
                      <a:lvl8pPr marL="3200400" algn="l" rtl="0" eaLnBrk="1" latinLnBrk="0" hangingPunct="1">
                        <a:defRPr kumimoji="0" b="1" kern="1200">
                          <a:solidFill>
                            <a:schemeClr val="bg1"/>
                          </a:solidFill>
                          <a:latin typeface="Calibri"/>
                        </a:defRPr>
                      </a:lvl8pPr>
                      <a:lvl9pPr marL="3657600" algn="l" rtl="0" eaLnBrk="1" latinLnBrk="0" hangingPunct="1">
                        <a:defRPr kumimoji="0" b="1" kern="1200">
                          <a:solidFill>
                            <a:schemeClr val="bg1"/>
                          </a:solidFill>
                          <a:latin typeface="Calibri"/>
                        </a:defRPr>
                      </a:lvl9pPr>
                    </a:lstStyle>
                    <a:p>
                      <a:pPr algn="ctr"/>
                      <a:r>
                        <a:rPr kumimoji="0" lang="en-US" sz="1200" b="1" kern="1200" dirty="0">
                          <a:solidFill>
                            <a:schemeClr val="tx1"/>
                          </a:solidFill>
                          <a:latin typeface="Calibri" panose="020F0502020204030204" pitchFamily="34" charset="0"/>
                          <a:ea typeface="+mn-ea"/>
                          <a:cs typeface="Calibri" panose="020F0502020204030204" pitchFamily="34" charset="0"/>
                        </a:rPr>
                        <a:t>Information</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ED7D31"/>
                    </a:solidFill>
                  </a:tcPr>
                </a:tc>
                <a:extLst>
                  <a:ext uri="{0D108BD9-81ED-4DB2-BD59-A6C34878D82A}">
                    <a16:rowId xmlns:a16="http://schemas.microsoft.com/office/drawing/2014/main" val="10000"/>
                  </a:ext>
                </a:extLst>
              </a:tr>
              <a:tr h="23004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kumimoji="0" lang="en-US" sz="1200" b="1" kern="1200" dirty="0">
                          <a:solidFill>
                            <a:schemeClr val="tx1"/>
                          </a:solidFill>
                          <a:latin typeface="Calibri" panose="020F0502020204030204" pitchFamily="34" charset="0"/>
                          <a:ea typeface="+mn-ea"/>
                          <a:cs typeface="Calibri" panose="020F0502020204030204" pitchFamily="34" charset="0"/>
                        </a:rPr>
                        <a:t>No. of Districts</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algn="ctr"/>
                      <a:r>
                        <a:rPr kumimoji="0" lang="en-US" sz="1200" b="1" kern="1200" dirty="0">
                          <a:solidFill>
                            <a:schemeClr val="tx1"/>
                          </a:solidFill>
                          <a:latin typeface="Calibri" panose="020F0502020204030204" pitchFamily="34" charset="0"/>
                          <a:ea typeface="+mn-ea"/>
                          <a:cs typeface="Calibri" panose="020F0502020204030204" pitchFamily="34" charset="0"/>
                        </a:rPr>
                        <a:t>31</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004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kumimoji="0" lang="en-US" sz="1200" b="1" kern="1200" dirty="0">
                          <a:solidFill>
                            <a:schemeClr val="tx1"/>
                          </a:solidFill>
                          <a:latin typeface="Calibri" panose="020F0502020204030204" pitchFamily="34" charset="0"/>
                          <a:ea typeface="+mn-ea"/>
                          <a:cs typeface="Calibri" panose="020F0502020204030204" pitchFamily="34" charset="0"/>
                        </a:rPr>
                        <a:t>No. of Divisions</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algn="ctr"/>
                      <a:r>
                        <a:rPr kumimoji="0" lang="en-US" sz="1200" b="1" kern="1200" dirty="0">
                          <a:solidFill>
                            <a:schemeClr val="tx1"/>
                          </a:solidFill>
                          <a:latin typeface="Calibri" panose="020F0502020204030204" pitchFamily="34" charset="0"/>
                          <a:ea typeface="+mn-ea"/>
                          <a:cs typeface="Calibri" panose="020F0502020204030204" pitchFamily="34" charset="0"/>
                        </a:rPr>
                        <a:t>4</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004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kumimoji="0" lang="en-US" sz="1200" b="1" kern="1200" dirty="0">
                          <a:solidFill>
                            <a:schemeClr val="tx1"/>
                          </a:solidFill>
                          <a:latin typeface="Calibri" panose="020F0502020204030204" pitchFamily="34" charset="0"/>
                          <a:ea typeface="+mn-ea"/>
                          <a:cs typeface="Calibri" panose="020F0502020204030204" pitchFamily="34" charset="0"/>
                        </a:rPr>
                        <a:t>Total No. of GPs</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algn="ctr"/>
                      <a:r>
                        <a:rPr kumimoji="0" lang="en-US" sz="1200" b="1" kern="1200" dirty="0">
                          <a:solidFill>
                            <a:schemeClr val="tx1"/>
                          </a:solidFill>
                          <a:latin typeface="Calibri" panose="020F0502020204030204" pitchFamily="34" charset="0"/>
                          <a:ea typeface="+mn-ea"/>
                          <a:cs typeface="Calibri" panose="020F0502020204030204" pitchFamily="34" charset="0"/>
                        </a:rPr>
                        <a:t>6022</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004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kumimoji="0" lang="en-US" sz="1200" b="1" kern="1200" dirty="0">
                          <a:solidFill>
                            <a:schemeClr val="tx1"/>
                          </a:solidFill>
                          <a:latin typeface="Calibri" panose="020F0502020204030204" pitchFamily="34" charset="0"/>
                          <a:ea typeface="+mn-ea"/>
                          <a:cs typeface="Calibri" panose="020F0502020204030204" pitchFamily="34" charset="0"/>
                        </a:rPr>
                        <a:t>Total No. of Villages</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algn="ctr"/>
                      <a:r>
                        <a:rPr kumimoji="0" lang="en-US" sz="1200" b="1" kern="1200" dirty="0">
                          <a:solidFill>
                            <a:schemeClr val="tx1"/>
                          </a:solidFill>
                          <a:latin typeface="Calibri" panose="020F0502020204030204" pitchFamily="34" charset="0"/>
                          <a:ea typeface="+mn-ea"/>
                          <a:cs typeface="Calibri" panose="020F0502020204030204" pitchFamily="34" charset="0"/>
                        </a:rPr>
                        <a:t>27,431</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004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kumimoji="0" lang="en-US" sz="1200" b="1" kern="1200" dirty="0">
                          <a:solidFill>
                            <a:schemeClr val="tx1"/>
                          </a:solidFill>
                          <a:latin typeface="Calibri" panose="020F0502020204030204" pitchFamily="34" charset="0"/>
                          <a:ea typeface="+mn-ea"/>
                          <a:cs typeface="Calibri" panose="020F0502020204030204" pitchFamily="34" charset="0"/>
                        </a:rPr>
                        <a:t>Total Population</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algn="ctr"/>
                      <a:r>
                        <a:rPr kumimoji="0" lang="en-US" sz="1200" b="1" kern="1200" dirty="0">
                          <a:solidFill>
                            <a:schemeClr val="tx1"/>
                          </a:solidFill>
                          <a:latin typeface="Calibri" panose="020F0502020204030204" pitchFamily="34" charset="0"/>
                          <a:ea typeface="+mn-ea"/>
                          <a:cs typeface="Calibri" panose="020F0502020204030204" pitchFamily="34" charset="0"/>
                        </a:rPr>
                        <a:t>6,19,98,012</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TextBox 7"/>
          <p:cNvSpPr txBox="1"/>
          <p:nvPr/>
        </p:nvSpPr>
        <p:spPr>
          <a:xfrm>
            <a:off x="3389647" y="3205112"/>
            <a:ext cx="1685077" cy="253916"/>
          </a:xfrm>
          <a:prstGeom prst="rect">
            <a:avLst/>
          </a:prstGeom>
          <a:noFill/>
        </p:spPr>
        <p:txBody>
          <a:bodyPr wrap="none" rtlCol="0">
            <a:spAutoFit/>
          </a:bodyPr>
          <a:lstStyle/>
          <a:p>
            <a:r>
              <a:rPr lang="en-US" sz="1050" b="1" i="1" dirty="0">
                <a:latin typeface="Calibri" panose="020F0502020204030204" pitchFamily="34" charset="0"/>
                <a:cs typeface="Calibri" panose="020F0502020204030204" pitchFamily="34" charset="0"/>
              </a:rPr>
              <a:t>*Source: 2011 Census Data</a:t>
            </a:r>
          </a:p>
        </p:txBody>
      </p:sp>
      <p:graphicFrame>
        <p:nvGraphicFramePr>
          <p:cNvPr id="9" name="Table 8">
            <a:extLst>
              <a:ext uri="{FF2B5EF4-FFF2-40B4-BE49-F238E27FC236}">
                <a16:creationId xmlns:a16="http://schemas.microsoft.com/office/drawing/2014/main" id="{FFDEAD71-D52F-48A0-85D4-8D67CC669F9C}"/>
              </a:ext>
            </a:extLst>
          </p:cNvPr>
          <p:cNvGraphicFramePr>
            <a:graphicFrameLocks noGrp="1"/>
          </p:cNvGraphicFramePr>
          <p:nvPr/>
        </p:nvGraphicFramePr>
        <p:xfrm>
          <a:off x="1517708" y="3919527"/>
          <a:ext cx="3288874" cy="1916621"/>
        </p:xfrm>
        <a:graphic>
          <a:graphicData uri="http://schemas.openxmlformats.org/drawingml/2006/table">
            <a:tbl>
              <a:tblPr firstRow="1" bandRow="1"/>
              <a:tblGrid>
                <a:gridCol w="1696367">
                  <a:extLst>
                    <a:ext uri="{9D8B030D-6E8A-4147-A177-3AD203B41FA5}">
                      <a16:colId xmlns:a16="http://schemas.microsoft.com/office/drawing/2014/main" val="20000"/>
                    </a:ext>
                  </a:extLst>
                </a:gridCol>
                <a:gridCol w="1592507">
                  <a:extLst>
                    <a:ext uri="{9D8B030D-6E8A-4147-A177-3AD203B41FA5}">
                      <a16:colId xmlns:a16="http://schemas.microsoft.com/office/drawing/2014/main" val="20001"/>
                    </a:ext>
                  </a:extLst>
                </a:gridCol>
              </a:tblGrid>
              <a:tr h="499063">
                <a:tc>
                  <a:txBody>
                    <a:bodyPr/>
                    <a:lstStyle>
                      <a:lvl1pPr marL="0" algn="l" rtl="0" eaLnBrk="1" latinLnBrk="0" hangingPunct="1">
                        <a:defRPr kumimoji="0" b="1" kern="1200">
                          <a:solidFill>
                            <a:schemeClr val="bg1"/>
                          </a:solidFill>
                          <a:latin typeface="Calibri"/>
                        </a:defRPr>
                      </a:lvl1pPr>
                      <a:lvl2pPr marL="457200" algn="l" rtl="0" eaLnBrk="1" latinLnBrk="0" hangingPunct="1">
                        <a:defRPr kumimoji="0" b="1" kern="1200">
                          <a:solidFill>
                            <a:schemeClr val="bg1"/>
                          </a:solidFill>
                          <a:latin typeface="Calibri"/>
                        </a:defRPr>
                      </a:lvl2pPr>
                      <a:lvl3pPr marL="914400" algn="l" rtl="0" eaLnBrk="1" latinLnBrk="0" hangingPunct="1">
                        <a:defRPr kumimoji="0" b="1" kern="1200">
                          <a:solidFill>
                            <a:schemeClr val="bg1"/>
                          </a:solidFill>
                          <a:latin typeface="Calibri"/>
                        </a:defRPr>
                      </a:lvl3pPr>
                      <a:lvl4pPr marL="1371600" algn="l" rtl="0" eaLnBrk="1" latinLnBrk="0" hangingPunct="1">
                        <a:defRPr kumimoji="0" b="1" kern="1200">
                          <a:solidFill>
                            <a:schemeClr val="bg1"/>
                          </a:solidFill>
                          <a:latin typeface="Calibri"/>
                        </a:defRPr>
                      </a:lvl4pPr>
                      <a:lvl5pPr marL="1828800" algn="l" rtl="0" eaLnBrk="1" latinLnBrk="0" hangingPunct="1">
                        <a:defRPr kumimoji="0" b="1" kern="1200">
                          <a:solidFill>
                            <a:schemeClr val="bg1"/>
                          </a:solidFill>
                          <a:latin typeface="Calibri"/>
                        </a:defRPr>
                      </a:lvl5pPr>
                      <a:lvl6pPr marL="2286000" algn="l" rtl="0" eaLnBrk="1" latinLnBrk="0" hangingPunct="1">
                        <a:defRPr kumimoji="0" b="1" kern="1200">
                          <a:solidFill>
                            <a:schemeClr val="bg1"/>
                          </a:solidFill>
                          <a:latin typeface="Calibri"/>
                        </a:defRPr>
                      </a:lvl6pPr>
                      <a:lvl7pPr marL="2743200" algn="l" rtl="0" eaLnBrk="1" latinLnBrk="0" hangingPunct="1">
                        <a:defRPr kumimoji="0" b="1" kern="1200">
                          <a:solidFill>
                            <a:schemeClr val="bg1"/>
                          </a:solidFill>
                          <a:latin typeface="Calibri"/>
                        </a:defRPr>
                      </a:lvl7pPr>
                      <a:lvl8pPr marL="3200400" algn="l" rtl="0" eaLnBrk="1" latinLnBrk="0" hangingPunct="1">
                        <a:defRPr kumimoji="0" b="1" kern="1200">
                          <a:solidFill>
                            <a:schemeClr val="bg1"/>
                          </a:solidFill>
                          <a:latin typeface="Calibri"/>
                        </a:defRPr>
                      </a:lvl8pPr>
                      <a:lvl9pPr marL="3657600" algn="l" rtl="0" eaLnBrk="1" latinLnBrk="0" hangingPunct="1">
                        <a:defRPr kumimoji="0" b="1" kern="1200">
                          <a:solidFill>
                            <a:schemeClr val="bg1"/>
                          </a:solidFill>
                          <a:latin typeface="Calibri"/>
                        </a:defRPr>
                      </a:lvl9pPr>
                    </a:lstStyle>
                    <a:p>
                      <a:pPr algn="ctr"/>
                      <a:r>
                        <a:rPr lang="en-US" sz="1400" b="1" dirty="0">
                          <a:solidFill>
                            <a:schemeClr val="tx1"/>
                          </a:solidFill>
                          <a:latin typeface="Calibri" panose="020F0502020204030204" pitchFamily="34" charset="0"/>
                          <a:cs typeface="Calibri" panose="020F0502020204030204" pitchFamily="34" charset="0"/>
                        </a:rPr>
                        <a:t>Revenue Division</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ED7D31"/>
                    </a:solidFill>
                  </a:tcPr>
                </a:tc>
                <a:tc>
                  <a:txBody>
                    <a:bodyPr/>
                    <a:lstStyle/>
                    <a:p>
                      <a:pPr marL="0" marR="0" algn="ctr">
                        <a:lnSpc>
                          <a:spcPct val="107000"/>
                        </a:lnSpc>
                        <a:spcBef>
                          <a:spcPts val="0"/>
                        </a:spcBef>
                        <a:spcAft>
                          <a:spcPts val="0"/>
                        </a:spcAft>
                      </a:pPr>
                      <a:r>
                        <a:rPr lang="en-IN" sz="1400" b="1" dirty="0">
                          <a:solidFill>
                            <a:schemeClr val="tx1"/>
                          </a:solidFill>
                          <a:effectLst/>
                          <a:latin typeface="Calibri" panose="020F0502020204030204" pitchFamily="34" charset="0"/>
                          <a:cs typeface="Calibri" panose="020F0502020204030204" pitchFamily="34" charset="0"/>
                        </a:rPr>
                        <a:t>Number of Grama One Centres</a:t>
                      </a:r>
                      <a:endPar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34290" marB="3429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ED7D31"/>
                    </a:solidFill>
                  </a:tcPr>
                </a:tc>
                <a:extLst>
                  <a:ext uri="{0D108BD9-81ED-4DB2-BD59-A6C34878D82A}">
                    <a16:rowId xmlns:a16="http://schemas.microsoft.com/office/drawing/2014/main" val="10000"/>
                  </a:ext>
                </a:extLst>
              </a:tr>
              <a:tr h="278940">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lang="en-US" sz="1400" b="1" dirty="0">
                          <a:latin typeface="Calibri" panose="020F0502020204030204" pitchFamily="34" charset="0"/>
                          <a:cs typeface="Calibri" panose="020F0502020204030204" pitchFamily="34" charset="0"/>
                        </a:rPr>
                        <a:t>Bengaluru</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0"/>
                        </a:spcAft>
                      </a:pPr>
                      <a:r>
                        <a:rPr lang="en-IN" sz="1400" b="1" dirty="0">
                          <a:solidFill>
                            <a:schemeClr val="tx1"/>
                          </a:solidFill>
                          <a:effectLst/>
                          <a:latin typeface="Calibri" panose="020F0502020204030204" pitchFamily="34" charset="0"/>
                          <a:cs typeface="Calibri" panose="020F0502020204030204" pitchFamily="34" charset="0"/>
                        </a:rPr>
                        <a:t>2361</a:t>
                      </a:r>
                      <a:endPar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34290" marB="3429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940">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latin typeface="Calibri" panose="020F0502020204030204" pitchFamily="34" charset="0"/>
                          <a:cs typeface="Calibri" panose="020F0502020204030204" pitchFamily="34" charset="0"/>
                        </a:rPr>
                        <a:t>Belagavi</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0"/>
                        </a:spcAft>
                      </a:pPr>
                      <a:r>
                        <a:rPr lang="en-IN"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2356</a:t>
                      </a:r>
                      <a:endPar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34290" marB="3429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940">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lang="en-US" sz="1400" b="1" dirty="0" err="1">
                          <a:latin typeface="Calibri" panose="020F0502020204030204" pitchFamily="34" charset="0"/>
                          <a:cs typeface="Calibri" panose="020F0502020204030204" pitchFamily="34" charset="0"/>
                        </a:rPr>
                        <a:t>Kalaburgi</a:t>
                      </a:r>
                      <a:endParaRPr lang="en-US" sz="1400" b="1" dirty="0">
                        <a:latin typeface="Calibri" panose="020F0502020204030204" pitchFamily="34" charset="0"/>
                        <a:cs typeface="Calibri" panose="020F0502020204030204" pitchFamily="34" charset="0"/>
                      </a:endParaRP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0"/>
                        </a:spcAft>
                      </a:pPr>
                      <a:r>
                        <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1879</a:t>
                      </a:r>
                    </a:p>
                  </a:txBody>
                  <a:tcPr marL="51435" marR="51435" marT="34290" marB="3429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940">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lang="en-US" sz="1400" b="1" dirty="0" err="1">
                          <a:latin typeface="Calibri" panose="020F0502020204030204" pitchFamily="34" charset="0"/>
                          <a:cs typeface="Calibri" panose="020F0502020204030204" pitchFamily="34" charset="0"/>
                        </a:rPr>
                        <a:t>Mysuru</a:t>
                      </a:r>
                      <a:endParaRPr lang="en-US" sz="1400" b="1" dirty="0">
                        <a:latin typeface="Calibri" panose="020F0502020204030204" pitchFamily="34" charset="0"/>
                        <a:cs typeface="Calibri" panose="020F0502020204030204" pitchFamily="34" charset="0"/>
                      </a:endParaRP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Bef>
                          <a:spcPts val="0"/>
                        </a:spcBef>
                        <a:spcAft>
                          <a:spcPts val="0"/>
                        </a:spcAft>
                      </a:pPr>
                      <a:r>
                        <a:rPr lang="en-IN"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2195</a:t>
                      </a:r>
                      <a:endParaRPr lang="en-US" sz="14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34290" marB="3429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46888">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r>
                        <a:rPr lang="en-US" sz="1400" b="1" dirty="0">
                          <a:latin typeface="Calibri" panose="020F0502020204030204" pitchFamily="34" charset="0"/>
                          <a:cs typeface="Calibri" panose="020F0502020204030204" pitchFamily="34" charset="0"/>
                        </a:rPr>
                        <a:t>Total</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algn="ctr"/>
                      <a:r>
                        <a:rPr lang="en-US" sz="1400" b="1" dirty="0">
                          <a:latin typeface="Calibri" panose="020F0502020204030204" pitchFamily="34" charset="0"/>
                          <a:cs typeface="Calibri" panose="020F0502020204030204" pitchFamily="34" charset="0"/>
                        </a:rPr>
                        <a:t>8791</a:t>
                      </a:r>
                    </a:p>
                  </a:txBody>
                  <a:tcPr marL="51435" marR="51435" marT="20574" marB="20574">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3593C344-DBFF-42F6-B727-E477F7641C6B}"/>
              </a:ext>
            </a:extLst>
          </p:cNvPr>
          <p:cNvSpPr txBox="1"/>
          <p:nvPr/>
        </p:nvSpPr>
        <p:spPr>
          <a:xfrm>
            <a:off x="1517708" y="3593862"/>
            <a:ext cx="3288873" cy="268703"/>
          </a:xfrm>
          <a:prstGeom prst="rect">
            <a:avLst/>
          </a:prstGeom>
        </p:spPr>
        <p:txBody>
          <a:bodyPr vert="horz" lIns="0" rIns="0" bIns="0" anchor="b">
            <a:normAutofit/>
          </a:bodyPr>
          <a:lstStyle>
            <a:defPPr>
              <a:defRPr lang="en-US"/>
            </a:defPPr>
            <a:lvl1pPr>
              <a:spcBef>
                <a:spcPct val="0"/>
              </a:spcBef>
              <a:buNone/>
              <a:defRPr kumimoji="0" sz="3600" b="1">
                <a:ln>
                  <a:noFill/>
                </a:ln>
                <a:solidFill>
                  <a:schemeClr val="tx2"/>
                </a:solidFill>
                <a:effectLst/>
                <a:latin typeface="+mj-lt"/>
                <a:ea typeface="+mj-ea"/>
                <a:cs typeface="+mj-cs"/>
              </a:defRPr>
            </a:lvl1pPr>
          </a:lstStyle>
          <a:p>
            <a:r>
              <a:rPr lang="en-IN" sz="1350" dirty="0">
                <a:solidFill>
                  <a:schemeClr val="tx1"/>
                </a:solidFill>
                <a:latin typeface="Calibri" panose="020F0502020204030204" pitchFamily="34" charset="0"/>
                <a:cs typeface="Calibri" panose="020F0502020204030204" pitchFamily="34" charset="0"/>
              </a:rPr>
              <a:t>Division wise number of Grama One Centers:</a:t>
            </a:r>
          </a:p>
        </p:txBody>
      </p:sp>
      <p:pic>
        <p:nvPicPr>
          <p:cNvPr id="11" name="Picture 10" descr="A picture containing text, clock, sign&#10;&#10;Description automatically generated">
            <a:extLst>
              <a:ext uri="{FF2B5EF4-FFF2-40B4-BE49-F238E27FC236}">
                <a16:creationId xmlns:a16="http://schemas.microsoft.com/office/drawing/2014/main" id="{C7DD0B76-7B0F-4655-BDB0-9AE64D7854AF}"/>
              </a:ext>
            </a:extLst>
          </p:cNvPr>
          <p:cNvPicPr>
            <a:picLocks noChangeAspect="1"/>
          </p:cNvPicPr>
          <p:nvPr/>
        </p:nvPicPr>
        <p:blipFill>
          <a:blip r:embed="rId3" cstate="print"/>
          <a:stretch>
            <a:fillRect/>
          </a:stretch>
        </p:blipFill>
        <p:spPr>
          <a:xfrm>
            <a:off x="8257120" y="194503"/>
            <a:ext cx="724187" cy="454392"/>
          </a:xfrm>
          <a:prstGeom prst="rect">
            <a:avLst/>
          </a:prstGeom>
        </p:spPr>
      </p:pic>
    </p:spTree>
    <p:extLst>
      <p:ext uri="{BB962C8B-B14F-4D97-AF65-F5344CB8AC3E}">
        <p14:creationId xmlns:p14="http://schemas.microsoft.com/office/powerpoint/2010/main" val="1100328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8">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0">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2" name="Rectangle 1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7"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3">
            <a:extLst>
              <a:ext uri="{FF2B5EF4-FFF2-40B4-BE49-F238E27FC236}">
                <a16:creationId xmlns:a16="http://schemas.microsoft.com/office/drawing/2014/main" id="{6F69C8BB-4B96-468C-80BE-63B85A624AF1}"/>
              </a:ext>
            </a:extLst>
          </p:cNvPr>
          <p:cNvSpPr txBox="1"/>
          <p:nvPr/>
        </p:nvSpPr>
        <p:spPr>
          <a:xfrm>
            <a:off x="179512" y="260649"/>
            <a:ext cx="8640959" cy="6597352"/>
          </a:xfrm>
          <a:prstGeom prst="rect">
            <a:avLst/>
          </a:prstGeom>
        </p:spPr>
        <p:txBody>
          <a:bodyPr vert="horz" lIns="91440" tIns="45720" rIns="91440" bIns="45720" rtlCol="0" anchor="ctr">
            <a:normAutofit fontScale="92500"/>
          </a:bodyPr>
          <a:lstStyle/>
          <a:p>
            <a:pPr>
              <a:lnSpc>
                <a:spcPct val="90000"/>
              </a:lnSpc>
              <a:spcAft>
                <a:spcPts val="600"/>
              </a:spcAft>
            </a:pPr>
            <a:r>
              <a:rPr lang="en-US" sz="2800" b="1" dirty="0">
                <a:latin typeface="Times New Roman" pitchFamily="18" charset="0"/>
                <a:cs typeface="Times New Roman" pitchFamily="18" charset="0"/>
              </a:rPr>
              <a:t>Success Stories of Grama One</a:t>
            </a:r>
          </a:p>
          <a:p>
            <a:pPr>
              <a:lnSpc>
                <a:spcPct val="90000"/>
              </a:lnSpc>
              <a:spcAft>
                <a:spcPts val="600"/>
              </a:spcAft>
            </a:pPr>
            <a:endParaRPr lang="en-US" sz="2800" b="1" dirty="0">
              <a:latin typeface="Times New Roman" pitchFamily="18" charset="0"/>
              <a:cs typeface="Times New Roman" pitchFamily="18" charset="0"/>
            </a:endParaRPr>
          </a:p>
          <a:p>
            <a:pPr>
              <a:lnSpc>
                <a:spcPct val="90000"/>
              </a:lnSpc>
              <a:spcAft>
                <a:spcPts val="600"/>
              </a:spcAft>
            </a:pPr>
            <a:r>
              <a:rPr lang="en-US" sz="2000" dirty="0">
                <a:latin typeface="Times New Roman" pitchFamily="18" charset="0"/>
                <a:cs typeface="Times New Roman" pitchFamily="18" charset="0"/>
              </a:rPr>
              <a:t>Before the introduction of </a:t>
            </a:r>
            <a:r>
              <a:rPr lang="en-US" sz="2000" dirty="0" err="1">
                <a:latin typeface="Times New Roman" pitchFamily="18" charset="0"/>
                <a:cs typeface="Times New Roman" pitchFamily="18" charset="0"/>
              </a:rPr>
              <a:t>Gramaone</a:t>
            </a:r>
            <a:r>
              <a:rPr lang="en-US" sz="2000" dirty="0">
                <a:latin typeface="Times New Roman" pitchFamily="18" charset="0"/>
                <a:cs typeface="Times New Roman" pitchFamily="18" charset="0"/>
              </a:rPr>
              <a:t> following services were mainly available to Urban population, </a:t>
            </a:r>
            <a:r>
              <a:rPr lang="en-US" sz="2000" dirty="0" err="1">
                <a:latin typeface="Times New Roman" pitchFamily="18" charset="0"/>
                <a:cs typeface="Times New Roman" pitchFamily="18" charset="0"/>
              </a:rPr>
              <a:t>GramaOne</a:t>
            </a:r>
            <a:r>
              <a:rPr lang="en-US" sz="2000" dirty="0">
                <a:latin typeface="Times New Roman" pitchFamily="18" charset="0"/>
                <a:cs typeface="Times New Roman" pitchFamily="18" charset="0"/>
              </a:rPr>
              <a:t> has helped in achieving Demographic and Social Inclusion by reaching to the citizen of Rural Karnataka</a:t>
            </a:r>
            <a:endParaRPr lang="en-US" sz="2800" dirty="0">
              <a:latin typeface="Times New Roman" pitchFamily="18" charset="0"/>
              <a:cs typeface="Times New Roman" pitchFamily="18" charset="0"/>
            </a:endParaRPr>
          </a:p>
          <a:p>
            <a:pPr indent="-228600">
              <a:lnSpc>
                <a:spcPct val="90000"/>
              </a:lnSpc>
              <a:spcAft>
                <a:spcPts val="600"/>
              </a:spcAft>
              <a:buFont typeface="Arial" panose="020B0604020202020204" pitchFamily="34" charset="0"/>
              <a:buChar char="•"/>
            </a:pPr>
            <a:endParaRPr lang="en-US" dirty="0">
              <a:latin typeface="Times New Roman" pitchFamily="18" charset="0"/>
              <a:cs typeface="Times New Roman" pitchFamily="18" charset="0"/>
            </a:endParaRPr>
          </a:p>
          <a:p>
            <a:pPr marL="285750" indent="-228600">
              <a:lnSpc>
                <a:spcPct val="90000"/>
              </a:lnSpc>
              <a:spcAft>
                <a:spcPts val="600"/>
              </a:spcAft>
              <a:buFont typeface="Arial" panose="020B0604020202020204" pitchFamily="34" charset="0"/>
              <a:buChar char="•"/>
            </a:pPr>
            <a:r>
              <a:rPr lang="en-US" b="1" dirty="0">
                <a:latin typeface="Times New Roman" pitchFamily="18" charset="0"/>
                <a:cs typeface="Times New Roman" pitchFamily="18" charset="0"/>
              </a:rPr>
              <a:t>Pradhan Mantri Jan Arogya Yojana (PMJAY) </a:t>
            </a:r>
            <a:r>
              <a:rPr lang="en-US" dirty="0">
                <a:latin typeface="Times New Roman" pitchFamily="18" charset="0"/>
                <a:cs typeface="Times New Roman" pitchFamily="18" charset="0"/>
              </a:rPr>
              <a:t>Ayushman Bharat, a flagship scheme of Government of India, was launched as recommended by the National Health Policy 2017, to achieve the vision of Universal Health Coverage (UHC). This initiative has been designed to meet Sustainable Development Goals (SDGs) and its underlining commitment, which is to "leave no one behind.“ </a:t>
            </a:r>
            <a:r>
              <a:rPr lang="en-US" dirty="0" err="1">
                <a:latin typeface="Times New Roman" pitchFamily="18" charset="0"/>
                <a:cs typeface="Times New Roman" pitchFamily="18" charset="0"/>
              </a:rPr>
              <a:t>GramaOne</a:t>
            </a:r>
            <a:r>
              <a:rPr lang="en-US" dirty="0">
                <a:latin typeface="Times New Roman" pitchFamily="18" charset="0"/>
                <a:cs typeface="Times New Roman" pitchFamily="18" charset="0"/>
              </a:rPr>
              <a:t> has been instrumental in enrolling beneficiaries in the state of Karnataka and has enrolled more than </a:t>
            </a:r>
            <a:r>
              <a:rPr lang="en-US" b="1" dirty="0">
                <a:latin typeface="Times New Roman" pitchFamily="18" charset="0"/>
                <a:cs typeface="Times New Roman" pitchFamily="18" charset="0"/>
              </a:rPr>
              <a:t>1 Crore beneficiaries</a:t>
            </a:r>
            <a:r>
              <a:rPr lang="en-US" dirty="0">
                <a:latin typeface="Times New Roman" pitchFamily="18" charset="0"/>
                <a:cs typeface="Times New Roman" pitchFamily="18" charset="0"/>
              </a:rPr>
              <a:t>. </a:t>
            </a:r>
          </a:p>
          <a:p>
            <a:pPr marL="285750" indent="-228600">
              <a:lnSpc>
                <a:spcPct val="90000"/>
              </a:lnSpc>
              <a:spcAft>
                <a:spcPts val="600"/>
              </a:spcAft>
              <a:buFont typeface="Arial" panose="020B0604020202020204" pitchFamily="34" charset="0"/>
              <a:buChar char="•"/>
            </a:pPr>
            <a:endParaRPr lang="en-US" b="1" dirty="0">
              <a:latin typeface="Times New Roman" pitchFamily="18" charset="0"/>
              <a:cs typeface="Times New Roman" pitchFamily="18" charset="0"/>
            </a:endParaRPr>
          </a:p>
          <a:p>
            <a:pPr marL="285750" indent="-228600">
              <a:lnSpc>
                <a:spcPct val="90000"/>
              </a:lnSpc>
              <a:spcAft>
                <a:spcPts val="600"/>
              </a:spcAft>
              <a:buFont typeface="Arial" panose="020B0604020202020204" pitchFamily="34" charset="0"/>
              <a:buChar char="•"/>
            </a:pPr>
            <a:r>
              <a:rPr lang="en-US" b="1" dirty="0">
                <a:latin typeface="Times New Roman" pitchFamily="18" charset="0"/>
                <a:cs typeface="Times New Roman" pitchFamily="18" charset="0"/>
              </a:rPr>
              <a:t>Pradhan Mantri </a:t>
            </a:r>
            <a:r>
              <a:rPr lang="en-US" b="1" dirty="0" err="1">
                <a:latin typeface="Times New Roman" pitchFamily="18" charset="0"/>
                <a:cs typeface="Times New Roman" pitchFamily="18" charset="0"/>
              </a:rPr>
              <a:t>Fasal</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Bima</a:t>
            </a:r>
            <a:r>
              <a:rPr lang="en-US" b="1" dirty="0">
                <a:latin typeface="Times New Roman" pitchFamily="18" charset="0"/>
                <a:cs typeface="Times New Roman" pitchFamily="18" charset="0"/>
              </a:rPr>
              <a:t> Yojana (PMFBY) </a:t>
            </a:r>
            <a:r>
              <a:rPr lang="en-US" dirty="0">
                <a:latin typeface="Times New Roman" pitchFamily="18" charset="0"/>
                <a:cs typeface="Times New Roman" pitchFamily="18" charset="0"/>
              </a:rPr>
              <a:t>was launched from Kharif 2016 with aim to support production in agriculture by providing an affordable crop insurance product to ensure comprehensive risk cover for crops of farmers against all non-preventable natural risks from pre-sowing to post-harvest stage. The Scheme has completed 8 crop seasons and is being implemented across States/Union Territories (UTs). This service has catered to </a:t>
            </a:r>
            <a:r>
              <a:rPr lang="en-US" b="1" dirty="0">
                <a:latin typeface="Times New Roman" pitchFamily="18" charset="0"/>
                <a:cs typeface="Times New Roman" pitchFamily="18" charset="0"/>
              </a:rPr>
              <a:t>5 Lakh farmers </a:t>
            </a:r>
            <a:r>
              <a:rPr lang="en-US" dirty="0">
                <a:latin typeface="Times New Roman" pitchFamily="18" charset="0"/>
                <a:cs typeface="Times New Roman" pitchFamily="18" charset="0"/>
              </a:rPr>
              <a:t>and collected total </a:t>
            </a:r>
            <a:r>
              <a:rPr lang="en-US" b="1" dirty="0">
                <a:latin typeface="Times New Roman" pitchFamily="18" charset="0"/>
                <a:cs typeface="Times New Roman" pitchFamily="18" charset="0"/>
              </a:rPr>
              <a:t>premium of 55 Crores</a:t>
            </a:r>
            <a:r>
              <a:rPr lang="en-US" dirty="0">
                <a:latin typeface="Times New Roman" pitchFamily="18" charset="0"/>
                <a:cs typeface="Times New Roman" pitchFamily="18" charset="0"/>
              </a:rPr>
              <a:t>.</a:t>
            </a:r>
          </a:p>
          <a:p>
            <a:pPr marL="285750" indent="-228600">
              <a:lnSpc>
                <a:spcPct val="90000"/>
              </a:lnSpc>
              <a:spcAft>
                <a:spcPts val="600"/>
              </a:spcAft>
              <a:buFont typeface="Arial" panose="020B0604020202020204" pitchFamily="34" charset="0"/>
              <a:buChar char="•"/>
            </a:pPr>
            <a:endParaRPr lang="en-US" dirty="0">
              <a:latin typeface="Times New Roman" pitchFamily="18" charset="0"/>
              <a:cs typeface="Times New Roman" pitchFamily="18" charset="0"/>
            </a:endParaRPr>
          </a:p>
          <a:p>
            <a:pPr marL="285750" indent="-228600">
              <a:lnSpc>
                <a:spcPct val="90000"/>
              </a:lnSpc>
              <a:spcAft>
                <a:spcPts val="600"/>
              </a:spcAft>
              <a:buFont typeface="Arial" panose="020B0604020202020204" pitchFamily="34" charset="0"/>
              <a:buChar char="•"/>
            </a:pPr>
            <a:r>
              <a:rPr lang="en-US" b="1" dirty="0">
                <a:latin typeface="Times New Roman" pitchFamily="18" charset="0"/>
                <a:cs typeface="Times New Roman" pitchFamily="18" charset="0"/>
              </a:rPr>
              <a:t>Aadhaar Enabled Payment Service (AEPS) </a:t>
            </a:r>
            <a:r>
              <a:rPr lang="en-US" dirty="0">
                <a:latin typeface="Times New Roman" pitchFamily="18" charset="0"/>
                <a:cs typeface="Times New Roman" pitchFamily="18" charset="0"/>
              </a:rPr>
              <a:t>as a part of financial inclusions AEPS services are enabled in </a:t>
            </a:r>
            <a:r>
              <a:rPr lang="en-US" dirty="0" err="1">
                <a:latin typeface="Times New Roman" pitchFamily="18" charset="0"/>
                <a:cs typeface="Times New Roman" pitchFamily="18" charset="0"/>
              </a:rPr>
              <a:t>GramaOne</a:t>
            </a:r>
            <a:r>
              <a:rPr lang="en-US" dirty="0">
                <a:latin typeface="Times New Roman" pitchFamily="18" charset="0"/>
                <a:cs typeface="Times New Roman" pitchFamily="18" charset="0"/>
              </a:rPr>
              <a:t> centers wherein citizen can perform their financial transactions such as deposits, withdrawal, DMT (Domestic money transfer) using Aadhaar. </a:t>
            </a:r>
          </a:p>
        </p:txBody>
      </p:sp>
      <p:pic>
        <p:nvPicPr>
          <p:cNvPr id="16" name="Picture 15" descr="A picture containing text, clock, sign&#10;&#10;Description automatically generated">
            <a:extLst>
              <a:ext uri="{FF2B5EF4-FFF2-40B4-BE49-F238E27FC236}">
                <a16:creationId xmlns:a16="http://schemas.microsoft.com/office/drawing/2014/main" id="{10751B7D-C799-4A96-81B8-AB96E3B3E4D2}"/>
              </a:ext>
            </a:extLst>
          </p:cNvPr>
          <p:cNvPicPr>
            <a:picLocks noChangeAspect="1"/>
          </p:cNvPicPr>
          <p:nvPr/>
        </p:nvPicPr>
        <p:blipFill>
          <a:blip r:embed="rId2" cstate="print"/>
          <a:stretch>
            <a:fillRect/>
          </a:stretch>
        </p:blipFill>
        <p:spPr>
          <a:xfrm>
            <a:off x="7921505" y="291548"/>
            <a:ext cx="846938" cy="531412"/>
          </a:xfrm>
          <a:prstGeom prst="rect">
            <a:avLst/>
          </a:prstGeom>
        </p:spPr>
      </p:pic>
    </p:spTree>
    <p:extLst>
      <p:ext uri="{BB962C8B-B14F-4D97-AF65-F5344CB8AC3E}">
        <p14:creationId xmlns:p14="http://schemas.microsoft.com/office/powerpoint/2010/main" val="1095979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8">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0">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2" name="Rectangle 1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7"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3">
            <a:extLst>
              <a:ext uri="{FF2B5EF4-FFF2-40B4-BE49-F238E27FC236}">
                <a16:creationId xmlns:a16="http://schemas.microsoft.com/office/drawing/2014/main" id="{6F69C8BB-4B96-468C-80BE-63B85A624AF1}"/>
              </a:ext>
            </a:extLst>
          </p:cNvPr>
          <p:cNvSpPr txBox="1"/>
          <p:nvPr/>
        </p:nvSpPr>
        <p:spPr>
          <a:xfrm>
            <a:off x="395536" y="260648"/>
            <a:ext cx="8424935" cy="6336705"/>
          </a:xfrm>
          <a:prstGeom prst="rect">
            <a:avLst/>
          </a:prstGeom>
        </p:spPr>
        <p:txBody>
          <a:bodyPr vert="horz" lIns="91440" tIns="45720" rIns="91440" bIns="45720" rtlCol="0" anchor="ctr">
            <a:normAutofit/>
          </a:bodyPr>
          <a:lstStyle/>
          <a:p>
            <a:pPr>
              <a:lnSpc>
                <a:spcPct val="90000"/>
              </a:lnSpc>
              <a:spcAft>
                <a:spcPts val="600"/>
              </a:spcAft>
            </a:pPr>
            <a:r>
              <a:rPr lang="en-US" sz="2800" b="1" dirty="0">
                <a:latin typeface="Times New Roman" pitchFamily="18" charset="0"/>
                <a:cs typeface="Times New Roman" pitchFamily="18" charset="0"/>
              </a:rPr>
              <a:t>Success Stories of Grama One</a:t>
            </a:r>
            <a:endParaRPr lang="en-US" dirty="0">
              <a:latin typeface="Times New Roman" pitchFamily="18" charset="0"/>
              <a:cs typeface="Times New Roman" pitchFamily="18" charset="0"/>
            </a:endParaRPr>
          </a:p>
          <a:p>
            <a:pPr marL="285750" indent="-228600">
              <a:lnSpc>
                <a:spcPct val="90000"/>
              </a:lnSpc>
              <a:spcAft>
                <a:spcPts val="600"/>
              </a:spcAft>
              <a:buFont typeface="Arial" panose="020B0604020202020204" pitchFamily="34" charset="0"/>
              <a:buChar char="•"/>
            </a:pPr>
            <a:endParaRPr lang="en-US" dirty="0">
              <a:latin typeface="Times New Roman" pitchFamily="18" charset="0"/>
              <a:cs typeface="Times New Roman" pitchFamily="18" charset="0"/>
            </a:endParaRPr>
          </a:p>
          <a:p>
            <a:pPr marL="285750" indent="-228600">
              <a:lnSpc>
                <a:spcPct val="90000"/>
              </a:lnSpc>
              <a:spcAft>
                <a:spcPts val="600"/>
              </a:spcAft>
              <a:buFont typeface="Arial" panose="020B0604020202020204" pitchFamily="34" charset="0"/>
              <a:buChar char="•"/>
            </a:pPr>
            <a:r>
              <a:rPr lang="en-US" b="1" dirty="0" err="1">
                <a:latin typeface="Times New Roman" pitchFamily="18" charset="0"/>
                <a:cs typeface="Times New Roman" pitchFamily="18" charset="0"/>
              </a:rPr>
              <a:t>Labour</a:t>
            </a:r>
            <a:r>
              <a:rPr lang="en-US" b="1" dirty="0">
                <a:latin typeface="Times New Roman" pitchFamily="18" charset="0"/>
                <a:cs typeface="Times New Roman" pitchFamily="18" charset="0"/>
              </a:rPr>
              <a:t> Bus Pass Service </a:t>
            </a:r>
            <a:r>
              <a:rPr lang="en-US" dirty="0">
                <a:latin typeface="Times New Roman" pitchFamily="18" charset="0"/>
                <a:cs typeface="Times New Roman" pitchFamily="18" charset="0"/>
              </a:rPr>
              <a:t> </a:t>
            </a:r>
            <a:r>
              <a:rPr lang="en-US" dirty="0">
                <a:solidFill>
                  <a:srgbClr val="000000"/>
                </a:solidFill>
                <a:latin typeface="Times New Roman" pitchFamily="18" charset="0"/>
                <a:ea typeface="Calibri" panose="020F0502020204030204" pitchFamily="34" charset="0"/>
                <a:cs typeface="Times New Roman" pitchFamily="18" charset="0"/>
              </a:rPr>
              <a:t>Hon’ble Chief Minister of Karnataka had announced free bus pass to construction </a:t>
            </a:r>
            <a:r>
              <a:rPr lang="en-US" dirty="0" err="1">
                <a:solidFill>
                  <a:srgbClr val="000000"/>
                </a:solidFill>
                <a:latin typeface="Times New Roman" pitchFamily="18" charset="0"/>
                <a:ea typeface="Calibri" panose="020F0502020204030204" pitchFamily="34" charset="0"/>
                <a:cs typeface="Times New Roman" pitchFamily="18" charset="0"/>
              </a:rPr>
              <a:t>labourers</a:t>
            </a:r>
            <a:r>
              <a:rPr lang="en-US" dirty="0">
                <a:solidFill>
                  <a:srgbClr val="000000"/>
                </a:solidFill>
                <a:latin typeface="Times New Roman" pitchFamily="18" charset="0"/>
                <a:ea typeface="Calibri" panose="020F0502020204030204" pitchFamily="34" charset="0"/>
                <a:cs typeface="Times New Roman" pitchFamily="18" charset="0"/>
              </a:rPr>
              <a:t> and </a:t>
            </a:r>
            <a:r>
              <a:rPr lang="en-US" dirty="0" err="1">
                <a:solidFill>
                  <a:srgbClr val="000000"/>
                </a:solidFill>
                <a:latin typeface="Times New Roman" pitchFamily="18" charset="0"/>
                <a:ea typeface="Calibri" panose="020F0502020204030204" pitchFamily="34" charset="0"/>
                <a:cs typeface="Times New Roman" pitchFamily="18" charset="0"/>
              </a:rPr>
              <a:t>GramaOne</a:t>
            </a:r>
            <a:r>
              <a:rPr lang="en-US" dirty="0">
                <a:solidFill>
                  <a:srgbClr val="000000"/>
                </a:solidFill>
                <a:latin typeface="Times New Roman" pitchFamily="18" charset="0"/>
                <a:ea typeface="Calibri" panose="020F0502020204030204" pitchFamily="34" charset="0"/>
                <a:cs typeface="Times New Roman" pitchFamily="18" charset="0"/>
              </a:rPr>
              <a:t> has helped more than </a:t>
            </a:r>
            <a:r>
              <a:rPr lang="en-US" b="1" dirty="0">
                <a:solidFill>
                  <a:srgbClr val="000000"/>
                </a:solidFill>
                <a:latin typeface="Times New Roman" pitchFamily="18" charset="0"/>
                <a:ea typeface="Calibri" panose="020F0502020204030204" pitchFamily="34" charset="0"/>
                <a:cs typeface="Times New Roman" pitchFamily="18" charset="0"/>
              </a:rPr>
              <a:t>90% of Labors </a:t>
            </a:r>
            <a:r>
              <a:rPr lang="en-US" dirty="0">
                <a:solidFill>
                  <a:srgbClr val="000000"/>
                </a:solidFill>
                <a:latin typeface="Times New Roman" pitchFamily="18" charset="0"/>
                <a:ea typeface="Calibri" panose="020F0502020204030204" pitchFamily="34" charset="0"/>
                <a:cs typeface="Times New Roman" pitchFamily="18" charset="0"/>
              </a:rPr>
              <a:t>to avail this service in rural Karnataka. </a:t>
            </a:r>
          </a:p>
          <a:p>
            <a:pPr marL="285750" indent="-228600">
              <a:lnSpc>
                <a:spcPct val="90000"/>
              </a:lnSpc>
              <a:spcAft>
                <a:spcPts val="600"/>
              </a:spcAft>
              <a:buFont typeface="Arial" panose="020B0604020202020204" pitchFamily="34" charset="0"/>
              <a:buChar char="•"/>
            </a:pPr>
            <a:endParaRPr lang="en-US" dirty="0">
              <a:solidFill>
                <a:srgbClr val="000000"/>
              </a:solidFill>
              <a:latin typeface="Times New Roman" pitchFamily="18" charset="0"/>
              <a:ea typeface="Calibri" panose="020F0502020204030204" pitchFamily="34" charset="0"/>
              <a:cs typeface="Times New Roman" pitchFamily="18" charset="0"/>
            </a:endParaRPr>
          </a:p>
          <a:p>
            <a:pPr marL="285750" indent="-228600">
              <a:lnSpc>
                <a:spcPct val="90000"/>
              </a:lnSpc>
              <a:spcAft>
                <a:spcPts val="600"/>
              </a:spcAft>
              <a:buFont typeface="Arial" panose="020B0604020202020204" pitchFamily="34" charset="0"/>
              <a:buChar char="•"/>
            </a:pPr>
            <a:r>
              <a:rPr lang="en-US" b="1" dirty="0">
                <a:solidFill>
                  <a:srgbClr val="000000"/>
                </a:solidFill>
                <a:latin typeface="Times New Roman" pitchFamily="18" charset="0"/>
                <a:ea typeface="Calibri" panose="020F0502020204030204" pitchFamily="34" charset="0"/>
                <a:cs typeface="Times New Roman" pitchFamily="18" charset="0"/>
              </a:rPr>
              <a:t>PAN Card </a:t>
            </a:r>
            <a:r>
              <a:rPr lang="en-US" dirty="0">
                <a:solidFill>
                  <a:srgbClr val="000000"/>
                </a:solidFill>
                <a:latin typeface="Times New Roman" pitchFamily="18" charset="0"/>
                <a:ea typeface="Calibri" panose="020F0502020204030204" pitchFamily="34" charset="0"/>
                <a:cs typeface="Times New Roman" pitchFamily="18" charset="0"/>
              </a:rPr>
              <a:t> this is one of the most sort after service in rural Karnataka and more than </a:t>
            </a:r>
            <a:r>
              <a:rPr lang="en-US" b="1" dirty="0">
                <a:solidFill>
                  <a:srgbClr val="000000"/>
                </a:solidFill>
                <a:latin typeface="Times New Roman" pitchFamily="18" charset="0"/>
                <a:ea typeface="Calibri" panose="020F0502020204030204" pitchFamily="34" charset="0"/>
                <a:cs typeface="Times New Roman" pitchFamily="18" charset="0"/>
              </a:rPr>
              <a:t>95% </a:t>
            </a:r>
            <a:r>
              <a:rPr lang="en-US" dirty="0">
                <a:solidFill>
                  <a:srgbClr val="000000"/>
                </a:solidFill>
                <a:latin typeface="Times New Roman" pitchFamily="18" charset="0"/>
                <a:ea typeface="Calibri" panose="020F0502020204030204" pitchFamily="34" charset="0"/>
                <a:cs typeface="Times New Roman" pitchFamily="18" charset="0"/>
              </a:rPr>
              <a:t>of applications has been received through </a:t>
            </a:r>
            <a:r>
              <a:rPr lang="en-US" dirty="0" err="1">
                <a:solidFill>
                  <a:srgbClr val="000000"/>
                </a:solidFill>
                <a:latin typeface="Times New Roman" pitchFamily="18" charset="0"/>
                <a:ea typeface="Calibri" panose="020F0502020204030204" pitchFamily="34" charset="0"/>
                <a:cs typeface="Times New Roman" pitchFamily="18" charset="0"/>
              </a:rPr>
              <a:t>GramaOne</a:t>
            </a:r>
            <a:r>
              <a:rPr lang="en-US" dirty="0">
                <a:solidFill>
                  <a:srgbClr val="000000"/>
                </a:solidFill>
                <a:latin typeface="Times New Roman" pitchFamily="18" charset="0"/>
                <a:ea typeface="Calibri" panose="020F0502020204030204" pitchFamily="34" charset="0"/>
                <a:cs typeface="Times New Roman" pitchFamily="18" charset="0"/>
              </a:rPr>
              <a:t>.</a:t>
            </a:r>
          </a:p>
          <a:p>
            <a:pPr marL="285750" indent="-228600">
              <a:lnSpc>
                <a:spcPct val="90000"/>
              </a:lnSpc>
              <a:spcAft>
                <a:spcPts val="600"/>
              </a:spcAft>
              <a:buFont typeface="Arial" panose="020B0604020202020204" pitchFamily="34" charset="0"/>
              <a:buChar char="•"/>
            </a:pPr>
            <a:endParaRPr lang="en-US" b="1" dirty="0">
              <a:solidFill>
                <a:srgbClr val="000000"/>
              </a:solidFill>
              <a:latin typeface="Times New Roman" pitchFamily="18" charset="0"/>
              <a:ea typeface="Calibri" panose="020F0502020204030204" pitchFamily="34" charset="0"/>
              <a:cs typeface="Times New Roman" pitchFamily="18" charset="0"/>
            </a:endParaRPr>
          </a:p>
          <a:p>
            <a:pPr marL="285750" indent="-228600">
              <a:lnSpc>
                <a:spcPct val="90000"/>
              </a:lnSpc>
              <a:spcAft>
                <a:spcPts val="600"/>
              </a:spcAft>
              <a:buFont typeface="Arial" panose="020B0604020202020204" pitchFamily="34" charset="0"/>
              <a:buChar char="•"/>
            </a:pPr>
            <a:r>
              <a:rPr lang="en-US" b="1" dirty="0">
                <a:latin typeface="Times New Roman" pitchFamily="18" charset="0"/>
                <a:cs typeface="Times New Roman" pitchFamily="18" charset="0"/>
              </a:rPr>
              <a:t>Pension Schemes </a:t>
            </a:r>
            <a:r>
              <a:rPr lang="en-US" dirty="0" err="1">
                <a:latin typeface="Times New Roman" pitchFamily="18" charset="0"/>
                <a:cs typeface="Times New Roman" pitchFamily="18" charset="0"/>
              </a:rPr>
              <a:t>GramaOne</a:t>
            </a:r>
            <a:r>
              <a:rPr lang="en-US" dirty="0">
                <a:latin typeface="Times New Roman" pitchFamily="18" charset="0"/>
                <a:cs typeface="Times New Roman" pitchFamily="18" charset="0"/>
              </a:rPr>
              <a:t> centers receive application for various pension schemes provided Directorate of Social Securities and Pension (DSSP) such as Farmer Widow Pension, Indira Gandhi National Old Age Pension, </a:t>
            </a:r>
            <a:r>
              <a:rPr lang="en-US" dirty="0" err="1">
                <a:latin typeface="Times New Roman" pitchFamily="18" charset="0"/>
                <a:cs typeface="Times New Roman" pitchFamily="18" charset="0"/>
              </a:rPr>
              <a:t>Manaswini</a:t>
            </a:r>
            <a:r>
              <a:rPr lang="en-US" dirty="0">
                <a:latin typeface="Times New Roman" pitchFamily="18" charset="0"/>
                <a:cs typeface="Times New Roman" pitchFamily="18" charset="0"/>
              </a:rPr>
              <a:t>, Physically Handicapped Pension, Sandhya Suraksha </a:t>
            </a:r>
            <a:r>
              <a:rPr lang="en-US" dirty="0" err="1">
                <a:latin typeface="Times New Roman" pitchFamily="18" charset="0"/>
                <a:cs typeface="Times New Roman" pitchFamily="18" charset="0"/>
              </a:rPr>
              <a:t>Yojane</a:t>
            </a:r>
            <a:r>
              <a:rPr lang="en-US" dirty="0">
                <a:latin typeface="Times New Roman" pitchFamily="18" charset="0"/>
                <a:cs typeface="Times New Roman" pitchFamily="18" charset="0"/>
              </a:rPr>
              <a:t>, Widow Pension etc. The pension amount is directly transferred to the beneficiary through Aadhaar based Direct Benefit </a:t>
            </a:r>
            <a:r>
              <a:rPr lang="en-US" dirty="0" err="1">
                <a:latin typeface="Times New Roman" pitchFamily="18" charset="0"/>
                <a:cs typeface="Times New Roman" pitchFamily="18" charset="0"/>
              </a:rPr>
              <a:t>Transafer</a:t>
            </a:r>
            <a:r>
              <a:rPr lang="en-US" dirty="0">
                <a:latin typeface="Times New Roman" pitchFamily="18" charset="0"/>
                <a:cs typeface="Times New Roman" pitchFamily="18" charset="0"/>
              </a:rPr>
              <a:t> (DBT)</a:t>
            </a:r>
            <a:endParaRPr lang="en-US" b="1" dirty="0">
              <a:latin typeface="Times New Roman" pitchFamily="18" charset="0"/>
              <a:cs typeface="Times New Roman" pitchFamily="18" charset="0"/>
            </a:endParaRPr>
          </a:p>
          <a:p>
            <a:pPr marL="285750" indent="-228600">
              <a:lnSpc>
                <a:spcPct val="90000"/>
              </a:lnSpc>
              <a:spcAft>
                <a:spcPts val="600"/>
              </a:spcAft>
              <a:buFont typeface="Arial" panose="020B0604020202020204" pitchFamily="34" charset="0"/>
              <a:buChar char="•"/>
            </a:pPr>
            <a:endParaRPr lang="en-US" b="1" dirty="0">
              <a:latin typeface="Times New Roman" pitchFamily="18" charset="0"/>
              <a:cs typeface="Times New Roman" pitchFamily="18" charset="0"/>
            </a:endParaRPr>
          </a:p>
        </p:txBody>
      </p:sp>
      <p:pic>
        <p:nvPicPr>
          <p:cNvPr id="16" name="Picture 15" descr="A picture containing text, clock, sign&#10;&#10;Description automatically generated">
            <a:extLst>
              <a:ext uri="{FF2B5EF4-FFF2-40B4-BE49-F238E27FC236}">
                <a16:creationId xmlns:a16="http://schemas.microsoft.com/office/drawing/2014/main" id="{10751B7D-C799-4A96-81B8-AB96E3B3E4D2}"/>
              </a:ext>
            </a:extLst>
          </p:cNvPr>
          <p:cNvPicPr>
            <a:picLocks noChangeAspect="1"/>
          </p:cNvPicPr>
          <p:nvPr/>
        </p:nvPicPr>
        <p:blipFill>
          <a:blip r:embed="rId2" cstate="print"/>
          <a:stretch>
            <a:fillRect/>
          </a:stretch>
        </p:blipFill>
        <p:spPr>
          <a:xfrm>
            <a:off x="7921505" y="291548"/>
            <a:ext cx="846938" cy="531412"/>
          </a:xfrm>
          <a:prstGeom prst="rect">
            <a:avLst/>
          </a:prstGeom>
        </p:spPr>
      </p:pic>
    </p:spTree>
    <p:extLst>
      <p:ext uri="{BB962C8B-B14F-4D97-AF65-F5344CB8AC3E}">
        <p14:creationId xmlns:p14="http://schemas.microsoft.com/office/powerpoint/2010/main" val="495137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a:spLocks noGrp="1"/>
          </p:cNvSpPr>
          <p:nvPr>
            <p:ph type="title"/>
          </p:nvPr>
        </p:nvSpPr>
        <p:spPr>
          <a:xfrm>
            <a:off x="738555" y="152531"/>
            <a:ext cx="5915025" cy="480896"/>
          </a:xfrm>
        </p:spPr>
        <p:txBody>
          <a:bodyPr>
            <a:noAutofit/>
          </a:bodyPr>
          <a:lstStyle/>
          <a:p>
            <a:r>
              <a:rPr lang="en-US" sz="3600" b="1" dirty="0">
                <a:solidFill>
                  <a:schemeClr val="tx1"/>
                </a:solidFill>
                <a:latin typeface="+mn-lt"/>
                <a:cs typeface="Arial" panose="020B0604020202020204" pitchFamily="34" charset="0"/>
              </a:rPr>
              <a:t>GramaOne centers </a:t>
            </a:r>
            <a:endParaRPr lang="en-GB" sz="3600" b="1" dirty="0">
              <a:solidFill>
                <a:schemeClr val="tx1"/>
              </a:solidFill>
              <a:latin typeface="+mn-lt"/>
              <a:cs typeface="Arial" panose="020B0604020202020204" pitchFamily="34" charset="0"/>
            </a:endParaRPr>
          </a:p>
        </p:txBody>
      </p:sp>
      <p:pic>
        <p:nvPicPr>
          <p:cNvPr id="3" name="Picture 2" descr="A picture containing text, sign, colorful&#10;&#10;Description automatically generated"/>
          <p:cNvPicPr>
            <a:picLocks noChangeAspect="1"/>
          </p:cNvPicPr>
          <p:nvPr/>
        </p:nvPicPr>
        <p:blipFill rotWithShape="1">
          <a:blip r:embed="rId2" cstate="print"/>
          <a:srcRect t="17163"/>
          <a:stretch>
            <a:fillRect/>
          </a:stretch>
        </p:blipFill>
        <p:spPr>
          <a:xfrm>
            <a:off x="253219" y="750666"/>
            <a:ext cx="8687744" cy="5979658"/>
          </a:xfrm>
          <a:prstGeom prst="rect">
            <a:avLst/>
          </a:prstGeom>
        </p:spPr>
      </p:pic>
      <p:pic>
        <p:nvPicPr>
          <p:cNvPr id="4" name="Picture 3" descr="A picture containing text, clock, sign&#10;&#10;Description automatically generated">
            <a:extLst>
              <a:ext uri="{FF2B5EF4-FFF2-40B4-BE49-F238E27FC236}">
                <a16:creationId xmlns:a16="http://schemas.microsoft.com/office/drawing/2014/main" id="{93E6BE4C-4F8D-4AE2-AE36-6B0E59C391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24326" y="168153"/>
            <a:ext cx="716638" cy="4496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49" name="Picture 1"/>
          <p:cNvPicPr>
            <a:picLocks noChangeAspect="1" noChangeArrowheads="1"/>
          </p:cNvPicPr>
          <p:nvPr/>
        </p:nvPicPr>
        <p:blipFill>
          <a:blip r:embed="rId3" cstate="print"/>
          <a:stretch>
            <a:fillRect/>
          </a:stretch>
        </p:blipFill>
        <p:spPr bwMode="auto">
          <a:xfrm>
            <a:off x="214282" y="500042"/>
            <a:ext cx="3295850" cy="3293418"/>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cstate="print"/>
          <a:stretch>
            <a:fillRect/>
          </a:stretch>
        </p:blipFill>
        <p:spPr bwMode="auto">
          <a:xfrm>
            <a:off x="3786182" y="571480"/>
            <a:ext cx="4857784" cy="2928958"/>
          </a:xfrm>
          <a:prstGeom prst="rect">
            <a:avLst/>
          </a:prstGeom>
          <a:noFill/>
          <a:ln w="9525">
            <a:noFill/>
            <a:miter lim="800000"/>
            <a:headEnd/>
            <a:tailEnd/>
          </a:ln>
          <a:effectLst/>
        </p:spPr>
      </p:pic>
      <p:pic>
        <p:nvPicPr>
          <p:cNvPr id="6" name="Picture 5">
            <a:extLst>
              <a:ext uri="{FF2B5EF4-FFF2-40B4-BE49-F238E27FC236}">
                <a16:creationId xmlns:a16="http://schemas.microsoft.com/office/drawing/2014/main" id="{C306BE2B-244F-4E39-BA4E-11C96AC9444C}"/>
              </a:ext>
            </a:extLst>
          </p:cNvPr>
          <p:cNvPicPr/>
          <p:nvPr/>
        </p:nvPicPr>
        <p:blipFill>
          <a:blip r:embed="rId5" cstate="print"/>
          <a:stretch>
            <a:fillRect/>
          </a:stretch>
        </p:blipFill>
        <p:spPr>
          <a:xfrm>
            <a:off x="8382186" y="12510"/>
            <a:ext cx="543837" cy="475820"/>
          </a:xfrm>
          <a:prstGeom prst="rect">
            <a:avLst/>
          </a:prstGeom>
        </p:spPr>
      </p:pic>
      <p:pic>
        <p:nvPicPr>
          <p:cNvPr id="3" name="Picture 2" descr="A group of people standing outside a building&#10;&#10;Description automatically generated with medium confidence">
            <a:extLst>
              <a:ext uri="{FF2B5EF4-FFF2-40B4-BE49-F238E27FC236}">
                <a16:creationId xmlns:a16="http://schemas.microsoft.com/office/drawing/2014/main" id="{3858ACCF-F0C2-4FB5-9439-9DAD7AD38C62}"/>
              </a:ext>
            </a:extLst>
          </p:cNvPr>
          <p:cNvPicPr>
            <a:picLocks noChangeAspect="1"/>
          </p:cNvPicPr>
          <p:nvPr/>
        </p:nvPicPr>
        <p:blipFill>
          <a:blip r:embed="rId6" cstate="print"/>
          <a:stretch>
            <a:fillRect/>
          </a:stretch>
        </p:blipFill>
        <p:spPr>
          <a:xfrm>
            <a:off x="270328" y="4191000"/>
            <a:ext cx="4717142" cy="2452710"/>
          </a:xfrm>
          <a:prstGeom prst="rect">
            <a:avLst/>
          </a:prstGeom>
        </p:spPr>
      </p:pic>
      <p:sp>
        <p:nvSpPr>
          <p:cNvPr id="4" name="TextBox 3">
            <a:extLst>
              <a:ext uri="{FF2B5EF4-FFF2-40B4-BE49-F238E27FC236}">
                <a16:creationId xmlns:a16="http://schemas.microsoft.com/office/drawing/2014/main" id="{778DAC65-FE8B-4313-999B-1D851299E600}"/>
              </a:ext>
            </a:extLst>
          </p:cNvPr>
          <p:cNvSpPr txBox="1"/>
          <p:nvPr/>
        </p:nvSpPr>
        <p:spPr>
          <a:xfrm>
            <a:off x="500034" y="214290"/>
            <a:ext cx="7346761" cy="475820"/>
          </a:xfrm>
          <a:prstGeom prst="rect">
            <a:avLst/>
          </a:prstGeom>
          <a:noFill/>
        </p:spPr>
        <p:txBody>
          <a:bodyPr wrap="square" lIns="0" tIns="0" rIns="0" bIns="0" rtlCol="0">
            <a:noAutofit/>
          </a:bodyPr>
          <a:lstStyle/>
          <a:p>
            <a:pPr indent="-274320">
              <a:spcAft>
                <a:spcPts val="900"/>
              </a:spcAft>
            </a:pPr>
            <a:r>
              <a:rPr kumimoji="0" lang="en-US" sz="2000" b="1" i="1" u="none" strike="noStrike" kern="1200" cap="none" spc="0" normalizeH="0" baseline="0" noProof="0" dirty="0">
                <a:ln>
                  <a:noFill/>
                </a:ln>
                <a:effectLst/>
                <a:uLnTx/>
                <a:uFillTx/>
                <a:latin typeface="Georgia"/>
                <a:ea typeface="+mj-ea"/>
                <a:cs typeface="Arial" panose="020B0604020202020204" pitchFamily="34" charset="0"/>
              </a:rPr>
              <a:t>Grama   One  Centers</a:t>
            </a:r>
            <a:endParaRPr lang="en-GB" sz="2000" dirty="0" err="1">
              <a:latin typeface="Georgia" pitchFamily="18" charset="0"/>
            </a:endParaRPr>
          </a:p>
        </p:txBody>
      </p:sp>
      <p:pic>
        <p:nvPicPr>
          <p:cNvPr id="7" name="Picture 6" descr="A group of people standing outside&#10;&#10;Description automatically generated with low confidence">
            <a:extLst>
              <a:ext uri="{FF2B5EF4-FFF2-40B4-BE49-F238E27FC236}">
                <a16:creationId xmlns:a16="http://schemas.microsoft.com/office/drawing/2014/main" id="{076A76D9-ABB1-4C1B-92E3-7D6708A97E3C}"/>
              </a:ext>
            </a:extLst>
          </p:cNvPr>
          <p:cNvPicPr>
            <a:picLocks noChangeAspect="1"/>
          </p:cNvPicPr>
          <p:nvPr/>
        </p:nvPicPr>
        <p:blipFill>
          <a:blip r:embed="rId7" cstate="print"/>
          <a:stretch>
            <a:fillRect/>
          </a:stretch>
        </p:blipFill>
        <p:spPr>
          <a:xfrm>
            <a:off x="5218280" y="4286256"/>
            <a:ext cx="3773321" cy="2357454"/>
          </a:xfrm>
          <a:prstGeom prst="rect">
            <a:avLst/>
          </a:prstGeom>
        </p:spPr>
      </p:pic>
      <p:sp>
        <p:nvSpPr>
          <p:cNvPr id="9" name="Title 1">
            <a:extLst>
              <a:ext uri="{FF2B5EF4-FFF2-40B4-BE49-F238E27FC236}">
                <a16:creationId xmlns:a16="http://schemas.microsoft.com/office/drawing/2014/main" id="{DE83DB9A-EF1C-4F82-A439-39E8DA054AA5}"/>
              </a:ext>
            </a:extLst>
          </p:cNvPr>
          <p:cNvSpPr txBox="1">
            <a:spLocks/>
          </p:cNvSpPr>
          <p:nvPr/>
        </p:nvSpPr>
        <p:spPr>
          <a:xfrm>
            <a:off x="1000100" y="3786191"/>
            <a:ext cx="7358114" cy="50006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baseline="0">
                <a:solidFill>
                  <a:schemeClr val="bg1"/>
                </a:solidFill>
                <a:latin typeface="+mj-lt"/>
                <a:ea typeface="+mj-ea"/>
                <a:cs typeface="+mj-cs"/>
              </a:defRPr>
            </a:lvl1pPr>
          </a:lstStyle>
          <a:p>
            <a:r>
              <a:rPr lang="en-US" dirty="0">
                <a:solidFill>
                  <a:schemeClr val="tx1"/>
                </a:solidFill>
                <a:effectLst>
                  <a:outerShdw blurRad="38100" dist="38100" dir="2700000" algn="tl">
                    <a:srgbClr val="000000">
                      <a:alpha val="43137"/>
                    </a:srgbClr>
                  </a:outerShdw>
                </a:effectLst>
                <a:cs typeface="Arial" panose="020B0604020202020204" pitchFamily="34" charset="0"/>
              </a:rPr>
              <a:t>Ayushman Bharat Health Card Camp</a:t>
            </a:r>
            <a:endParaRPr lang="en-GB" dirty="0">
              <a:solidFill>
                <a:schemeClr val="tx1"/>
              </a:solidFill>
              <a:effectLst>
                <a:outerShdw blurRad="38100" dist="38100" dir="2700000" algn="tl">
                  <a:srgbClr val="000000">
                    <a:alpha val="43137"/>
                  </a:srgbClr>
                </a:outerShdw>
              </a:effectLst>
              <a:cs typeface="Arial" panose="020B0604020202020204" pitchFamily="34" charset="0"/>
            </a:endParaRPr>
          </a:p>
        </p:txBody>
      </p:sp>
    </p:spTree>
    <p:extLst>
      <p:ext uri="{BB962C8B-B14F-4D97-AF65-F5344CB8AC3E}">
        <p14:creationId xmlns:p14="http://schemas.microsoft.com/office/powerpoint/2010/main" val="3822213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49" name="Picture 1"/>
          <p:cNvPicPr>
            <a:picLocks noChangeAspect="1" noChangeArrowheads="1"/>
          </p:cNvPicPr>
          <p:nvPr/>
        </p:nvPicPr>
        <p:blipFill>
          <a:blip r:embed="rId3" cstate="print"/>
          <a:stretch>
            <a:fillRect/>
          </a:stretch>
        </p:blipFill>
        <p:spPr bwMode="auto">
          <a:xfrm>
            <a:off x="894071" y="488329"/>
            <a:ext cx="3282673" cy="3448007"/>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cstate="print"/>
          <a:stretch>
            <a:fillRect/>
          </a:stretch>
        </p:blipFill>
        <p:spPr bwMode="auto">
          <a:xfrm>
            <a:off x="4567452" y="488330"/>
            <a:ext cx="3282672" cy="3448007"/>
          </a:xfrm>
          <a:prstGeom prst="rect">
            <a:avLst/>
          </a:prstGeom>
          <a:noFill/>
          <a:ln w="9525">
            <a:noFill/>
            <a:miter lim="800000"/>
            <a:headEnd/>
            <a:tailEnd/>
          </a:ln>
          <a:effectLst/>
        </p:spPr>
      </p:pic>
      <p:pic>
        <p:nvPicPr>
          <p:cNvPr id="6" name="Picture 5">
            <a:extLst>
              <a:ext uri="{FF2B5EF4-FFF2-40B4-BE49-F238E27FC236}">
                <a16:creationId xmlns:a16="http://schemas.microsoft.com/office/drawing/2014/main" id="{C306BE2B-244F-4E39-BA4E-11C96AC9444C}"/>
              </a:ext>
            </a:extLst>
          </p:cNvPr>
          <p:cNvPicPr/>
          <p:nvPr/>
        </p:nvPicPr>
        <p:blipFill>
          <a:blip r:embed="rId5" cstate="print"/>
          <a:stretch>
            <a:fillRect/>
          </a:stretch>
        </p:blipFill>
        <p:spPr>
          <a:xfrm>
            <a:off x="8382186" y="12510"/>
            <a:ext cx="543837" cy="475820"/>
          </a:xfrm>
          <a:prstGeom prst="rect">
            <a:avLst/>
          </a:prstGeom>
        </p:spPr>
      </p:pic>
      <p:pic>
        <p:nvPicPr>
          <p:cNvPr id="3" name="Picture 2" descr="A group of people standing outside a building&#10;&#10;Description automatically generated with medium confidence">
            <a:extLst>
              <a:ext uri="{FF2B5EF4-FFF2-40B4-BE49-F238E27FC236}">
                <a16:creationId xmlns:a16="http://schemas.microsoft.com/office/drawing/2014/main" id="{3858ACCF-F0C2-4FB5-9439-9DAD7AD38C6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399" y="4191000"/>
            <a:ext cx="4953001" cy="2667000"/>
          </a:xfrm>
          <a:prstGeom prst="rect">
            <a:avLst/>
          </a:prstGeom>
        </p:spPr>
      </p:pic>
      <p:sp>
        <p:nvSpPr>
          <p:cNvPr id="4" name="TextBox 3">
            <a:extLst>
              <a:ext uri="{FF2B5EF4-FFF2-40B4-BE49-F238E27FC236}">
                <a16:creationId xmlns:a16="http://schemas.microsoft.com/office/drawing/2014/main" id="{778DAC65-FE8B-4313-999B-1D851299E600}"/>
              </a:ext>
            </a:extLst>
          </p:cNvPr>
          <p:cNvSpPr txBox="1"/>
          <p:nvPr/>
        </p:nvSpPr>
        <p:spPr>
          <a:xfrm>
            <a:off x="285721" y="0"/>
            <a:ext cx="7286675" cy="475820"/>
          </a:xfrm>
          <a:prstGeom prst="rect">
            <a:avLst/>
          </a:prstGeom>
          <a:noFill/>
        </p:spPr>
        <p:txBody>
          <a:bodyPr wrap="square" lIns="0" tIns="0" rIns="0" bIns="0" rtlCol="0">
            <a:noAutofit/>
          </a:bodyPr>
          <a:lstStyle/>
          <a:p>
            <a:pPr indent="-274320">
              <a:spcAft>
                <a:spcPts val="900"/>
              </a:spcAft>
            </a:pPr>
            <a:r>
              <a:rPr kumimoji="0" lang="en-US" sz="2000" b="1" i="1" u="none" strike="noStrike" kern="1200" cap="none" spc="0" normalizeH="0" baseline="0" noProof="0" dirty="0">
                <a:ln>
                  <a:noFill/>
                </a:ln>
                <a:effectLst/>
                <a:uLnTx/>
                <a:uFillTx/>
                <a:latin typeface="Georgia"/>
                <a:ea typeface="+mj-ea"/>
                <a:cs typeface="Arial" panose="020B0604020202020204" pitchFamily="34" charset="0"/>
              </a:rPr>
              <a:t>Door to Door Survey done by Grama One Operators</a:t>
            </a:r>
            <a:endParaRPr lang="en-GB" sz="2000" dirty="0" err="1">
              <a:latin typeface="Georgia" pitchFamily="18" charset="0"/>
            </a:endParaRPr>
          </a:p>
        </p:txBody>
      </p:sp>
      <p:pic>
        <p:nvPicPr>
          <p:cNvPr id="7" name="Picture 6" descr="A group of people standing outside&#10;&#10;Description automatically generated with low confidence">
            <a:extLst>
              <a:ext uri="{FF2B5EF4-FFF2-40B4-BE49-F238E27FC236}">
                <a16:creationId xmlns:a16="http://schemas.microsoft.com/office/drawing/2014/main" id="{076A76D9-ABB1-4C1B-92E3-7D6708A97E3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18280" y="4190999"/>
            <a:ext cx="3773321" cy="2601389"/>
          </a:xfrm>
          <a:prstGeom prst="rect">
            <a:avLst/>
          </a:prstGeom>
        </p:spPr>
      </p:pic>
    </p:spTree>
    <p:extLst>
      <p:ext uri="{BB962C8B-B14F-4D97-AF65-F5344CB8AC3E}">
        <p14:creationId xmlns:p14="http://schemas.microsoft.com/office/powerpoint/2010/main" val="3822213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A339B677-137B-4E00-8A5A-E70F86B2A5E6}"/>
              </a:ext>
            </a:extLst>
          </p:cNvPr>
          <p:cNvGraphicFramePr>
            <a:graphicFrameLocks noChangeAspect="1"/>
          </p:cNvGraphicFramePr>
          <p:nvPr>
            <p:extLst>
              <p:ext uri="{D42A27DB-BD31-4B8C-83A1-F6EECF244321}">
                <p14:modId xmlns:p14="http://schemas.microsoft.com/office/powerpoint/2010/main" val="22827640"/>
              </p:ext>
            </p:extLst>
          </p:nvPr>
        </p:nvGraphicFramePr>
        <p:xfrm>
          <a:off x="250723" y="98424"/>
          <a:ext cx="8703458" cy="6759576"/>
        </p:xfrm>
        <a:graphic>
          <a:graphicData uri="http://schemas.openxmlformats.org/presentationml/2006/ole">
            <mc:AlternateContent xmlns:mc="http://schemas.openxmlformats.org/markup-compatibility/2006">
              <mc:Choice xmlns:v="urn:schemas-microsoft-com:vml" Requires="v">
                <p:oleObj spid="_x0000_s1026" name="Acrobat Document" r:id="rId2" imgW="4588560" imgH="3549600" progId="Acrobat.Document.DC">
                  <p:embed/>
                </p:oleObj>
              </mc:Choice>
              <mc:Fallback>
                <p:oleObj name="Acrobat Document" r:id="rId2" imgW="4588560" imgH="3549600" progId="Acrobat.Document.DC">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723" y="98424"/>
                        <a:ext cx="8703458" cy="6759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4" descr="A picture containing text, clock, sign&#10;&#10;Description automatically generated">
            <a:extLst>
              <a:ext uri="{FF2B5EF4-FFF2-40B4-BE49-F238E27FC236}">
                <a16:creationId xmlns:a16="http://schemas.microsoft.com/office/drawing/2014/main" id="{6D8E1BA0-79DE-4848-97BF-C2E9DAD5D646}"/>
              </a:ext>
            </a:extLst>
          </p:cNvPr>
          <p:cNvPicPr>
            <a:picLocks noChangeAspect="1"/>
          </p:cNvPicPr>
          <p:nvPr/>
        </p:nvPicPr>
        <p:blipFill>
          <a:blip r:embed="rId4" cstate="print"/>
          <a:stretch>
            <a:fillRect/>
          </a:stretch>
        </p:blipFill>
        <p:spPr>
          <a:xfrm>
            <a:off x="8107242" y="98424"/>
            <a:ext cx="846938" cy="531412"/>
          </a:xfrm>
          <a:prstGeom prst="rect">
            <a:avLst/>
          </a:prstGeom>
        </p:spPr>
      </p:pic>
      <p:sp>
        <p:nvSpPr>
          <p:cNvPr id="6" name="TextBox 5">
            <a:extLst>
              <a:ext uri="{FF2B5EF4-FFF2-40B4-BE49-F238E27FC236}">
                <a16:creationId xmlns:a16="http://schemas.microsoft.com/office/drawing/2014/main" id="{838A6DAC-B18F-4115-AF3A-C973A9ACA51F}"/>
              </a:ext>
            </a:extLst>
          </p:cNvPr>
          <p:cNvSpPr txBox="1"/>
          <p:nvPr/>
        </p:nvSpPr>
        <p:spPr>
          <a:xfrm>
            <a:off x="435077" y="98424"/>
            <a:ext cx="4857003" cy="400110"/>
          </a:xfrm>
          <a:prstGeom prst="rect">
            <a:avLst/>
          </a:prstGeom>
          <a:noFill/>
        </p:spPr>
        <p:txBody>
          <a:bodyPr wrap="square" rtlCol="0">
            <a:spAutoFit/>
          </a:bodyPr>
          <a:lstStyle/>
          <a:p>
            <a:r>
              <a:rPr lang="en-US" sz="2000" b="1" dirty="0"/>
              <a:t>Special Drive for ABHA enrollment</a:t>
            </a:r>
          </a:p>
        </p:txBody>
      </p:sp>
    </p:spTree>
    <p:extLst>
      <p:ext uri="{BB962C8B-B14F-4D97-AF65-F5344CB8AC3E}">
        <p14:creationId xmlns:p14="http://schemas.microsoft.com/office/powerpoint/2010/main" val="127501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6811B07-0A51-49F4-9DB0-D7B29A87B3F1}"/>
              </a:ext>
            </a:extLst>
          </p:cNvPr>
          <p:cNvPicPr>
            <a:picLocks noChangeAspect="1"/>
          </p:cNvPicPr>
          <p:nvPr/>
        </p:nvPicPr>
        <p:blipFill>
          <a:blip r:embed="rId2" cstate="print"/>
          <a:stretch>
            <a:fillRect/>
          </a:stretch>
        </p:blipFill>
        <p:spPr>
          <a:xfrm>
            <a:off x="205181" y="188640"/>
            <a:ext cx="8733638" cy="6669360"/>
          </a:xfrm>
          <a:prstGeom prst="rect">
            <a:avLst/>
          </a:prstGeom>
        </p:spPr>
      </p:pic>
      <p:pic>
        <p:nvPicPr>
          <p:cNvPr id="8" name="Picture 7" descr="A picture containing text, clock, sign&#10;&#10;Description automatically generated">
            <a:extLst>
              <a:ext uri="{FF2B5EF4-FFF2-40B4-BE49-F238E27FC236}">
                <a16:creationId xmlns:a16="http://schemas.microsoft.com/office/drawing/2014/main" id="{B5237F9F-947B-4850-B1D4-C7CB2793281C}"/>
              </a:ext>
            </a:extLst>
          </p:cNvPr>
          <p:cNvPicPr>
            <a:picLocks noChangeAspect="1"/>
          </p:cNvPicPr>
          <p:nvPr/>
        </p:nvPicPr>
        <p:blipFill>
          <a:blip r:embed="rId3" cstate="print"/>
          <a:stretch>
            <a:fillRect/>
          </a:stretch>
        </p:blipFill>
        <p:spPr>
          <a:xfrm>
            <a:off x="8091881" y="129623"/>
            <a:ext cx="846938" cy="531412"/>
          </a:xfrm>
          <a:prstGeom prst="rect">
            <a:avLst/>
          </a:prstGeom>
        </p:spPr>
      </p:pic>
    </p:spTree>
    <p:extLst>
      <p:ext uri="{BB962C8B-B14F-4D97-AF65-F5344CB8AC3E}">
        <p14:creationId xmlns:p14="http://schemas.microsoft.com/office/powerpoint/2010/main" val="3626883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lock, sign&#10;&#10;Description automatically generated">
            <a:extLst>
              <a:ext uri="{FF2B5EF4-FFF2-40B4-BE49-F238E27FC236}">
                <a16:creationId xmlns:a16="http://schemas.microsoft.com/office/drawing/2014/main" id="{C7393C93-4ED9-4C33-9CFD-E07F03696A77}"/>
              </a:ext>
            </a:extLst>
          </p:cNvPr>
          <p:cNvPicPr>
            <a:picLocks noChangeAspect="1"/>
          </p:cNvPicPr>
          <p:nvPr/>
        </p:nvPicPr>
        <p:blipFill>
          <a:blip r:embed="rId2" cstate="print"/>
          <a:stretch>
            <a:fillRect/>
          </a:stretch>
        </p:blipFill>
        <p:spPr>
          <a:xfrm>
            <a:off x="8164271" y="189948"/>
            <a:ext cx="846938" cy="531412"/>
          </a:xfrm>
          <a:prstGeom prst="rect">
            <a:avLst/>
          </a:prstGeom>
        </p:spPr>
      </p:pic>
      <p:pic>
        <p:nvPicPr>
          <p:cNvPr id="5" name="Picture 4" descr="A group of people sitting in a room&#10;&#10;Description automatically generated with medium confidence">
            <a:extLst>
              <a:ext uri="{FF2B5EF4-FFF2-40B4-BE49-F238E27FC236}">
                <a16:creationId xmlns:a16="http://schemas.microsoft.com/office/drawing/2014/main" id="{8037E982-D8DC-4D63-B5FD-5CB752E22924}"/>
              </a:ext>
            </a:extLst>
          </p:cNvPr>
          <p:cNvPicPr>
            <a:picLocks noChangeAspect="1"/>
          </p:cNvPicPr>
          <p:nvPr/>
        </p:nvPicPr>
        <p:blipFill>
          <a:blip r:embed="rId3" cstate="print"/>
          <a:stretch>
            <a:fillRect/>
          </a:stretch>
        </p:blipFill>
        <p:spPr>
          <a:xfrm>
            <a:off x="222355" y="280977"/>
            <a:ext cx="4349645" cy="3324072"/>
          </a:xfrm>
          <a:prstGeom prst="rect">
            <a:avLst/>
          </a:prstGeom>
        </p:spPr>
      </p:pic>
      <p:pic>
        <p:nvPicPr>
          <p:cNvPr id="10" name="Picture 9" descr="A group of people sitting on the ground&#10;&#10;Description automatically generated with low confidence">
            <a:extLst>
              <a:ext uri="{FF2B5EF4-FFF2-40B4-BE49-F238E27FC236}">
                <a16:creationId xmlns:a16="http://schemas.microsoft.com/office/drawing/2014/main" id="{E1D284D7-B642-413F-817A-48F52D9C2396}"/>
              </a:ext>
            </a:extLst>
          </p:cNvPr>
          <p:cNvPicPr>
            <a:picLocks noChangeAspect="1"/>
          </p:cNvPicPr>
          <p:nvPr/>
        </p:nvPicPr>
        <p:blipFill>
          <a:blip r:embed="rId4" cstate="print"/>
          <a:stretch>
            <a:fillRect/>
          </a:stretch>
        </p:blipFill>
        <p:spPr>
          <a:xfrm>
            <a:off x="4690241" y="280977"/>
            <a:ext cx="3846786" cy="3324072"/>
          </a:xfrm>
          <a:prstGeom prst="rect">
            <a:avLst/>
          </a:prstGeom>
        </p:spPr>
      </p:pic>
      <p:pic>
        <p:nvPicPr>
          <p:cNvPr id="12" name="Picture 11" descr="A group of people standing in a room&#10;&#10;Description automatically generated with medium confidence">
            <a:extLst>
              <a:ext uri="{FF2B5EF4-FFF2-40B4-BE49-F238E27FC236}">
                <a16:creationId xmlns:a16="http://schemas.microsoft.com/office/drawing/2014/main" id="{851D9262-93C3-4B26-84DB-1F99EEC3D4C0}"/>
              </a:ext>
            </a:extLst>
          </p:cNvPr>
          <p:cNvPicPr>
            <a:picLocks noChangeAspect="1"/>
          </p:cNvPicPr>
          <p:nvPr/>
        </p:nvPicPr>
        <p:blipFill>
          <a:blip r:embed="rId5" cstate="print"/>
          <a:stretch>
            <a:fillRect/>
          </a:stretch>
        </p:blipFill>
        <p:spPr>
          <a:xfrm>
            <a:off x="222355" y="3794235"/>
            <a:ext cx="4349646" cy="2956211"/>
          </a:xfrm>
          <a:prstGeom prst="rect">
            <a:avLst/>
          </a:prstGeom>
        </p:spPr>
      </p:pic>
      <p:pic>
        <p:nvPicPr>
          <p:cNvPr id="14" name="Picture 13" descr="A group of people standing in a room&#10;&#10;Description automatically generated with medium confidence">
            <a:extLst>
              <a:ext uri="{FF2B5EF4-FFF2-40B4-BE49-F238E27FC236}">
                <a16:creationId xmlns:a16="http://schemas.microsoft.com/office/drawing/2014/main" id="{4998C8B0-9C23-49A6-93C1-01FB4398E17A}"/>
              </a:ext>
            </a:extLst>
          </p:cNvPr>
          <p:cNvPicPr>
            <a:picLocks noChangeAspect="1"/>
          </p:cNvPicPr>
          <p:nvPr/>
        </p:nvPicPr>
        <p:blipFill>
          <a:blip r:embed="rId6" cstate="print"/>
          <a:stretch>
            <a:fillRect/>
          </a:stretch>
        </p:blipFill>
        <p:spPr>
          <a:xfrm>
            <a:off x="4690242" y="3794235"/>
            <a:ext cx="3846786" cy="3063765"/>
          </a:xfrm>
          <a:prstGeom prst="rect">
            <a:avLst/>
          </a:prstGeom>
        </p:spPr>
      </p:pic>
    </p:spTree>
    <p:extLst>
      <p:ext uri="{BB962C8B-B14F-4D97-AF65-F5344CB8AC3E}">
        <p14:creationId xmlns:p14="http://schemas.microsoft.com/office/powerpoint/2010/main" val="1086546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t>
            </a:r>
          </a:p>
        </p:txBody>
      </p:sp>
      <p:sp>
        <p:nvSpPr>
          <p:cNvPr id="4" name="Slide Number Placeholder 3"/>
          <p:cNvSpPr>
            <a:spLocks noGrp="1"/>
          </p:cNvSpPr>
          <p:nvPr>
            <p:ph type="sldNum" sz="quarter" idx="4"/>
          </p:nvPr>
        </p:nvSpPr>
        <p:spPr/>
        <p:txBody>
          <a:bodyPr/>
          <a:lstStyle/>
          <a:p>
            <a:fld id="{9EBD5762-3BDC-484D-9503-7EA6D5A9A8CE}" type="slidenum">
              <a:rPr lang="en-US" smtClean="0"/>
              <a:pPr/>
              <a:t>22</a:t>
            </a:fld>
            <a:endParaRPr lang="en-US" dirty="0"/>
          </a:p>
        </p:txBody>
      </p:sp>
      <p:sp>
        <p:nvSpPr>
          <p:cNvPr id="7" name="TextBox 6"/>
          <p:cNvSpPr txBox="1"/>
          <p:nvPr/>
        </p:nvSpPr>
        <p:spPr>
          <a:xfrm>
            <a:off x="1643042" y="857232"/>
            <a:ext cx="914400" cy="914400"/>
          </a:xfrm>
          <a:prstGeom prst="rect">
            <a:avLst/>
          </a:prstGeom>
          <a:noFill/>
        </p:spPr>
        <p:txBody>
          <a:bodyPr wrap="none" lIns="0" tIns="0" rIns="0" bIns="0" rtlCol="0">
            <a:noAutofit/>
          </a:bodyPr>
          <a:lstStyle/>
          <a:p>
            <a:pPr indent="-274320">
              <a:spcAft>
                <a:spcPts val="900"/>
              </a:spcAft>
            </a:pPr>
            <a:endParaRPr lang="en-US" sz="2000" dirty="0" err="1">
              <a:latin typeface="Georgia" pitchFamily="18" charset="0"/>
            </a:endParaRPr>
          </a:p>
        </p:txBody>
      </p:sp>
      <p:sp>
        <p:nvSpPr>
          <p:cNvPr id="8" name="TextBox 7"/>
          <p:cNvSpPr txBox="1"/>
          <p:nvPr/>
        </p:nvSpPr>
        <p:spPr>
          <a:xfrm>
            <a:off x="1795442" y="1009632"/>
            <a:ext cx="914400" cy="914400"/>
          </a:xfrm>
          <a:prstGeom prst="rect">
            <a:avLst/>
          </a:prstGeom>
          <a:noFill/>
        </p:spPr>
        <p:txBody>
          <a:bodyPr wrap="none" lIns="0" tIns="0" rIns="0" bIns="0" rtlCol="0">
            <a:noAutofit/>
          </a:bodyPr>
          <a:lstStyle/>
          <a:p>
            <a:pPr indent="-274320">
              <a:spcAft>
                <a:spcPts val="900"/>
              </a:spcAft>
            </a:pPr>
            <a:endParaRPr lang="en-US" sz="2000" dirty="0" err="1">
              <a:latin typeface="Georgia" pitchFamily="18" charset="0"/>
            </a:endParaRPr>
          </a:p>
        </p:txBody>
      </p:sp>
      <p:sp>
        <p:nvSpPr>
          <p:cNvPr id="11" name="Rectangle 10"/>
          <p:cNvSpPr/>
          <p:nvPr/>
        </p:nvSpPr>
        <p:spPr>
          <a:xfrm>
            <a:off x="3357554" y="285728"/>
            <a:ext cx="1988686" cy="369332"/>
          </a:xfrm>
          <a:prstGeom prst="rect">
            <a:avLst/>
          </a:prstGeom>
        </p:spPr>
        <p:txBody>
          <a:bodyPr wrap="none">
            <a:spAutoFit/>
          </a:bodyPr>
          <a:lstStyle/>
          <a:p>
            <a:r>
              <a:rPr lang="en-US" dirty="0">
                <a:solidFill>
                  <a:srgbClr val="000000"/>
                </a:solidFill>
                <a:ea typeface="Cambria" panose="02040503050406030204" pitchFamily="18" charset="0"/>
                <a:cs typeface="Arial" panose="020B0604020202020204" pitchFamily="34" charset="0"/>
              </a:rPr>
              <a:t>Grama one Video</a:t>
            </a:r>
            <a:endParaRPr lang="en-US" dirty="0"/>
          </a:p>
        </p:txBody>
      </p:sp>
      <p:pic>
        <p:nvPicPr>
          <p:cNvPr id="10" name="Grama one english title.mp4">
            <a:hlinkClick r:id="" action="ppaction://media"/>
          </p:cNvPr>
          <p:cNvPicPr>
            <a:picLocks noGrp="1" noRot="1" noChangeAspect="1"/>
          </p:cNvPicPr>
          <p:nvPr>
            <p:ph idx="1"/>
            <a:videoFile r:link="rId1"/>
          </p:nvPr>
        </p:nvPicPr>
        <p:blipFill>
          <a:blip r:embed="rId3" cstate="print"/>
          <a:stretch>
            <a:fillRect/>
          </a:stretch>
        </p:blipFill>
        <p:spPr>
          <a:xfrm>
            <a:off x="571472" y="1071546"/>
            <a:ext cx="7786742" cy="5500726"/>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0"/>
                                        </p:tgtEl>
                                      </p:cBhvr>
                                    </p:cmd>
                                  </p:childTnLst>
                                </p:cTn>
                              </p:par>
                            </p:childTnLst>
                          </p:cTn>
                        </p:par>
                      </p:childTnLst>
                    </p:cTn>
                  </p:par>
                </p:childTnLst>
              </p:cTn>
              <p:nextCondLst>
                <p:cond evt="onClick" delay="0">
                  <p:tgtEl>
                    <p:spTgt spid="10"/>
                  </p:tgtEl>
                </p:cond>
              </p:nextCondLst>
            </p:seq>
            <p:video>
              <p:cMediaNode>
                <p:cTn id="7" fill="hold" display="0">
                  <p:stCondLst>
                    <p:cond delay="indefinite"/>
                  </p:stCondLst>
                  <p:endCondLst>
                    <p:cond evt="onNext" delay="0">
                      <p:tgtEl>
                        <p:sldTgt/>
                      </p:tgtEl>
                    </p:cond>
                    <p:cond evt="onPrev" delay="0">
                      <p:tgtEl>
                        <p:sldTgt/>
                      </p:tgtEl>
                    </p:cond>
                  </p:endCondLst>
                </p:cTn>
                <p:tgtEl>
                  <p:spTgt spid="10"/>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EC0C24-86CB-46A4-A58B-A5B685F89B06}"/>
              </a:ext>
            </a:extLst>
          </p:cNvPr>
          <p:cNvSpPr txBox="1"/>
          <p:nvPr/>
        </p:nvSpPr>
        <p:spPr>
          <a:xfrm>
            <a:off x="241373" y="843104"/>
            <a:ext cx="8613621" cy="658355"/>
          </a:xfrm>
          <a:prstGeom prst="rect">
            <a:avLst/>
          </a:prstGeom>
          <a:noFill/>
        </p:spPr>
        <p:txBody>
          <a:bodyPr wrap="square" lIns="0" tIns="0" rIns="0" bIns="0" rtlCol="0">
            <a:noAutofit/>
          </a:bodyPr>
          <a:lstStyle/>
          <a:p>
            <a:pPr indent="-154305" algn="just" defTabSz="685800">
              <a:defRPr/>
            </a:pPr>
            <a:r>
              <a:rPr lang="en-US" sz="1600" b="1" dirty="0">
                <a:solidFill>
                  <a:srgbClr val="000000"/>
                </a:solidFill>
                <a:latin typeface="+mj-lt"/>
                <a:ea typeface="Cambria" panose="02040503050406030204" pitchFamily="18" charset="0"/>
                <a:cs typeface="Arial" panose="020B0604020202020204" pitchFamily="34" charset="0"/>
              </a:rPr>
              <a:t>Janasevaka </a:t>
            </a:r>
            <a:r>
              <a:rPr lang="en-US" sz="1600" dirty="0">
                <a:solidFill>
                  <a:srgbClr val="000000"/>
                </a:solidFill>
                <a:latin typeface="+mj-lt"/>
                <a:ea typeface="Cambria" panose="02040503050406030204" pitchFamily="18" charset="0"/>
                <a:cs typeface="Arial" panose="020B0604020202020204" pitchFamily="34" charset="0"/>
              </a:rPr>
              <a:t>– This is a path-breaking citizen centric initiative introduced by the Government of Karnataka involving both receiving of applications and delivery of services at the door-step of citizens. This major reform changes the way citizen service delivery systems work. </a:t>
            </a:r>
          </a:p>
        </p:txBody>
      </p:sp>
      <p:sp>
        <p:nvSpPr>
          <p:cNvPr id="6" name="Title 1">
            <a:extLst>
              <a:ext uri="{FF2B5EF4-FFF2-40B4-BE49-F238E27FC236}">
                <a16:creationId xmlns:a16="http://schemas.microsoft.com/office/drawing/2014/main" id="{703D41DE-A127-46B6-AA09-B8F981DFFF39}"/>
              </a:ext>
            </a:extLst>
          </p:cNvPr>
          <p:cNvSpPr>
            <a:spLocks noGrp="1"/>
          </p:cNvSpPr>
          <p:nvPr>
            <p:ph type="title"/>
          </p:nvPr>
        </p:nvSpPr>
        <p:spPr>
          <a:xfrm>
            <a:off x="289005" y="201057"/>
            <a:ext cx="3851031" cy="653102"/>
          </a:xfrm>
          <a:noFill/>
        </p:spPr>
        <p:txBody>
          <a:bodyPr>
            <a:noAutofit/>
          </a:bodyPr>
          <a:lstStyle/>
          <a:p>
            <a:r>
              <a:rPr lang="en-IN" sz="2100" dirty="0">
                <a:solidFill>
                  <a:srgbClr val="7A1818"/>
                </a:solidFill>
              </a:rPr>
              <a:t>Janasevaka</a:t>
            </a:r>
          </a:p>
        </p:txBody>
      </p:sp>
      <p:sp>
        <p:nvSpPr>
          <p:cNvPr id="7" name="TextBox 6">
            <a:extLst>
              <a:ext uri="{FF2B5EF4-FFF2-40B4-BE49-F238E27FC236}">
                <a16:creationId xmlns:a16="http://schemas.microsoft.com/office/drawing/2014/main" id="{48774CEC-1CB8-4BE5-9DE4-C6209EACF7B6}"/>
              </a:ext>
            </a:extLst>
          </p:cNvPr>
          <p:cNvSpPr txBox="1"/>
          <p:nvPr/>
        </p:nvSpPr>
        <p:spPr>
          <a:xfrm>
            <a:off x="217489" y="2265592"/>
            <a:ext cx="4283439" cy="3958776"/>
          </a:xfrm>
          <a:prstGeom prst="rect">
            <a:avLst/>
          </a:prstGeom>
          <a:noFill/>
          <a:ln>
            <a:noFill/>
          </a:ln>
        </p:spPr>
        <p:txBody>
          <a:bodyPr wrap="square" lIns="0" tIns="0" rIns="0" bIns="0" rtlCol="0">
            <a:spAutoFit/>
          </a:bodyPr>
          <a:lstStyle/>
          <a:p>
            <a:pPr defTabSz="685800">
              <a:lnSpc>
                <a:spcPct val="150000"/>
              </a:lnSpc>
              <a:defRPr/>
            </a:pPr>
            <a:r>
              <a:rPr lang="en-IN" sz="1350" b="1" u="sng" dirty="0">
                <a:solidFill>
                  <a:prstClr val="black"/>
                </a:solidFill>
                <a:latin typeface="+mj-lt"/>
                <a:ea typeface="Cambria" panose="02040503050406030204" pitchFamily="18" charset="0"/>
                <a:cs typeface="Arial" panose="020B0604020202020204" pitchFamily="34" charset="0"/>
              </a:rPr>
              <a:t>Janasevaka Timeline</a:t>
            </a:r>
            <a:r>
              <a:rPr lang="en-IN" sz="1350" b="1" dirty="0">
                <a:solidFill>
                  <a:prstClr val="black"/>
                </a:solidFill>
                <a:latin typeface="+mj-lt"/>
                <a:ea typeface="Cambria" panose="02040503050406030204" pitchFamily="18" charset="0"/>
                <a:cs typeface="Arial" panose="020B0604020202020204" pitchFamily="34" charset="0"/>
              </a:rPr>
              <a:t>:</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Pilot Launch Date:  </a:t>
            </a:r>
            <a:r>
              <a:rPr lang="en-IN" sz="1400" dirty="0">
                <a:solidFill>
                  <a:prstClr val="black"/>
                </a:solidFill>
                <a:latin typeface="+mj-lt"/>
                <a:ea typeface="Cambria" panose="02040503050406030204" pitchFamily="18" charset="0"/>
                <a:cs typeface="Arial" panose="020B0604020202020204" pitchFamily="34" charset="0"/>
              </a:rPr>
              <a:t>March 2, 2019 </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Constituency: </a:t>
            </a:r>
            <a:r>
              <a:rPr lang="en-IN" sz="1400" dirty="0">
                <a:solidFill>
                  <a:prstClr val="black"/>
                </a:solidFill>
                <a:latin typeface="+mj-lt"/>
                <a:ea typeface="Cambria" panose="02040503050406030204" pitchFamily="18" charset="0"/>
                <a:cs typeface="Arial" panose="020B0604020202020204" pitchFamily="34" charset="0"/>
              </a:rPr>
              <a:t>T. Dasarahalli</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Pilot Expansion Date: </a:t>
            </a:r>
            <a:r>
              <a:rPr lang="en-IN" sz="1400" dirty="0">
                <a:solidFill>
                  <a:prstClr val="black"/>
                </a:solidFill>
                <a:latin typeface="+mj-lt"/>
                <a:ea typeface="Cambria" panose="02040503050406030204" pitchFamily="18" charset="0"/>
                <a:cs typeface="Arial" panose="020B0604020202020204" pitchFamily="34" charset="0"/>
              </a:rPr>
              <a:t>February 4, 2020 </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Constituencies Added: </a:t>
            </a:r>
            <a:r>
              <a:rPr lang="en-IN" sz="1400" dirty="0">
                <a:solidFill>
                  <a:prstClr val="black"/>
                </a:solidFill>
                <a:latin typeface="+mj-lt"/>
                <a:ea typeface="Cambria" panose="02040503050406030204" pitchFamily="18" charset="0"/>
                <a:cs typeface="Arial" panose="020B0604020202020204" pitchFamily="34" charset="0"/>
              </a:rPr>
              <a:t>Rajajinagar, Bommanahalli and Mahadevapura</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Next Pilot Expansion: </a:t>
            </a:r>
            <a:r>
              <a:rPr lang="en-IN" sz="1400" dirty="0">
                <a:solidFill>
                  <a:prstClr val="black"/>
                </a:solidFill>
                <a:latin typeface="+mj-lt"/>
                <a:ea typeface="Cambria" panose="02040503050406030204" pitchFamily="18" charset="0"/>
                <a:cs typeface="Arial" panose="020B0604020202020204" pitchFamily="34" charset="0"/>
              </a:rPr>
              <a:t>January 18, 2021</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Constituency Added: </a:t>
            </a:r>
            <a:r>
              <a:rPr lang="en-IN" sz="1400" dirty="0">
                <a:solidFill>
                  <a:prstClr val="black"/>
                </a:solidFill>
                <a:latin typeface="+mj-lt"/>
                <a:ea typeface="Cambria" panose="02040503050406030204" pitchFamily="18" charset="0"/>
                <a:cs typeface="Arial" panose="020B0604020202020204" pitchFamily="34" charset="0"/>
              </a:rPr>
              <a:t>Yeshwanthpur</a:t>
            </a:r>
            <a:r>
              <a:rPr lang="en-IN" sz="1400" b="1" dirty="0">
                <a:solidFill>
                  <a:prstClr val="black"/>
                </a:solidFill>
                <a:latin typeface="+mj-lt"/>
                <a:ea typeface="Cambria" panose="02040503050406030204" pitchFamily="18" charset="0"/>
                <a:cs typeface="Arial" panose="020B0604020202020204" pitchFamily="34" charset="0"/>
              </a:rPr>
              <a:t> </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No. of Services: </a:t>
            </a:r>
            <a:r>
              <a:rPr lang="en-IN" sz="1400" dirty="0">
                <a:solidFill>
                  <a:prstClr val="black"/>
                </a:solidFill>
                <a:latin typeface="+mj-lt"/>
                <a:ea typeface="Cambria" panose="02040503050406030204" pitchFamily="18" charset="0"/>
                <a:cs typeface="Arial" panose="020B0604020202020204" pitchFamily="34" charset="0"/>
              </a:rPr>
              <a:t>79 services </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Expansion in Bengaluru Urban: </a:t>
            </a:r>
            <a:r>
              <a:rPr lang="en-IN" sz="1400" dirty="0">
                <a:solidFill>
                  <a:prstClr val="black"/>
                </a:solidFill>
                <a:latin typeface="+mj-lt"/>
                <a:ea typeface="Cambria" panose="02040503050406030204" pitchFamily="18" charset="0"/>
                <a:cs typeface="Arial" panose="020B0604020202020204" pitchFamily="34" charset="0"/>
              </a:rPr>
              <a:t>November 1, 2021</a:t>
            </a:r>
          </a:p>
          <a:p>
            <a:pPr marL="285750" indent="-285750"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No of Applications: </a:t>
            </a:r>
            <a:r>
              <a:rPr lang="en-US" sz="1400" b="1" dirty="0">
                <a:solidFill>
                  <a:prstClr val="black"/>
                </a:solidFill>
                <a:ea typeface="Cambria" pitchFamily="18" charset="0"/>
                <a:cs typeface="Calibri" panose="020F0502020204030204" pitchFamily="34" charset="0"/>
              </a:rPr>
              <a:t>270000+</a:t>
            </a:r>
            <a:endParaRPr lang="en-IN" sz="1400" dirty="0">
              <a:solidFill>
                <a:prstClr val="black"/>
              </a:solidFill>
              <a:latin typeface="+mj-lt"/>
              <a:ea typeface="Cambria" panose="02040503050406030204" pitchFamily="18" charset="0"/>
              <a:cs typeface="Arial" panose="020B0604020202020204" pitchFamily="34" charset="0"/>
            </a:endParaRPr>
          </a:p>
        </p:txBody>
      </p:sp>
      <p:sp>
        <p:nvSpPr>
          <p:cNvPr id="8" name="TextBox 7">
            <a:extLst>
              <a:ext uri="{FF2B5EF4-FFF2-40B4-BE49-F238E27FC236}">
                <a16:creationId xmlns:a16="http://schemas.microsoft.com/office/drawing/2014/main" id="{1B41D8F3-A3C7-4F9F-9B5F-1C6762308307}"/>
              </a:ext>
            </a:extLst>
          </p:cNvPr>
          <p:cNvSpPr txBox="1"/>
          <p:nvPr/>
        </p:nvSpPr>
        <p:spPr>
          <a:xfrm>
            <a:off x="5026804" y="2265592"/>
            <a:ext cx="4002832" cy="3938771"/>
          </a:xfrm>
          <a:prstGeom prst="rect">
            <a:avLst/>
          </a:prstGeom>
          <a:noFill/>
        </p:spPr>
        <p:txBody>
          <a:bodyPr wrap="square" rtlCol="0">
            <a:spAutoFit/>
          </a:bodyPr>
          <a:lstStyle/>
          <a:p>
            <a:pPr defTabSz="685800">
              <a:spcAft>
                <a:spcPts val="900"/>
              </a:spcAft>
              <a:defRPr/>
            </a:pPr>
            <a:r>
              <a:rPr lang="en-IN" sz="1400" b="1" u="sng" dirty="0">
                <a:solidFill>
                  <a:prstClr val="black"/>
                </a:solidFill>
                <a:latin typeface="+mj-lt"/>
                <a:ea typeface="Cambria" panose="02040503050406030204" pitchFamily="18" charset="0"/>
                <a:cs typeface="Arial" panose="020B0604020202020204" pitchFamily="34" charset="0"/>
              </a:rPr>
              <a:t>Benefits</a:t>
            </a:r>
            <a:r>
              <a:rPr lang="en-IN" sz="1400" b="1" dirty="0">
                <a:solidFill>
                  <a:prstClr val="black"/>
                </a:solidFill>
                <a:latin typeface="+mj-lt"/>
                <a:ea typeface="Cambria" panose="02040503050406030204" pitchFamily="18" charset="0"/>
                <a:cs typeface="Arial" panose="020B0604020202020204" pitchFamily="34" charset="0"/>
              </a:rPr>
              <a:t>:</a:t>
            </a:r>
          </a:p>
          <a:p>
            <a:pPr marL="214313" indent="-214313"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Time saving </a:t>
            </a:r>
            <a:r>
              <a:rPr lang="en-IN" sz="1400" dirty="0">
                <a:solidFill>
                  <a:prstClr val="black"/>
                </a:solidFill>
                <a:latin typeface="+mj-lt"/>
                <a:ea typeface="Cambria" panose="02040503050406030204" pitchFamily="18" charset="0"/>
                <a:cs typeface="Arial" panose="020B0604020202020204" pitchFamily="34" charset="0"/>
              </a:rPr>
              <a:t>as citizens do not need to wait in queue to avail services</a:t>
            </a:r>
          </a:p>
          <a:p>
            <a:pPr marL="214313" indent="-214313" defTabSz="685800">
              <a:lnSpc>
                <a:spcPct val="150000"/>
              </a:lnSpc>
              <a:buFont typeface="Arial" panose="020B0604020202020204" pitchFamily="34" charset="0"/>
              <a:buChar char="•"/>
              <a:defRPr/>
            </a:pPr>
            <a:r>
              <a:rPr lang="en-IN" sz="1400" b="1" dirty="0">
                <a:solidFill>
                  <a:prstClr val="black"/>
                </a:solidFill>
                <a:latin typeface="+mj-lt"/>
                <a:ea typeface="Cambria" panose="02040503050406030204" pitchFamily="18" charset="0"/>
                <a:cs typeface="Arial" panose="020B0604020202020204" pitchFamily="34" charset="0"/>
              </a:rPr>
              <a:t>Cost saving </a:t>
            </a:r>
            <a:r>
              <a:rPr lang="en-IN" sz="1400" dirty="0">
                <a:solidFill>
                  <a:prstClr val="black"/>
                </a:solidFill>
                <a:latin typeface="+mj-lt"/>
                <a:ea typeface="Cambria" panose="02040503050406030204" pitchFamily="18" charset="0"/>
                <a:cs typeface="Arial" panose="020B0604020202020204" pitchFamily="34" charset="0"/>
              </a:rPr>
              <a:t>as citizens do not need to travel to government offices or citizen service centers to avail these services</a:t>
            </a:r>
          </a:p>
          <a:p>
            <a:pPr marL="214313" indent="-214313" defTabSz="685800">
              <a:lnSpc>
                <a:spcPct val="150000"/>
              </a:lnSpc>
              <a:buFont typeface="Arial" panose="020B0604020202020204" pitchFamily="34" charset="0"/>
              <a:buChar char="•"/>
              <a:defRPr/>
            </a:pPr>
            <a:r>
              <a:rPr lang="en-IN" sz="1400" dirty="0">
                <a:solidFill>
                  <a:prstClr val="black"/>
                </a:solidFill>
                <a:latin typeface="+mj-lt"/>
                <a:ea typeface="Cambria" panose="02040503050406030204" pitchFamily="18" charset="0"/>
                <a:cs typeface="Arial" panose="020B0604020202020204" pitchFamily="34" charset="0"/>
              </a:rPr>
              <a:t>No more dependency on middlemen</a:t>
            </a:r>
          </a:p>
          <a:p>
            <a:pPr marL="214313" indent="-214313" defTabSz="685800">
              <a:lnSpc>
                <a:spcPct val="150000"/>
              </a:lnSpc>
              <a:buFont typeface="Arial" panose="020B0604020202020204" pitchFamily="34" charset="0"/>
              <a:buChar char="•"/>
              <a:defRPr/>
            </a:pPr>
            <a:r>
              <a:rPr lang="en-IN" sz="1400" dirty="0">
                <a:solidFill>
                  <a:prstClr val="black"/>
                </a:solidFill>
                <a:latin typeface="+mj-lt"/>
                <a:ea typeface="Cambria" panose="02040503050406030204" pitchFamily="18" charset="0"/>
                <a:cs typeface="Arial" panose="020B0604020202020204" pitchFamily="34" charset="0"/>
              </a:rPr>
              <a:t>Janasevaka visit can be booked anytime between 8AM to 8PM at the </a:t>
            </a:r>
            <a:r>
              <a:rPr lang="en-IN" sz="1400" b="1" dirty="0">
                <a:solidFill>
                  <a:prstClr val="black"/>
                </a:solidFill>
                <a:latin typeface="+mj-lt"/>
                <a:ea typeface="Cambria" panose="02040503050406030204" pitchFamily="18" charset="0"/>
                <a:cs typeface="Arial" panose="020B0604020202020204" pitchFamily="34" charset="0"/>
              </a:rPr>
              <a:t>convenience</a:t>
            </a:r>
            <a:r>
              <a:rPr lang="en-IN" sz="1400" dirty="0">
                <a:solidFill>
                  <a:prstClr val="black"/>
                </a:solidFill>
                <a:latin typeface="+mj-lt"/>
                <a:ea typeface="Cambria" panose="02040503050406030204" pitchFamily="18" charset="0"/>
                <a:cs typeface="Arial" panose="020B0604020202020204" pitchFamily="34" charset="0"/>
              </a:rPr>
              <a:t> of the citizens</a:t>
            </a:r>
          </a:p>
          <a:p>
            <a:pPr marL="214313" indent="-214313" defTabSz="685800">
              <a:lnSpc>
                <a:spcPct val="150000"/>
              </a:lnSpc>
              <a:buFont typeface="Arial" panose="020B0604020202020204" pitchFamily="34" charset="0"/>
              <a:buChar char="•"/>
              <a:defRPr/>
            </a:pPr>
            <a:r>
              <a:rPr lang="en-IN" sz="1400" dirty="0">
                <a:solidFill>
                  <a:prstClr val="black"/>
                </a:solidFill>
                <a:latin typeface="+mj-lt"/>
                <a:ea typeface="Cambria" panose="02040503050406030204" pitchFamily="18" charset="0"/>
                <a:cs typeface="Arial" panose="020B0604020202020204" pitchFamily="34" charset="0"/>
              </a:rPr>
              <a:t>Convenience to senior citizens and physically challenged citizens </a:t>
            </a:r>
          </a:p>
        </p:txBody>
      </p:sp>
      <p:pic>
        <p:nvPicPr>
          <p:cNvPr id="9" name="Picture 8">
            <a:extLst>
              <a:ext uri="{FF2B5EF4-FFF2-40B4-BE49-F238E27FC236}">
                <a16:creationId xmlns:a16="http://schemas.microsoft.com/office/drawing/2014/main" id="{65973BC7-289F-4F78-9C45-2D47B8970889}"/>
              </a:ext>
            </a:extLst>
          </p:cNvPr>
          <p:cNvPicPr/>
          <p:nvPr/>
        </p:nvPicPr>
        <p:blipFill>
          <a:blip r:embed="rId2" cstate="print"/>
          <a:stretch>
            <a:fillRect/>
          </a:stretch>
        </p:blipFill>
        <p:spPr>
          <a:xfrm>
            <a:off x="7391400" y="228600"/>
            <a:ext cx="543837" cy="475820"/>
          </a:xfrm>
          <a:prstGeom prst="rect">
            <a:avLst/>
          </a:prstGeom>
        </p:spPr>
      </p:pic>
      <p:sp>
        <p:nvSpPr>
          <p:cNvPr id="10" name="Rounded Rectangle 2">
            <a:extLst>
              <a:ext uri="{FF2B5EF4-FFF2-40B4-BE49-F238E27FC236}">
                <a16:creationId xmlns:a16="http://schemas.microsoft.com/office/drawing/2014/main" id="{4336E217-ABE8-4BD0-AC01-7B6A0F90341A}"/>
              </a:ext>
            </a:extLst>
          </p:cNvPr>
          <p:cNvSpPr/>
          <p:nvPr/>
        </p:nvSpPr>
        <p:spPr bwMode="ltGray">
          <a:xfrm>
            <a:off x="152400" y="544668"/>
            <a:ext cx="8413590" cy="1712318"/>
          </a:xfrm>
          <a:prstGeom prst="roundRect">
            <a:avLst/>
          </a:prstGeom>
          <a:noFill/>
          <a:ln>
            <a:noFill/>
          </a:ln>
        </p:spPr>
        <p:style>
          <a:lnRef idx="2">
            <a:schemeClr val="accent3"/>
          </a:lnRef>
          <a:fillRef idx="1">
            <a:schemeClr val="lt1"/>
          </a:fillRef>
          <a:effectRef idx="0">
            <a:schemeClr val="accent3"/>
          </a:effectRef>
          <a:fontRef idx="minor">
            <a:schemeClr val="dk1"/>
          </a:fontRef>
        </p:style>
        <p:txBody>
          <a:bodyPr rtlCol="0" anchor="t" anchorCtr="0"/>
          <a:lstStyle/>
          <a:p>
            <a:pPr marL="214313" indent="-214313" algn="just">
              <a:buFont typeface="Arial" panose="020B0604020202020204" pitchFamily="34" charset="0"/>
              <a:buChar char="•"/>
            </a:pPr>
            <a:endParaRPr lang="en-US" sz="1600" dirty="0">
              <a:solidFill>
                <a:schemeClr val="bg1"/>
              </a:solidFill>
              <a:latin typeface="+mj-lt"/>
            </a:endParaRPr>
          </a:p>
        </p:txBody>
      </p:sp>
      <p:sp>
        <p:nvSpPr>
          <p:cNvPr id="2" name="Rectangle: Rounded Corners 1">
            <a:extLst>
              <a:ext uri="{FF2B5EF4-FFF2-40B4-BE49-F238E27FC236}">
                <a16:creationId xmlns:a16="http://schemas.microsoft.com/office/drawing/2014/main" id="{50C32C08-F19B-44C6-9362-0557315DA836}"/>
              </a:ext>
            </a:extLst>
          </p:cNvPr>
          <p:cNvSpPr/>
          <p:nvPr/>
        </p:nvSpPr>
        <p:spPr bwMode="ltGray">
          <a:xfrm>
            <a:off x="114363" y="713026"/>
            <a:ext cx="8915273" cy="1107617"/>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bg1"/>
              </a:solidFill>
              <a:latin typeface="Georgia" pitchFamily="18" charset="0"/>
            </a:endParaRPr>
          </a:p>
        </p:txBody>
      </p:sp>
      <p:cxnSp>
        <p:nvCxnSpPr>
          <p:cNvPr id="11" name="Straight Connector 10">
            <a:extLst>
              <a:ext uri="{FF2B5EF4-FFF2-40B4-BE49-F238E27FC236}">
                <a16:creationId xmlns:a16="http://schemas.microsoft.com/office/drawing/2014/main" id="{C8512834-83CF-45BE-93D1-0C34495F2DA2}"/>
              </a:ext>
            </a:extLst>
          </p:cNvPr>
          <p:cNvCxnSpPr>
            <a:cxnSpLocks/>
          </p:cNvCxnSpPr>
          <p:nvPr/>
        </p:nvCxnSpPr>
        <p:spPr>
          <a:xfrm>
            <a:off x="4724400" y="1969827"/>
            <a:ext cx="0" cy="4735773"/>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88877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3"/>
          <p:cNvPicPr/>
          <p:nvPr/>
        </p:nvPicPr>
        <p:blipFill>
          <a:blip r:embed="rId2" cstate="print"/>
          <a:stretch>
            <a:fillRect/>
          </a:stretch>
        </p:blipFill>
        <p:spPr>
          <a:xfrm>
            <a:off x="190500" y="533400"/>
            <a:ext cx="8763000" cy="5486400"/>
          </a:xfrm>
          <a:prstGeom prst="rect">
            <a:avLst/>
          </a:prstGeom>
        </p:spPr>
      </p:pic>
    </p:spTree>
    <p:extLst>
      <p:ext uri="{BB962C8B-B14F-4D97-AF65-F5344CB8AC3E}">
        <p14:creationId xmlns:p14="http://schemas.microsoft.com/office/powerpoint/2010/main" val="3815440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8C7F1D5-2EB1-492B-9586-DBC301852D3D}"/>
              </a:ext>
            </a:extLst>
          </p:cNvPr>
          <p:cNvPicPr/>
          <p:nvPr/>
        </p:nvPicPr>
        <p:blipFill>
          <a:blip r:embed="rId2" cstate="print"/>
          <a:stretch>
            <a:fillRect/>
          </a:stretch>
        </p:blipFill>
        <p:spPr>
          <a:xfrm>
            <a:off x="8225565" y="209980"/>
            <a:ext cx="543837" cy="475820"/>
          </a:xfrm>
          <a:prstGeom prst="rect">
            <a:avLst/>
          </a:prstGeom>
        </p:spPr>
      </p:pic>
      <p:pic>
        <p:nvPicPr>
          <p:cNvPr id="5" name="Picture 4" descr="A group of people sitting in a room&#10;&#10;Description automatically generated with medium confidence">
            <a:extLst>
              <a:ext uri="{FF2B5EF4-FFF2-40B4-BE49-F238E27FC236}">
                <a16:creationId xmlns:a16="http://schemas.microsoft.com/office/drawing/2014/main" id="{2E6D470C-BB2F-4CBE-BAC1-E0DBB55ABE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225" y="4369348"/>
            <a:ext cx="4310550" cy="2521634"/>
          </a:xfrm>
          <a:prstGeom prst="rect">
            <a:avLst/>
          </a:prstGeom>
        </p:spPr>
      </p:pic>
      <p:pic>
        <p:nvPicPr>
          <p:cNvPr id="1027" name="Picture 3"/>
          <p:cNvPicPr>
            <a:picLocks noChangeAspect="1" noChangeArrowheads="1"/>
          </p:cNvPicPr>
          <p:nvPr/>
        </p:nvPicPr>
        <p:blipFill>
          <a:blip r:embed="rId4" cstate="print"/>
          <a:srcRect/>
          <a:stretch>
            <a:fillRect/>
          </a:stretch>
        </p:blipFill>
        <p:spPr bwMode="auto">
          <a:xfrm>
            <a:off x="4572000" y="4357694"/>
            <a:ext cx="4429156" cy="2500306"/>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cstate="print"/>
          <a:srcRect/>
          <a:stretch>
            <a:fillRect/>
          </a:stretch>
        </p:blipFill>
        <p:spPr bwMode="auto">
          <a:xfrm>
            <a:off x="357158" y="428604"/>
            <a:ext cx="8643998" cy="3775836"/>
          </a:xfrm>
          <a:prstGeom prst="rect">
            <a:avLst/>
          </a:prstGeom>
          <a:noFill/>
          <a:ln w="9525">
            <a:noFill/>
            <a:miter lim="800000"/>
            <a:headEnd/>
            <a:tailEnd/>
          </a:ln>
          <a:effectLst/>
        </p:spPr>
      </p:pic>
    </p:spTree>
    <p:extLst>
      <p:ext uri="{BB962C8B-B14F-4D97-AF65-F5344CB8AC3E}">
        <p14:creationId xmlns:p14="http://schemas.microsoft.com/office/powerpoint/2010/main" val="1161206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picture containing text, person&#10;&#10;Description automatically generated">
            <a:extLst>
              <a:ext uri="{FF2B5EF4-FFF2-40B4-BE49-F238E27FC236}">
                <a16:creationId xmlns:a16="http://schemas.microsoft.com/office/drawing/2014/main" id="{95C92F87-ABDC-4981-B94B-40880943ADC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661"/>
          <a:stretch/>
        </p:blipFill>
        <p:spPr>
          <a:xfrm>
            <a:off x="3125288" y="1033599"/>
            <a:ext cx="2730389" cy="2341517"/>
          </a:xfrm>
          <a:prstGeom prst="rect">
            <a:avLst/>
          </a:prstGeom>
        </p:spPr>
      </p:pic>
      <p:pic>
        <p:nvPicPr>
          <p:cNvPr id="8" name="Picture 7" descr="WhatsApp Image 2022-03-02 at 17.05.04.jpeg"/>
          <p:cNvPicPr>
            <a:picLocks noChangeAspect="1"/>
          </p:cNvPicPr>
          <p:nvPr/>
        </p:nvPicPr>
        <p:blipFill>
          <a:blip r:embed="rId3" cstate="print"/>
          <a:stretch>
            <a:fillRect/>
          </a:stretch>
        </p:blipFill>
        <p:spPr>
          <a:xfrm>
            <a:off x="156755" y="974816"/>
            <a:ext cx="2811779" cy="2480391"/>
          </a:xfrm>
          <a:prstGeom prst="rect">
            <a:avLst/>
          </a:prstGeom>
        </p:spPr>
      </p:pic>
      <p:pic>
        <p:nvPicPr>
          <p:cNvPr id="10" name="Picture 9" descr="WhatsApp Image 2022-03-02 at 17.05.08.jpeg"/>
          <p:cNvPicPr>
            <a:picLocks noChangeAspect="1"/>
          </p:cNvPicPr>
          <p:nvPr/>
        </p:nvPicPr>
        <p:blipFill>
          <a:blip r:embed="rId4" cstate="print"/>
          <a:stretch>
            <a:fillRect/>
          </a:stretch>
        </p:blipFill>
        <p:spPr>
          <a:xfrm>
            <a:off x="6081984" y="857250"/>
            <a:ext cx="2715851" cy="2521634"/>
          </a:xfrm>
          <a:prstGeom prst="rect">
            <a:avLst/>
          </a:prstGeom>
        </p:spPr>
      </p:pic>
      <p:pic>
        <p:nvPicPr>
          <p:cNvPr id="11" name="Picture 10" descr="WhatsApp Image 2022-03-02 at 17.05.05.jpeg"/>
          <p:cNvPicPr>
            <a:picLocks noChangeAspect="1"/>
          </p:cNvPicPr>
          <p:nvPr/>
        </p:nvPicPr>
        <p:blipFill>
          <a:blip r:embed="rId5" cstate="print"/>
          <a:stretch>
            <a:fillRect/>
          </a:stretch>
        </p:blipFill>
        <p:spPr>
          <a:xfrm>
            <a:off x="177321" y="3561261"/>
            <a:ext cx="2784838" cy="2439489"/>
          </a:xfrm>
          <a:prstGeom prst="rect">
            <a:avLst/>
          </a:prstGeom>
        </p:spPr>
      </p:pic>
      <p:pic>
        <p:nvPicPr>
          <p:cNvPr id="12" name="Picture 11" descr="WhatsApp Image 2022-03-02 at 17.05.07.jpeg"/>
          <p:cNvPicPr>
            <a:picLocks noChangeAspect="1"/>
          </p:cNvPicPr>
          <p:nvPr/>
        </p:nvPicPr>
        <p:blipFill>
          <a:blip r:embed="rId6" cstate="print"/>
          <a:stretch>
            <a:fillRect/>
          </a:stretch>
        </p:blipFill>
        <p:spPr>
          <a:xfrm>
            <a:off x="6270927" y="3653203"/>
            <a:ext cx="2635431" cy="2347547"/>
          </a:xfrm>
          <a:prstGeom prst="rect">
            <a:avLst/>
          </a:prstGeom>
        </p:spPr>
      </p:pic>
      <p:pic>
        <p:nvPicPr>
          <p:cNvPr id="7" name="Picture 6" descr="WhatsApp Image 2022-03-02 at 17.04.25.jpeg"/>
          <p:cNvPicPr>
            <a:picLocks noChangeAspect="1"/>
          </p:cNvPicPr>
          <p:nvPr/>
        </p:nvPicPr>
        <p:blipFill>
          <a:blip r:embed="rId7" cstate="print"/>
          <a:stretch>
            <a:fillRect/>
          </a:stretch>
        </p:blipFill>
        <p:spPr>
          <a:xfrm>
            <a:off x="3104289" y="3547696"/>
            <a:ext cx="2963929" cy="2453054"/>
          </a:xfrm>
          <a:prstGeom prst="rect">
            <a:avLst/>
          </a:prstGeom>
        </p:spPr>
      </p:pic>
      <p:pic>
        <p:nvPicPr>
          <p:cNvPr id="9" name="Picture 8">
            <a:extLst>
              <a:ext uri="{FF2B5EF4-FFF2-40B4-BE49-F238E27FC236}">
                <a16:creationId xmlns:a16="http://schemas.microsoft.com/office/drawing/2014/main" id="{B8C7F1D5-2EB1-492B-9586-DBC301852D3D}"/>
              </a:ext>
            </a:extLst>
          </p:cNvPr>
          <p:cNvPicPr/>
          <p:nvPr/>
        </p:nvPicPr>
        <p:blipFill>
          <a:blip r:embed="rId8" cstate="print"/>
          <a:stretch>
            <a:fillRect/>
          </a:stretch>
        </p:blipFill>
        <p:spPr>
          <a:xfrm>
            <a:off x="8225565" y="209980"/>
            <a:ext cx="543837" cy="475820"/>
          </a:xfrm>
          <a:prstGeom prst="rect">
            <a:avLst/>
          </a:prstGeom>
        </p:spPr>
      </p:pic>
    </p:spTree>
    <p:extLst>
      <p:ext uri="{BB962C8B-B14F-4D97-AF65-F5344CB8AC3E}">
        <p14:creationId xmlns:p14="http://schemas.microsoft.com/office/powerpoint/2010/main" val="2577283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uple of men posing for the camera&#10;&#10;Description automatically generated with medium confidence">
            <a:extLst>
              <a:ext uri="{FF2B5EF4-FFF2-40B4-BE49-F238E27FC236}">
                <a16:creationId xmlns:a16="http://schemas.microsoft.com/office/drawing/2014/main" id="{997E9AC9-D3BE-4D24-9B2D-1DACAC650AC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2925"/>
          <a:stretch/>
        </p:blipFill>
        <p:spPr>
          <a:xfrm>
            <a:off x="0" y="0"/>
            <a:ext cx="4572000" cy="3328694"/>
          </a:xfrm>
          <a:prstGeom prst="rect">
            <a:avLst/>
          </a:prstGeom>
        </p:spPr>
      </p:pic>
      <p:pic>
        <p:nvPicPr>
          <p:cNvPr id="15" name="Picture 14" descr="A person and person wearing masks&#10;&#10;Description automatically generated with low confidence">
            <a:extLst>
              <a:ext uri="{FF2B5EF4-FFF2-40B4-BE49-F238E27FC236}">
                <a16:creationId xmlns:a16="http://schemas.microsoft.com/office/drawing/2014/main" id="{B2B939E4-CBA8-4AF7-BB9A-BCB7004A79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429000"/>
            <a:ext cx="4572000" cy="3429000"/>
          </a:xfrm>
          <a:prstGeom prst="rect">
            <a:avLst/>
          </a:prstGeom>
        </p:spPr>
      </p:pic>
      <p:pic>
        <p:nvPicPr>
          <p:cNvPr id="17" name="Picture 16" descr="A picture containing text, indoor&#10;&#10;Description automatically generated">
            <a:extLst>
              <a:ext uri="{FF2B5EF4-FFF2-40B4-BE49-F238E27FC236}">
                <a16:creationId xmlns:a16="http://schemas.microsoft.com/office/drawing/2014/main" id="{128B86D9-5E75-41AB-B5CF-E05C2D45C90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219" r="6045" b="-654"/>
          <a:stretch/>
        </p:blipFill>
        <p:spPr>
          <a:xfrm>
            <a:off x="6907136" y="2799184"/>
            <a:ext cx="2162223" cy="4068148"/>
          </a:xfrm>
          <a:prstGeom prst="rect">
            <a:avLst/>
          </a:prstGeom>
        </p:spPr>
      </p:pic>
      <p:pic>
        <p:nvPicPr>
          <p:cNvPr id="19" name="Picture 18" descr="Two people sitting at a table with computers&#10;&#10;Description automatically generated with low confidence">
            <a:extLst>
              <a:ext uri="{FF2B5EF4-FFF2-40B4-BE49-F238E27FC236}">
                <a16:creationId xmlns:a16="http://schemas.microsoft.com/office/drawing/2014/main" id="{81875DD0-FFBD-4847-9B8F-F3722F69066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323" t="24946" r="7922" b="17103"/>
          <a:stretch/>
        </p:blipFill>
        <p:spPr>
          <a:xfrm>
            <a:off x="4625651" y="235625"/>
            <a:ext cx="2218500" cy="2481943"/>
          </a:xfrm>
          <a:prstGeom prst="rect">
            <a:avLst/>
          </a:prstGeom>
        </p:spPr>
      </p:pic>
      <p:pic>
        <p:nvPicPr>
          <p:cNvPr id="21" name="Picture 20" descr="A picture containing text, person&#10;&#10;Description automatically generated">
            <a:extLst>
              <a:ext uri="{FF2B5EF4-FFF2-40B4-BE49-F238E27FC236}">
                <a16:creationId xmlns:a16="http://schemas.microsoft.com/office/drawing/2014/main" id="{95C92F87-ABDC-4981-B94B-40880943ADC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661"/>
          <a:stretch/>
        </p:blipFill>
        <p:spPr>
          <a:xfrm>
            <a:off x="4625651" y="2799184"/>
            <a:ext cx="2218500" cy="4051820"/>
          </a:xfrm>
          <a:prstGeom prst="rect">
            <a:avLst/>
          </a:prstGeom>
        </p:spPr>
      </p:pic>
      <p:pic>
        <p:nvPicPr>
          <p:cNvPr id="23" name="Picture 22" descr="A person sitting on a couch&#10;&#10;Description automatically generated with medium confidence">
            <a:extLst>
              <a:ext uri="{FF2B5EF4-FFF2-40B4-BE49-F238E27FC236}">
                <a16:creationId xmlns:a16="http://schemas.microsoft.com/office/drawing/2014/main" id="{3D853386-4095-4BAE-BF88-236065C02E2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2618" t="8670" r="17450"/>
          <a:stretch/>
        </p:blipFill>
        <p:spPr>
          <a:xfrm>
            <a:off x="6897801" y="235599"/>
            <a:ext cx="2171558" cy="2481944"/>
          </a:xfrm>
          <a:prstGeom prst="rect">
            <a:avLst/>
          </a:prstGeom>
        </p:spPr>
      </p:pic>
    </p:spTree>
    <p:extLst>
      <p:ext uri="{BB962C8B-B14F-4D97-AF65-F5344CB8AC3E}">
        <p14:creationId xmlns:p14="http://schemas.microsoft.com/office/powerpoint/2010/main" val="3300913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9EBD5762-3BDC-484D-9503-7EA6D5A9A8CE}" type="slidenum">
              <a:rPr lang="en-US" smtClean="0"/>
              <a:pPr/>
              <a:t>28</a:t>
            </a:fld>
            <a:endParaRPr lang="en-US" dirty="0"/>
          </a:p>
        </p:txBody>
      </p:sp>
      <p:sp>
        <p:nvSpPr>
          <p:cNvPr id="5" name="Title 1"/>
          <p:cNvSpPr txBox="1">
            <a:spLocks/>
          </p:cNvSpPr>
          <p:nvPr/>
        </p:nvSpPr>
        <p:spPr>
          <a:xfrm>
            <a:off x="500034" y="500042"/>
            <a:ext cx="3214710" cy="642942"/>
          </a:xfrm>
          <a:prstGeom prst="rect">
            <a:avLst/>
          </a:prstGeom>
        </p:spPr>
        <p:txBody>
          <a:bodyPr vert="horz" lIns="0" tIns="0" rIns="0" bIns="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100" b="1" i="1" u="none" strike="noStrike" kern="1200" cap="none" spc="0" normalizeH="0" baseline="0" noProof="0" dirty="0">
                <a:ln>
                  <a:noFill/>
                </a:ln>
                <a:solidFill>
                  <a:srgbClr val="7A1818"/>
                </a:solidFill>
                <a:effectLst/>
                <a:uLnTx/>
                <a:uFillTx/>
                <a:latin typeface="+mj-lt"/>
                <a:ea typeface="+mj-ea"/>
                <a:cs typeface="+mj-cs"/>
              </a:rPr>
              <a:t>Jana</a:t>
            </a:r>
            <a:r>
              <a:rPr lang="en-US" altLang="en-US" sz="2100" b="1" i="1" baseline="0" dirty="0" err="1">
                <a:solidFill>
                  <a:srgbClr val="7A1818"/>
                </a:solidFill>
                <a:latin typeface="+mj-lt"/>
                <a:ea typeface="+mj-ea"/>
                <a:cs typeface="+mj-cs"/>
              </a:rPr>
              <a:t>Sevaka</a:t>
            </a:r>
            <a:r>
              <a:rPr lang="en-US" altLang="en-US" sz="2100" b="1" i="1" dirty="0">
                <a:solidFill>
                  <a:srgbClr val="7A1818"/>
                </a:solidFill>
                <a:latin typeface="+mj-lt"/>
                <a:ea typeface="+mj-ea"/>
                <a:cs typeface="+mj-cs"/>
              </a:rPr>
              <a:t> Video</a:t>
            </a:r>
            <a:endParaRPr kumimoji="0" lang="en-IN" altLang="en-US" sz="2100" b="1" i="1" u="none" strike="noStrike" kern="1200" cap="none" spc="0" normalizeH="0" baseline="0" noProof="0" dirty="0">
              <a:ln>
                <a:noFill/>
              </a:ln>
              <a:solidFill>
                <a:srgbClr val="7A1818"/>
              </a:solidFill>
              <a:effectLst/>
              <a:uLnTx/>
              <a:uFillTx/>
              <a:latin typeface="+mj-lt"/>
              <a:ea typeface="+mj-ea"/>
              <a:cs typeface="+mj-cs"/>
            </a:endParaRPr>
          </a:p>
        </p:txBody>
      </p:sp>
      <p:pic>
        <p:nvPicPr>
          <p:cNvPr id="6" name="1 MIN DOCUMENTARY_ENGLISH.mp4">
            <a:hlinkClick r:id="" action="ppaction://media"/>
          </p:cNvPr>
          <p:cNvPicPr>
            <a:picLocks noGrp="1" noRot="1" noChangeAspect="1"/>
          </p:cNvPicPr>
          <p:nvPr>
            <p:ph idx="1"/>
            <a:videoFile r:link="rId1"/>
          </p:nvPr>
        </p:nvPicPr>
        <p:blipFill>
          <a:blip r:embed="rId3" cstate="print"/>
          <a:stretch>
            <a:fillRect/>
          </a:stretch>
        </p:blipFill>
        <p:spPr>
          <a:xfrm>
            <a:off x="714348" y="1071546"/>
            <a:ext cx="8286808" cy="5072098"/>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370736" y="341156"/>
            <a:ext cx="6134100" cy="55602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a:defRPr/>
            </a:pPr>
            <a:r>
              <a:rPr lang="en-GB" sz="2100" dirty="0">
                <a:solidFill>
                  <a:srgbClr val="7A1818"/>
                </a:solidFill>
              </a:rPr>
              <a:t>Best Practices</a:t>
            </a:r>
          </a:p>
        </p:txBody>
      </p:sp>
      <p:pic>
        <p:nvPicPr>
          <p:cNvPr id="12" name="Picture 11">
            <a:extLst>
              <a:ext uri="{FF2B5EF4-FFF2-40B4-BE49-F238E27FC236}">
                <a16:creationId xmlns:a16="http://schemas.microsoft.com/office/drawing/2014/main" id="{B338A1D6-B5B8-4034-97A1-DEA6F5B995ED}"/>
              </a:ext>
            </a:extLst>
          </p:cNvPr>
          <p:cNvPicPr/>
          <p:nvPr/>
        </p:nvPicPr>
        <p:blipFill>
          <a:blip r:embed="rId3" cstate="print"/>
          <a:stretch>
            <a:fillRect/>
          </a:stretch>
        </p:blipFill>
        <p:spPr>
          <a:xfrm>
            <a:off x="7878056" y="228600"/>
            <a:ext cx="543837" cy="475820"/>
          </a:xfrm>
          <a:prstGeom prst="rect">
            <a:avLst/>
          </a:prstGeom>
        </p:spPr>
      </p:pic>
      <p:sp>
        <p:nvSpPr>
          <p:cNvPr id="6" name="TextBox 5">
            <a:extLst>
              <a:ext uri="{FF2B5EF4-FFF2-40B4-BE49-F238E27FC236}">
                <a16:creationId xmlns:a16="http://schemas.microsoft.com/office/drawing/2014/main" id="{E8FD8894-5A07-4128-A1DF-12FB31F750B0}"/>
              </a:ext>
            </a:extLst>
          </p:cNvPr>
          <p:cNvSpPr txBox="1"/>
          <p:nvPr/>
        </p:nvSpPr>
        <p:spPr>
          <a:xfrm>
            <a:off x="266700" y="731426"/>
            <a:ext cx="8610600" cy="59627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628650" lvl="1" indent="-285750" algn="just">
              <a:lnSpc>
                <a:spcPct val="150000"/>
              </a:lnSpc>
              <a:buFont typeface="Arial" panose="020B0604020202020204" pitchFamily="34" charset="0"/>
              <a:buChar char="•"/>
            </a:pPr>
            <a:endParaRPr lang="en-US" b="1" dirty="0">
              <a:latin typeface="+mj-lt"/>
              <a:ea typeface="Calibri" panose="020F0502020204030204" pitchFamily="34" charset="0"/>
              <a:cs typeface="Tunga" panose="020B0502040204020203" pitchFamily="34" charset="0"/>
            </a:endParaRPr>
          </a:p>
          <a:p>
            <a:pPr marL="628650" lvl="1" indent="-285750" algn="just">
              <a:lnSpc>
                <a:spcPct val="150000"/>
              </a:lnSpc>
              <a:buFont typeface="Arial" panose="020B0604020202020204" pitchFamily="34" charset="0"/>
              <a:buChar char="•"/>
            </a:pPr>
            <a:r>
              <a:rPr lang="en-US" b="1" dirty="0">
                <a:latin typeface="+mj-lt"/>
                <a:ea typeface="Calibri" panose="020F0502020204030204" pitchFamily="34" charset="0"/>
                <a:cs typeface="Tunga" panose="020B0502040204020203" pitchFamily="34" charset="0"/>
              </a:rPr>
              <a:t>Stakeholder consultation &amp; Planning</a:t>
            </a:r>
            <a:r>
              <a:rPr lang="en-US" dirty="0">
                <a:latin typeface="+mj-lt"/>
                <a:ea typeface="Calibri" panose="020F0502020204030204" pitchFamily="34" charset="0"/>
                <a:cs typeface="Tunga" panose="020B0502040204020203" pitchFamily="34" charset="0"/>
              </a:rPr>
              <a:t>: </a:t>
            </a:r>
          </a:p>
          <a:p>
            <a:pPr marL="682625" lvl="1" algn="just">
              <a:lnSpc>
                <a:spcPct val="150000"/>
              </a:lnSpc>
            </a:pPr>
            <a:r>
              <a:rPr lang="en-US" dirty="0">
                <a:latin typeface="+mj-lt"/>
                <a:ea typeface="Calibri" panose="020F0502020204030204" pitchFamily="34" charset="0"/>
                <a:cs typeface="Tunga" panose="020B0502040204020203" pitchFamily="34" charset="0"/>
              </a:rPr>
              <a:t>Stakeholders are actively involved in the overall service development life cycle providing valuable inputs improving service design and outcomes</a:t>
            </a:r>
          </a:p>
          <a:p>
            <a:pPr marL="628650" lvl="1" indent="-285750" algn="just">
              <a:lnSpc>
                <a:spcPct val="150000"/>
              </a:lnSpc>
              <a:buFont typeface="Arial" panose="020B0604020202020204" pitchFamily="34" charset="0"/>
              <a:buChar char="•"/>
            </a:pPr>
            <a:r>
              <a:rPr lang="en-US" b="1" dirty="0">
                <a:latin typeface="+mj-lt"/>
                <a:ea typeface="Calibri" panose="020F0502020204030204" pitchFamily="34" charset="0"/>
                <a:cs typeface="Tunga" panose="020B0502040204020203" pitchFamily="34" charset="0"/>
              </a:rPr>
              <a:t>Easy Access to Services</a:t>
            </a:r>
            <a:r>
              <a:rPr lang="en-US" dirty="0">
                <a:latin typeface="+mj-lt"/>
                <a:ea typeface="Calibri" panose="020F0502020204030204" pitchFamily="34" charset="0"/>
                <a:cs typeface="Tunga" panose="020B0502040204020203" pitchFamily="34" charset="0"/>
              </a:rPr>
              <a:t>: </a:t>
            </a:r>
          </a:p>
          <a:p>
            <a:pPr marL="682625" lvl="1" algn="just">
              <a:lnSpc>
                <a:spcPct val="150000"/>
              </a:lnSpc>
            </a:pPr>
            <a:r>
              <a:rPr lang="en-US" dirty="0">
                <a:latin typeface="+mj-lt"/>
                <a:ea typeface="Calibri" panose="020F0502020204030204" pitchFamily="34" charset="0"/>
                <a:cs typeface="Tunga" panose="020B0502040204020203" pitchFamily="34" charset="0"/>
              </a:rPr>
              <a:t>Provides a “screen reader” option in the portal for aiding visually impaired users</a:t>
            </a:r>
          </a:p>
          <a:p>
            <a:pPr marL="628650" lvl="1" indent="-285750" algn="just">
              <a:lnSpc>
                <a:spcPct val="150000"/>
              </a:lnSpc>
              <a:buFont typeface="Arial" panose="020B0604020202020204" pitchFamily="34" charset="0"/>
              <a:buChar char="•"/>
            </a:pPr>
            <a:r>
              <a:rPr lang="en-US" b="1" dirty="0">
                <a:latin typeface="+mj-lt"/>
                <a:ea typeface="Calibri" panose="020F0502020204030204" pitchFamily="34" charset="0"/>
                <a:cs typeface="Tunga" panose="020B0502040204020203" pitchFamily="34" charset="0"/>
              </a:rPr>
              <a:t>Government Process Re-engineering</a:t>
            </a:r>
            <a:r>
              <a:rPr lang="en-US" dirty="0">
                <a:latin typeface="+mj-lt"/>
                <a:ea typeface="Calibri" panose="020F0502020204030204" pitchFamily="34" charset="0"/>
                <a:cs typeface="Tunga" panose="020B0502040204020203" pitchFamily="34" charset="0"/>
              </a:rPr>
              <a:t>: </a:t>
            </a:r>
          </a:p>
          <a:p>
            <a:pPr marL="682625" lvl="1" algn="just">
              <a:lnSpc>
                <a:spcPct val="150000"/>
              </a:lnSpc>
            </a:pPr>
            <a:r>
              <a:rPr lang="en-US" dirty="0">
                <a:latin typeface="+mj-lt"/>
                <a:ea typeface="Calibri" panose="020F0502020204030204" pitchFamily="34" charset="0"/>
                <a:cs typeface="Tunga" panose="020B0502040204020203" pitchFamily="34" charset="0"/>
              </a:rPr>
              <a:t>Involvement of departments have resulted in minimized process complexity, cost, service delivery time</a:t>
            </a:r>
          </a:p>
          <a:p>
            <a:pPr marL="628650" lvl="1" indent="-285750" algn="just">
              <a:lnSpc>
                <a:spcPct val="150000"/>
              </a:lnSpc>
              <a:buFont typeface="Arial" panose="020B0604020202020204" pitchFamily="34" charset="0"/>
              <a:buChar char="•"/>
            </a:pPr>
            <a:r>
              <a:rPr lang="en-US" b="1" dirty="0">
                <a:latin typeface="+mj-lt"/>
                <a:ea typeface="Calibri" panose="020F0502020204030204" pitchFamily="34" charset="0"/>
                <a:cs typeface="Tunga" panose="020B0502040204020203" pitchFamily="34" charset="0"/>
              </a:rPr>
              <a:t>Paperless, Cashless, Faceless solution</a:t>
            </a:r>
            <a:r>
              <a:rPr lang="en-US" dirty="0">
                <a:latin typeface="+mj-lt"/>
                <a:ea typeface="Calibri" panose="020F0502020204030204" pitchFamily="34" charset="0"/>
                <a:cs typeface="Tunga" panose="020B0502040204020203" pitchFamily="34" charset="0"/>
              </a:rPr>
              <a:t>:</a:t>
            </a:r>
          </a:p>
          <a:p>
            <a:pPr marL="627063" lvl="1" algn="just">
              <a:lnSpc>
                <a:spcPct val="150000"/>
              </a:lnSpc>
            </a:pPr>
            <a:r>
              <a:rPr lang="en-US" dirty="0">
                <a:latin typeface="+mj-lt"/>
                <a:ea typeface="Calibri" panose="020F0502020204030204" pitchFamily="34" charset="0"/>
                <a:cs typeface="Tunga" panose="020B0502040204020203" pitchFamily="34" charset="0"/>
              </a:rPr>
              <a:t>As per the mandate given under ‘Digital India’ programme, Seva Sindhu promotes Digital payments for a cashless system</a:t>
            </a:r>
          </a:p>
          <a:p>
            <a:pPr marL="342900" lvl="1" algn="just">
              <a:lnSpc>
                <a:spcPct val="200000"/>
              </a:lnSpc>
            </a:pPr>
            <a:endParaRPr lang="en-US" dirty="0">
              <a:latin typeface="+mj-lt"/>
              <a:ea typeface="Calibri" panose="020F0502020204030204" pitchFamily="34" charset="0"/>
              <a:cs typeface="Tunga" panose="020B0502040204020203" pitchFamily="34" charset="0"/>
            </a:endParaRPr>
          </a:p>
        </p:txBody>
      </p:sp>
    </p:spTree>
    <p:extLst>
      <p:ext uri="{BB962C8B-B14F-4D97-AF65-F5344CB8AC3E}">
        <p14:creationId xmlns:p14="http://schemas.microsoft.com/office/powerpoint/2010/main" val="2286950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370736" y="341156"/>
            <a:ext cx="6134100" cy="55602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i="1" kern="1200">
                <a:solidFill>
                  <a:schemeClr val="tx1"/>
                </a:solidFill>
                <a:latin typeface="+mj-lt"/>
                <a:ea typeface="+mj-ea"/>
                <a:cs typeface="+mj-cs"/>
              </a:defRPr>
            </a:lvl1pPr>
          </a:lstStyle>
          <a:p>
            <a:pPr>
              <a:defRPr/>
            </a:pPr>
            <a:r>
              <a:rPr lang="en-GB" sz="2100" dirty="0">
                <a:solidFill>
                  <a:srgbClr val="7A1818"/>
                </a:solidFill>
              </a:rPr>
              <a:t>Best Practices</a:t>
            </a:r>
          </a:p>
        </p:txBody>
      </p:sp>
      <p:pic>
        <p:nvPicPr>
          <p:cNvPr id="12" name="Picture 11">
            <a:extLst>
              <a:ext uri="{FF2B5EF4-FFF2-40B4-BE49-F238E27FC236}">
                <a16:creationId xmlns:a16="http://schemas.microsoft.com/office/drawing/2014/main" id="{B338A1D6-B5B8-4034-97A1-DEA6F5B995ED}"/>
              </a:ext>
            </a:extLst>
          </p:cNvPr>
          <p:cNvPicPr/>
          <p:nvPr/>
        </p:nvPicPr>
        <p:blipFill>
          <a:blip r:embed="rId3" cstate="print"/>
          <a:stretch>
            <a:fillRect/>
          </a:stretch>
        </p:blipFill>
        <p:spPr>
          <a:xfrm>
            <a:off x="7878056" y="228600"/>
            <a:ext cx="543837" cy="475820"/>
          </a:xfrm>
          <a:prstGeom prst="rect">
            <a:avLst/>
          </a:prstGeom>
        </p:spPr>
      </p:pic>
      <p:sp>
        <p:nvSpPr>
          <p:cNvPr id="6" name="TextBox 5">
            <a:extLst>
              <a:ext uri="{FF2B5EF4-FFF2-40B4-BE49-F238E27FC236}">
                <a16:creationId xmlns:a16="http://schemas.microsoft.com/office/drawing/2014/main" id="{E8FD8894-5A07-4128-A1DF-12FB31F750B0}"/>
              </a:ext>
            </a:extLst>
          </p:cNvPr>
          <p:cNvSpPr txBox="1"/>
          <p:nvPr/>
        </p:nvSpPr>
        <p:spPr>
          <a:xfrm>
            <a:off x="266700" y="731426"/>
            <a:ext cx="8610600" cy="46892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628650" lvl="1" indent="-285750" algn="just">
              <a:lnSpc>
                <a:spcPct val="150000"/>
              </a:lnSpc>
              <a:buFont typeface="Arial" panose="020B0604020202020204" pitchFamily="34" charset="0"/>
              <a:buChar char="•"/>
            </a:pPr>
            <a:r>
              <a:rPr lang="en-US" b="1" dirty="0">
                <a:latin typeface="+mj-lt"/>
                <a:ea typeface="Calibri" panose="020F0502020204030204" pitchFamily="34" charset="0"/>
                <a:cs typeface="Tunga" panose="020B0502040204020203" pitchFamily="34" charset="0"/>
              </a:rPr>
              <a:t>Reducing Compliance Burden</a:t>
            </a:r>
            <a:r>
              <a:rPr lang="en-US" dirty="0">
                <a:latin typeface="+mj-lt"/>
                <a:ea typeface="Calibri" panose="020F0502020204030204" pitchFamily="34" charset="0"/>
                <a:cs typeface="Tunga" panose="020B0502040204020203" pitchFamily="34" charset="0"/>
              </a:rPr>
              <a:t>: </a:t>
            </a:r>
          </a:p>
          <a:p>
            <a:pPr marL="627063" lvl="1" algn="just">
              <a:lnSpc>
                <a:spcPct val="150000"/>
              </a:lnSpc>
            </a:pPr>
            <a:r>
              <a:rPr lang="en-US" dirty="0">
                <a:latin typeface="+mj-lt"/>
                <a:ea typeface="Calibri" panose="020F0502020204030204" pitchFamily="34" charset="0"/>
                <a:cs typeface="Tunga" panose="020B0502040204020203" pitchFamily="34" charset="0"/>
              </a:rPr>
              <a:t>Seva Sindhu offers end-to-end digital solution with features such as auto population of data fields, minimal scanning &amp; uploading of supporting documents through integrations with multiple departments, thus enhancing user experience for G2C as well as G2B services. This also contributes to ‘Ease of Doing Business’.</a:t>
            </a:r>
          </a:p>
          <a:p>
            <a:pPr marL="628650" lvl="1" indent="-285750" algn="just">
              <a:lnSpc>
                <a:spcPct val="150000"/>
              </a:lnSpc>
              <a:spcAft>
                <a:spcPts val="600"/>
              </a:spcAft>
              <a:buFont typeface="Arial" panose="020B0604020202020204" pitchFamily="34" charset="0"/>
              <a:buChar char="•"/>
            </a:pPr>
            <a:r>
              <a:rPr lang="en-US" b="1" dirty="0">
                <a:effectLst/>
                <a:latin typeface="+mj-lt"/>
                <a:ea typeface="Verdana" panose="020B0604030504040204" pitchFamily="34" charset="0"/>
              </a:rPr>
              <a:t>Reopening of applications in case of rejections without reasons</a:t>
            </a:r>
            <a:r>
              <a:rPr lang="en-US" dirty="0">
                <a:effectLst/>
                <a:latin typeface="+mj-lt"/>
                <a:ea typeface="Verdana" panose="020B0604030504040204" pitchFamily="34" charset="0"/>
              </a:rPr>
              <a:t>: </a:t>
            </a:r>
          </a:p>
          <a:p>
            <a:pPr marL="627063" lvl="1" algn="just">
              <a:lnSpc>
                <a:spcPct val="150000"/>
              </a:lnSpc>
              <a:spcAft>
                <a:spcPts val="600"/>
              </a:spcAft>
            </a:pPr>
            <a:r>
              <a:rPr lang="en-US" dirty="0">
                <a:effectLst/>
                <a:latin typeface="+mj-lt"/>
                <a:ea typeface="Verdana" panose="020B0604030504040204" pitchFamily="34" charset="0"/>
              </a:rPr>
              <a:t>Seva Sindhu proactively checks 10% of the rejected application through an officer who can decide to reopen the application after scrutinizing the application form and annexure. Based on merit application can be considered for reprocessing.</a:t>
            </a:r>
            <a:endParaRPr lang="en-US" sz="1600" dirty="0">
              <a:effectLst/>
              <a:latin typeface="+mj-lt"/>
              <a:ea typeface="Verdana" panose="020B0604030504040204" pitchFamily="34" charset="0"/>
            </a:endParaRPr>
          </a:p>
        </p:txBody>
      </p:sp>
    </p:spTree>
    <p:extLst>
      <p:ext uri="{BB962C8B-B14F-4D97-AF65-F5344CB8AC3E}">
        <p14:creationId xmlns:p14="http://schemas.microsoft.com/office/powerpoint/2010/main" val="1564197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2139" y="3140967"/>
            <a:ext cx="8179724" cy="2981679"/>
          </a:xfrm>
        </p:spPr>
        <p:txBody>
          <a:bodyPr/>
          <a:lstStyle/>
          <a:p>
            <a:pPr algn="ctr"/>
            <a:endParaRPr lang="en-IN" sz="4800" dirty="0">
              <a:solidFill>
                <a:srgbClr val="7A1818"/>
              </a:solidFill>
            </a:endParaRPr>
          </a:p>
          <a:p>
            <a:pPr algn="ctr"/>
            <a:r>
              <a:rPr lang="en-IN" sz="4800" dirty="0">
                <a:solidFill>
                  <a:srgbClr val="7A1818"/>
                </a:solidFill>
              </a:rPr>
              <a:t>Thank You</a:t>
            </a:r>
          </a:p>
        </p:txBody>
      </p:sp>
      <p:sp>
        <p:nvSpPr>
          <p:cNvPr id="4" name="Slide Number Placeholder 3"/>
          <p:cNvSpPr>
            <a:spLocks noGrp="1"/>
          </p:cNvSpPr>
          <p:nvPr>
            <p:ph type="sldNum" sz="quarter" idx="12"/>
          </p:nvPr>
        </p:nvSpPr>
        <p:spPr/>
        <p:txBody>
          <a:bodyPr/>
          <a:lstStyle/>
          <a:p>
            <a:endParaRPr lang="en-GB" dirty="0"/>
          </a:p>
        </p:txBody>
      </p:sp>
      <p:pic>
        <p:nvPicPr>
          <p:cNvPr id="5" name="Picture 4"/>
          <p:cNvPicPr/>
          <p:nvPr/>
        </p:nvPicPr>
        <p:blipFill>
          <a:blip r:embed="rId2" cstate="print"/>
          <a:stretch>
            <a:fillRect/>
          </a:stretch>
        </p:blipFill>
        <p:spPr>
          <a:xfrm>
            <a:off x="395536" y="476672"/>
            <a:ext cx="3600400" cy="3240360"/>
          </a:xfrm>
          <a:prstGeom prst="rect">
            <a:avLst/>
          </a:prstGeom>
        </p:spPr>
      </p:pic>
      <p:pic>
        <p:nvPicPr>
          <p:cNvPr id="6" name="Picture 5" descr="A picture containing text, clock, sign&#10;&#10;Description automatically generated">
            <a:extLst>
              <a:ext uri="{FF2B5EF4-FFF2-40B4-BE49-F238E27FC236}">
                <a16:creationId xmlns:a16="http://schemas.microsoft.com/office/drawing/2014/main" id="{6D8E1BA0-79DE-4848-97BF-C2E9DAD5D646}"/>
              </a:ext>
            </a:extLst>
          </p:cNvPr>
          <p:cNvPicPr>
            <a:picLocks noChangeAspect="1"/>
          </p:cNvPicPr>
          <p:nvPr/>
        </p:nvPicPr>
        <p:blipFill>
          <a:blip r:embed="rId3" cstate="print"/>
          <a:stretch>
            <a:fillRect/>
          </a:stretch>
        </p:blipFill>
        <p:spPr>
          <a:xfrm>
            <a:off x="4860032" y="404664"/>
            <a:ext cx="4022140" cy="2952328"/>
          </a:xfrm>
          <a:prstGeom prst="rect">
            <a:avLst/>
          </a:prstGeom>
        </p:spPr>
      </p:pic>
    </p:spTree>
    <p:extLst>
      <p:ext uri="{BB962C8B-B14F-4D97-AF65-F5344CB8AC3E}">
        <p14:creationId xmlns:p14="http://schemas.microsoft.com/office/powerpoint/2010/main" val="126891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69,1,Slide14"/>
</p:tagLst>
</file>

<file path=ppt/tags/tag2.xml><?xml version="1.0" encoding="utf-8"?>
<p:tagLst xmlns:a="http://schemas.openxmlformats.org/drawingml/2006/main" xmlns:r="http://schemas.openxmlformats.org/officeDocument/2006/relationships" xmlns:p="http://schemas.openxmlformats.org/presentationml/2006/main">
  <p:tag name="FULLLENGTH" val="True"/>
</p:tagLst>
</file>

<file path=ppt/tags/tag3.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4.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5.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6.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7.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8.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9.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0.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2.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3.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4.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5.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6.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7.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8.xml><?xml version="1.0" encoding="utf-8"?>
<p:tagLst xmlns:a="http://schemas.openxmlformats.org/drawingml/2006/main" xmlns:r="http://schemas.openxmlformats.org/officeDocument/2006/relationships" xmlns:p="http://schemas.openxmlformats.org/presentationml/2006/main">
  <p:tag name="SMARTOBJECT" val="Grid"/>
  <p:tag name="SMARTISVISIBLE" val="{@GridOn}=Yes"/>
  <p:tag name="SMARTLOCKSHAPE" val="Yes"/>
  <p:tag name="SMARTGRID" val="Yes"/>
</p:tagLst>
</file>

<file path=ppt/tags/tag19.xml><?xml version="1.0" encoding="utf-8"?>
<p:tagLst xmlns:a="http://schemas.openxmlformats.org/drawingml/2006/main" xmlns:r="http://schemas.openxmlformats.org/officeDocument/2006/relationships" xmlns:p="http://schemas.openxmlformats.org/presentationml/2006/main">
  <p:tag name="SMARTWRITE" val="{@BusinessUnitCoverText}"/>
  <p:tag name="SMARTREAD" val="{@BusinessUnitCoverText}"/>
  <p:tag name="SMARTOBJECT" val="Descriptor Large Title and Subtitle v.2"/>
</p:tagLst>
</file>

<file path=ppt/tags/tag20.xml><?xml version="1.0" encoding="utf-8"?>
<p:tagLst xmlns:a="http://schemas.openxmlformats.org/drawingml/2006/main" xmlns:r="http://schemas.openxmlformats.org/officeDocument/2006/relationships" xmlns:p="http://schemas.openxmlformats.org/presentationml/2006/main">
  <p:tag name="SMARTWRITE" val="{@Title}"/>
  <p:tag name="SMARTREAD" val="{@Title}"/>
  <p:tag name="SMARTLINKEDSHAPEID" val="Title"/>
</p:tagLst>
</file>

<file path=ppt/tags/tag21.xml><?xml version="1.0" encoding="utf-8"?>
<p:tagLst xmlns:a="http://schemas.openxmlformats.org/drawingml/2006/main" xmlns:r="http://schemas.openxmlformats.org/officeDocument/2006/relationships" xmlns:p="http://schemas.openxmlformats.org/presentationml/2006/main">
  <p:tag name="SMARTWRITE" val="{@Subtitle}"/>
  <p:tag name="SMARTREAD" val="{@Subtitle}"/>
  <p:tag name="SMARTLINKEDSHAPEID" val="Title"/>
</p:tagLst>
</file>

<file path=ppt/tags/tag22.xml><?xml version="1.0" encoding="utf-8"?>
<p:tagLst xmlns:a="http://schemas.openxmlformats.org/drawingml/2006/main" xmlns:r="http://schemas.openxmlformats.org/officeDocument/2006/relationships" xmlns:p="http://schemas.openxmlformats.org/presentationml/2006/main">
  <p:tag name="SMARTWRITE" val="{@Confidentiality stamp}"/>
  <p:tag name="SMARTREAD" val="{@Confidentiality stamp}"/>
  <p:tag name="SMARTOBJECT" val="Confidentiality stamp Default Cover v.3"/>
  <p:tag name="SMARTLINKEDSHAPEID" val="SideBar"/>
</p:tagLst>
</file>

<file path=ppt/tags/tag23.xml><?xml version="1.0" encoding="utf-8"?>
<p:tagLst xmlns:a="http://schemas.openxmlformats.org/drawingml/2006/main" xmlns:r="http://schemas.openxmlformats.org/officeDocument/2006/relationships" xmlns:p="http://schemas.openxmlformats.org/presentationml/2006/main">
  <p:tag name="SMARTWRITE" val="{@Draft stamp}"/>
  <p:tag name="SMARTISVISIBLE" val="{@Show Draft stamp} = Yes"/>
  <p:tag name="SMARTREAD" val="{@Draft stamp}"/>
  <p:tag name="SMARTLINKEDSHAPEID" val="SideBar"/>
  <p:tag name="SMARTOBJECT" val="Draft stamp Default Cover v.3"/>
</p:tagLst>
</file>

<file path=ppt/tags/tag24.xml><?xml version="1.0" encoding="utf-8"?>
<p:tagLst xmlns:a="http://schemas.openxmlformats.org/drawingml/2006/main" xmlns:r="http://schemas.openxmlformats.org/officeDocument/2006/relationships" xmlns:p="http://schemas.openxmlformats.org/presentationml/2006/main">
  <p:tag name="SMARTWRITE" val="{@Report date}"/>
  <p:tag name="SMARTREAD" val="{@Report date}"/>
  <p:tag name="SMARTLINKEDSHAPEID" val="SideBar"/>
  <p:tag name="SMARTOBJECT" val="Report date Default Cover v.3"/>
</p:tagLst>
</file>

<file path=ppt/tags/tag25.xml><?xml version="1.0" encoding="utf-8"?>
<p:tagLst xmlns:a="http://schemas.openxmlformats.org/drawingml/2006/main" xmlns:r="http://schemas.openxmlformats.org/officeDocument/2006/relationships" xmlns:p="http://schemas.openxmlformats.org/presentationml/2006/main">
  <p:tag name="SMARTSHAPETYPE" val="Front Cover Image"/>
</p:tagLst>
</file>

<file path=ppt/tags/tag26.xml><?xml version="1.0" encoding="utf-8"?>
<p:tagLst xmlns:a="http://schemas.openxmlformats.org/drawingml/2006/main" xmlns:r="http://schemas.openxmlformats.org/officeDocument/2006/relationships" xmlns:p="http://schemas.openxmlformats.org/presentationml/2006/main">
  <p:tag name="FULLLENGTH" val="True"/>
</p:tagLst>
</file>

<file path=ppt/tags/tag27.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28.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29.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30.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31.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32.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33.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34.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35.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36.xml><?xml version="1.0" encoding="utf-8"?>
<p:tagLst xmlns:a="http://schemas.openxmlformats.org/drawingml/2006/main" xmlns:r="http://schemas.openxmlformats.org/officeDocument/2006/relationships" xmlns:p="http://schemas.openxmlformats.org/presentationml/2006/main">
  <p:tag name="FULLLENGTH" val="True"/>
</p:tagLst>
</file>

<file path=ppt/tags/tag37.xml><?xml version="1.0" encoding="utf-8"?>
<p:tagLst xmlns:a="http://schemas.openxmlformats.org/drawingml/2006/main" xmlns:r="http://schemas.openxmlformats.org/officeDocument/2006/relationships" xmlns:p="http://schemas.openxmlformats.org/presentationml/2006/main">
  <p:tag name="FULLLENGTH" val="True"/>
</p:tagLst>
</file>

<file path=ppt/tags/tag3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39.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40.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41.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42.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43.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44.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45.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46.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47.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48.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49.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50.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51.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52.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53.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54.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55.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56.xml><?xml version="1.0" encoding="utf-8"?>
<p:tagLst xmlns:a="http://schemas.openxmlformats.org/drawingml/2006/main" xmlns:r="http://schemas.openxmlformats.org/officeDocument/2006/relationships" xmlns:p="http://schemas.openxmlformats.org/presentationml/2006/main">
  <p:tag name="FULLLENGTH" val="True"/>
</p:tagLst>
</file>

<file path=ppt/tags/tag57.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58.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59.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60.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61.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62.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63.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64.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65.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66.xml><?xml version="1.0" encoding="utf-8"?>
<p:tagLst xmlns:a="http://schemas.openxmlformats.org/drawingml/2006/main" xmlns:r="http://schemas.openxmlformats.org/officeDocument/2006/relationships" xmlns:p="http://schemas.openxmlformats.org/presentationml/2006/main">
  <p:tag name="FULLLENGTH" val="True"/>
</p:tagLst>
</file>

<file path=ppt/tags/tag67.xml><?xml version="1.0" encoding="utf-8"?>
<p:tagLst xmlns:a="http://schemas.openxmlformats.org/drawingml/2006/main" xmlns:r="http://schemas.openxmlformats.org/officeDocument/2006/relationships" xmlns:p="http://schemas.openxmlformats.org/presentationml/2006/main">
  <p:tag name="FULLLENGTH" val="True"/>
</p:tagLst>
</file>

<file path=ppt/tags/tag6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69.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70.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71.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72.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73.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74.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75.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76.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77.xml><?xml version="1.0" encoding="utf-8"?>
<p:tagLst xmlns:a="http://schemas.openxmlformats.org/drawingml/2006/main" xmlns:r="http://schemas.openxmlformats.org/officeDocument/2006/relationships" xmlns:p="http://schemas.openxmlformats.org/presentationml/2006/main">
  <p:tag name="FULLLENGTH" val="True"/>
</p:tagLst>
</file>

<file path=ppt/tags/tag78.xml><?xml version="1.0" encoding="utf-8"?>
<p:tagLst xmlns:a="http://schemas.openxmlformats.org/drawingml/2006/main" xmlns:r="http://schemas.openxmlformats.org/officeDocument/2006/relationships" xmlns:p="http://schemas.openxmlformats.org/presentationml/2006/main">
  <p:tag name="FULLLENGTH" val="True"/>
</p:tagLst>
</file>

<file path=ppt/tags/tag79.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80.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81.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82.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83.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84.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85.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86.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87.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88.xml><?xml version="1.0" encoding="utf-8"?>
<p:tagLst xmlns:a="http://schemas.openxmlformats.org/drawingml/2006/main" xmlns:r="http://schemas.openxmlformats.org/officeDocument/2006/relationships" xmlns:p="http://schemas.openxmlformats.org/presentationml/2006/main">
  <p:tag name="FULLLENGTH" val="True"/>
</p:tagLst>
</file>

<file path=ppt/tags/tag89.xml><?xml version="1.0" encoding="utf-8"?>
<p:tagLst xmlns:a="http://schemas.openxmlformats.org/drawingml/2006/main" xmlns:r="http://schemas.openxmlformats.org/officeDocument/2006/relationships" xmlns:p="http://schemas.openxmlformats.org/presentationml/2006/main">
  <p:tag name="FULLLENGTH" val="True"/>
</p:tagLst>
</file>

<file path=ppt/tags/tag90.xml><?xml version="1.0" encoding="utf-8"?>
<p:tagLst xmlns:a="http://schemas.openxmlformats.org/drawingml/2006/main" xmlns:r="http://schemas.openxmlformats.org/officeDocument/2006/relationships" xmlns:p="http://schemas.openxmlformats.org/presentationml/2006/main">
  <p:tag name="FULLLENGTH" val="True"/>
</p:tagLst>
</file>

<file path=ppt/tags/tag91.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92.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93.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94.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95.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96.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97.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98.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99.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00.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01.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02.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03.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04.xml><?xml version="1.0" encoding="utf-8"?>
<p:tagLst xmlns:a="http://schemas.openxmlformats.org/drawingml/2006/main" xmlns:r="http://schemas.openxmlformats.org/officeDocument/2006/relationships" xmlns:p="http://schemas.openxmlformats.org/presentationml/2006/main">
  <p:tag name="FULLLENGTH" val="True"/>
</p:tagLst>
</file>

<file path=ppt/tags/tag105.xml><?xml version="1.0" encoding="utf-8"?>
<p:tagLst xmlns:a="http://schemas.openxmlformats.org/drawingml/2006/main" xmlns:r="http://schemas.openxmlformats.org/officeDocument/2006/relationships" xmlns:p="http://schemas.openxmlformats.org/presentationml/2006/main">
  <p:tag name="FULLLENGTH" val="True"/>
</p:tagLst>
</file>

<file path=ppt/tags/tag106.xml><?xml version="1.0" encoding="utf-8"?>
<p:tagLst xmlns:a="http://schemas.openxmlformats.org/drawingml/2006/main" xmlns:r="http://schemas.openxmlformats.org/officeDocument/2006/relationships" xmlns:p="http://schemas.openxmlformats.org/presentationml/2006/main">
  <p:tag name="FULLLENGTH" val="True"/>
</p:tagLst>
</file>

<file path=ppt/tags/tag107.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08.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09.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10.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1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12.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13.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14.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15.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16.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1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18.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19.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20.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21.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22.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23.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24.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25.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26.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27.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28.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29.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30.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31.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32.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33.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34.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35.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36.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3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38.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39.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40.xml><?xml version="1.0" encoding="utf-8"?>
<p:tagLst xmlns:a="http://schemas.openxmlformats.org/drawingml/2006/main" xmlns:r="http://schemas.openxmlformats.org/officeDocument/2006/relationships" xmlns:p="http://schemas.openxmlformats.org/presentationml/2006/main">
  <p:tag name="SMARTREAD" val="{Smart Divider title}"/>
  <p:tag name="SMARTWRITE" val="{Smart Divider title}"/>
</p:tagLst>
</file>

<file path=ppt/tags/tag141.xml><?xml version="1.0" encoding="utf-8"?>
<p:tagLst xmlns:a="http://schemas.openxmlformats.org/drawingml/2006/main" xmlns:r="http://schemas.openxmlformats.org/officeDocument/2006/relationships" xmlns:p="http://schemas.openxmlformats.org/presentationml/2006/main">
  <p:tag name="SMARTSHAPETYPE" val="dividertocplaceholder"/>
</p:tagLst>
</file>

<file path=ppt/tags/tag142.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43.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44.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45.xml><?xml version="1.0" encoding="utf-8"?>
<p:tagLst xmlns:a="http://schemas.openxmlformats.org/drawingml/2006/main" xmlns:r="http://schemas.openxmlformats.org/officeDocument/2006/relationships" xmlns:p="http://schemas.openxmlformats.org/presentationml/2006/main">
  <p:tag name="SMARTSLIDETYPE" val="Divider"/>
  <p:tag name="SMARTDIVIDERTYPE" val="Section"/>
  <p:tag name="SMARTDIVIDERTEXT" val="Section"/>
  <p:tag name="SMARTDIVIDERTOCSTYLE" val="Section TOC"/>
  <p:tag name="SMARTDIVIDERLEVEL" val="0"/>
</p:tagLst>
</file>

<file path=ppt/tags/tag146.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47.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48.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49.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50.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51.xml><?xml version="1.0" encoding="utf-8"?>
<p:tagLst xmlns:a="http://schemas.openxmlformats.org/drawingml/2006/main" xmlns:r="http://schemas.openxmlformats.org/officeDocument/2006/relationships" xmlns:p="http://schemas.openxmlformats.org/presentationml/2006/main">
  <p:tag name="SMARTREAD" val="{Smart Divider title}"/>
  <p:tag name="SMARTWRITE" val="{Smart Divider title}"/>
</p:tagLst>
</file>

<file path=ppt/tags/tag152.xml><?xml version="1.0" encoding="utf-8"?>
<p:tagLst xmlns:a="http://schemas.openxmlformats.org/drawingml/2006/main" xmlns:r="http://schemas.openxmlformats.org/officeDocument/2006/relationships" xmlns:p="http://schemas.openxmlformats.org/presentationml/2006/main">
  <p:tag name="SMARTSHAPETYPE" val="dividertocplaceholder"/>
</p:tagLst>
</file>

<file path=ppt/tags/tag153.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54.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55.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56.xml><?xml version="1.0" encoding="utf-8"?>
<p:tagLst xmlns:a="http://schemas.openxmlformats.org/drawingml/2006/main" xmlns:r="http://schemas.openxmlformats.org/officeDocument/2006/relationships" xmlns:p="http://schemas.openxmlformats.org/presentationml/2006/main">
  <p:tag name="SMARTSLIDETYPE" val="Divider"/>
  <p:tag name="SHOW EXECUTIVE SUMMARY" val="No"/>
  <p:tag name="SMARTDIVIDERTYPE" val="Section"/>
  <p:tag name="SMARTDIVIDERTEXT" val="Section"/>
  <p:tag name="SMARTDIVIDERTOCSTYLE" val="Section TOC"/>
  <p:tag name="SMARTDIVIDERLEVEL" val="0"/>
</p:tagLst>
</file>

<file path=ppt/tags/tag157.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58.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59.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60.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61.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62.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63.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64.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65.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66.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67.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68.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69.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70.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71.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72.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73.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74.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75.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76.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77.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78.xml><?xml version="1.0" encoding="utf-8"?>
<p:tagLst xmlns:a="http://schemas.openxmlformats.org/drawingml/2006/main" xmlns:r="http://schemas.openxmlformats.org/officeDocument/2006/relationships" xmlns:p="http://schemas.openxmlformats.org/presentationml/2006/main">
  <p:tag name="SMARTSHAPETYPE" val="HORIZONTALTOCPLACEHOLDER"/>
</p:tagLst>
</file>

<file path=ppt/tags/tag179.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80.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181.xml><?xml version="1.0" encoding="utf-8"?>
<p:tagLst xmlns:a="http://schemas.openxmlformats.org/drawingml/2006/main" xmlns:r="http://schemas.openxmlformats.org/officeDocument/2006/relationships" xmlns:p="http://schemas.openxmlformats.org/presentationml/2006/main">
  <p:tag name="SMARTLOCKSHAPE" val="Yes"/>
  <p:tag name="SMARTWRITE" val="{@Report date}"/>
</p:tagLst>
</file>

<file path=ppt/tags/tag182.xml><?xml version="1.0" encoding="utf-8"?>
<p:tagLst xmlns:a="http://schemas.openxmlformats.org/drawingml/2006/main" xmlns:r="http://schemas.openxmlformats.org/officeDocument/2006/relationships" xmlns:p="http://schemas.openxmlformats.org/presentationml/2006/main">
  <p:tag name="SMARTWRITE" val="{!PageNumber}"/>
  <p:tag name="SMARTLOCKSHAPE" val="Yes"/>
  <p:tag name="SMARTOBJECT" val="Page Number v.3"/>
</p:tagLst>
</file>

<file path=ppt/tags/tag183.xml><?xml version="1.0" encoding="utf-8"?>
<p:tagLst xmlns:a="http://schemas.openxmlformats.org/drawingml/2006/main" xmlns:r="http://schemas.openxmlformats.org/officeDocument/2006/relationships" xmlns:p="http://schemas.openxmlformats.org/presentationml/2006/main">
  <p:tag name="SMARTSHAPETYPE" val="PresentationDisclaimer"/>
  <p:tag name="SMARTISVISIBLE" val="{@PresentationDisclaimer}!=No Disclaimer"/>
  <p:tag name="SMARTWRITE" val="{@PresentationDisclaimerText}"/>
</p:tagLst>
</file>

<file path=ppt/tags/tag184.xml><?xml version="1.0" encoding="utf-8"?>
<p:tagLst xmlns:a="http://schemas.openxmlformats.org/drawingml/2006/main" xmlns:r="http://schemas.openxmlformats.org/officeDocument/2006/relationships" xmlns:p="http://schemas.openxmlformats.org/presentationml/2006/main">
  <p:tag name="SMARTLOCKSHAPE" val="Yes"/>
  <p:tag name="SMARTOBJECT" val="Section Footer v.2"/>
  <p:tag name="SMARTWRITE" val="{@Title}"/>
</p:tagLst>
</file>

<file path=ppt/tags/tag185.xml><?xml version="1.0" encoding="utf-8"?>
<p:tagLst xmlns:a="http://schemas.openxmlformats.org/drawingml/2006/main" xmlns:r="http://schemas.openxmlformats.org/officeDocument/2006/relationships" xmlns:p="http://schemas.openxmlformats.org/presentationml/2006/main">
  <p:tag name="SMARTISVISIBLE" val="{@Show Draft stamp} = Yes"/>
  <p:tag name="SMARTWRITE" val="{@Draft stamp}"/>
  <p:tag name="SMARTLOCKSHAPE" val="Yes"/>
</p:tagLst>
</file>

<file path=ppt/tags/tag186.xml><?xml version="1.0" encoding="utf-8"?>
<p:tagLst xmlns:a="http://schemas.openxmlformats.org/drawingml/2006/main" xmlns:r="http://schemas.openxmlformats.org/officeDocument/2006/relationships" xmlns:p="http://schemas.openxmlformats.org/presentationml/2006/main">
  <p:tag name="SMARTWRITE" val="{@BusinessUnitCoverText}"/>
  <p:tag name="SMARTREAD" val="{@BusinessUnitCoverText}"/>
  <p:tag name="SMARTOBJECT" val="Descriptor Large Title and Subtitle v.2"/>
</p:tagLst>
</file>

<file path=ppt/tags/tag187.xml><?xml version="1.0" encoding="utf-8"?>
<p:tagLst xmlns:a="http://schemas.openxmlformats.org/drawingml/2006/main" xmlns:r="http://schemas.openxmlformats.org/officeDocument/2006/relationships" xmlns:p="http://schemas.openxmlformats.org/presentationml/2006/main">
  <p:tag name="SMARTWRITE" val="{@Confidentiality stamp}"/>
  <p:tag name="SMARTREAD" val="{@Confidentiality stamp}"/>
  <p:tag name="SMARTOBJECT" val="Confidentiality stamp Default Cover v.3"/>
  <p:tag name="SMARTLINKEDSHAPEID" val="SideBar"/>
</p:tagLst>
</file>

<file path=ppt/tags/tag188.xml><?xml version="1.0" encoding="utf-8"?>
<p:tagLst xmlns:a="http://schemas.openxmlformats.org/drawingml/2006/main" xmlns:r="http://schemas.openxmlformats.org/officeDocument/2006/relationships" xmlns:p="http://schemas.openxmlformats.org/presentationml/2006/main">
  <p:tag name="SMARTWRITE" val="{@Draft stamp}"/>
  <p:tag name="SMARTISVISIBLE" val="{@Show Draft stamp} = Yes"/>
  <p:tag name="SMARTREAD" val="{@Draft stamp}"/>
  <p:tag name="SMARTLINKEDSHAPEID" val="SideBar"/>
  <p:tag name="SMARTOBJECT" val="Draft stamp Default Cover v.3"/>
</p:tagLst>
</file>

<file path=ppt/tags/tag189.xml><?xml version="1.0" encoding="utf-8"?>
<p:tagLst xmlns:a="http://schemas.openxmlformats.org/drawingml/2006/main" xmlns:r="http://schemas.openxmlformats.org/officeDocument/2006/relationships" xmlns:p="http://schemas.openxmlformats.org/presentationml/2006/main">
  <p:tag name="SMARTWRITE" val="{@Report date}"/>
  <p:tag name="SMARTREAD" val="{@Report date}"/>
  <p:tag name="SMARTLINKEDSHAPEID" val="SideBar"/>
  <p:tag name="SMARTOBJECT" val="Report date Default Cover v.3"/>
</p:tagLst>
</file>

<file path=ppt/tags/tag190.xml><?xml version="1.0" encoding="utf-8"?>
<p:tagLst xmlns:a="http://schemas.openxmlformats.org/drawingml/2006/main" xmlns:r="http://schemas.openxmlformats.org/officeDocument/2006/relationships" xmlns:p="http://schemas.openxmlformats.org/presentationml/2006/main">
  <p:tag name="SMARTOBJECT" val="Cover Content"/>
</p:tagLst>
</file>

<file path=ppt/tags/tag191.xml><?xml version="1.0" encoding="utf-8"?>
<p:tagLst xmlns:a="http://schemas.openxmlformats.org/drawingml/2006/main" xmlns:r="http://schemas.openxmlformats.org/officeDocument/2006/relationships" xmlns:p="http://schemas.openxmlformats.org/presentationml/2006/main">
  <p:tag name="SMARTSHAPETYPE" val="Front Cover Image"/>
</p:tagLst>
</file>

<file path=ppt/tags/tag192.xml><?xml version="1.0" encoding="utf-8"?>
<p:tagLst xmlns:a="http://schemas.openxmlformats.org/drawingml/2006/main" xmlns:r="http://schemas.openxmlformats.org/officeDocument/2006/relationships" xmlns:p="http://schemas.openxmlformats.org/presentationml/2006/main">
  <p:tag name="SMARTWRITE" val="{@Title}"/>
  <p:tag name="SMARTREAD" val="{@Title}"/>
  <p:tag name="SMARTLINKEDSHAPEID" val="Title"/>
</p:tagLst>
</file>

<file path=ppt/tags/tag193.xml><?xml version="1.0" encoding="utf-8"?>
<p:tagLst xmlns:a="http://schemas.openxmlformats.org/drawingml/2006/main" xmlns:r="http://schemas.openxmlformats.org/officeDocument/2006/relationships" xmlns:p="http://schemas.openxmlformats.org/presentationml/2006/main">
  <p:tag name="SMARTWRITE" val="{@Subtitle}"/>
  <p:tag name="SMARTREAD" val="{@Subtitle}"/>
  <p:tag name="SMARTLINKEDSHAPEID" val="Title"/>
</p:tagLst>
</file>

<file path=ppt/tags/tag194.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 name="SLIDETITLE" val="Road map (1/2)"/>
</p:tagLst>
</file>

<file path=ppt/tags/tag195.xml><?xml version="1.0" encoding="utf-8"?>
<p:tagLst xmlns:a="http://schemas.openxmlformats.org/drawingml/2006/main" xmlns:r="http://schemas.openxmlformats.org/officeDocument/2006/relationships" xmlns:p="http://schemas.openxmlformats.org/presentationml/2006/main">
  <p:tag name="SMARTOBJECT" val="Grid"/>
  <p:tag name="SMARTISVISIBLE" val="{@GridOn}=Yes"/>
  <p:tag name="SMARTLOCKSHAPE" val="Yes"/>
  <p:tag name="SMARTGRID" val="Yes"/>
</p:tagLst>
</file>

<file path=ppt/tags/tag196.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ags/tag197.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 name="SLIDETITLE" val="Road map (1/2)"/>
</p:tagLst>
</file>

<file path=ppt/tags/tag198.xml><?xml version="1.0" encoding="utf-8"?>
<p:tagLst xmlns:a="http://schemas.openxmlformats.org/drawingml/2006/main" xmlns:r="http://schemas.openxmlformats.org/officeDocument/2006/relationships" xmlns:p="http://schemas.openxmlformats.org/presentationml/2006/main">
  <p:tag name="SMARTOBJECT" val="Grid"/>
  <p:tag name="SMARTISVISIBLE" val="{@GridOn}=Yes"/>
  <p:tag name="SMARTLOCKSHAPE" val="Yes"/>
  <p:tag name="SMARTGRID" val="Yes"/>
</p:tagLst>
</file>

<file path=ppt/tags/tag199.xml><?xml version="1.0" encoding="utf-8"?>
<p:tagLst xmlns:a="http://schemas.openxmlformats.org/drawingml/2006/main" xmlns:r="http://schemas.openxmlformats.org/officeDocument/2006/relationships" xmlns:p="http://schemas.openxmlformats.org/presentationml/2006/main">
  <p:tag name="SMARTLOCKSHAPE" val="Yes"/>
  <p:tag name="SMARTOBJECT" val="Section Header v.2"/>
  <p:tag name="SMARTISVISIBLE" val="{$SmartDividernumber}!=-1"/>
  <p:tag name="SMARTWRITE" val="{$SmartDividernumber} {$Smart Divider title}"/>
</p:tagLst>
</file>

<file path=ppt/theme/theme1.xml><?xml version="1.0" encoding="utf-8"?>
<a:theme xmlns:a="http://schemas.openxmlformats.org/drawingml/2006/main" name="PwC">
  <a:themeElements>
    <a:clrScheme name="PwC Orange">
      <a:dk1>
        <a:srgbClr val="000000"/>
      </a:dk1>
      <a:lt1>
        <a:srgbClr val="FFFFFF"/>
      </a:lt1>
      <a:dk2>
        <a:srgbClr val="DC6900"/>
      </a:dk2>
      <a:lt2>
        <a:srgbClr val="FFFFFF"/>
      </a:lt2>
      <a:accent1>
        <a:srgbClr val="DC6900"/>
      </a:accent1>
      <a:accent2>
        <a:srgbClr val="FFB600"/>
      </a:accent2>
      <a:accent3>
        <a:srgbClr val="602320"/>
      </a:accent3>
      <a:accent4>
        <a:srgbClr val="DB536A"/>
      </a:accent4>
      <a:accent5>
        <a:srgbClr val="A32020"/>
      </a:accent5>
      <a:accent6>
        <a:srgbClr val="E0301E"/>
      </a:accent6>
      <a:hlink>
        <a:srgbClr val="DC6900"/>
      </a:hlink>
      <a:folHlink>
        <a:srgbClr val="DC6900"/>
      </a:folHlink>
    </a:clrScheme>
    <a:fontScheme name="PwC">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ltGray">
        <a:solidFill>
          <a:schemeClr val="tx2"/>
        </a:solidFill>
        <a:ln w="3175"/>
      </a:spPr>
      <a:bodyPr rtlCol="0" anchor="ctr"/>
      <a:lstStyle>
        <a:defPPr algn="ctr">
          <a:defRPr dirty="0" err="1" smtClean="0">
            <a:solidFill>
              <a:schemeClr val="bg1"/>
            </a:solidFill>
            <a:latin typeface="Georgia" pitchFamily="18"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indent="-274320">
          <a:spcAft>
            <a:spcPts val="900"/>
          </a:spcAft>
          <a:defRPr sz="2000" dirty="0" err="1" smtClean="0">
            <a:latin typeface="Georgia" pitchFamily="18" charset="0"/>
          </a:defRPr>
        </a:defPPr>
      </a:lstStyle>
    </a:txDef>
  </a:objectDefaults>
  <a:extraClrSchemeLst/>
</a:theme>
</file>

<file path=ppt/theme/theme2.xml><?xml version="1.0" encoding="utf-8"?>
<a:theme xmlns:a="http://schemas.openxmlformats.org/drawingml/2006/main" name="Diagrams Process Charts and Timelines">
  <a:themeElements>
    <a:clrScheme name="Smart Report">
      <a:dk1>
        <a:srgbClr val="000000"/>
      </a:dk1>
      <a:lt1>
        <a:srgbClr val="FFFFFF"/>
      </a:lt1>
      <a:dk2>
        <a:srgbClr val="821A1A"/>
      </a:dk2>
      <a:lt2>
        <a:srgbClr val="FFFFFF"/>
      </a:lt2>
      <a:accent1>
        <a:srgbClr val="821A1A"/>
      </a:accent1>
      <a:accent2>
        <a:srgbClr val="D62E1C"/>
      </a:accent2>
      <a:accent3>
        <a:srgbClr val="FFCF48"/>
      </a:accent3>
      <a:accent4>
        <a:srgbClr val="E36A00"/>
      </a:accent4>
      <a:accent5>
        <a:srgbClr val="ABA591"/>
      </a:accent5>
      <a:accent6>
        <a:srgbClr val="877E62"/>
      </a:accent6>
      <a:hlink>
        <a:srgbClr val="821A1A"/>
      </a:hlink>
      <a:folHlink>
        <a:srgbClr val="821A1A"/>
      </a:folHlink>
    </a:clrScheme>
    <a:fontScheme name="PwC">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6350">
          <a:solidFill>
            <a:schemeClr val="tx1"/>
          </a:solidFill>
        </a:ln>
      </a:spPr>
      <a:bodyPr vert="horz" wrap="square" lIns="91440" tIns="45720" rIns="91440" bIns="45720" rtlCol="0" anchor="ctr">
        <a:noAutofit/>
      </a:bodyPr>
      <a:lstStyle>
        <a:defPPr algn="ctr">
          <a:defRPr dirty="0" smtClean="0"/>
        </a:defPPr>
      </a:lstStyle>
    </a:spDef>
    <a:lnDef>
      <a:spPr>
        <a:ln w="12700">
          <a:solidFill>
            <a:srgbClr val="DC6900"/>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defRPr noProof="0" dirty="0" smtClean="0">
            <a:solidFill>
              <a:schemeClr val="tx1"/>
            </a:solidFill>
            <a:latin typeface="Georgia" pitchFamily="18" charset="0"/>
            <a:cs typeface="Arial" pitchFamily="34" charset="0"/>
          </a:defRPr>
        </a:defPPr>
      </a:lstStyle>
    </a:txDef>
  </a:objectDefaults>
  <a:extraClrSchemeLst/>
  <a:extLst>
    <a:ext uri="{05A4C25C-085E-4340-85A3-A5531E510DB2}">
      <thm15:themeFamily xmlns:thm15="http://schemas.microsoft.com/office/thememl/2012/main" name="1 TS Global Report.potx" id="{20DB928B-BA40-4901-AB53-61175F806D99}" vid="{BC85B3EA-1A29-4F7B-B270-30D4B02FE1A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PwC Presentation</Template>
  <TotalTime>22617</TotalTime>
  <Words>2370</Words>
  <Application>Microsoft Office PowerPoint</Application>
  <PresentationFormat>On-screen Show (4:3)</PresentationFormat>
  <Paragraphs>345</Paragraphs>
  <Slides>31</Slides>
  <Notes>10</Notes>
  <HiddenSlides>0</HiddenSlides>
  <MMClips>2</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2" baseType="lpstr">
      <vt:lpstr>Arial</vt:lpstr>
      <vt:lpstr>Calibri</vt:lpstr>
      <vt:lpstr>Cambria</vt:lpstr>
      <vt:lpstr>Georgia</vt:lpstr>
      <vt:lpstr>Symbol</vt:lpstr>
      <vt:lpstr>Times New Roman</vt:lpstr>
      <vt:lpstr>Tunga</vt:lpstr>
      <vt:lpstr>Wingdings</vt:lpstr>
      <vt:lpstr>PwC</vt:lpstr>
      <vt:lpstr>Diagrams Process Charts and Timelines</vt:lpstr>
      <vt:lpstr>Acrobat Document</vt:lpstr>
      <vt:lpstr>PowerPoint Presentation</vt:lpstr>
      <vt:lpstr>Seva Sindhu – Salient Features</vt:lpstr>
      <vt:lpstr>PowerPoint Presentation</vt:lpstr>
      <vt:lpstr>PowerPoint Presentation</vt:lpstr>
      <vt:lpstr>PowerPoint Presentation</vt:lpstr>
      <vt:lpstr>PowerPoint Presentation</vt:lpstr>
      <vt:lpstr>PowerPoint Presentation</vt:lpstr>
      <vt:lpstr> Advantages of Seva Sindhu during COVID-19 Pandemic</vt:lpstr>
      <vt:lpstr>Seva Sindhu - Success Stories</vt:lpstr>
      <vt:lpstr>Awards and Recognitions</vt:lpstr>
      <vt:lpstr>PowerPoint Presentation</vt:lpstr>
      <vt:lpstr>Grama One</vt:lpstr>
      <vt:lpstr>PowerPoint Presentation</vt:lpstr>
      <vt:lpstr>PowerPoint Presentation</vt:lpstr>
      <vt:lpstr>PowerPoint Presentation</vt:lpstr>
      <vt:lpstr>GramaOne centers </vt:lpstr>
      <vt:lpstr>PowerPoint Presentation</vt:lpstr>
      <vt:lpstr>PowerPoint Presentation</vt:lpstr>
      <vt:lpstr>PowerPoint Presentation</vt:lpstr>
      <vt:lpstr>PowerPoint Presentation</vt:lpstr>
      <vt:lpstr>PowerPoint Presentation</vt:lpstr>
      <vt:lpstr>G</vt:lpstr>
      <vt:lpstr>Janasevaka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Sahil Goyal</dc:creator>
  <cp:lastModifiedBy>DC</cp:lastModifiedBy>
  <cp:revision>419</cp:revision>
  <dcterms:created xsi:type="dcterms:W3CDTF">2018-06-15T09:26:20Z</dcterms:created>
  <dcterms:modified xsi:type="dcterms:W3CDTF">2026-06-18T10:40:11Z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B template version">
    <vt:lpwstr>6</vt:lpwstr>
  </property>
  <property fmtid="{D5CDD505-2E9C-101B-9397-08002B2CF9AE}" pid="3" name="TB template type">
    <vt:lpwstr>Onscreen</vt:lpwstr>
  </property>
  <property fmtid="{D5CDD505-2E9C-101B-9397-08002B2CF9AE}" pid="4" name="Template created by">
    <vt:lpwstr>PwC</vt:lpwstr>
  </property>
  <property fmtid="{D5CDD505-2E9C-101B-9397-08002B2CF9AE}" pid="5" name="Template version">
    <vt:lpwstr>6</vt:lpwstr>
  </property>
</Properties>
</file>